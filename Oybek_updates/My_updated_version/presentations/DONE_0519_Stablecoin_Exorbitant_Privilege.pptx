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1"/>
  </p:notesMasterIdLst>
  <p:sldIdLst>
    <p:sldId id="256" r:id="rId2"/>
    <p:sldId id="257" r:id="rId3"/>
    <p:sldId id="258" r:id="rId4"/>
    <p:sldId id="263" r:id="rId5"/>
    <p:sldId id="259" r:id="rId6"/>
    <p:sldId id="260" r:id="rId7"/>
    <p:sldId id="261" r:id="rId8"/>
    <p:sldId id="262" r:id="rId9"/>
    <p:sldId id="265" r:id="rId10"/>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498"/>
    <p:restoredTop sz="47114"/>
  </p:normalViewPr>
  <p:slideViewPr>
    <p:cSldViewPr snapToGrid="0" snapToObjects="1" showGuides="1">
      <p:cViewPr>
        <p:scale>
          <a:sx n="82" d="100"/>
          <a:sy n="82" d="100"/>
        </p:scale>
        <p:origin x="1536" y="-68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t>
            </a:r>
            <a:r>
              <a:rPr lang="en-US" dirty="0"/>
              <a:t>Sara</a:t>
            </a:r>
            <a:r>
              <a:rPr dirty="0"/>
              <a:t>— Title Slide]</a:t>
            </a:r>
          </a:p>
          <a:p>
            <a:endParaRPr dirty="0"/>
          </a:p>
          <a:p>
            <a:r>
              <a:rPr dirty="0"/>
              <a:t>Good morning / afternoon everyone. </a:t>
            </a:r>
            <a:r>
              <a:rPr lang="en-US" dirty="0"/>
              <a:t>My name is Baptiste, and together with Alexandre and Jade, we joined the stablecoin and exorbitant privilege research. W</a:t>
            </a:r>
            <a:r>
              <a:rPr dirty="0"/>
              <a:t>e are presenting the second part of our research on stablecoins and the exorbitant privilege.</a:t>
            </a:r>
          </a:p>
          <a:p>
            <a:endParaRPr dirty="0"/>
          </a:p>
          <a:p>
            <a:r>
              <a:rPr dirty="0"/>
              <a:t>Last week, our colleagues Mireu, Sara, and Oybek presented the motivation, theory, and the first two empirical results. Today, we present the causal evidence, a new finding on asymmetric effects, our policy recommendation, and the conclusion.</a:t>
            </a:r>
            <a:endParaRPr lang="en-US" dirty="0"/>
          </a:p>
          <a:p>
            <a:endParaRPr lang="en-US"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t>
            </a:r>
            <a:r>
              <a:rPr lang="en-US" dirty="0"/>
              <a:t>Sara</a:t>
            </a:r>
            <a:r>
              <a:rPr dirty="0"/>
              <a:t> — Roadmap]</a:t>
            </a:r>
          </a:p>
          <a:p>
            <a:endParaRPr dirty="0"/>
          </a:p>
          <a:p>
            <a:r>
              <a:rPr dirty="0"/>
              <a:t>This slide gives you a quick map of today's presentation.</a:t>
            </a:r>
          </a:p>
          <a:p>
            <a:endParaRPr dirty="0"/>
          </a:p>
          <a:p>
            <a:r>
              <a:rPr dirty="0"/>
              <a:t>On the</a:t>
            </a:r>
            <a:r>
              <a:rPr lang="en-US" dirty="0"/>
              <a:t> top</a:t>
            </a:r>
            <a:r>
              <a:rPr dirty="0"/>
              <a:t>, you can see what was covered last week</a:t>
            </a:r>
            <a:r>
              <a:rPr lang="en-US" dirty="0"/>
              <a:t>.</a:t>
            </a:r>
          </a:p>
          <a:p>
            <a:endParaRPr dirty="0"/>
          </a:p>
          <a:p>
            <a:r>
              <a:rPr dirty="0"/>
              <a:t>Today we add three new things.</a:t>
            </a:r>
          </a:p>
          <a:p>
            <a:endParaRPr dirty="0"/>
          </a:p>
          <a:p>
            <a:r>
              <a:rPr dirty="0"/>
              <a:t>First, a Literature Gap slide — we will show exactly where our paper fits in the existing academic literature and why what we do has not been done before.</a:t>
            </a:r>
          </a:p>
          <a:p>
            <a:endParaRPr dirty="0"/>
          </a:p>
          <a:p>
            <a:r>
              <a:rPr dirty="0"/>
              <a:t>Second, Result 3 — the buffer-conditioned event study. This is where we move from monthly correlations to specific crisis events to show that our mechanism is not just statistical but actually causal.</a:t>
            </a:r>
          </a:p>
          <a:p>
            <a:endParaRPr dirty="0"/>
          </a:p>
          <a:p>
            <a:r>
              <a:rPr dirty="0"/>
              <a:t>Third, two new contributions responding directly to our professor's feedback: an asymmetric effects analysis that splits supply growth from supply contraction, and a reframed policy implication that is more intellectually honest about what our data can and cannot claim.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SCRIPT 1 — Slide 1: "What The Literature Has Established And Where It Stops"</a:t>
            </a:r>
          </a:p>
          <a:p>
            <a:endParaRPr lang="en-US" dirty="0"/>
          </a:p>
          <a:p>
            <a:r>
              <a:rPr lang="en-US" dirty="0"/>
              <a:t>"Let me show you the three papers that sit closest to what we do — and precisely where each one stops."</a:t>
            </a:r>
          </a:p>
          <a:p>
            <a:endParaRPr lang="en-US" dirty="0"/>
          </a:p>
          <a:p>
            <a:r>
              <a:rPr lang="en-US" dirty="0"/>
              <a:t>[Point to Lyons &amp; Viswanath-Natraj]</a:t>
            </a:r>
          </a:p>
          <a:p>
            <a:endParaRPr lang="en-US" dirty="0"/>
          </a:p>
          <a:p>
            <a:r>
              <a:rPr lang="en-US" dirty="0"/>
              <a:t>"Lyons and Viswanath-Natraj establish the mechanics of peg stability. Arbitrage keeps dollar-backed stablecoins at one dollar. But under-</a:t>
            </a:r>
            <a:r>
              <a:rPr lang="en-US" dirty="0" err="1"/>
              <a:t>collateralised</a:t>
            </a:r>
            <a:r>
              <a:rPr lang="en-US" dirty="0"/>
              <a:t> issuers face speculative attacks. This is the internal story — what happens inside the stablecoin system. They do not ask what happens to Treasury markets when stress hits."</a:t>
            </a:r>
          </a:p>
          <a:p>
            <a:endParaRPr lang="en-US" dirty="0"/>
          </a:p>
          <a:p>
            <a:r>
              <a:rPr lang="en-US" dirty="0"/>
              <a:t>[Point to Gorton &amp; Zhang]</a:t>
            </a:r>
          </a:p>
          <a:p>
            <a:endParaRPr lang="en-US" dirty="0"/>
          </a:p>
          <a:p>
            <a:r>
              <a:rPr lang="en-US" dirty="0"/>
              <a:t>"Gorton and Zhang go further. Stablecoin issuers are unregulated banks. Without deposit insurance equivalents, runs are structurally inevitable — the wildcat banking analogy from the nineteenth century. They identify the run risk completely. But they do not model how that run transmits to sovereign debt markets. No Treasury spread analysis. No threshold."</a:t>
            </a:r>
          </a:p>
          <a:p>
            <a:endParaRPr lang="en-US" dirty="0"/>
          </a:p>
          <a:p>
            <a:r>
              <a:rPr lang="en-US" dirty="0"/>
              <a:t>[Point to </a:t>
            </a:r>
            <a:r>
              <a:rPr lang="en-US" dirty="0" err="1"/>
              <a:t>Aldasoro</a:t>
            </a:r>
            <a:r>
              <a:rPr lang="en-US" dirty="0"/>
              <a:t> &amp; Ahmed]</a:t>
            </a:r>
          </a:p>
          <a:p>
            <a:endParaRPr lang="en-US" dirty="0"/>
          </a:p>
          <a:p>
            <a:r>
              <a:rPr lang="en-US" dirty="0"/>
              <a:t>"</a:t>
            </a:r>
            <a:r>
              <a:rPr lang="en-US" dirty="0" err="1"/>
              <a:t>Aldasoro</a:t>
            </a:r>
            <a:r>
              <a:rPr lang="en-US" dirty="0"/>
              <a:t> and Ahmed — a BIS working paper from May 2025 — are the closest to us. They show stablecoin inflows lower three-month Treasury yields by 2.5 to 3.5 basis points. Outflows raise yields two to three times more. Their moderating variable is market-level Treasury supply — not the issuer's own reserve </a:t>
            </a:r>
            <a:r>
              <a:rPr lang="en-US" dirty="0" err="1"/>
              <a:t>composition.They</a:t>
            </a:r>
            <a:r>
              <a:rPr lang="en-US" dirty="0"/>
              <a:t> use yield levels, not the OIS-Treasury spread. And they identify no reserve adequacy threshold."</a:t>
            </a:r>
          </a:p>
          <a:p>
            <a:endParaRPr lang="en-US" dirty="0"/>
          </a:p>
          <a:p>
            <a:r>
              <a:rPr lang="en-US" dirty="0"/>
              <a:t>[Point to orange banner]</a:t>
            </a:r>
          </a:p>
          <a:p>
            <a:endParaRPr lang="en-US" dirty="0"/>
          </a:p>
          <a:p>
            <a:r>
              <a:rPr lang="en-US" dirty="0"/>
              <a:t>"Three papers. Each answers one question and leaves the next one open. None jointly estimates how issuer reserve composition moderates the transmission from stablecoin activity to sovereign debt markets. That is our paper."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SCRIPT 2 — Slide 2: "What Our Paper Does That No Paper Has Done"</a:t>
            </a:r>
          </a:p>
          <a:p>
            <a:r>
              <a:rPr lang="en-US" dirty="0"/>
              <a:t>[Point to left panel — gap statement]</a:t>
            </a:r>
          </a:p>
          <a:p>
            <a:endParaRPr lang="en-US" dirty="0"/>
          </a:p>
          <a:p>
            <a:r>
              <a:rPr lang="en-US" dirty="0"/>
              <a:t>"The gap across all three papers is the same question none of them asks — does the issuer's own reserve composition determine whether stablecoin activity strengthens or disrupts the US Treasury market? We answer that."</a:t>
            </a:r>
          </a:p>
          <a:p>
            <a:endParaRPr lang="en-US" dirty="0"/>
          </a:p>
          <a:p>
            <a:r>
              <a:rPr lang="en-US" dirty="0"/>
              <a:t>[Point to three strands]</a:t>
            </a:r>
          </a:p>
          <a:p>
            <a:endParaRPr lang="en-US" dirty="0"/>
          </a:p>
          <a:p>
            <a:r>
              <a:rPr lang="en-US" dirty="0"/>
              <a:t>"We fill this gap by combining three bodies of work simultaneously. The exorbitant privilege framework from Maggiori. The run risk framing from Gorton and Zhang. And the reserve adequacy methodology from Jeanne and </a:t>
            </a:r>
            <a:r>
              <a:rPr lang="en-US" dirty="0" err="1"/>
              <a:t>Rancière</a:t>
            </a:r>
            <a:r>
              <a:rPr lang="en-US" dirty="0"/>
              <a:t> — applied for the first time to private stablecoin issuers as quasi-sovereign entities."</a:t>
            </a:r>
          </a:p>
          <a:p>
            <a:endParaRPr lang="en-US" dirty="0"/>
          </a:p>
          <a:p>
            <a:r>
              <a:rPr lang="en-US" dirty="0"/>
              <a:t>[Point to right panel — work through each point]</a:t>
            </a:r>
          </a:p>
          <a:p>
            <a:endParaRPr lang="en-US" dirty="0"/>
          </a:p>
          <a:p>
            <a:r>
              <a:rPr lang="en-US" dirty="0"/>
              <a:t>"Five specific contributions. First — we use the OIS-Treasury spread as our dependent variable, not yield levels. This directly measures privilege intensity. Second — our moderating variable is the issuer's liquid buffer L, not market supply. That is what regulation can actually mandate. Third — our interaction term </a:t>
            </a:r>
            <a:r>
              <a:rPr lang="el-GR" dirty="0"/>
              <a:t>β₄ </a:t>
            </a:r>
            <a:r>
              <a:rPr lang="en-US" dirty="0"/>
              <a:t>captures how L moderates the issuance-spread relationship. No existing paper estimates this. Fourth — we identify L-star equals 13% as a structural break point using Hansen's threshold regression. First empirical estimate of this kind. Fifth — we separate growth from contraction periods. Ahmed and </a:t>
            </a:r>
            <a:r>
              <a:rPr lang="en-US" dirty="0" err="1"/>
              <a:t>Aldasoro's</a:t>
            </a:r>
            <a:r>
              <a:rPr lang="en-US" dirty="0"/>
              <a:t> own asymmetry finding validates this choice."</a:t>
            </a:r>
          </a:p>
          <a:p>
            <a:endParaRPr lang="en-US" dirty="0"/>
          </a:p>
          <a:p>
            <a:r>
              <a:rPr lang="en-US" dirty="0"/>
              <a:t>[Point to orange banner]</a:t>
            </a:r>
          </a:p>
          <a:p>
            <a:endParaRPr lang="en-US" dirty="0"/>
          </a:p>
          <a:p>
            <a:r>
              <a:rPr lang="en-US" dirty="0"/>
              <a:t>"</a:t>
            </a:r>
            <a:r>
              <a:rPr lang="el-GR" dirty="0"/>
              <a:t>β₄ </a:t>
            </a:r>
            <a:r>
              <a:rPr lang="en-US" dirty="0"/>
              <a:t>and L-star equals 13% have no direct antecedent in the published literature. That is the answer to the professor's question from last week."</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[JADE — Result 3: Buffer-Conditioned Event Study]</a:t>
            </a:r>
          </a:p>
          <a:p>
            <a:endParaRPr dirty="0"/>
          </a:p>
          <a:p>
            <a:r>
              <a:rPr dirty="0"/>
              <a:t>Thank you Alexandre. I will now present Result 3 — the event study.</a:t>
            </a:r>
          </a:p>
          <a:p>
            <a:endParaRPr dirty="0"/>
          </a:p>
          <a:p>
            <a:r>
              <a:rPr dirty="0"/>
              <a:t>Up until now, our results have been based on monthly regressions across the full sample. That tells us about average relationships. But it does not tell us whether the buffer mechanism actually works in the moments that matter most — during a crisis.</a:t>
            </a:r>
          </a:p>
          <a:p>
            <a:endParaRPr dirty="0"/>
          </a:p>
          <a:p>
            <a:r>
              <a:rPr dirty="0"/>
              <a:t>The event study fixes that. We take three real-world stress episodes and ask: what happened to the OIS-Treasury spread in the days immediately following each event? And does the answer depend on how large the liquid buffer was at the time?</a:t>
            </a:r>
          </a:p>
          <a:p>
            <a:endParaRPr dirty="0"/>
          </a:p>
          <a:p>
            <a:r>
              <a:rPr dirty="0"/>
              <a:t>We measure the Cumulative Abnormal Return — or CAR — on the spread. A positive CAR means the spread spiked upward, which means Treasury yields rose relative to overnight rates — a sign that stablecoin issuers were forced to sell T-bills, increasing their supply and pushing prices down.</a:t>
            </a:r>
          </a:p>
          <a:p>
            <a:endParaRPr dirty="0"/>
          </a:p>
          <a:p>
            <a:r>
              <a:rPr dirty="0"/>
              <a:t>Now look at the table on the right.</a:t>
            </a:r>
          </a:p>
          <a:p>
            <a:endParaRPr dirty="0"/>
          </a:p>
          <a:p>
            <a:r>
              <a:rPr dirty="0"/>
              <a:t>The first two events — the LUNA/UST collapse in May 2022 and the USDT partial </a:t>
            </a:r>
            <a:r>
              <a:rPr dirty="0" err="1"/>
              <a:t>depeg</a:t>
            </a:r>
            <a:r>
              <a:rPr dirty="0"/>
              <a:t> shortly after — both happened when the liquid buffer was LOW. The CAR in both cases is strongly positive: plus 8.9 and plus 8.8 basis points, both significant at the 1% level with t-statistics above 30. This is a large and unambiguous effect. Issuers did not have enough cash to absorb redemptions, so they sold T-bills, and the spread spiked.</a:t>
            </a:r>
          </a:p>
          <a:p>
            <a:endParaRPr dirty="0"/>
          </a:p>
          <a:p>
            <a:r>
              <a:rPr dirty="0"/>
              <a:t>The third event — the USDC and SVB failure in March 2023 — is where the result becomes really interesting. By early 2023, the liquid buffer had recovered above the 13% threshold. The CAR is NEGATIVE: minus 18 basis points. The spread compressed instead of spiking. Why? Because Circle had enough cash to absorb redemptions without touching its T-bill holdings. What investors saw instead was a flight-to-safety into Treasuries — the usual response to a financial shock when the stablecoin system is not forced to liquidate.</a:t>
            </a:r>
          </a:p>
          <a:p>
            <a:endParaRPr dirty="0"/>
          </a:p>
          <a:p>
            <a:r>
              <a:rPr dirty="0"/>
              <a:t>The difference between these two regimes is statistically confirmed: t-statistic of 15.22, p-value below 0.001.</a:t>
            </a:r>
          </a:p>
          <a:p>
            <a:endParaRPr dirty="0"/>
          </a:p>
          <a:p>
            <a:r>
              <a:rPr dirty="0"/>
              <a:t>This is the cleanest evidence we have that the buffer is not just a number — it is what separates a crisis that spreads to sovereign debt markets from one that does not.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[JADE — Asymmetric Effects]</a:t>
            </a:r>
          </a:p>
          <a:p>
            <a:endParaRPr dirty="0"/>
          </a:p>
          <a:p>
            <a:r>
              <a:rPr dirty="0"/>
              <a:t>This slide presents a new result that responds directly to our professor's question from last week: why is the buffer interaction term positive?</a:t>
            </a:r>
          </a:p>
          <a:p>
            <a:endParaRPr dirty="0"/>
          </a:p>
          <a:p>
            <a:r>
              <a:rPr dirty="0"/>
              <a:t>In our main regression, the coefficient β₄ on L times </a:t>
            </a:r>
            <a:r>
              <a:rPr dirty="0" err="1"/>
              <a:t>ΔlnS</a:t>
            </a:r>
            <a:r>
              <a:rPr dirty="0"/>
              <a:t> is positive and equal to 49.17. The intuition our professor questioned was: if a higher buffer means the issuer holds more cash and fewer T-bills, shouldn't a bigger buffer reduce the spread compression during supply growth — because they are buying fewer T-bills? So why is the sign positive?</a:t>
            </a:r>
          </a:p>
          <a:p>
            <a:endParaRPr dirty="0"/>
          </a:p>
          <a:p>
            <a:r>
              <a:rPr dirty="0"/>
              <a:t>The answer comes from separating supply growth from supply contraction. That is what this slide shows.</a:t>
            </a:r>
          </a:p>
          <a:p>
            <a:endParaRPr dirty="0"/>
          </a:p>
          <a:p>
            <a:r>
              <a:rPr dirty="0"/>
              <a:t>On the left, in red, are the 32 months in our sample when stablecoin supply was growing. The effect of supply growth on the spread is negative — more supply means more T-bill buying, which compresses spreads — but the coefficient is only minus 1.79 and it is not statistically significant. The R-squared is 0.33. During growth periods, the buffer does not matter much because the dynamic is orderly. Issuers buy T-bills gradually as they mint new tokens.</a:t>
            </a:r>
          </a:p>
          <a:p>
            <a:endParaRPr dirty="0"/>
          </a:p>
          <a:p>
            <a:r>
              <a:rPr dirty="0"/>
              <a:t>On the right, in green, are the 19 months when supply was contracting. Here, β₁ jumps to minus 12.68 — seven times larger — and it is statistically significant at the 5% level. The R-squared jumps to 0.73. The model explains far more of the variation during stress periods than calm ones. And the buffer interaction term is large and positive — plus 78.57 — meaning a higher buffer significantly dampens the spread spike during redemption periods.</a:t>
            </a:r>
          </a:p>
          <a:p>
            <a:endParaRPr dirty="0"/>
          </a:p>
          <a:p>
            <a:r>
              <a:rPr dirty="0"/>
              <a:t>So the answer to the professor's question is this: β₄ is positive because the dominant effect of the buffer is during contractions — where it prevents forced T-bill liquidation — not during growth. The combined positive sign in the main regression reflects this asymmetry. The buffer absorbs redemption shocks. That is the mechanism our paper is about.</a:t>
            </a:r>
          </a:p>
          <a:p>
            <a:endParaRPr dirty="0"/>
          </a:p>
          <a:p>
            <a:r>
              <a:rPr dirty="0"/>
              <a:t>Baptiste will now close with the policy implications and conclusion.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[BAPTISTE — Policy Implication]</a:t>
            </a:r>
          </a:p>
          <a:p>
            <a:endParaRPr dirty="0"/>
          </a:p>
          <a:p>
            <a:r>
              <a:rPr dirty="0"/>
              <a:t>Thank you Jade. Now let me turn to what our findings mean for policy.</a:t>
            </a:r>
          </a:p>
          <a:p>
            <a:endParaRPr dirty="0"/>
          </a:p>
          <a:p>
            <a:r>
              <a:rPr dirty="0"/>
              <a:t>Our threshold regression using the Hansen 2000 method identified L* equals 13% as a statistical break point. Below 13% — which describes 38 out of our 51 sample months — stablecoin activity significantly amplifies Treasury market volatility during stress. Above 13% — the remaining 13 months — the transmission channel is attenuated and runs are absorbed internally.</a:t>
            </a:r>
          </a:p>
          <a:p>
            <a:endParaRPr dirty="0"/>
          </a:p>
          <a:p>
            <a:r>
              <a:rPr dirty="0"/>
              <a:t>One thing our professor pointed out last week, and which we want to address directly: our data tells us WHERE the break is. It does not tell us what is OPTIMAL. These are two different things.</a:t>
            </a:r>
          </a:p>
          <a:p>
            <a:endParaRPr dirty="0"/>
          </a:p>
          <a:p>
            <a:r>
              <a:rPr dirty="0"/>
              <a:t>Finding a break point at 13% is like finding that bridge failures become much more likely when material stress exceeds a certain level — it tells you something important about the threshold, but it does not tell you what the ideal engineering standard should be. A full welfare analysis — weighing the cost of holding more liquid reserves against the benefit of reduced systemic risk — would require a structural model that goes beyond this paper.</a:t>
            </a:r>
          </a:p>
          <a:p>
            <a:endParaRPr dirty="0"/>
          </a:p>
          <a:p>
            <a:r>
              <a:rPr dirty="0"/>
              <a:t>What we are proposing is more modest: that regulators consider 13 to 15% as a minimum empirical floor when designing reserve requirements for fiat-collateralized stablecoin issuers above a systemically relevant size.</a:t>
            </a:r>
          </a:p>
          <a:p>
            <a:endParaRPr dirty="0"/>
          </a:p>
          <a:p>
            <a:r>
              <a:rPr dirty="0"/>
              <a:t>The caveat on the bottom right is important. We put it there deliberately. We are acknowledging the limit of what our data can claim, which is exactly the kind of intellectual honesty that distinguishes a research contribution from a policy prescription.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[BAPTISTE — Conclusion]</a:t>
            </a:r>
          </a:p>
          <a:p>
            <a:endParaRPr dirty="0"/>
          </a:p>
          <a:p>
            <a:r>
              <a:rPr dirty="0"/>
              <a:t>Let me now bring everything together.</a:t>
            </a:r>
          </a:p>
          <a:p>
            <a:endParaRPr dirty="0"/>
          </a:p>
          <a:p>
            <a:r>
              <a:rPr dirty="0"/>
              <a:t>Our paper documents three results that form a coherent story.</a:t>
            </a:r>
          </a:p>
          <a:p>
            <a:endParaRPr dirty="0"/>
          </a:p>
          <a:p>
            <a:r>
              <a:rPr dirty="0"/>
              <a:t>The first result — the green box on the left — is the privilege amplification channel. When stablecoin supply grows by 1%, the OIS-Treasury spread compresses by about 6 to 8 basis points. Tether and Circle are mechanically buying US Treasury bills to back their tokens. This deepens demand for safe US assets and amplifies the exorbitant privilege that the United States already enjoys by issuing the world's reserve currency.</a:t>
            </a:r>
          </a:p>
          <a:p>
            <a:endParaRPr dirty="0"/>
          </a:p>
          <a:p>
            <a:r>
              <a:rPr dirty="0"/>
              <a:t>The second result — the blue box in the middle — is the safety threshold. Using the Hansen 2000 threshold regression, we identify L* equals 13% as the break point. Below this level, stablecoin activity disrupts Treasury markets during stress. Above it, redemptions are absorbed internally and the market is undisturbed.</a:t>
            </a:r>
          </a:p>
          <a:p>
            <a:endParaRPr dirty="0"/>
          </a:p>
          <a:p>
            <a:r>
              <a:rPr dirty="0"/>
              <a:t>The third result — the red box on the right — is the causal evidence from the event study. During the LUNA collapse and the USDT </a:t>
            </a:r>
            <a:r>
              <a:rPr dirty="0" err="1"/>
              <a:t>depeg</a:t>
            </a:r>
            <a:r>
              <a:rPr dirty="0"/>
              <a:t> in 2022, when buffers were low, spreads spiked by nearly 9 basis points. During the SVB event in 2023, when buffers had recovered, spreads compressed by 18 basis points — a flight-to-safety instead of a forced liquidation. The buffer determined the outcome.</a:t>
            </a:r>
          </a:p>
          <a:p>
            <a:endParaRPr dirty="0"/>
          </a:p>
          <a:p>
            <a:r>
              <a:rPr dirty="0"/>
              <a:t>This brings us to the central argument of our paper, which we call the New Triffin Dilemma.</a:t>
            </a:r>
          </a:p>
          <a:p>
            <a:endParaRPr dirty="0"/>
          </a:p>
          <a:p>
            <a:r>
              <a:rPr dirty="0"/>
              <a:t>Robert Triffin observed in 1960 that the US dollar's role as the world's reserve currency created an inherent contradiction — supplying enough safe assets to meet global demand requires running current account deficits that eventually undermine confidence in the dollar itself. The system depends on the very condition that makes it unsustainable.</a:t>
            </a:r>
          </a:p>
          <a:p>
            <a:endParaRPr dirty="0"/>
          </a:p>
          <a:p>
            <a:r>
              <a:rPr dirty="0"/>
              <a:t>Our paper shows that stablecoins create an analogous dilemma at the private level. The same structural Treasury demand that amplifies American borrowing privilege in normal times embeds a fragility that can rapidly reverse it during runs. Whether a stress episode leads to sovereign contagion or flight-to-safety depends entirely on one variable: L — the liquid buffer.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7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7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7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3" name="그림 2" descr="원, 그래픽, 스크린샷, 그래픽 디자인이(가) 표시된 사진&#10;&#10;자동 생성된 설명"/>
          <p:cNvPicPr>
            <a:picLocks noChangeAspect="1"/>
          </p:cNvPicPr>
          <p:nvPr/>
        </p:nvPicPr>
        <p:blipFill>
          <a:blip r:embed="rId3">
            <a:lum bright="70000" contrast="-70000"/>
            <a:extLst>
              <a:ext uri="{BEBA8EAE-BF5A-486C-A8C5-ECC9F3942E4B}">
                <a14:imgProps xmlns:a14="http://schemas.microsoft.com/office/drawing/2010/main">
                  <a14:imgLayer r:embed="rId4">
                    <a14:imgEffect>
                      <a14:artisticPhotocopy detail="2"/>
                    </a14:imgEffect>
                  </a14:imgLayer>
                </a14:imgProps>
              </a:ext>
              <a:ext uri="{28A0092B-C50C-407E-A947-70E740481C1C}">
                <a14:useLocalDpi xmlns:a14="http://schemas.microsoft.com/office/drawing/2010/main" val="0"/>
              </a:ext>
            </a:extLst>
          </a:blip>
          <a:stretch>
            <a:fillRect/>
          </a:stretch>
        </p:blipFill>
        <p:spPr>
          <a:xfrm>
            <a:off x="0" y="890"/>
            <a:ext cx="4809898" cy="6856214"/>
          </a:xfrm>
          <a:prstGeom prst="rect">
            <a:avLst/>
          </a:prstGeom>
        </p:spPr>
      </p:pic>
      <p:sp>
        <p:nvSpPr>
          <p:cNvPr id="6" name="직사각형 5"/>
          <p:cNvSpPr/>
          <p:nvPr/>
        </p:nvSpPr>
        <p:spPr>
          <a:xfrm>
            <a:off x="-1" y="1879560"/>
            <a:ext cx="12188826" cy="2576274"/>
          </a:xfrm>
          <a:prstGeom prst="rect">
            <a:avLst/>
          </a:prstGeom>
          <a:solidFill>
            <a:schemeClr val="tx1">
              <a:alpha val="5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latinLnBrk="1">
              <a:defRPr/>
            </a:pPr>
            <a:r>
              <a:rPr lang="en-US" altLang="ko-KR" sz="2400" dirty="0">
                <a:solidFill>
                  <a:prstClr val="white"/>
                </a:solidFill>
                <a:latin typeface="Hiragino Kaku Gothic Std W8" panose="020B0800000000000000" pitchFamily="34" charset="-128"/>
                <a:ea typeface="Hiragino Kaku Gothic Std W8" panose="020B0800000000000000" pitchFamily="34" charset="-128"/>
              </a:rPr>
              <a:t>STABLECOINS AND THE EXORBITANT PRIVILEGE</a:t>
            </a:r>
          </a:p>
          <a:p>
            <a:pPr algn="ctr" defTabSz="914400" latinLnBrk="1">
              <a:defRPr/>
            </a:pPr>
            <a:endParaRPr lang="ko-KR" altLang="en-US" sz="2400" dirty="0">
              <a:solidFill>
                <a:prstClr val="white"/>
              </a:solidFill>
              <a:latin typeface="Hiragino Kaku Gothic Std W8" panose="020B0800000000000000" pitchFamily="34" charset="-128"/>
              <a:ea typeface="Malgun Gothic" panose="020B0503020000020004" pitchFamily="50" charset="-127"/>
            </a:endParaRPr>
          </a:p>
        </p:txBody>
      </p:sp>
      <p:sp>
        <p:nvSpPr>
          <p:cNvPr id="11" name="TextBox 10"/>
          <p:cNvSpPr txBox="1"/>
          <p:nvPr/>
        </p:nvSpPr>
        <p:spPr>
          <a:xfrm>
            <a:off x="6094095" y="5560060"/>
            <a:ext cx="5842635" cy="1198880"/>
          </a:xfrm>
          <a:prstGeom prst="rect">
            <a:avLst/>
          </a:prstGeom>
          <a:noFill/>
        </p:spPr>
        <p:txBody>
          <a:bodyPr wrap="square" rtlCol="0">
            <a:spAutoFit/>
          </a:bodyPr>
          <a:lstStyle/>
          <a:p>
            <a:r>
              <a:rPr lang="en-US" altLang="ko-KR" sz="1800" b="1" dirty="0">
                <a:solidFill>
                  <a:schemeClr val="bg1"/>
                </a:solidFill>
              </a:rPr>
              <a:t>Yonsei GSIS 2026-1 </a:t>
            </a:r>
          </a:p>
          <a:p>
            <a:r>
              <a:rPr lang="en-US" altLang="ko-KR" sz="1800" b="1" dirty="0">
                <a:solidFill>
                  <a:schemeClr val="bg1"/>
                </a:solidFill>
              </a:rPr>
              <a:t>Topics in International Finance</a:t>
            </a:r>
            <a:endParaRPr lang="en-US" altLang="ko-KR" sz="1800" dirty="0">
              <a:solidFill>
                <a:schemeClr val="bg1"/>
              </a:solidFill>
            </a:endParaRPr>
          </a:p>
          <a:p>
            <a:r>
              <a:rPr lang="en-US" altLang="ko-KR" b="1" dirty="0">
                <a:solidFill>
                  <a:srgbClr val="FFFFFF"/>
                </a:solidFill>
              </a:rPr>
              <a:t>Mireu Kim · Sara Chekroune · Oybek Ibragimov</a:t>
            </a:r>
            <a:br>
              <a:rPr lang="en-US" altLang="ko-KR" b="1" dirty="0">
                <a:solidFill>
                  <a:srgbClr val="FFFFFF"/>
                </a:solidFill>
              </a:rPr>
            </a:br>
            <a:r>
              <a:rPr lang="en-US" altLang="ko-KR" b="1" dirty="0">
                <a:solidFill>
                  <a:srgbClr val="FFFFFF"/>
                </a:solidFill>
              </a:rPr>
              <a:t>· Jade Zhu · Alexandre Godefroy · Baptiste Degand</a:t>
            </a:r>
            <a:endParaRPr lang="en-US" altLang="ko-KR" sz="1800" b="1" dirty="0">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550000"/>
          </a:xfrm>
          <a:prstGeom prst="rect">
            <a:avLst/>
          </a:prstGeom>
          <a:noFill/>
        </p:spPr>
        <p:txBody>
          <a:bodyPr wrap="square">
            <a:spAutoFit/>
          </a:bodyPr>
          <a:lstStyle/>
          <a:p>
            <a:r>
              <a:rPr sz="2600" b="0">
                <a:solidFill>
                  <a:srgbClr val="FFFFFF"/>
                </a:solidFill>
              </a:rPr>
              <a:t>Roadmap</a:t>
            </a:r>
          </a:p>
        </p:txBody>
      </p:sp>
      <p:sp>
        <p:nvSpPr>
          <p:cNvPr id="5" name="TextBox 4"/>
          <p:cNvSpPr txBox="1"/>
          <p:nvPr/>
        </p:nvSpPr>
        <p:spPr>
          <a:xfrm>
            <a:off x="9800000" y="207010"/>
            <a:ext cx="2200000" cy="245110"/>
          </a:xfrm>
          <a:prstGeom prst="rect">
            <a:avLst/>
          </a:prstGeom>
          <a:noFill/>
        </p:spPr>
        <p:txBody>
          <a:bodyPr wrap="square">
            <a:spAutoFit/>
          </a:bodyPr>
          <a:lstStyle/>
          <a:p>
            <a:pPr algn="r"/>
            <a:r>
              <a:rPr lang="en-US" sz="1000" b="0" dirty="0">
                <a:solidFill>
                  <a:schemeClr val="bg1"/>
                </a:solidFill>
              </a:rPr>
              <a:t>Sara </a:t>
            </a:r>
            <a:r>
              <a:rPr sz="1000" b="0" dirty="0">
                <a:solidFill>
                  <a:schemeClr val="bg1"/>
                </a:solidFill>
              </a:rPr>
              <a:t>Page 2</a:t>
            </a:r>
          </a:p>
        </p:txBody>
      </p:sp>
      <p:sp>
        <p:nvSpPr>
          <p:cNvPr id="6" name="TextBox 5"/>
          <p:cNvSpPr txBox="1"/>
          <p:nvPr/>
        </p:nvSpPr>
        <p:spPr>
          <a:xfrm>
            <a:off x="640080" y="1020000"/>
            <a:ext cx="11155680" cy="5632311"/>
          </a:xfrm>
          <a:prstGeom prst="rect">
            <a:avLst/>
          </a:prstGeom>
          <a:noFill/>
        </p:spPr>
        <p:txBody>
          <a:bodyPr wrap="square">
            <a:spAutoFit/>
          </a:bodyPr>
          <a:lstStyle/>
          <a:p>
            <a:pPr algn="l"/>
            <a:r>
              <a:rPr sz="2400" b="1" dirty="0">
                <a:solidFill>
                  <a:srgbClr val="8A9ABB"/>
                </a:solidFill>
              </a:rPr>
              <a:t>Last week</a:t>
            </a:r>
            <a:r>
              <a:rPr lang="en-US" sz="2400" b="1" dirty="0">
                <a:solidFill>
                  <a:srgbClr val="8A9ABB"/>
                </a:solidFill>
              </a:rPr>
              <a:t>(0512)</a:t>
            </a:r>
            <a:r>
              <a:rPr sz="2400" b="1" dirty="0">
                <a:solidFill>
                  <a:srgbClr val="8A9ABB"/>
                </a:solidFill>
              </a:rPr>
              <a:t>:</a:t>
            </a:r>
          </a:p>
          <a:p>
            <a:r>
              <a:rPr sz="2400" b="0" dirty="0">
                <a:solidFill>
                  <a:srgbClr val="8A9ABB"/>
                </a:solidFill>
              </a:rPr>
              <a:t>❖  Motivation — why stablecoins matter for sovereign debt</a:t>
            </a:r>
          </a:p>
          <a:p>
            <a:r>
              <a:rPr sz="2400" b="0" dirty="0">
                <a:solidFill>
                  <a:srgbClr val="8A9ABB"/>
                </a:solidFill>
              </a:rPr>
              <a:t>❖  The New Triffin Dilemma — our core argument</a:t>
            </a:r>
          </a:p>
          <a:p>
            <a:r>
              <a:rPr sz="2400" b="0" dirty="0">
                <a:solidFill>
                  <a:srgbClr val="8A9ABB"/>
                </a:solidFill>
              </a:rPr>
              <a:t>❖  Theoretical extension of Maggiori (2017)</a:t>
            </a:r>
          </a:p>
          <a:p>
            <a:r>
              <a:rPr sz="2400" b="0" dirty="0">
                <a:solidFill>
                  <a:srgbClr val="8A9ABB"/>
                </a:solidFill>
              </a:rPr>
              <a:t>❖  Data &amp; Methodology</a:t>
            </a:r>
          </a:p>
          <a:p>
            <a:r>
              <a:rPr sz="2400" b="0" dirty="0">
                <a:solidFill>
                  <a:srgbClr val="8A9ABB"/>
                </a:solidFill>
              </a:rPr>
              <a:t>❖  Result 1 — Privilege amplification regression</a:t>
            </a:r>
          </a:p>
          <a:p>
            <a:r>
              <a:rPr sz="2400" b="0" dirty="0">
                <a:solidFill>
                  <a:srgbClr val="8A9ABB"/>
                </a:solidFill>
              </a:rPr>
              <a:t>❖  Result 2 — Reserve adequacy threshold (Hansen 2000)</a:t>
            </a:r>
          </a:p>
          <a:p>
            <a:endParaRPr sz="2400" b="0" dirty="0">
              <a:solidFill>
                <a:srgbClr val="8A9ABB"/>
              </a:solidFill>
            </a:endParaRPr>
          </a:p>
          <a:p>
            <a:r>
              <a:rPr sz="2800" b="1" dirty="0">
                <a:solidFill>
                  <a:srgbClr val="1A1A2E"/>
                </a:solidFill>
              </a:rPr>
              <a:t>This week</a:t>
            </a:r>
            <a:r>
              <a:rPr lang="en-US" sz="2800" b="1" dirty="0">
                <a:solidFill>
                  <a:srgbClr val="1A1A2E"/>
                </a:solidFill>
              </a:rPr>
              <a:t>(0519)</a:t>
            </a:r>
            <a:r>
              <a:rPr sz="2800" b="1" dirty="0">
                <a:solidFill>
                  <a:srgbClr val="1A1A2E"/>
                </a:solidFill>
              </a:rPr>
              <a:t>:</a:t>
            </a:r>
          </a:p>
          <a:p>
            <a:r>
              <a:rPr sz="2800" b="0" dirty="0">
                <a:solidFill>
                  <a:srgbClr val="1A1A2E"/>
                </a:solidFill>
              </a:rPr>
              <a:t>❖  Literature Gap — placing our contribution</a:t>
            </a:r>
          </a:p>
          <a:p>
            <a:r>
              <a:rPr sz="2800" b="0" dirty="0">
                <a:solidFill>
                  <a:srgbClr val="1A1A2E"/>
                </a:solidFill>
              </a:rPr>
              <a:t>❖  Result 3 — Buffer-conditioned event study (causal evidence)</a:t>
            </a:r>
          </a:p>
          <a:p>
            <a:r>
              <a:rPr sz="2800" b="0" dirty="0">
                <a:solidFill>
                  <a:srgbClr val="1A1A2E"/>
                </a:solidFill>
              </a:rPr>
              <a:t>❖  Asymmetric Effects — Growth vs. Contraction periods (new)</a:t>
            </a:r>
          </a:p>
          <a:p>
            <a:r>
              <a:rPr sz="2800" b="0" dirty="0">
                <a:solidFill>
                  <a:srgbClr val="1A1A2E"/>
                </a:solidFill>
              </a:rPr>
              <a:t>❖  Policy Implication — 13% threshold reframed</a:t>
            </a:r>
          </a:p>
          <a:p>
            <a:r>
              <a:rPr sz="2800" b="0" dirty="0">
                <a:solidFill>
                  <a:srgbClr val="1A1A2E"/>
                </a:solidFill>
              </a:rPr>
              <a:t>❖  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825" cy="71501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491490"/>
          </a:xfrm>
          <a:prstGeom prst="rect">
            <a:avLst/>
          </a:prstGeom>
          <a:noFill/>
        </p:spPr>
        <p:txBody>
          <a:bodyPr wrap="square">
            <a:spAutoFit/>
          </a:bodyPr>
          <a:lstStyle/>
          <a:p>
            <a:r>
              <a:rPr lang="en-US" altLang="en-US" sz="2600" b="0">
                <a:solidFill>
                  <a:srgbClr val="FFFFFF"/>
                </a:solidFill>
              </a:rPr>
              <a:t>What The Literature Has Established — And Where It Stops</a:t>
            </a:r>
          </a:p>
        </p:txBody>
      </p:sp>
      <p:sp>
        <p:nvSpPr>
          <p:cNvPr id="5" name="TextBox 4"/>
          <p:cNvSpPr txBox="1"/>
          <p:nvPr/>
        </p:nvSpPr>
        <p:spPr>
          <a:xfrm>
            <a:off x="9800000" y="207010"/>
            <a:ext cx="2200000" cy="245110"/>
          </a:xfrm>
          <a:prstGeom prst="rect">
            <a:avLst/>
          </a:prstGeom>
          <a:noFill/>
        </p:spPr>
        <p:txBody>
          <a:bodyPr wrap="square">
            <a:spAutoFit/>
          </a:bodyPr>
          <a:lstStyle/>
          <a:p>
            <a:pPr algn="r"/>
            <a:r>
              <a:rPr sz="1000" dirty="0">
                <a:solidFill>
                  <a:schemeClr val="bg1"/>
                </a:solidFill>
                <a:sym typeface="+mn-ea"/>
              </a:rPr>
              <a:t>Alexandre  </a:t>
            </a:r>
            <a:r>
              <a:rPr sz="1000" b="0" dirty="0">
                <a:solidFill>
                  <a:schemeClr val="bg1"/>
                </a:solidFill>
              </a:rPr>
              <a:t>Page 3</a:t>
            </a:r>
          </a:p>
        </p:txBody>
      </p:sp>
      <p:sp>
        <p:nvSpPr>
          <p:cNvPr id="6" name="Rectangle 5"/>
          <p:cNvSpPr/>
          <p:nvPr/>
        </p:nvSpPr>
        <p:spPr>
          <a:xfrm>
            <a:off x="261620" y="3975100"/>
            <a:ext cx="11127740" cy="1356995"/>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1B3A72"/>
                </a:solidFill>
                <a:sym typeface="+mn-ea"/>
              </a:rPr>
              <a:t>Aldasoro &amp; Ahmed  (BIS WP 1270, 2025)</a:t>
            </a:r>
            <a:endParaRPr sz="1600" b="1">
              <a:solidFill>
                <a:srgbClr val="1B3A72"/>
              </a:solidFill>
            </a:endParaRPr>
          </a:p>
          <a:p>
            <a:pPr>
              <a:spcBef>
                <a:spcPts val="300"/>
              </a:spcBef>
            </a:pPr>
            <a:r>
              <a:rPr sz="1600">
                <a:solidFill>
                  <a:srgbClr val="1A7A4A"/>
                </a:solidFill>
                <a:sym typeface="+mn-ea"/>
              </a:rPr>
              <a:t>✓ </a:t>
            </a:r>
            <a:r>
              <a:rPr lang="en-US" altLang="en-US" sz="1600" b="0">
                <a:solidFill>
                  <a:srgbClr val="1A7A4A"/>
                </a:solidFill>
              </a:rPr>
              <a:t>Stablecoin inflows lower 3-month T-bill yields 2–2.5 basis points. Outflows raise yields 2–3x more. Effect is state-dependent on T-bill market supply.</a:t>
            </a:r>
          </a:p>
          <a:p>
            <a:pPr>
              <a:spcBef>
                <a:spcPts val="200"/>
              </a:spcBef>
            </a:pPr>
            <a:r>
              <a:rPr sz="1600">
                <a:solidFill>
                  <a:srgbClr val="C0392B"/>
                </a:solidFill>
                <a:sym typeface="+mn-ea"/>
              </a:rPr>
              <a:t>✗  </a:t>
            </a:r>
            <a:r>
              <a:rPr lang="en-US" altLang="en-US" sz="1600" b="0">
                <a:solidFill>
                  <a:srgbClr val="C0392B"/>
                </a:solidFill>
              </a:rPr>
              <a:t>Moderating variable is market-level T-bill supply — not issuer reserve composition. Uses yield levels, not OIS-Treasury spread. No reserve adequacy threshold identified.</a:t>
            </a:r>
          </a:p>
        </p:txBody>
      </p:sp>
      <p:sp>
        <p:nvSpPr>
          <p:cNvPr id="7" name="Rectangle 6"/>
          <p:cNvSpPr/>
          <p:nvPr/>
        </p:nvSpPr>
        <p:spPr>
          <a:xfrm>
            <a:off x="274320" y="817880"/>
            <a:ext cx="11548110" cy="38989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0045" y="852805"/>
            <a:ext cx="11407140" cy="306705"/>
          </a:xfrm>
          <a:prstGeom prst="rect">
            <a:avLst/>
          </a:prstGeom>
          <a:noFill/>
        </p:spPr>
        <p:txBody>
          <a:bodyPr wrap="square">
            <a:spAutoFit/>
          </a:bodyPr>
          <a:lstStyle/>
          <a:p>
            <a:pPr algn="ctr"/>
            <a:r>
              <a:rPr sz="1400" b="1">
                <a:solidFill>
                  <a:srgbClr val="FFFFFF"/>
                </a:solidFill>
              </a:rPr>
              <a:t>Existing Literature</a:t>
            </a:r>
          </a:p>
        </p:txBody>
      </p:sp>
      <p:sp>
        <p:nvSpPr>
          <p:cNvPr id="17" name="Rectangle 16"/>
          <p:cNvSpPr/>
          <p:nvPr/>
        </p:nvSpPr>
        <p:spPr>
          <a:xfrm>
            <a:off x="0" y="5862955"/>
            <a:ext cx="12188825" cy="99441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a:t>Each paper answers one question and leaves the next one open. None jointly estimates how issuer reserve composition moderates the transmission from stablecoin activity to sovereign debt markets.</a:t>
            </a:r>
          </a:p>
        </p:txBody>
      </p:sp>
      <p:sp>
        <p:nvSpPr>
          <p:cNvPr id="20" name="Rectangle 19"/>
          <p:cNvSpPr/>
          <p:nvPr/>
        </p:nvSpPr>
        <p:spPr>
          <a:xfrm>
            <a:off x="273685" y="2554605"/>
            <a:ext cx="11127740" cy="1290955"/>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1B3A72"/>
                </a:solidFill>
                <a:sym typeface="+mn-ea"/>
              </a:rPr>
              <a:t>Gorton &amp; Zhang  (2023)</a:t>
            </a:r>
            <a:endParaRPr sz="1600" b="1">
              <a:solidFill>
                <a:srgbClr val="1B3A72"/>
              </a:solidFill>
            </a:endParaRPr>
          </a:p>
          <a:p>
            <a:pPr>
              <a:spcBef>
                <a:spcPts val="300"/>
              </a:spcBef>
            </a:pPr>
            <a:r>
              <a:rPr sz="1600">
                <a:solidFill>
                  <a:srgbClr val="1A7A4A"/>
                </a:solidFill>
                <a:sym typeface="+mn-ea"/>
              </a:rPr>
              <a:t>✓  </a:t>
            </a:r>
            <a:r>
              <a:rPr lang="en-US" altLang="en-US" sz="1600">
                <a:solidFill>
                  <a:srgbClr val="1A7A4A"/>
                </a:solidFill>
                <a:sym typeface="+mn-ea"/>
              </a:rPr>
              <a:t>Stablecoin issuers are unregulated banks. Runs are structurally inevitable without deposit insurance equivalents. Historical parallel to 19th century wildcat banking.</a:t>
            </a:r>
            <a:endParaRPr sz="1600" b="0">
              <a:solidFill>
                <a:srgbClr val="1A7A4A"/>
              </a:solidFill>
            </a:endParaRPr>
          </a:p>
          <a:p>
            <a:pPr>
              <a:spcBef>
                <a:spcPts val="200"/>
              </a:spcBef>
            </a:pPr>
            <a:r>
              <a:rPr sz="1600">
                <a:solidFill>
                  <a:srgbClr val="C0392B"/>
                </a:solidFill>
                <a:sym typeface="+mn-ea"/>
              </a:rPr>
              <a:t>✗  </a:t>
            </a:r>
            <a:r>
              <a:rPr lang="en-US" altLang="en-US" sz="1600" b="0">
                <a:solidFill>
                  <a:srgbClr val="C0392B"/>
                </a:solidFill>
                <a:sym typeface="+mn-ea"/>
              </a:rPr>
              <a:t>Identifies the run risk. Does not model how runs transmit to sovereign debt markets. No Treasury spread analysis. No threshold estimation.</a:t>
            </a:r>
          </a:p>
        </p:txBody>
      </p:sp>
      <p:sp>
        <p:nvSpPr>
          <p:cNvPr id="21" name="Rectangle 20"/>
          <p:cNvSpPr/>
          <p:nvPr/>
        </p:nvSpPr>
        <p:spPr>
          <a:xfrm>
            <a:off x="273685" y="1317625"/>
            <a:ext cx="11115675" cy="1109345"/>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1B3A72"/>
                </a:solidFill>
                <a:sym typeface="+mn-ea"/>
              </a:rPr>
              <a:t>Lyons &amp; Viswanath-Natraj  (2023)</a:t>
            </a:r>
            <a:endParaRPr sz="1600" b="1">
              <a:solidFill>
                <a:srgbClr val="1B3A72"/>
              </a:solidFill>
            </a:endParaRPr>
          </a:p>
          <a:p>
            <a:pPr>
              <a:spcBef>
                <a:spcPts val="300"/>
              </a:spcBef>
            </a:pPr>
            <a:r>
              <a:rPr sz="1600">
                <a:solidFill>
                  <a:srgbClr val="1A7A4A"/>
                </a:solidFill>
                <a:sym typeface="+mn-ea"/>
              </a:rPr>
              <a:t>✓  </a:t>
            </a:r>
            <a:r>
              <a:rPr lang="en-US" altLang="en-US" sz="1600" b="0">
                <a:solidFill>
                  <a:srgbClr val="1A7A4A"/>
                </a:solidFill>
              </a:rPr>
              <a:t>Arbitrage mechanisms keep dollar-backed stablecoins pegged. Under-collateralised issuers face speculative attacks and devaluation risk.</a:t>
            </a:r>
          </a:p>
          <a:p>
            <a:pPr>
              <a:spcBef>
                <a:spcPts val="200"/>
              </a:spcBef>
            </a:pPr>
            <a:r>
              <a:rPr sz="1600">
                <a:solidFill>
                  <a:srgbClr val="C0392B"/>
                </a:solidFill>
                <a:sym typeface="+mn-ea"/>
              </a:rPr>
              <a:t>✗  </a:t>
            </a:r>
            <a:r>
              <a:rPr lang="en-US" altLang="en-US" sz="1600" b="0">
                <a:solidFill>
                  <a:srgbClr val="C0392B"/>
                </a:solidFill>
                <a:sym typeface="+mn-ea"/>
              </a:rPr>
              <a:t>Internal peg mechanics only. No connection to Treasury market outcomes. No reserve adequacy variable.</a:t>
            </a:r>
          </a:p>
        </p:txBody>
      </p:sp>
      <p:sp>
        <p:nvSpPr>
          <p:cNvPr id="9" name="TextBox 5"/>
          <p:cNvSpPr txBox="1"/>
          <p:nvPr/>
        </p:nvSpPr>
        <p:spPr>
          <a:xfrm>
            <a:off x="337185" y="5447550"/>
            <a:ext cx="11430000" cy="291465"/>
          </a:xfrm>
          <a:prstGeom prst="rect">
            <a:avLst/>
          </a:prstGeom>
          <a:noFill/>
        </p:spPr>
        <p:txBody>
          <a:bodyPr wrap="square">
            <a:spAutoFit/>
          </a:bodyPr>
          <a:lstStyle/>
          <a:p>
            <a:r>
              <a:rPr lang="en-US" sz="1300">
                <a:sym typeface="+mn-ea"/>
              </a:rPr>
              <a:t>*</a:t>
            </a:r>
            <a:r>
              <a:rPr sz="1300">
                <a:sym typeface="+mn-ea"/>
              </a:rPr>
              <a:t>Building on: Maggiori (2017), Jeanne &amp; Rancière (2011), Cole &amp; Kehoe (2000)</a:t>
            </a:r>
            <a:r>
              <a:rPr lang="en-US" altLang="en-US" sz="1300" b="0" dirty="0">
                <a:solidFill>
                  <a:srgbClr val="555566"/>
                </a:solidFill>
                <a:sym typeface="+mn-ea"/>
              </a:rPr>
              <a:t> — theoretical foundations established in prior presentation.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825" cy="69977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491490"/>
          </a:xfrm>
          <a:prstGeom prst="rect">
            <a:avLst/>
          </a:prstGeom>
          <a:noFill/>
        </p:spPr>
        <p:txBody>
          <a:bodyPr wrap="square">
            <a:spAutoFit/>
          </a:bodyPr>
          <a:lstStyle/>
          <a:p>
            <a:r>
              <a:rPr lang="en-US" altLang="en-US" sz="2600" b="0">
                <a:solidFill>
                  <a:srgbClr val="FFFFFF"/>
                </a:solidFill>
              </a:rPr>
              <a:t>What Our Paper Does That No Paper Has Done</a:t>
            </a:r>
          </a:p>
        </p:txBody>
      </p:sp>
      <p:sp>
        <p:nvSpPr>
          <p:cNvPr id="5" name="TextBox 4"/>
          <p:cNvSpPr txBox="1"/>
          <p:nvPr/>
        </p:nvSpPr>
        <p:spPr>
          <a:xfrm>
            <a:off x="9800000" y="207010"/>
            <a:ext cx="2200000" cy="245110"/>
          </a:xfrm>
          <a:prstGeom prst="rect">
            <a:avLst/>
          </a:prstGeom>
          <a:noFill/>
        </p:spPr>
        <p:txBody>
          <a:bodyPr wrap="square">
            <a:spAutoFit/>
          </a:bodyPr>
          <a:lstStyle/>
          <a:p>
            <a:pPr algn="r"/>
            <a:r>
              <a:rPr sz="1000" dirty="0">
                <a:solidFill>
                  <a:schemeClr val="bg1"/>
                </a:solidFill>
                <a:sym typeface="+mn-ea"/>
              </a:rPr>
              <a:t>Alexandre  </a:t>
            </a:r>
            <a:r>
              <a:rPr sz="1000" b="0" dirty="0">
                <a:solidFill>
                  <a:schemeClr val="bg1"/>
                </a:solidFill>
              </a:rPr>
              <a:t>Page </a:t>
            </a:r>
            <a:r>
              <a:rPr lang="en-US" sz="1000" b="0" dirty="0">
                <a:solidFill>
                  <a:schemeClr val="bg1"/>
                </a:solidFill>
              </a:rPr>
              <a:t>4</a:t>
            </a:r>
            <a:endParaRPr sz="1000" b="0" dirty="0">
              <a:solidFill>
                <a:schemeClr val="bg1"/>
              </a:solidFill>
            </a:endParaRPr>
          </a:p>
        </p:txBody>
      </p:sp>
      <p:sp>
        <p:nvSpPr>
          <p:cNvPr id="6" name="Rectangle 5"/>
          <p:cNvSpPr/>
          <p:nvPr/>
        </p:nvSpPr>
        <p:spPr>
          <a:xfrm>
            <a:off x="273685" y="1452245"/>
            <a:ext cx="5600700" cy="1683385"/>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sz="1600">
                <a:solidFill>
                  <a:schemeClr val="tx1"/>
                </a:solidFill>
                <a:sym typeface="+mn-ea"/>
              </a:rPr>
              <a:t>"No existing study jointly estimates how issuer reserve adequacy moderates the transmission from stablecoin supply growth to OIS-Treasury spreads — or identifies the threshold below which this transmission becomes a sovereign liquidity shock."</a:t>
            </a:r>
            <a:endParaRPr lang="en-US" altLang="en-US" sz="1600" b="0">
              <a:solidFill>
                <a:schemeClr val="tx1"/>
              </a:solidFill>
              <a:sym typeface="+mn-ea"/>
            </a:endParaRPr>
          </a:p>
        </p:txBody>
      </p:sp>
      <p:sp>
        <p:nvSpPr>
          <p:cNvPr id="12" name="Rectangle 11"/>
          <p:cNvSpPr/>
          <p:nvPr/>
        </p:nvSpPr>
        <p:spPr>
          <a:xfrm>
            <a:off x="6026150" y="960120"/>
            <a:ext cx="5859780" cy="829310"/>
          </a:xfrm>
          <a:prstGeom prst="rect">
            <a:avLst/>
          </a:prstGeom>
          <a:solidFill>
            <a:srgbClr val="1B3A72"/>
          </a:solidFill>
          <a:ln>
            <a:noFill/>
          </a:ln>
          <a:effectLst>
            <a:outerShdw blurRad="40000" dist="23000" dir="5400000" rotWithShape="0">
              <a:srgbClr val="000000">
                <a:alpha val="35000"/>
              </a:srgbClr>
            </a:outerShdw>
            <a:softEdge rad="12700"/>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sz="1700" b="1"/>
              <a:t>1. Dependent variable:</a:t>
            </a:r>
            <a:br>
              <a:rPr lang="en-US" altLang="en-US" sz="1700" b="1"/>
            </a:br>
            <a:r>
              <a:rPr lang="en-US" altLang="en-US" sz="1700"/>
              <a:t>OIS–Treasury spread — not yield levels. Measures the privilege directly.</a:t>
            </a:r>
          </a:p>
        </p:txBody>
      </p:sp>
      <p:sp>
        <p:nvSpPr>
          <p:cNvPr id="17" name="Rectangle 16"/>
          <p:cNvSpPr/>
          <p:nvPr/>
        </p:nvSpPr>
        <p:spPr>
          <a:xfrm>
            <a:off x="0" y="5787263"/>
            <a:ext cx="12188952" cy="109728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sym typeface="+mn-ea"/>
              </a:rPr>
              <a:t>β₄ and L* = 13% have no direct antecedent in the published literature.</a:t>
            </a:r>
            <a:endParaRPr b="1">
              <a:solidFill>
                <a:srgbClr val="FFFFFF"/>
              </a:solidFill>
            </a:endParaRPr>
          </a:p>
          <a:p>
            <a:pPr algn="ctr"/>
            <a:endParaRPr b="1">
              <a:solidFill>
                <a:srgbClr val="FFFFFF"/>
              </a:solidFill>
            </a:endParaRPr>
          </a:p>
        </p:txBody>
      </p:sp>
      <p:sp>
        <p:nvSpPr>
          <p:cNvPr id="19" name="Rectangle 18"/>
          <p:cNvSpPr/>
          <p:nvPr/>
        </p:nvSpPr>
        <p:spPr>
          <a:xfrm>
            <a:off x="6026150" y="1847850"/>
            <a:ext cx="5859780" cy="829310"/>
          </a:xfrm>
          <a:prstGeom prst="rect">
            <a:avLst/>
          </a:prstGeom>
          <a:solidFill>
            <a:srgbClr val="1B3A72"/>
          </a:solidFill>
          <a:ln>
            <a:noFill/>
          </a:ln>
          <a:effectLst>
            <a:outerShdw blurRad="40000" dist="23000" dir="5400000" rotWithShape="0">
              <a:srgbClr val="000000">
                <a:alpha val="35000"/>
              </a:srgbClr>
            </a:outerShdw>
            <a:softEdge rad="12700"/>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sz="1700" b="1"/>
              <a:t>2. Moderating variable:</a:t>
            </a:r>
            <a:br>
              <a:rPr lang="en-US" altLang="en-US" sz="1700" b="1"/>
            </a:br>
            <a:r>
              <a:rPr lang="en-US" altLang="en-US" sz="1700"/>
              <a:t>Issuer liquid buffer L — not market supply. Policy-actionable.</a:t>
            </a:r>
          </a:p>
        </p:txBody>
      </p:sp>
      <p:sp>
        <p:nvSpPr>
          <p:cNvPr id="20" name="Rectangle 19"/>
          <p:cNvSpPr/>
          <p:nvPr/>
        </p:nvSpPr>
        <p:spPr>
          <a:xfrm>
            <a:off x="6026150" y="2767330"/>
            <a:ext cx="5859780" cy="829310"/>
          </a:xfrm>
          <a:prstGeom prst="rect">
            <a:avLst/>
          </a:prstGeom>
          <a:solidFill>
            <a:srgbClr val="1B3A72"/>
          </a:solidFill>
          <a:ln>
            <a:noFill/>
          </a:ln>
          <a:effectLst>
            <a:outerShdw blurRad="40000" dist="23000" dir="5400000" rotWithShape="0">
              <a:srgbClr val="000000">
                <a:alpha val="35000"/>
              </a:srgbClr>
            </a:outerShdw>
            <a:softEdge rad="12700"/>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sz="1700" b="1"/>
              <a:t>3. Interaction term β₄:</a:t>
            </a:r>
            <a:br>
              <a:rPr lang="en-US" altLang="en-US" sz="1700" b="1"/>
            </a:br>
            <a:r>
              <a:rPr lang="en-US" altLang="en-US" sz="1700"/>
              <a:t> How L moderates stablecoin issuance effect on spreads. No antecedent.</a:t>
            </a:r>
          </a:p>
        </p:txBody>
      </p:sp>
      <p:sp>
        <p:nvSpPr>
          <p:cNvPr id="21" name="Rectangle 20"/>
          <p:cNvSpPr/>
          <p:nvPr/>
        </p:nvSpPr>
        <p:spPr>
          <a:xfrm>
            <a:off x="6026150" y="3656330"/>
            <a:ext cx="5859780" cy="829310"/>
          </a:xfrm>
          <a:prstGeom prst="rect">
            <a:avLst/>
          </a:prstGeom>
          <a:solidFill>
            <a:srgbClr val="1B3A72"/>
          </a:solidFill>
          <a:ln>
            <a:noFill/>
          </a:ln>
          <a:effectLst>
            <a:outerShdw blurRad="40000" dist="23000" dir="5400000" rotWithShape="0">
              <a:srgbClr val="000000">
                <a:alpha val="35000"/>
              </a:srgbClr>
            </a:outerShdw>
            <a:softEdge rad="12700"/>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sz="1700" b="1"/>
              <a:t>4. Threshold L = 13%: </a:t>
            </a:r>
            <a:br>
              <a:rPr lang="en-US" altLang="en-US" sz="1700" b="1"/>
            </a:br>
            <a:r>
              <a:rPr lang="en-US" altLang="en-US" sz="1700"/>
              <a:t>Hansen (2000) structural break separating two distinct regimes.First empirical estimate of this kind.</a:t>
            </a:r>
          </a:p>
        </p:txBody>
      </p:sp>
      <p:sp>
        <p:nvSpPr>
          <p:cNvPr id="22" name="Rectangle 21"/>
          <p:cNvSpPr/>
          <p:nvPr/>
        </p:nvSpPr>
        <p:spPr>
          <a:xfrm>
            <a:off x="6026150" y="4545330"/>
            <a:ext cx="5859780" cy="829310"/>
          </a:xfrm>
          <a:prstGeom prst="rect">
            <a:avLst/>
          </a:prstGeom>
          <a:solidFill>
            <a:srgbClr val="1B3A72"/>
          </a:solidFill>
          <a:ln>
            <a:noFill/>
          </a:ln>
          <a:effectLst>
            <a:outerShdw blurRad="40000" dist="23000" dir="5400000" rotWithShape="0">
              <a:srgbClr val="000000">
                <a:alpha val="35000"/>
              </a:srgbClr>
            </a:outerShdw>
            <a:softEdge rad="12700"/>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sz="1700" b="1"/>
              <a:t>5. Asymmetric effects: </a:t>
            </a:r>
          </a:p>
          <a:p>
            <a:pPr algn="ctr"/>
            <a:r>
              <a:rPr lang="en-US" altLang="en-US" sz="1700"/>
              <a:t>Growth vs. contraction periods separated. Consistent with Ahmed &amp; Aldasoro's own asymmetry finding.</a:t>
            </a:r>
          </a:p>
        </p:txBody>
      </p:sp>
      <p:sp>
        <p:nvSpPr>
          <p:cNvPr id="30" name="Rectangle 29"/>
          <p:cNvSpPr/>
          <p:nvPr/>
        </p:nvSpPr>
        <p:spPr>
          <a:xfrm>
            <a:off x="274320" y="3617595"/>
            <a:ext cx="5600065" cy="171958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sz="1600">
                <a:solidFill>
                  <a:schemeClr val="tx1"/>
                </a:solidFill>
                <a:sym typeface="+mn-ea"/>
              </a:rPr>
              <a:t>We fill this gap by combining </a:t>
            </a:r>
            <a:r>
              <a:rPr lang="en-US" altLang="en-US" sz="1600" b="1">
                <a:solidFill>
                  <a:schemeClr val="tx1"/>
                </a:solidFill>
                <a:sym typeface="+mn-ea"/>
              </a:rPr>
              <a:t>three </a:t>
            </a:r>
            <a:r>
              <a:rPr lang="en-US" altLang="en-US" sz="1600">
                <a:solidFill>
                  <a:schemeClr val="tx1"/>
                </a:solidFill>
                <a:sym typeface="+mn-ea"/>
              </a:rPr>
              <a:t>strands no paper has combined simultaneously:</a:t>
            </a:r>
            <a:endParaRPr lang="en-US" altLang="en-US" sz="1600" b="0">
              <a:solidFill>
                <a:schemeClr val="tx1"/>
              </a:solidFill>
            </a:endParaRPr>
          </a:p>
          <a:p>
            <a:pPr algn="ctr"/>
            <a:endParaRPr lang="en-US" altLang="en-US" sz="1600" b="0">
              <a:solidFill>
                <a:schemeClr val="tx1"/>
              </a:solidFill>
            </a:endParaRPr>
          </a:p>
          <a:p>
            <a:pPr algn="ctr"/>
            <a:r>
              <a:rPr lang="en-US" altLang="en-US" sz="1600">
                <a:solidFill>
                  <a:schemeClr val="tx1"/>
                </a:solidFill>
                <a:sym typeface="+mn-ea"/>
              </a:rPr>
              <a:t>Exorbitant privilege framework (Maggiori 2017)</a:t>
            </a:r>
            <a:endParaRPr lang="en-US" altLang="en-US" sz="1600" b="0">
              <a:solidFill>
                <a:schemeClr val="tx1"/>
              </a:solidFill>
            </a:endParaRPr>
          </a:p>
          <a:p>
            <a:pPr algn="ctr"/>
            <a:r>
              <a:rPr lang="en-US" altLang="en-US" sz="1600">
                <a:solidFill>
                  <a:schemeClr val="tx1"/>
                </a:solidFill>
                <a:sym typeface="+mn-ea"/>
              </a:rPr>
              <a:t>Stablecoin run risk (Gorton &amp; Zhang 2023)</a:t>
            </a:r>
            <a:endParaRPr lang="en-US" altLang="en-US" sz="1600" b="0">
              <a:solidFill>
                <a:schemeClr val="tx1"/>
              </a:solidFill>
            </a:endParaRPr>
          </a:p>
          <a:p>
            <a:pPr algn="ctr"/>
            <a:r>
              <a:rPr lang="en-US" altLang="en-US" sz="1600">
                <a:solidFill>
                  <a:schemeClr val="tx1"/>
                </a:solidFill>
                <a:sym typeface="+mn-ea"/>
              </a:rPr>
              <a:t>Reserve adequacy methodology (Jeanne &amp; Rancière 2011)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550000"/>
          </a:xfrm>
          <a:prstGeom prst="rect">
            <a:avLst/>
          </a:prstGeom>
          <a:noFill/>
        </p:spPr>
        <p:txBody>
          <a:bodyPr wrap="square">
            <a:spAutoFit/>
          </a:bodyPr>
          <a:lstStyle/>
          <a:p>
            <a:r>
              <a:rPr sz="2600" b="0">
                <a:solidFill>
                  <a:srgbClr val="FFFFFF"/>
                </a:solidFill>
              </a:rPr>
              <a:t>Result 3: Buffer-Conditioned Event Study</a:t>
            </a:r>
          </a:p>
        </p:txBody>
      </p:sp>
      <p:sp>
        <p:nvSpPr>
          <p:cNvPr id="5" name="TextBox 4"/>
          <p:cNvSpPr txBox="1"/>
          <p:nvPr/>
        </p:nvSpPr>
        <p:spPr>
          <a:xfrm>
            <a:off x="9800000" y="207010"/>
            <a:ext cx="2200000" cy="246221"/>
          </a:xfrm>
          <a:prstGeom prst="rect">
            <a:avLst/>
          </a:prstGeom>
          <a:noFill/>
        </p:spPr>
        <p:txBody>
          <a:bodyPr wrap="square">
            <a:spAutoFit/>
          </a:bodyPr>
          <a:lstStyle/>
          <a:p>
            <a:pPr algn="r"/>
            <a:r>
              <a:rPr sz="1000" b="0" dirty="0">
                <a:solidFill>
                  <a:schemeClr val="bg1"/>
                </a:solidFill>
              </a:rPr>
              <a:t>Jade  Page </a:t>
            </a:r>
            <a:r>
              <a:rPr lang="en-US" sz="1000" b="0" dirty="0">
                <a:solidFill>
                  <a:schemeClr val="bg1"/>
                </a:solidFill>
              </a:rPr>
              <a:t>5</a:t>
            </a:r>
            <a:endParaRPr sz="1000" b="0" dirty="0">
              <a:solidFill>
                <a:schemeClr val="bg1"/>
              </a:solidFill>
            </a:endParaRPr>
          </a:p>
        </p:txBody>
      </p:sp>
      <p:pic>
        <p:nvPicPr>
          <p:cNvPr id="6" name="Picture 5" descr="event_study_cars.png"/>
          <p:cNvPicPr>
            <a:picLocks noChangeAspect="1"/>
          </p:cNvPicPr>
          <p:nvPr/>
        </p:nvPicPr>
        <p:blipFill>
          <a:blip r:embed="rId3"/>
          <a:stretch>
            <a:fillRect/>
          </a:stretch>
        </p:blipFill>
        <p:spPr>
          <a:xfrm>
            <a:off x="228600" y="960120"/>
            <a:ext cx="7023524" cy="4572000"/>
          </a:xfrm>
          <a:prstGeom prst="rect">
            <a:avLst/>
          </a:prstGeom>
        </p:spPr>
      </p:pic>
      <p:sp>
        <p:nvSpPr>
          <p:cNvPr id="7" name="Rectangle 6"/>
          <p:cNvSpPr/>
          <p:nvPr/>
        </p:nvSpPr>
        <p:spPr>
          <a:xfrm>
            <a:off x="7314999" y="960120"/>
            <a:ext cx="4675619" cy="38000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45000" y="1020120"/>
            <a:ext cx="779270" cy="260000"/>
          </a:xfrm>
          <a:prstGeom prst="rect">
            <a:avLst/>
          </a:prstGeom>
          <a:noFill/>
        </p:spPr>
        <p:txBody>
          <a:bodyPr wrap="square">
            <a:spAutoFit/>
          </a:bodyPr>
          <a:lstStyle/>
          <a:p>
            <a:r>
              <a:rPr sz="1100" b="1">
                <a:solidFill>
                  <a:srgbClr val="FFFFFF"/>
                </a:solidFill>
              </a:rPr>
              <a:t>Event</a:t>
            </a:r>
          </a:p>
        </p:txBody>
      </p:sp>
      <p:sp>
        <p:nvSpPr>
          <p:cNvPr id="9" name="TextBox 8"/>
          <p:cNvSpPr txBox="1"/>
          <p:nvPr/>
        </p:nvSpPr>
        <p:spPr>
          <a:xfrm>
            <a:off x="9345000" y="1020120"/>
            <a:ext cx="779270" cy="260000"/>
          </a:xfrm>
          <a:prstGeom prst="rect">
            <a:avLst/>
          </a:prstGeom>
          <a:noFill/>
        </p:spPr>
        <p:txBody>
          <a:bodyPr wrap="square">
            <a:spAutoFit/>
          </a:bodyPr>
          <a:lstStyle/>
          <a:p>
            <a:r>
              <a:rPr sz="1100" b="1">
                <a:solidFill>
                  <a:srgbClr val="FFFFFF"/>
                </a:solidFill>
              </a:rPr>
              <a:t>Buffer</a:t>
            </a:r>
          </a:p>
        </p:txBody>
      </p:sp>
      <p:sp>
        <p:nvSpPr>
          <p:cNvPr id="10" name="TextBox 9"/>
          <p:cNvSpPr txBox="1"/>
          <p:nvPr/>
        </p:nvSpPr>
        <p:spPr>
          <a:xfrm>
            <a:off x="10245000" y="1020120"/>
            <a:ext cx="779270" cy="260000"/>
          </a:xfrm>
          <a:prstGeom prst="rect">
            <a:avLst/>
          </a:prstGeom>
          <a:noFill/>
        </p:spPr>
        <p:txBody>
          <a:bodyPr wrap="square">
            <a:spAutoFit/>
          </a:bodyPr>
          <a:lstStyle/>
          <a:p>
            <a:r>
              <a:rPr sz="1100" b="1">
                <a:solidFill>
                  <a:srgbClr val="FFFFFF"/>
                </a:solidFill>
              </a:rPr>
              <a:t>CAR</a:t>
            </a:r>
          </a:p>
        </p:txBody>
      </p:sp>
      <p:sp>
        <p:nvSpPr>
          <p:cNvPr id="11" name="TextBox 10"/>
          <p:cNvSpPr txBox="1"/>
          <p:nvPr/>
        </p:nvSpPr>
        <p:spPr>
          <a:xfrm>
            <a:off x="10945000" y="1020120"/>
            <a:ext cx="779270" cy="260000"/>
          </a:xfrm>
          <a:prstGeom prst="rect">
            <a:avLst/>
          </a:prstGeom>
          <a:noFill/>
        </p:spPr>
        <p:txBody>
          <a:bodyPr wrap="square">
            <a:spAutoFit/>
          </a:bodyPr>
          <a:lstStyle/>
          <a:p>
            <a:r>
              <a:rPr sz="1100" b="1">
                <a:solidFill>
                  <a:srgbClr val="FFFFFF"/>
                </a:solidFill>
              </a:rPr>
              <a:t>Sig.</a:t>
            </a:r>
          </a:p>
        </p:txBody>
      </p:sp>
      <p:sp>
        <p:nvSpPr>
          <p:cNvPr id="12" name="Rectangle 11"/>
          <p:cNvSpPr/>
          <p:nvPr/>
        </p:nvSpPr>
        <p:spPr>
          <a:xfrm>
            <a:off x="7314999" y="1340120"/>
            <a:ext cx="4675619" cy="400000"/>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44999" y="1410120"/>
            <a:ext cx="1544358" cy="261610"/>
          </a:xfrm>
          <a:prstGeom prst="rect">
            <a:avLst/>
          </a:prstGeom>
          <a:noFill/>
        </p:spPr>
        <p:txBody>
          <a:bodyPr wrap="square">
            <a:spAutoFit/>
          </a:bodyPr>
          <a:lstStyle/>
          <a:p>
            <a:r>
              <a:rPr sz="1100" b="0" dirty="0">
                <a:solidFill>
                  <a:srgbClr val="1A1A2E"/>
                </a:solidFill>
              </a:rPr>
              <a:t>LUNA/UST Collapse</a:t>
            </a:r>
          </a:p>
        </p:txBody>
      </p:sp>
      <p:sp>
        <p:nvSpPr>
          <p:cNvPr id="14" name="TextBox 13"/>
          <p:cNvSpPr txBox="1"/>
          <p:nvPr/>
        </p:nvSpPr>
        <p:spPr>
          <a:xfrm>
            <a:off x="9344999" y="1410120"/>
            <a:ext cx="757005" cy="261610"/>
          </a:xfrm>
          <a:prstGeom prst="rect">
            <a:avLst/>
          </a:prstGeom>
          <a:noFill/>
        </p:spPr>
        <p:txBody>
          <a:bodyPr wrap="square">
            <a:spAutoFit/>
          </a:bodyPr>
          <a:lstStyle/>
          <a:p>
            <a:r>
              <a:rPr sz="1100" b="0">
                <a:solidFill>
                  <a:srgbClr val="C0392B"/>
                </a:solidFill>
              </a:rPr>
              <a:t>LOW</a:t>
            </a:r>
          </a:p>
        </p:txBody>
      </p:sp>
      <p:sp>
        <p:nvSpPr>
          <p:cNvPr id="15" name="TextBox 14"/>
          <p:cNvSpPr txBox="1"/>
          <p:nvPr/>
        </p:nvSpPr>
        <p:spPr>
          <a:xfrm>
            <a:off x="10244999" y="1410120"/>
            <a:ext cx="757005" cy="261610"/>
          </a:xfrm>
          <a:prstGeom prst="rect">
            <a:avLst/>
          </a:prstGeom>
          <a:noFill/>
        </p:spPr>
        <p:txBody>
          <a:bodyPr wrap="square">
            <a:spAutoFit/>
          </a:bodyPr>
          <a:lstStyle/>
          <a:p>
            <a:r>
              <a:rPr sz="1100" b="0">
                <a:solidFill>
                  <a:srgbClr val="C0392B"/>
                </a:solidFill>
              </a:rPr>
              <a:t>+8.91 bp</a:t>
            </a:r>
          </a:p>
        </p:txBody>
      </p:sp>
      <p:sp>
        <p:nvSpPr>
          <p:cNvPr id="16" name="TextBox 15"/>
          <p:cNvSpPr txBox="1"/>
          <p:nvPr/>
        </p:nvSpPr>
        <p:spPr>
          <a:xfrm>
            <a:off x="10944999" y="1410120"/>
            <a:ext cx="757005" cy="261610"/>
          </a:xfrm>
          <a:prstGeom prst="rect">
            <a:avLst/>
          </a:prstGeom>
          <a:noFill/>
        </p:spPr>
        <p:txBody>
          <a:bodyPr wrap="square">
            <a:spAutoFit/>
          </a:bodyPr>
          <a:lstStyle/>
          <a:p>
            <a:r>
              <a:rPr sz="1100" b="0">
                <a:solidFill>
                  <a:srgbClr val="C0392B"/>
                </a:solidFill>
              </a:rPr>
              <a:t>***</a:t>
            </a:r>
          </a:p>
        </p:txBody>
      </p:sp>
      <p:sp>
        <p:nvSpPr>
          <p:cNvPr id="17" name="Rectangle 16"/>
          <p:cNvSpPr/>
          <p:nvPr/>
        </p:nvSpPr>
        <p:spPr>
          <a:xfrm>
            <a:off x="7314999" y="1750120"/>
            <a:ext cx="4675619" cy="400000"/>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44999" y="1820120"/>
            <a:ext cx="1544358" cy="261610"/>
          </a:xfrm>
          <a:prstGeom prst="rect">
            <a:avLst/>
          </a:prstGeom>
          <a:noFill/>
        </p:spPr>
        <p:txBody>
          <a:bodyPr wrap="square">
            <a:spAutoFit/>
          </a:bodyPr>
          <a:lstStyle/>
          <a:p>
            <a:r>
              <a:rPr sz="1100" b="0" dirty="0">
                <a:solidFill>
                  <a:srgbClr val="1A1A2E"/>
                </a:solidFill>
              </a:rPr>
              <a:t>USDT Partial </a:t>
            </a:r>
            <a:r>
              <a:rPr sz="1100" b="0" dirty="0" err="1">
                <a:solidFill>
                  <a:srgbClr val="1A1A2E"/>
                </a:solidFill>
              </a:rPr>
              <a:t>Depeg</a:t>
            </a:r>
            <a:endParaRPr sz="1100" b="0" dirty="0">
              <a:solidFill>
                <a:srgbClr val="1A1A2E"/>
              </a:solidFill>
            </a:endParaRPr>
          </a:p>
        </p:txBody>
      </p:sp>
      <p:sp>
        <p:nvSpPr>
          <p:cNvPr id="19" name="TextBox 18"/>
          <p:cNvSpPr txBox="1"/>
          <p:nvPr/>
        </p:nvSpPr>
        <p:spPr>
          <a:xfrm>
            <a:off x="9344999" y="1820120"/>
            <a:ext cx="757005" cy="261610"/>
          </a:xfrm>
          <a:prstGeom prst="rect">
            <a:avLst/>
          </a:prstGeom>
          <a:noFill/>
        </p:spPr>
        <p:txBody>
          <a:bodyPr wrap="square">
            <a:spAutoFit/>
          </a:bodyPr>
          <a:lstStyle/>
          <a:p>
            <a:r>
              <a:rPr sz="1100" b="0">
                <a:solidFill>
                  <a:srgbClr val="C0392B"/>
                </a:solidFill>
              </a:rPr>
              <a:t>LOW</a:t>
            </a:r>
          </a:p>
        </p:txBody>
      </p:sp>
      <p:sp>
        <p:nvSpPr>
          <p:cNvPr id="20" name="TextBox 19"/>
          <p:cNvSpPr txBox="1"/>
          <p:nvPr/>
        </p:nvSpPr>
        <p:spPr>
          <a:xfrm>
            <a:off x="10244999" y="1820120"/>
            <a:ext cx="757005" cy="261610"/>
          </a:xfrm>
          <a:prstGeom prst="rect">
            <a:avLst/>
          </a:prstGeom>
          <a:noFill/>
        </p:spPr>
        <p:txBody>
          <a:bodyPr wrap="square">
            <a:spAutoFit/>
          </a:bodyPr>
          <a:lstStyle/>
          <a:p>
            <a:r>
              <a:rPr sz="1100" b="0">
                <a:solidFill>
                  <a:srgbClr val="C0392B"/>
                </a:solidFill>
              </a:rPr>
              <a:t>+8.85 bp</a:t>
            </a:r>
          </a:p>
        </p:txBody>
      </p:sp>
      <p:sp>
        <p:nvSpPr>
          <p:cNvPr id="21" name="TextBox 20"/>
          <p:cNvSpPr txBox="1"/>
          <p:nvPr/>
        </p:nvSpPr>
        <p:spPr>
          <a:xfrm>
            <a:off x="10944999" y="1820120"/>
            <a:ext cx="757005" cy="261610"/>
          </a:xfrm>
          <a:prstGeom prst="rect">
            <a:avLst/>
          </a:prstGeom>
          <a:noFill/>
        </p:spPr>
        <p:txBody>
          <a:bodyPr wrap="square">
            <a:spAutoFit/>
          </a:bodyPr>
          <a:lstStyle/>
          <a:p>
            <a:r>
              <a:rPr sz="1100" b="0">
                <a:solidFill>
                  <a:srgbClr val="C0392B"/>
                </a:solidFill>
              </a:rPr>
              <a:t>***</a:t>
            </a:r>
          </a:p>
        </p:txBody>
      </p:sp>
      <p:sp>
        <p:nvSpPr>
          <p:cNvPr id="22" name="Rectangle 21"/>
          <p:cNvSpPr/>
          <p:nvPr/>
        </p:nvSpPr>
        <p:spPr>
          <a:xfrm>
            <a:off x="7314999" y="2160120"/>
            <a:ext cx="4675619" cy="4000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44999" y="2230120"/>
            <a:ext cx="1544358" cy="261610"/>
          </a:xfrm>
          <a:prstGeom prst="rect">
            <a:avLst/>
          </a:prstGeom>
          <a:noFill/>
        </p:spPr>
        <p:txBody>
          <a:bodyPr wrap="square">
            <a:spAutoFit/>
          </a:bodyPr>
          <a:lstStyle/>
          <a:p>
            <a:r>
              <a:rPr sz="1100" b="0" dirty="0">
                <a:solidFill>
                  <a:srgbClr val="1A1A2E"/>
                </a:solidFill>
              </a:rPr>
              <a:t>USDC / SVB Failure</a:t>
            </a:r>
          </a:p>
        </p:txBody>
      </p:sp>
      <p:sp>
        <p:nvSpPr>
          <p:cNvPr id="24" name="TextBox 23"/>
          <p:cNvSpPr txBox="1"/>
          <p:nvPr/>
        </p:nvSpPr>
        <p:spPr>
          <a:xfrm>
            <a:off x="9344999" y="2230120"/>
            <a:ext cx="757005" cy="261610"/>
          </a:xfrm>
          <a:prstGeom prst="rect">
            <a:avLst/>
          </a:prstGeom>
          <a:noFill/>
        </p:spPr>
        <p:txBody>
          <a:bodyPr wrap="square">
            <a:spAutoFit/>
          </a:bodyPr>
          <a:lstStyle/>
          <a:p>
            <a:r>
              <a:rPr sz="1100" b="0">
                <a:solidFill>
                  <a:srgbClr val="1A7A4A"/>
                </a:solidFill>
              </a:rPr>
              <a:t>HIGH</a:t>
            </a:r>
          </a:p>
        </p:txBody>
      </p:sp>
      <p:sp>
        <p:nvSpPr>
          <p:cNvPr id="25" name="TextBox 24"/>
          <p:cNvSpPr txBox="1"/>
          <p:nvPr/>
        </p:nvSpPr>
        <p:spPr>
          <a:xfrm>
            <a:off x="10245090" y="2230120"/>
            <a:ext cx="919480" cy="260350"/>
          </a:xfrm>
          <a:prstGeom prst="rect">
            <a:avLst/>
          </a:prstGeom>
          <a:noFill/>
        </p:spPr>
        <p:txBody>
          <a:bodyPr wrap="square">
            <a:spAutoFit/>
          </a:bodyPr>
          <a:lstStyle/>
          <a:p>
            <a:r>
              <a:rPr sz="1100" b="0">
                <a:solidFill>
                  <a:srgbClr val="1A7A4A"/>
                </a:solidFill>
              </a:rPr>
              <a:t>−18.01</a:t>
            </a:r>
            <a:r>
              <a:rPr lang="en-US" sz="1100" b="0">
                <a:solidFill>
                  <a:srgbClr val="1A7A4A"/>
                </a:solidFill>
              </a:rPr>
              <a:t> </a:t>
            </a:r>
            <a:r>
              <a:rPr sz="1100" b="0">
                <a:solidFill>
                  <a:srgbClr val="1A7A4A"/>
                </a:solidFill>
              </a:rPr>
              <a:t>bp</a:t>
            </a:r>
          </a:p>
        </p:txBody>
      </p:sp>
      <p:sp>
        <p:nvSpPr>
          <p:cNvPr id="26" name="TextBox 25"/>
          <p:cNvSpPr txBox="1"/>
          <p:nvPr/>
        </p:nvSpPr>
        <p:spPr>
          <a:xfrm>
            <a:off x="10944999" y="2230120"/>
            <a:ext cx="757005" cy="261610"/>
          </a:xfrm>
          <a:prstGeom prst="rect">
            <a:avLst/>
          </a:prstGeom>
          <a:noFill/>
        </p:spPr>
        <p:txBody>
          <a:bodyPr wrap="square">
            <a:spAutoFit/>
          </a:bodyPr>
          <a:lstStyle/>
          <a:p>
            <a:r>
              <a:rPr sz="1100" b="0">
                <a:solidFill>
                  <a:srgbClr val="1A7A4A"/>
                </a:solidFill>
              </a:rPr>
              <a:t>***</a:t>
            </a:r>
          </a:p>
        </p:txBody>
      </p:sp>
      <p:sp>
        <p:nvSpPr>
          <p:cNvPr id="27" name="TextBox 26"/>
          <p:cNvSpPr txBox="1"/>
          <p:nvPr/>
        </p:nvSpPr>
        <p:spPr>
          <a:xfrm>
            <a:off x="7314999" y="2610120"/>
            <a:ext cx="4675619" cy="246221"/>
          </a:xfrm>
          <a:prstGeom prst="rect">
            <a:avLst/>
          </a:prstGeom>
          <a:noFill/>
        </p:spPr>
        <p:txBody>
          <a:bodyPr wrap="square">
            <a:spAutoFit/>
          </a:bodyPr>
          <a:lstStyle/>
          <a:p>
            <a:r>
              <a:rPr sz="1000" b="0">
                <a:solidFill>
                  <a:srgbClr val="555566"/>
                </a:solidFill>
              </a:rPr>
              <a:t>Low vs. High buffer diff-test: t = 15.22, p &lt; 0.001</a:t>
            </a:r>
          </a:p>
        </p:txBody>
      </p:sp>
      <p:sp>
        <p:nvSpPr>
          <p:cNvPr id="28" name="Rectangle 27"/>
          <p:cNvSpPr/>
          <p:nvPr/>
        </p:nvSpPr>
        <p:spPr>
          <a:xfrm>
            <a:off x="7315200" y="3060065"/>
            <a:ext cx="4199890" cy="234315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95210" y="3160395"/>
            <a:ext cx="3999865" cy="1950085"/>
          </a:xfrm>
          <a:prstGeom prst="rect">
            <a:avLst/>
          </a:prstGeom>
          <a:noFill/>
        </p:spPr>
        <p:txBody>
          <a:bodyPr wrap="square">
            <a:noAutofit/>
          </a:bodyPr>
          <a:lstStyle/>
          <a:p>
            <a:pPr algn="l"/>
            <a:r>
              <a:rPr sz="1600" b="1" dirty="0">
                <a:solidFill>
                  <a:srgbClr val="AAC4E8"/>
                </a:solidFill>
              </a:rPr>
              <a:t>What this shows:</a:t>
            </a:r>
          </a:p>
          <a:p>
            <a:pPr>
              <a:spcBef>
                <a:spcPts val="500"/>
              </a:spcBef>
            </a:pPr>
            <a:r>
              <a:rPr sz="1400" b="0" dirty="0">
                <a:solidFill>
                  <a:srgbClr val="FFFFFF"/>
                </a:solidFill>
              </a:rPr>
              <a:t>❖  LOW buffer (LUNA, USDT 2022): spreads spike +8.9 bp — forced</a:t>
            </a:r>
            <a:r>
              <a:rPr lang="en-US" sz="1400" b="0" dirty="0">
                <a:solidFill>
                  <a:srgbClr val="FFFFFF"/>
                </a:solidFill>
              </a:rPr>
              <a:t> </a:t>
            </a:r>
            <a:r>
              <a:rPr sz="1400" b="0" dirty="0">
                <a:solidFill>
                  <a:srgbClr val="FFFFFF"/>
                </a:solidFill>
              </a:rPr>
              <a:t>T-bill liquidation transmits to sovereign debt markets</a:t>
            </a:r>
          </a:p>
          <a:p>
            <a:pPr>
              <a:spcBef>
                <a:spcPts val="500"/>
              </a:spcBef>
            </a:pPr>
            <a:r>
              <a:rPr sz="1400" b="0" dirty="0">
                <a:solidFill>
                  <a:srgbClr val="FFFFFF"/>
                </a:solidFill>
              </a:rPr>
              <a:t>❖  HIGH buffer (SVB 2023): spreads compress −18 bp — cash absorbs</a:t>
            </a:r>
            <a:r>
              <a:rPr lang="ko-KR" altLang="en-US" sz="1400" dirty="0">
                <a:solidFill>
                  <a:srgbClr val="FFFFFF"/>
                </a:solidFill>
              </a:rPr>
              <a:t> </a:t>
            </a:r>
            <a:r>
              <a:rPr sz="1400" b="0" dirty="0">
                <a:solidFill>
                  <a:srgbClr val="FFFFFF"/>
                </a:solidFill>
              </a:rPr>
              <a:t>redemptions; market sees flight-to-safety instead</a:t>
            </a:r>
          </a:p>
          <a:p>
            <a:pPr>
              <a:spcBef>
                <a:spcPts val="500"/>
              </a:spcBef>
            </a:pPr>
            <a:r>
              <a:rPr sz="1400" b="0" dirty="0">
                <a:solidFill>
                  <a:srgbClr val="FFFFFF"/>
                </a:solidFill>
              </a:rPr>
              <a:t>❖  Difference is statistically significant (p &lt; 0.001)</a:t>
            </a:r>
          </a:p>
        </p:txBody>
      </p:sp>
      <p:sp>
        <p:nvSpPr>
          <p:cNvPr id="30" name="Rectangle 29"/>
          <p:cNvSpPr/>
          <p:nvPr/>
        </p:nvSpPr>
        <p:spPr>
          <a:xfrm>
            <a:off x="0" y="5596128"/>
            <a:ext cx="12188952" cy="109728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48640" y="5716128"/>
            <a:ext cx="11274552" cy="830000"/>
          </a:xfrm>
          <a:prstGeom prst="rect">
            <a:avLst/>
          </a:prstGeom>
          <a:noFill/>
        </p:spPr>
        <p:txBody>
          <a:bodyPr wrap="square">
            <a:spAutoFit/>
          </a:bodyPr>
          <a:lstStyle/>
          <a:p>
            <a:pPr algn="ctr"/>
            <a:r>
              <a:rPr sz="1800" b="1">
                <a:solidFill>
                  <a:srgbClr val="FFFFFF"/>
                </a:solidFill>
              </a:rPr>
              <a:t>Causal evidence: the buffer — not the event — determines whether a run stabilises or disrupts Treasury markets.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550000"/>
          </a:xfrm>
          <a:prstGeom prst="rect">
            <a:avLst/>
          </a:prstGeom>
          <a:noFill/>
        </p:spPr>
        <p:txBody>
          <a:bodyPr wrap="square">
            <a:spAutoFit/>
          </a:bodyPr>
          <a:lstStyle/>
          <a:p>
            <a:r>
              <a:rPr sz="2600" b="0">
                <a:solidFill>
                  <a:srgbClr val="FFFFFF"/>
                </a:solidFill>
              </a:rPr>
              <a:t>Asymmetric Effects: Growth vs. Contraction Periods</a:t>
            </a:r>
          </a:p>
        </p:txBody>
      </p:sp>
      <p:sp>
        <p:nvSpPr>
          <p:cNvPr id="5" name="TextBox 4"/>
          <p:cNvSpPr txBox="1"/>
          <p:nvPr/>
        </p:nvSpPr>
        <p:spPr>
          <a:xfrm>
            <a:off x="9800000" y="207010"/>
            <a:ext cx="2200000" cy="246221"/>
          </a:xfrm>
          <a:prstGeom prst="rect">
            <a:avLst/>
          </a:prstGeom>
          <a:noFill/>
        </p:spPr>
        <p:txBody>
          <a:bodyPr wrap="square">
            <a:spAutoFit/>
          </a:bodyPr>
          <a:lstStyle/>
          <a:p>
            <a:pPr algn="r"/>
            <a:r>
              <a:rPr sz="1000" b="0" dirty="0">
                <a:solidFill>
                  <a:schemeClr val="bg1"/>
                </a:solidFill>
              </a:rPr>
              <a:t>Jade  Page </a:t>
            </a:r>
            <a:r>
              <a:rPr lang="en-US" sz="1000" b="0" dirty="0">
                <a:solidFill>
                  <a:schemeClr val="bg1"/>
                </a:solidFill>
              </a:rPr>
              <a:t>6</a:t>
            </a:r>
            <a:endParaRPr sz="1000" b="0" dirty="0">
              <a:solidFill>
                <a:schemeClr val="bg1"/>
              </a:solidFill>
            </a:endParaRPr>
          </a:p>
        </p:txBody>
      </p:sp>
      <p:sp>
        <p:nvSpPr>
          <p:cNvPr id="6" name="TextBox 5"/>
          <p:cNvSpPr txBox="1"/>
          <p:nvPr/>
        </p:nvSpPr>
        <p:spPr>
          <a:xfrm>
            <a:off x="365760" y="920000"/>
            <a:ext cx="11430000" cy="300000"/>
          </a:xfrm>
          <a:prstGeom prst="rect">
            <a:avLst/>
          </a:prstGeom>
          <a:noFill/>
        </p:spPr>
        <p:txBody>
          <a:bodyPr wrap="square">
            <a:spAutoFit/>
          </a:bodyPr>
          <a:lstStyle/>
          <a:p>
            <a:r>
              <a:rPr sz="1300" b="0" dirty="0">
                <a:solidFill>
                  <a:srgbClr val="555566"/>
                </a:solidFill>
              </a:rPr>
              <a:t>Buying T-bills is gradual and orderly. Selling is forced and immediate. The buffer only matters when supply contracts.</a:t>
            </a:r>
          </a:p>
        </p:txBody>
      </p:sp>
      <p:sp>
        <p:nvSpPr>
          <p:cNvPr id="7" name="Rectangle 6"/>
          <p:cNvSpPr/>
          <p:nvPr/>
        </p:nvSpPr>
        <p:spPr>
          <a:xfrm>
            <a:off x="365760" y="1300000"/>
            <a:ext cx="5486400" cy="4050000"/>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300000"/>
            <a:ext cx="5486400" cy="420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360000"/>
            <a:ext cx="5303520" cy="340000"/>
          </a:xfrm>
          <a:prstGeom prst="rect">
            <a:avLst/>
          </a:prstGeom>
          <a:noFill/>
        </p:spPr>
        <p:txBody>
          <a:bodyPr wrap="square">
            <a:spAutoFit/>
          </a:bodyPr>
          <a:lstStyle/>
          <a:p>
            <a:r>
              <a:rPr sz="1400" b="1">
                <a:solidFill>
                  <a:srgbClr val="FFFFFF"/>
                </a:solidFill>
              </a:rPr>
              <a:t>GROWTH PERIODS  (ΔlnS &gt; 0)   N = 32</a:t>
            </a:r>
          </a:p>
        </p:txBody>
      </p:sp>
      <p:sp>
        <p:nvSpPr>
          <p:cNvPr id="10" name="TextBox 9"/>
          <p:cNvSpPr txBox="1"/>
          <p:nvPr/>
        </p:nvSpPr>
        <p:spPr>
          <a:xfrm>
            <a:off x="420000" y="1800000"/>
            <a:ext cx="5350000" cy="1732915"/>
          </a:xfrm>
          <a:prstGeom prst="rect">
            <a:avLst/>
          </a:prstGeom>
          <a:noFill/>
        </p:spPr>
        <p:txBody>
          <a:bodyPr wrap="square">
            <a:spAutoFit/>
          </a:bodyPr>
          <a:lstStyle/>
          <a:p>
            <a:pPr algn="l"/>
            <a:r>
              <a:rPr sz="2800" b="1" dirty="0">
                <a:solidFill>
                  <a:srgbClr val="C0392B"/>
                </a:solidFill>
              </a:rPr>
              <a:t>β₁ = −1.79   (p = 0.352, </a:t>
            </a:r>
            <a:r>
              <a:rPr sz="2800" b="1" dirty="0" err="1">
                <a:solidFill>
                  <a:srgbClr val="C0392B"/>
                </a:solidFill>
              </a:rPr>
              <a:t>n.s</a:t>
            </a:r>
            <a:r>
              <a:rPr sz="2800" b="1" dirty="0">
                <a:solidFill>
                  <a:srgbClr val="C0392B"/>
                </a:solidFill>
              </a:rPr>
              <a:t>.)</a:t>
            </a:r>
          </a:p>
          <a:p>
            <a:pPr>
              <a:spcBef>
                <a:spcPts val="400"/>
              </a:spcBef>
            </a:pPr>
            <a:r>
              <a:rPr sz="1600" b="0" dirty="0">
                <a:solidFill>
                  <a:srgbClr val="1A1A2E"/>
                </a:solidFill>
              </a:rPr>
              <a:t>L × </a:t>
            </a:r>
            <a:r>
              <a:rPr sz="1600" b="0" dirty="0" err="1">
                <a:solidFill>
                  <a:srgbClr val="1A1A2E"/>
                </a:solidFill>
              </a:rPr>
              <a:t>ΔlnS</a:t>
            </a:r>
            <a:r>
              <a:rPr sz="1600" b="0" dirty="0">
                <a:solidFill>
                  <a:srgbClr val="1A1A2E"/>
                </a:solidFill>
              </a:rPr>
              <a:t> = −31.28   (p = 0.136, </a:t>
            </a:r>
            <a:r>
              <a:rPr sz="1600" b="0" dirty="0" err="1">
                <a:solidFill>
                  <a:srgbClr val="1A1A2E"/>
                </a:solidFill>
              </a:rPr>
              <a:t>n.s</a:t>
            </a:r>
            <a:r>
              <a:rPr sz="1600" b="0" dirty="0">
                <a:solidFill>
                  <a:srgbClr val="1A1A2E"/>
                </a:solidFill>
              </a:rPr>
              <a:t>.)</a:t>
            </a:r>
          </a:p>
          <a:p>
            <a:pPr>
              <a:spcBef>
                <a:spcPts val="400"/>
              </a:spcBef>
            </a:pPr>
            <a:r>
              <a:rPr sz="1400" b="0" dirty="0">
                <a:solidFill>
                  <a:srgbClr val="1A1A2E"/>
                </a:solidFill>
              </a:rPr>
              <a:t>R² = 0.335</a:t>
            </a:r>
          </a:p>
          <a:p>
            <a:pPr>
              <a:spcBef>
                <a:spcPts val="1200"/>
              </a:spcBef>
            </a:pPr>
            <a:r>
              <a:rPr sz="1600" b="0" dirty="0">
                <a:solidFill>
                  <a:srgbClr val="1A1A2E"/>
                </a:solidFill>
              </a:rPr>
              <a:t>Supply growth → orderly T-bill purchases.</a:t>
            </a:r>
            <a:r>
              <a:rPr lang="en-US" sz="1600" b="0" dirty="0">
                <a:solidFill>
                  <a:srgbClr val="1A1A2E"/>
                </a:solidFill>
              </a:rPr>
              <a:t> </a:t>
            </a:r>
            <a:r>
              <a:rPr sz="1600" b="0" dirty="0">
                <a:solidFill>
                  <a:srgbClr val="1A1A2E"/>
                </a:solidFill>
              </a:rPr>
              <a:t>Buffer size does not significantly change</a:t>
            </a:r>
            <a:r>
              <a:rPr lang="ko-KR" altLang="en-US" sz="1600" b="0" dirty="0">
                <a:solidFill>
                  <a:srgbClr val="1A1A2E"/>
                </a:solidFill>
              </a:rPr>
              <a:t> </a:t>
            </a:r>
            <a:r>
              <a:rPr sz="1600" b="0" dirty="0">
                <a:solidFill>
                  <a:srgbClr val="1A1A2E"/>
                </a:solidFill>
              </a:rPr>
              <a:t>how issuers affect markets.</a:t>
            </a:r>
          </a:p>
        </p:txBody>
      </p:sp>
      <p:sp>
        <p:nvSpPr>
          <p:cNvPr id="11" name="Rectangle 10"/>
          <p:cNvSpPr/>
          <p:nvPr/>
        </p:nvSpPr>
        <p:spPr>
          <a:xfrm>
            <a:off x="6309360" y="1300000"/>
            <a:ext cx="5486400" cy="40500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309360" y="1300000"/>
            <a:ext cx="5486400" cy="42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1360000"/>
            <a:ext cx="5303520" cy="340000"/>
          </a:xfrm>
          <a:prstGeom prst="rect">
            <a:avLst/>
          </a:prstGeom>
          <a:noFill/>
        </p:spPr>
        <p:txBody>
          <a:bodyPr wrap="square">
            <a:spAutoFit/>
          </a:bodyPr>
          <a:lstStyle/>
          <a:p>
            <a:r>
              <a:rPr sz="1400" b="1">
                <a:solidFill>
                  <a:srgbClr val="FFFFFF"/>
                </a:solidFill>
              </a:rPr>
              <a:t>CONTRACTION PERIODS  (ΔlnS &lt; 0)   N = 19</a:t>
            </a:r>
          </a:p>
        </p:txBody>
      </p:sp>
      <p:sp>
        <p:nvSpPr>
          <p:cNvPr id="14" name="TextBox 13"/>
          <p:cNvSpPr txBox="1"/>
          <p:nvPr/>
        </p:nvSpPr>
        <p:spPr>
          <a:xfrm>
            <a:off x="6370000" y="1800000"/>
            <a:ext cx="5350000" cy="1978660"/>
          </a:xfrm>
          <a:prstGeom prst="rect">
            <a:avLst/>
          </a:prstGeom>
          <a:noFill/>
        </p:spPr>
        <p:txBody>
          <a:bodyPr wrap="square">
            <a:spAutoFit/>
          </a:bodyPr>
          <a:lstStyle/>
          <a:p>
            <a:pPr algn="l"/>
            <a:r>
              <a:rPr sz="2800" b="1">
                <a:solidFill>
                  <a:srgbClr val="1A7A4A"/>
                </a:solidFill>
              </a:rPr>
              <a:t>β₁ = −12.68**   (p = 0.037)</a:t>
            </a:r>
          </a:p>
          <a:p>
            <a:pPr>
              <a:spcBef>
                <a:spcPts val="400"/>
              </a:spcBef>
            </a:pPr>
            <a:r>
              <a:rPr sz="1600" b="0">
                <a:solidFill>
                  <a:srgbClr val="1A1A2E"/>
                </a:solidFill>
              </a:rPr>
              <a:t>L × ΔlnS = +78.57   (p = 0.314, n.s.)</a:t>
            </a:r>
          </a:p>
          <a:p>
            <a:pPr>
              <a:spcBef>
                <a:spcPts val="400"/>
              </a:spcBef>
            </a:pPr>
            <a:r>
              <a:rPr sz="1400" b="0">
                <a:solidFill>
                  <a:srgbClr val="1A1A2E"/>
                </a:solidFill>
              </a:rPr>
              <a:t>R² = 0.728</a:t>
            </a:r>
          </a:p>
          <a:p>
            <a:pPr>
              <a:spcBef>
                <a:spcPts val="1200"/>
              </a:spcBef>
            </a:pPr>
            <a:r>
              <a:rPr sz="1600" b="0">
                <a:solidFill>
                  <a:srgbClr val="1A1A2E"/>
                </a:solidFill>
              </a:rPr>
              <a:t>Supply contraction → 7× larger effect.
Forced liquidation drives sovereign spread.
Model explains 73% of variation in stress.</a:t>
            </a:r>
          </a:p>
        </p:txBody>
      </p:sp>
      <p:sp>
        <p:nvSpPr>
          <p:cNvPr id="15" name="Rectangle 14"/>
          <p:cNvSpPr/>
          <p:nvPr/>
        </p:nvSpPr>
        <p:spPr>
          <a:xfrm>
            <a:off x="0" y="5596128"/>
            <a:ext cx="12188952" cy="109728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5716128"/>
            <a:ext cx="11274552" cy="830000"/>
          </a:xfrm>
          <a:prstGeom prst="rect">
            <a:avLst/>
          </a:prstGeom>
          <a:noFill/>
        </p:spPr>
        <p:txBody>
          <a:bodyPr wrap="square">
            <a:spAutoFit/>
          </a:bodyPr>
          <a:lstStyle/>
          <a:p>
            <a:pPr algn="ctr"/>
            <a:r>
              <a:rPr sz="1800" b="1">
                <a:solidFill>
                  <a:srgbClr val="FFFFFF"/>
                </a:solidFill>
              </a:rPr>
              <a:t>The buffer matters precisely when supply is falling — confirming the fragility mechanism our theory predicts.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550000"/>
          </a:xfrm>
          <a:prstGeom prst="rect">
            <a:avLst/>
          </a:prstGeom>
          <a:noFill/>
        </p:spPr>
        <p:txBody>
          <a:bodyPr wrap="square">
            <a:spAutoFit/>
          </a:bodyPr>
          <a:lstStyle/>
          <a:p>
            <a:r>
              <a:rPr sz="2600" b="0">
                <a:solidFill>
                  <a:srgbClr val="FFFFFF"/>
                </a:solidFill>
              </a:rPr>
              <a:t>Policy Implication: The 13% Empirical Floor</a:t>
            </a:r>
          </a:p>
        </p:txBody>
      </p:sp>
      <p:sp>
        <p:nvSpPr>
          <p:cNvPr id="5" name="TextBox 4"/>
          <p:cNvSpPr txBox="1"/>
          <p:nvPr/>
        </p:nvSpPr>
        <p:spPr>
          <a:xfrm>
            <a:off x="9800000" y="207010"/>
            <a:ext cx="2200000" cy="246221"/>
          </a:xfrm>
          <a:prstGeom prst="rect">
            <a:avLst/>
          </a:prstGeom>
          <a:noFill/>
        </p:spPr>
        <p:txBody>
          <a:bodyPr wrap="square">
            <a:spAutoFit/>
          </a:bodyPr>
          <a:lstStyle/>
          <a:p>
            <a:pPr algn="r"/>
            <a:r>
              <a:rPr sz="1000" b="0" dirty="0">
                <a:solidFill>
                  <a:schemeClr val="bg1"/>
                </a:solidFill>
              </a:rPr>
              <a:t>Baptiste  Page </a:t>
            </a:r>
            <a:r>
              <a:rPr lang="en-US" sz="1000" b="0" dirty="0">
                <a:solidFill>
                  <a:schemeClr val="bg1"/>
                </a:solidFill>
              </a:rPr>
              <a:t>7</a:t>
            </a:r>
            <a:endParaRPr sz="1000" b="0" dirty="0">
              <a:solidFill>
                <a:schemeClr val="bg1"/>
              </a:solidFill>
            </a:endParaRPr>
          </a:p>
        </p:txBody>
      </p:sp>
      <p:sp>
        <p:nvSpPr>
          <p:cNvPr id="6" name="Rectangle 5"/>
          <p:cNvSpPr/>
          <p:nvPr/>
        </p:nvSpPr>
        <p:spPr>
          <a:xfrm>
            <a:off x="365760" y="960120"/>
            <a:ext cx="4800000" cy="443532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20000" y="1020000"/>
            <a:ext cx="4600000" cy="340000"/>
          </a:xfrm>
          <a:prstGeom prst="rect">
            <a:avLst/>
          </a:prstGeom>
          <a:noFill/>
        </p:spPr>
        <p:txBody>
          <a:bodyPr wrap="square">
            <a:spAutoFit/>
          </a:bodyPr>
          <a:lstStyle/>
          <a:p>
            <a:r>
              <a:rPr sz="1500" b="1">
                <a:solidFill>
                  <a:srgbClr val="AAC4E8"/>
                </a:solidFill>
              </a:rPr>
              <a:t>What the threshold tells us:</a:t>
            </a:r>
          </a:p>
        </p:txBody>
      </p:sp>
      <p:sp>
        <p:nvSpPr>
          <p:cNvPr id="8" name="TextBox 7"/>
          <p:cNvSpPr txBox="1"/>
          <p:nvPr/>
        </p:nvSpPr>
        <p:spPr>
          <a:xfrm>
            <a:off x="420000" y="1450000"/>
            <a:ext cx="4600000" cy="2840990"/>
          </a:xfrm>
          <a:prstGeom prst="rect">
            <a:avLst/>
          </a:prstGeom>
          <a:noFill/>
        </p:spPr>
        <p:txBody>
          <a:bodyPr wrap="square">
            <a:spAutoFit/>
          </a:bodyPr>
          <a:lstStyle/>
          <a:p>
            <a:pPr algn="l"/>
            <a:r>
              <a:rPr sz="4000" b="1" dirty="0">
                <a:solidFill>
                  <a:srgbClr val="FFFFFF"/>
                </a:solidFill>
              </a:rPr>
              <a:t>q*  =  13%</a:t>
            </a:r>
          </a:p>
          <a:p>
            <a:pPr>
              <a:spcBef>
                <a:spcPts val="600"/>
              </a:spcBef>
            </a:pPr>
            <a:r>
              <a:rPr sz="1600" b="0" dirty="0">
                <a:solidFill>
                  <a:srgbClr val="AAC4E8"/>
                </a:solidFill>
              </a:rPr>
              <a:t>of supply held as liquid cash</a:t>
            </a:r>
          </a:p>
          <a:p>
            <a:pPr>
              <a:spcBef>
                <a:spcPts val="1600"/>
              </a:spcBef>
            </a:pPr>
            <a:r>
              <a:rPr sz="1600" b="1" dirty="0">
                <a:solidFill>
                  <a:srgbClr val="FFD700"/>
                </a:solidFill>
              </a:rPr>
              <a:t>Below 13% (38 of 51 months):</a:t>
            </a:r>
          </a:p>
          <a:p>
            <a:r>
              <a:rPr sz="1600" b="0" dirty="0">
                <a:solidFill>
                  <a:srgbClr val="FFFFFF"/>
                </a:solidFill>
              </a:rPr>
              <a:t>Issuers move T-bill markets in both</a:t>
            </a:r>
            <a:r>
              <a:rPr lang="en-US" sz="1600" b="0" dirty="0">
                <a:solidFill>
                  <a:srgbClr val="FFFFFF"/>
                </a:solidFill>
              </a:rPr>
              <a:t> </a:t>
            </a:r>
            <a:r>
              <a:rPr sz="1600" b="0" dirty="0">
                <a:solidFill>
                  <a:srgbClr val="FFFFFF"/>
                </a:solidFill>
              </a:rPr>
              <a:t>directions → sovereign spread disruption</a:t>
            </a:r>
          </a:p>
          <a:p>
            <a:pPr>
              <a:spcBef>
                <a:spcPts val="1000"/>
              </a:spcBef>
            </a:pPr>
            <a:r>
              <a:rPr sz="1600" b="1" dirty="0">
                <a:solidFill>
                  <a:srgbClr val="FFD700"/>
                </a:solidFill>
              </a:rPr>
              <a:t>Above 13% (13 of 51 months):</a:t>
            </a:r>
          </a:p>
          <a:p>
            <a:r>
              <a:rPr sz="1600" b="0" dirty="0">
                <a:solidFill>
                  <a:srgbClr val="FFFFFF"/>
                </a:solidFill>
              </a:rPr>
              <a:t>Redemptions absorbed by cash →</a:t>
            </a:r>
            <a:r>
              <a:rPr lang="en-US" sz="1600" b="0" dirty="0">
                <a:solidFill>
                  <a:srgbClr val="FFFFFF"/>
                </a:solidFill>
              </a:rPr>
              <a:t> </a:t>
            </a:r>
            <a:r>
              <a:rPr sz="1600" b="0" dirty="0">
                <a:solidFill>
                  <a:srgbClr val="FFFFFF"/>
                </a:solidFill>
              </a:rPr>
              <a:t>T-bill market undisturbed</a:t>
            </a:r>
          </a:p>
        </p:txBody>
      </p:sp>
      <p:sp>
        <p:nvSpPr>
          <p:cNvPr id="9" name="Rectangle 8"/>
          <p:cNvSpPr/>
          <p:nvPr/>
        </p:nvSpPr>
        <p:spPr>
          <a:xfrm>
            <a:off x="5350000" y="960120"/>
            <a:ext cx="6500000" cy="4435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50000" y="1020000"/>
            <a:ext cx="6200000" cy="368300"/>
          </a:xfrm>
          <a:prstGeom prst="rect">
            <a:avLst/>
          </a:prstGeom>
          <a:noFill/>
        </p:spPr>
        <p:txBody>
          <a:bodyPr wrap="square">
            <a:spAutoFit/>
          </a:bodyPr>
          <a:lstStyle/>
          <a:p>
            <a:r>
              <a:rPr b="1">
                <a:solidFill>
                  <a:srgbClr val="1B3A72"/>
                </a:solidFill>
              </a:rPr>
              <a:t>Regulatory interpretation:</a:t>
            </a:r>
          </a:p>
        </p:txBody>
      </p:sp>
      <p:sp>
        <p:nvSpPr>
          <p:cNvPr id="11" name="TextBox 10"/>
          <p:cNvSpPr txBox="1"/>
          <p:nvPr/>
        </p:nvSpPr>
        <p:spPr>
          <a:xfrm>
            <a:off x="5450000" y="1450000"/>
            <a:ext cx="6100000" cy="321945"/>
          </a:xfrm>
          <a:prstGeom prst="rect">
            <a:avLst/>
          </a:prstGeom>
          <a:noFill/>
        </p:spPr>
        <p:txBody>
          <a:bodyPr wrap="square">
            <a:spAutoFit/>
          </a:bodyPr>
          <a:lstStyle/>
          <a:p>
            <a:r>
              <a:rPr sz="1500" b="1">
                <a:solidFill>
                  <a:srgbClr val="1B3A72"/>
                </a:solidFill>
              </a:rPr>
              <a:t>What the data says</a:t>
            </a:r>
          </a:p>
        </p:txBody>
      </p:sp>
      <p:sp>
        <p:nvSpPr>
          <p:cNvPr id="12" name="TextBox 11"/>
          <p:cNvSpPr txBox="1"/>
          <p:nvPr/>
        </p:nvSpPr>
        <p:spPr>
          <a:xfrm>
            <a:off x="5450000" y="1710000"/>
            <a:ext cx="6100000" cy="521970"/>
          </a:xfrm>
          <a:prstGeom prst="rect">
            <a:avLst/>
          </a:prstGeom>
          <a:noFill/>
        </p:spPr>
        <p:txBody>
          <a:bodyPr wrap="square">
            <a:spAutoFit/>
          </a:bodyPr>
          <a:lstStyle/>
          <a:p>
            <a:r>
              <a:rPr sz="1400" b="0" dirty="0">
                <a:solidFill>
                  <a:srgbClr val="1A1A2E"/>
                </a:solidFill>
              </a:rPr>
              <a:t>L* = 13% is the empirically identified statistical break point</a:t>
            </a:r>
            <a:r>
              <a:rPr lang="en-US" sz="1400" b="0" dirty="0">
                <a:solidFill>
                  <a:srgbClr val="1A1A2E"/>
                </a:solidFill>
              </a:rPr>
              <a:t> </a:t>
            </a:r>
            <a:r>
              <a:rPr sz="1400" b="0" dirty="0">
                <a:solidFill>
                  <a:srgbClr val="1A1A2E"/>
                </a:solidFill>
              </a:rPr>
              <a:t>separating two distinct regimes — not an optimal level</a:t>
            </a:r>
          </a:p>
        </p:txBody>
      </p:sp>
      <p:sp>
        <p:nvSpPr>
          <p:cNvPr id="13" name="TextBox 12"/>
          <p:cNvSpPr txBox="1"/>
          <p:nvPr/>
        </p:nvSpPr>
        <p:spPr>
          <a:xfrm>
            <a:off x="5450000" y="2210000"/>
            <a:ext cx="6100000" cy="321945"/>
          </a:xfrm>
          <a:prstGeom prst="rect">
            <a:avLst/>
          </a:prstGeom>
          <a:noFill/>
        </p:spPr>
        <p:txBody>
          <a:bodyPr wrap="square">
            <a:spAutoFit/>
          </a:bodyPr>
          <a:lstStyle/>
          <a:p>
            <a:r>
              <a:rPr sz="1500" b="1">
                <a:solidFill>
                  <a:srgbClr val="1B3A72"/>
                </a:solidFill>
              </a:rPr>
              <a:t>Proposed floor</a:t>
            </a:r>
          </a:p>
        </p:txBody>
      </p:sp>
      <p:sp>
        <p:nvSpPr>
          <p:cNvPr id="14" name="TextBox 13"/>
          <p:cNvSpPr txBox="1"/>
          <p:nvPr/>
        </p:nvSpPr>
        <p:spPr>
          <a:xfrm>
            <a:off x="5450000" y="2470000"/>
            <a:ext cx="6100000" cy="521970"/>
          </a:xfrm>
          <a:prstGeom prst="rect">
            <a:avLst/>
          </a:prstGeom>
          <a:noFill/>
        </p:spPr>
        <p:txBody>
          <a:bodyPr wrap="square">
            <a:spAutoFit/>
          </a:bodyPr>
          <a:lstStyle/>
          <a:p>
            <a:r>
              <a:rPr sz="1400" b="0" dirty="0">
                <a:solidFill>
                  <a:srgbClr val="1A1A2E"/>
                </a:solidFill>
              </a:rPr>
              <a:t>Minimum liquid reserve requirement of 13–15% of outstanding supply</a:t>
            </a:r>
            <a:r>
              <a:rPr lang="en-US" sz="1400" b="0" dirty="0">
                <a:solidFill>
                  <a:srgbClr val="1A1A2E"/>
                </a:solidFill>
              </a:rPr>
              <a:t> ( </a:t>
            </a:r>
            <a:r>
              <a:rPr sz="1400" b="0" dirty="0">
                <a:solidFill>
                  <a:srgbClr val="1A1A2E"/>
                </a:solidFill>
              </a:rPr>
              <a:t>cash or near-cash instruments only)</a:t>
            </a:r>
          </a:p>
        </p:txBody>
      </p:sp>
      <p:sp>
        <p:nvSpPr>
          <p:cNvPr id="15" name="TextBox 14"/>
          <p:cNvSpPr txBox="1"/>
          <p:nvPr/>
        </p:nvSpPr>
        <p:spPr>
          <a:xfrm>
            <a:off x="5450000" y="2970000"/>
            <a:ext cx="6100000" cy="321945"/>
          </a:xfrm>
          <a:prstGeom prst="rect">
            <a:avLst/>
          </a:prstGeom>
          <a:noFill/>
        </p:spPr>
        <p:txBody>
          <a:bodyPr wrap="square">
            <a:spAutoFit/>
          </a:bodyPr>
          <a:lstStyle/>
          <a:p>
            <a:r>
              <a:rPr sz="1500" b="1">
                <a:solidFill>
                  <a:srgbClr val="1B3A72"/>
                </a:solidFill>
              </a:rPr>
              <a:t>Who this applies to</a:t>
            </a:r>
          </a:p>
        </p:txBody>
      </p:sp>
      <p:sp>
        <p:nvSpPr>
          <p:cNvPr id="16" name="TextBox 15"/>
          <p:cNvSpPr txBox="1"/>
          <p:nvPr/>
        </p:nvSpPr>
        <p:spPr>
          <a:xfrm>
            <a:off x="5450000" y="3230000"/>
            <a:ext cx="6100000" cy="521970"/>
          </a:xfrm>
          <a:prstGeom prst="rect">
            <a:avLst/>
          </a:prstGeom>
          <a:noFill/>
        </p:spPr>
        <p:txBody>
          <a:bodyPr wrap="square">
            <a:spAutoFit/>
          </a:bodyPr>
          <a:lstStyle/>
          <a:p>
            <a:r>
              <a:rPr sz="1400" b="0" dirty="0">
                <a:solidFill>
                  <a:srgbClr val="1A1A2E"/>
                </a:solidFill>
              </a:rPr>
              <a:t>USD-pegged fiat-</a:t>
            </a:r>
            <a:r>
              <a:rPr sz="1400" b="0" dirty="0" err="1">
                <a:solidFill>
                  <a:srgbClr val="1A1A2E"/>
                </a:solidFill>
              </a:rPr>
              <a:t>collateralised</a:t>
            </a:r>
            <a:r>
              <a:rPr sz="1400" b="0" dirty="0">
                <a:solidFill>
                  <a:srgbClr val="1A1A2E"/>
                </a:solidFill>
              </a:rPr>
              <a:t> stablecoin issuers</a:t>
            </a:r>
            <a:r>
              <a:rPr lang="en-US" sz="1400" b="0" dirty="0">
                <a:solidFill>
                  <a:srgbClr val="1A1A2E"/>
                </a:solidFill>
              </a:rPr>
              <a:t> </a:t>
            </a:r>
            <a:r>
              <a:rPr sz="1400" b="0" dirty="0">
                <a:solidFill>
                  <a:srgbClr val="1A1A2E"/>
                </a:solidFill>
              </a:rPr>
              <a:t>operating above $10bn supply (systemic threshold)</a:t>
            </a:r>
          </a:p>
        </p:txBody>
      </p:sp>
      <p:sp>
        <p:nvSpPr>
          <p:cNvPr id="17" name="TextBox 16"/>
          <p:cNvSpPr txBox="1"/>
          <p:nvPr/>
        </p:nvSpPr>
        <p:spPr>
          <a:xfrm>
            <a:off x="5450000" y="3730000"/>
            <a:ext cx="6100000" cy="321945"/>
          </a:xfrm>
          <a:prstGeom prst="rect">
            <a:avLst/>
          </a:prstGeom>
          <a:noFill/>
        </p:spPr>
        <p:txBody>
          <a:bodyPr wrap="square">
            <a:spAutoFit/>
          </a:bodyPr>
          <a:lstStyle/>
          <a:p>
            <a:r>
              <a:rPr sz="1500" b="1">
                <a:solidFill>
                  <a:srgbClr val="1B3A72"/>
                </a:solidFill>
              </a:rPr>
              <a:t>Caveat — welfare optimum</a:t>
            </a:r>
          </a:p>
        </p:txBody>
      </p:sp>
      <p:sp>
        <p:nvSpPr>
          <p:cNvPr id="18" name="TextBox 17"/>
          <p:cNvSpPr txBox="1"/>
          <p:nvPr/>
        </p:nvSpPr>
        <p:spPr>
          <a:xfrm>
            <a:off x="5450000" y="3990000"/>
            <a:ext cx="6100000" cy="521970"/>
          </a:xfrm>
          <a:prstGeom prst="rect">
            <a:avLst/>
          </a:prstGeom>
          <a:noFill/>
        </p:spPr>
        <p:txBody>
          <a:bodyPr wrap="square">
            <a:spAutoFit/>
          </a:bodyPr>
          <a:lstStyle/>
          <a:p>
            <a:r>
              <a:rPr sz="1400" b="0" dirty="0">
                <a:solidFill>
                  <a:srgbClr val="1A1A2E"/>
                </a:solidFill>
              </a:rPr>
              <a:t>This threshold identifies a </a:t>
            </a:r>
            <a:r>
              <a:rPr sz="1400" b="0" dirty="0" err="1">
                <a:solidFill>
                  <a:srgbClr val="1A1A2E"/>
                </a:solidFill>
              </a:rPr>
              <a:t>behavioural</a:t>
            </a:r>
            <a:r>
              <a:rPr sz="1400" b="0" dirty="0">
                <a:solidFill>
                  <a:srgbClr val="1A1A2E"/>
                </a:solidFill>
              </a:rPr>
              <a:t> break, not a welfare</a:t>
            </a:r>
            <a:r>
              <a:rPr lang="en-US" sz="1400" b="0" dirty="0">
                <a:solidFill>
                  <a:srgbClr val="1A1A2E"/>
                </a:solidFill>
              </a:rPr>
              <a:t> </a:t>
            </a:r>
            <a:r>
              <a:rPr sz="1400" b="0" dirty="0">
                <a:solidFill>
                  <a:srgbClr val="1A1A2E"/>
                </a:solidFill>
              </a:rPr>
              <a:t>optimum. Full welfare analysis requires a structural model</a:t>
            </a:r>
            <a:r>
              <a:rPr lang="en-US" sz="1400" b="0" dirty="0">
                <a:solidFill>
                  <a:srgbClr val="1A1A2E"/>
                </a:solidFill>
              </a:rPr>
              <a:t> </a:t>
            </a:r>
            <a:r>
              <a:rPr sz="1400" b="0" dirty="0">
                <a:solidFill>
                  <a:srgbClr val="1A1A2E"/>
                </a:solidFill>
              </a:rPr>
              <a:t>beyond this paper's scope</a:t>
            </a:r>
          </a:p>
        </p:txBody>
      </p:sp>
      <p:sp>
        <p:nvSpPr>
          <p:cNvPr id="19" name="Rectangle 18"/>
          <p:cNvSpPr/>
          <p:nvPr/>
        </p:nvSpPr>
        <p:spPr>
          <a:xfrm>
            <a:off x="0" y="5596128"/>
            <a:ext cx="12188952" cy="109728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5716128"/>
            <a:ext cx="11274552" cy="830000"/>
          </a:xfrm>
          <a:prstGeom prst="rect">
            <a:avLst/>
          </a:prstGeom>
          <a:noFill/>
        </p:spPr>
        <p:txBody>
          <a:bodyPr wrap="square">
            <a:spAutoFit/>
          </a:bodyPr>
          <a:lstStyle/>
          <a:p>
            <a:pPr algn="ctr"/>
            <a:r>
              <a:rPr sz="1800" b="1">
                <a:solidFill>
                  <a:srgbClr val="FFFFFF"/>
                </a:solidFill>
              </a:rPr>
              <a:t>We identify where the break is — regulators determine where the requirement should be set.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0515600" cy="550000"/>
          </a:xfrm>
          <a:prstGeom prst="rect">
            <a:avLst/>
          </a:prstGeom>
          <a:noFill/>
        </p:spPr>
        <p:txBody>
          <a:bodyPr wrap="square">
            <a:spAutoFit/>
          </a:bodyPr>
          <a:lstStyle/>
          <a:p>
            <a:r>
              <a:rPr sz="2600" b="0">
                <a:solidFill>
                  <a:srgbClr val="FFFFFF"/>
                </a:solidFill>
              </a:rPr>
              <a:t>Conclusion: Navigating the New Triffin Dilemma</a:t>
            </a:r>
          </a:p>
        </p:txBody>
      </p:sp>
      <p:sp>
        <p:nvSpPr>
          <p:cNvPr id="5" name="TextBox 4"/>
          <p:cNvSpPr txBox="1"/>
          <p:nvPr/>
        </p:nvSpPr>
        <p:spPr>
          <a:xfrm>
            <a:off x="9800000" y="207010"/>
            <a:ext cx="2200000" cy="246221"/>
          </a:xfrm>
          <a:prstGeom prst="rect">
            <a:avLst/>
          </a:prstGeom>
          <a:noFill/>
        </p:spPr>
        <p:txBody>
          <a:bodyPr wrap="square">
            <a:spAutoFit/>
          </a:bodyPr>
          <a:lstStyle/>
          <a:p>
            <a:pPr algn="r"/>
            <a:r>
              <a:rPr sz="1000" b="0" dirty="0">
                <a:solidFill>
                  <a:schemeClr val="bg1"/>
                </a:solidFill>
              </a:rPr>
              <a:t>Baptiste  Page </a:t>
            </a:r>
            <a:r>
              <a:rPr lang="en-US" sz="1000" b="0" dirty="0">
                <a:solidFill>
                  <a:schemeClr val="bg1"/>
                </a:solidFill>
              </a:rPr>
              <a:t>8</a:t>
            </a:r>
            <a:endParaRPr sz="1000" b="0" dirty="0">
              <a:solidFill>
                <a:schemeClr val="bg1"/>
              </a:solidFill>
            </a:endParaRPr>
          </a:p>
        </p:txBody>
      </p:sp>
      <p:sp>
        <p:nvSpPr>
          <p:cNvPr id="6" name="Rectangle 5"/>
          <p:cNvSpPr/>
          <p:nvPr/>
        </p:nvSpPr>
        <p:spPr>
          <a:xfrm>
            <a:off x="274320" y="960120"/>
            <a:ext cx="3365401" cy="3654891"/>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960120"/>
            <a:ext cx="3365401" cy="35611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4320" y="1010120"/>
            <a:ext cx="3260232" cy="292388"/>
          </a:xfrm>
          <a:prstGeom prst="rect">
            <a:avLst/>
          </a:prstGeom>
          <a:noFill/>
        </p:spPr>
        <p:txBody>
          <a:bodyPr wrap="square">
            <a:spAutoFit/>
          </a:bodyPr>
          <a:lstStyle/>
          <a:p>
            <a:r>
              <a:rPr sz="1300" b="1">
                <a:solidFill>
                  <a:srgbClr val="FFFFFF"/>
                </a:solidFill>
              </a:rPr>
              <a:t>Result 1 — Privilege Amplification</a:t>
            </a:r>
          </a:p>
        </p:txBody>
      </p:sp>
      <p:sp>
        <p:nvSpPr>
          <p:cNvPr id="9" name="TextBox 8"/>
          <p:cNvSpPr txBox="1"/>
          <p:nvPr/>
        </p:nvSpPr>
        <p:spPr>
          <a:xfrm>
            <a:off x="334010" y="1410335"/>
            <a:ext cx="3260090" cy="3016885"/>
          </a:xfrm>
          <a:prstGeom prst="rect">
            <a:avLst/>
          </a:prstGeom>
          <a:noFill/>
        </p:spPr>
        <p:txBody>
          <a:bodyPr wrap="square">
            <a:noAutofit/>
          </a:bodyPr>
          <a:lstStyle/>
          <a:p>
            <a:r>
              <a:rPr sz="1600" b="0">
                <a:solidFill>
                  <a:srgbClr val="1A1A2E"/>
                </a:solidFill>
              </a:rPr>
              <a:t>Every 1% growth in stablecoin supply compresses the
OIS–Treasury spread by ~6–8 basis points.
Stablecoins mechanically deepen US safe-asset
demand — amplifying the exorbitant privilege.</a:t>
            </a:r>
          </a:p>
        </p:txBody>
      </p:sp>
      <p:sp>
        <p:nvSpPr>
          <p:cNvPr id="10" name="Rectangle 9"/>
          <p:cNvSpPr/>
          <p:nvPr/>
        </p:nvSpPr>
        <p:spPr>
          <a:xfrm>
            <a:off x="4388640" y="960120"/>
            <a:ext cx="3365401" cy="3654891"/>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8640" y="960120"/>
            <a:ext cx="3365401" cy="356118"/>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48640" y="1010120"/>
            <a:ext cx="3260232" cy="292388"/>
          </a:xfrm>
          <a:prstGeom prst="rect">
            <a:avLst/>
          </a:prstGeom>
          <a:noFill/>
        </p:spPr>
        <p:txBody>
          <a:bodyPr wrap="square">
            <a:spAutoFit/>
          </a:bodyPr>
          <a:lstStyle/>
          <a:p>
            <a:r>
              <a:rPr sz="1300" b="1">
                <a:solidFill>
                  <a:srgbClr val="FFFFFF"/>
                </a:solidFill>
              </a:rPr>
              <a:t>Result 2 — Safety Threshold</a:t>
            </a:r>
          </a:p>
        </p:txBody>
      </p:sp>
      <p:sp>
        <p:nvSpPr>
          <p:cNvPr id="13" name="TextBox 12"/>
          <p:cNvSpPr txBox="1"/>
          <p:nvPr/>
        </p:nvSpPr>
        <p:spPr>
          <a:xfrm>
            <a:off x="4448640" y="1410120"/>
            <a:ext cx="3260232" cy="2306955"/>
          </a:xfrm>
          <a:prstGeom prst="rect">
            <a:avLst/>
          </a:prstGeom>
          <a:noFill/>
        </p:spPr>
        <p:txBody>
          <a:bodyPr wrap="square">
            <a:spAutoFit/>
          </a:bodyPr>
          <a:lstStyle/>
          <a:p>
            <a:r>
              <a:rPr sz="1600" b="0">
                <a:solidFill>
                  <a:srgbClr val="1A1A2E"/>
                </a:solidFill>
              </a:rPr>
              <a:t>Hansen (2000) threshold regression identifies L* = 13%
as the break point between two market regimes.
Below 13%: forced liquidation disrupts sovereign debt.
Above 13%: redemptions absorbed, markets undisturbed.</a:t>
            </a:r>
          </a:p>
        </p:txBody>
      </p:sp>
      <p:sp>
        <p:nvSpPr>
          <p:cNvPr id="14" name="Rectangle 13"/>
          <p:cNvSpPr/>
          <p:nvPr/>
        </p:nvSpPr>
        <p:spPr>
          <a:xfrm>
            <a:off x="8502960" y="960120"/>
            <a:ext cx="3365401" cy="3654891"/>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502960" y="960120"/>
            <a:ext cx="3365401" cy="35611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62960" y="1010120"/>
            <a:ext cx="3260232" cy="292388"/>
          </a:xfrm>
          <a:prstGeom prst="rect">
            <a:avLst/>
          </a:prstGeom>
          <a:noFill/>
        </p:spPr>
        <p:txBody>
          <a:bodyPr wrap="square">
            <a:spAutoFit/>
          </a:bodyPr>
          <a:lstStyle/>
          <a:p>
            <a:r>
              <a:rPr sz="1300" b="1">
                <a:solidFill>
                  <a:srgbClr val="FFFFFF"/>
                </a:solidFill>
              </a:rPr>
              <a:t>Result 3 — Causal Evidence</a:t>
            </a:r>
          </a:p>
        </p:txBody>
      </p:sp>
      <p:sp>
        <p:nvSpPr>
          <p:cNvPr id="17" name="TextBox 16"/>
          <p:cNvSpPr txBox="1"/>
          <p:nvPr/>
        </p:nvSpPr>
        <p:spPr>
          <a:xfrm>
            <a:off x="8562960" y="1410120"/>
            <a:ext cx="3260232" cy="2306955"/>
          </a:xfrm>
          <a:prstGeom prst="rect">
            <a:avLst/>
          </a:prstGeom>
          <a:noFill/>
        </p:spPr>
        <p:txBody>
          <a:bodyPr wrap="square">
            <a:spAutoFit/>
          </a:bodyPr>
          <a:lstStyle/>
          <a:p>
            <a:r>
              <a:rPr sz="1600" b="0">
                <a:solidFill>
                  <a:srgbClr val="1A1A2E"/>
                </a:solidFill>
              </a:rPr>
              <a:t>Buffer-conditioned event study across LUNA, USDT</a:t>
            </a:r>
            <a:r>
              <a:rPr lang="en-US" sz="1600" b="0">
                <a:solidFill>
                  <a:srgbClr val="1A1A2E"/>
                </a:solidFill>
              </a:rPr>
              <a:t> </a:t>
            </a:r>
            <a:r>
              <a:rPr sz="1600" b="0">
                <a:solidFill>
                  <a:srgbClr val="1A1A2E"/>
                </a:solidFill>
              </a:rPr>
              <a:t>depeg, and USDC/SVB confirms the</a:t>
            </a:r>
            <a:r>
              <a:rPr lang="en-US" sz="1600" b="0">
                <a:solidFill>
                  <a:srgbClr val="1A1A2E"/>
                </a:solidFill>
              </a:rPr>
              <a:t> </a:t>
            </a:r>
            <a:r>
              <a:rPr sz="1600" b="0">
                <a:solidFill>
                  <a:srgbClr val="1A1A2E"/>
                </a:solidFill>
              </a:rPr>
              <a:t>mechanism.
Low-buffer runs → +8.9 bp</a:t>
            </a:r>
            <a:r>
              <a:rPr lang="en-US" sz="1600" b="0">
                <a:solidFill>
                  <a:srgbClr val="1A1A2E"/>
                </a:solidFill>
              </a:rPr>
              <a:t> </a:t>
            </a:r>
            <a:r>
              <a:rPr sz="1600" b="0">
                <a:solidFill>
                  <a:srgbClr val="1A1A2E"/>
                </a:solidFill>
              </a:rPr>
              <a:t>spread spike.
High-buffer stress → −18 bp flight-to-safety.</a:t>
            </a:r>
          </a:p>
        </p:txBody>
      </p:sp>
      <p:sp>
        <p:nvSpPr>
          <p:cNvPr id="19" name="Rectangle 18"/>
          <p:cNvSpPr/>
          <p:nvPr/>
        </p:nvSpPr>
        <p:spPr>
          <a:xfrm>
            <a:off x="0" y="5596128"/>
            <a:ext cx="12188952" cy="109728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5716128"/>
            <a:ext cx="11274552" cy="830000"/>
          </a:xfrm>
          <a:prstGeom prst="rect">
            <a:avLst/>
          </a:prstGeom>
          <a:noFill/>
        </p:spPr>
        <p:txBody>
          <a:bodyPr wrap="square">
            <a:spAutoFit/>
          </a:bodyPr>
          <a:lstStyle/>
          <a:p>
            <a:pPr algn="ctr"/>
            <a:r>
              <a:rPr sz="1800" b="1">
                <a:solidFill>
                  <a:srgbClr val="FFFFFF"/>
                </a:solidFill>
              </a:rPr>
              <a:t>Stablecoins help the US in normal times — and threaten it in stress. L is what separates the two.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3" name="그림 2" descr="원, 그래픽, 스크린샷, 그래픽 디자인이(가) 표시된 사진&#10;&#10;자동 생성된 설명"/>
          <p:cNvPicPr>
            <a:picLocks noChangeAspect="1"/>
          </p:cNvPicPr>
          <p:nvPr/>
        </p:nvPicPr>
        <p:blipFill>
          <a:blip r:embed="rId3">
            <a:lum bright="70000" contrast="-70000"/>
            <a:extLst>
              <a:ext uri="{BEBA8EAE-BF5A-486C-A8C5-ECC9F3942E4B}">
                <a14:imgProps xmlns:a14="http://schemas.microsoft.com/office/drawing/2010/main">
                  <a14:imgLayer r:embed="rId4">
                    <a14:imgEffect>
                      <a14:artisticPhotocopy detail="2"/>
                    </a14:imgEffect>
                  </a14:imgLayer>
                </a14:imgProps>
              </a:ext>
              <a:ext uri="{28A0092B-C50C-407E-A947-70E740481C1C}">
                <a14:useLocalDpi xmlns:a14="http://schemas.microsoft.com/office/drawing/2010/main" val="0"/>
              </a:ext>
            </a:extLst>
          </a:blip>
          <a:stretch>
            <a:fillRect/>
          </a:stretch>
        </p:blipFill>
        <p:spPr>
          <a:xfrm>
            <a:off x="0" y="890"/>
            <a:ext cx="4809898" cy="6856214"/>
          </a:xfrm>
          <a:prstGeom prst="rect">
            <a:avLst/>
          </a:prstGeom>
        </p:spPr>
      </p:pic>
      <p:sp>
        <p:nvSpPr>
          <p:cNvPr id="6" name="직사각형 5"/>
          <p:cNvSpPr/>
          <p:nvPr/>
        </p:nvSpPr>
        <p:spPr>
          <a:xfrm>
            <a:off x="-1" y="1879560"/>
            <a:ext cx="12188826" cy="2576274"/>
          </a:xfrm>
          <a:prstGeom prst="rect">
            <a:avLst/>
          </a:prstGeom>
          <a:solidFill>
            <a:schemeClr val="tx1">
              <a:alpha val="5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latinLnBrk="1">
              <a:defRPr/>
            </a:pPr>
            <a:r>
              <a:rPr lang="en-US" altLang="ko-KR" sz="2400" dirty="0">
                <a:solidFill>
                  <a:prstClr val="white"/>
                </a:solidFill>
                <a:latin typeface="Hiragino Kaku Gothic Std W8" panose="020B0800000000000000" pitchFamily="34" charset="-128"/>
                <a:ea typeface="Hiragino Kaku Gothic Std W8" panose="020B0800000000000000" pitchFamily="34" charset="-128"/>
              </a:rPr>
              <a:t>THANK YOU !</a:t>
            </a:r>
            <a:endParaRPr lang="ko-KR" altLang="en-US" sz="2400" dirty="0">
              <a:solidFill>
                <a:prstClr val="white"/>
              </a:solidFill>
              <a:latin typeface="Hiragino Kaku Gothic Std W8" panose="020B0800000000000000" pitchFamily="34" charset="-128"/>
              <a:ea typeface="Malgun Gothic" panose="020B0503020000020004" pitchFamily="50" charset="-127"/>
            </a:endParaRPr>
          </a:p>
        </p:txBody>
      </p:sp>
      <p:sp>
        <p:nvSpPr>
          <p:cNvPr id="4" name="TextBox 10"/>
          <p:cNvSpPr txBox="1"/>
          <p:nvPr/>
        </p:nvSpPr>
        <p:spPr>
          <a:xfrm>
            <a:off x="6094095" y="5560060"/>
            <a:ext cx="5842635" cy="1198880"/>
          </a:xfrm>
          <a:prstGeom prst="rect">
            <a:avLst/>
          </a:prstGeom>
          <a:noFill/>
        </p:spPr>
        <p:txBody>
          <a:bodyPr wrap="square" rtlCol="0">
            <a:spAutoFit/>
          </a:bodyPr>
          <a:lstStyle/>
          <a:p>
            <a:r>
              <a:rPr lang="en-US" altLang="ko-KR" sz="1800" b="1" dirty="0">
                <a:solidFill>
                  <a:schemeClr val="bg1"/>
                </a:solidFill>
              </a:rPr>
              <a:t>Yonsei GSIS 2026-1 </a:t>
            </a:r>
          </a:p>
          <a:p>
            <a:r>
              <a:rPr lang="en-US" altLang="ko-KR" sz="1800" b="1" dirty="0">
                <a:solidFill>
                  <a:schemeClr val="bg1"/>
                </a:solidFill>
              </a:rPr>
              <a:t>Topics in International Finance</a:t>
            </a:r>
            <a:endParaRPr lang="en-US" altLang="ko-KR" sz="1800" dirty="0">
              <a:solidFill>
                <a:schemeClr val="bg1"/>
              </a:solidFill>
            </a:endParaRPr>
          </a:p>
          <a:p>
            <a:r>
              <a:rPr lang="en-US" altLang="ko-KR" b="1" dirty="0">
                <a:solidFill>
                  <a:srgbClr val="FFFFFF"/>
                </a:solidFill>
              </a:rPr>
              <a:t>Mireu Kim · Sara Chekroune · Oybek Ibragimov</a:t>
            </a:r>
            <a:br>
              <a:rPr lang="en-US" altLang="ko-KR" b="1" dirty="0">
                <a:solidFill>
                  <a:srgbClr val="FFFFFF"/>
                </a:solidFill>
              </a:rPr>
            </a:br>
            <a:r>
              <a:rPr lang="en-US" altLang="ko-KR" b="1" dirty="0">
                <a:solidFill>
                  <a:srgbClr val="FFFFFF"/>
                </a:solidFill>
              </a:rPr>
              <a:t>· Jade Zhu · Alexandre Godefroy · Baptiste Degand</a:t>
            </a:r>
            <a:endParaRPr lang="en-US" altLang="ko-KR" sz="1800" b="1" dirty="0">
              <a:solidFill>
                <a:srgbClr val="FFFFFF"/>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TotalTime>
  <Words>3491</Words>
  <Application>Microsoft Macintosh PowerPoint</Application>
  <PresentationFormat>사용자 지정</PresentationFormat>
  <Paragraphs>236</Paragraphs>
  <Slides>9</Slides>
  <Notes>9</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9</vt:i4>
      </vt:variant>
    </vt:vector>
  </HeadingPairs>
  <TitlesOfParts>
    <vt:vector size="13" baseType="lpstr">
      <vt:lpstr>Hiragino Kaku Gothic Std W8</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김미르</cp:lastModifiedBy>
  <cp:revision>14</cp:revision>
  <dcterms:created xsi:type="dcterms:W3CDTF">2026-05-18T11:31:49Z</dcterms:created>
  <dcterms:modified xsi:type="dcterms:W3CDTF">2026-05-19T04:34:17Z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1033-12.1.25880.25880</vt:lpwstr>
  </property>
  <property fmtid="{D5CDD505-2E9C-101B-9397-08002B2CF9AE}" pid="3" name="ICV">
    <vt:lpwstr>1A1AD6E10C8243AAEEBF096A9A1405FB_42</vt:lpwstr>
  </property>
</Properties>
</file>