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508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Stablecoins &amp; the Exorbitant Privilege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0">
                <a:solidFill>
                  <a:srgbClr val="BFD0E8"/>
                </a:solidFill>
                <a:latin typeface="Calibri"/>
              </a:rPr>
              <a:t>A Rigorous Reassessment — stress-testing our own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Mireu Kim · Sara Chekroune · Oybek Ibragimov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9FB3D0"/>
                </a:solidFill>
                <a:latin typeface="Calibri"/>
              </a:rPr>
              <a:t>Yonsei GSIS — Topics in International Finance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honest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What we claimed vs. what survives rigorous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A1E5C"/>
                </a:solidFill>
                <a:latin typeface="Calibri"/>
              </a:rPr>
              <a:t>What the deck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β₁: stablecoin growth compresses the spread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q* = 13% reserve-buffer threshold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LSTAR confirms the threshold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Bid-cover: USDT suppresses auction demand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555566"/>
                </a:solidFill>
                <a:latin typeface="Calibri"/>
              </a:rPr>
              <a:t>(placebo-validated, all 4 maturities)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7D32"/>
                </a:solidFill>
                <a:latin typeface="Calibri"/>
              </a:rPr>
              <a:t>What survives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β₁ — spurious (fails stationarity)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threshold — invalid (built on spurious base)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LSTAR — same base, same fate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bid-cover — collapses at auction level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β₃ (liquid buffer) — survives differencing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USDT is a structural T-bill holder — a 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98932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 channel gives a clean causal imprint. That null IS the contribution — and it is defensible.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we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The three-part thesis as 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Privilege amplification — each 1σ of stablecoin supply compressed the OIS–Treasury spread (β₁ ≈ −6 to −7.5 bps, p&lt;0.01)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A liquid-buffer threshold at ~13% — below it, the privilege reverses into a 'New Triffin' crisis zone (Hansen 2000)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Convergent validity — an LSTAR smooth-transition model independently found the same ~13% switch point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Mechanism — USDT supply growth suppresses T-bill auction bid-cover (placebo-validated, billed as the cleanest result)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521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Then Prof. Hur's feedback triggered a re-run — and the foundations 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Teardown — layer by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Each result examined against the data and the econometrics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θ (Treasury exposure)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234440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Placeholder + scraped-zeros + interpolated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234440"/>
            <a:ext cx="2103120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123444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UNUSABLE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8528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L monthly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938528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Mostly straight-line interpolation between quarters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938528"/>
            <a:ext cx="2103120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93852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42616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2616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Levels β₁, β₄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42616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Non-stationary, no cointegration → spurious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642616"/>
            <a:ext cx="2103120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642616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SPURIOUS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46704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46704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Hansen / LSTAR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346704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Built on spurious base; iid bootstrap invalid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3346704"/>
            <a:ext cx="2103120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346704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INVALID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50792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50792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Bid-cover (monthly)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050792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Significance from interpolated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4050792"/>
            <a:ext cx="2103120" cy="65836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4050792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FRAGILE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4880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754880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Daily VAR / IRF (Δspread)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754880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Correct differencing, but FEVD ~1.3%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4754880"/>
            <a:ext cx="2103120" cy="658368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475488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WEAK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58968"/>
            <a:ext cx="3200400" cy="65836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458968"/>
            <a:ext cx="3017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β₃ (liquid buffer)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458968"/>
            <a:ext cx="5486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Survives levels + differencing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5458968"/>
            <a:ext cx="2103120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545896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SURVIVES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Root cause: the reserve data is largely manufactured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Why the 'monthly' variation isn't really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Tether reports T-bill holdings quarterly — ~2 of every 3 monthly points are linear interpolation between two quarterly endpoints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2020 rows are literally labelled 'pre-attestation estimate, extrapolated'; mid-2021 treasury holdings are scraped zeros (9e-08) → interpolated over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The interpolation choice IS the result: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3840480" cy="457200"/>
          </a:xfrm>
          <a:prstGeom prst="rect">
            <a:avLst/>
          </a:prstGeom>
          <a:solidFill>
            <a:srgbClr val="1B3A72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Interpolation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749039"/>
            <a:ext cx="2743200" cy="457200"/>
          </a:xfrm>
          <a:prstGeom prst="rect">
            <a:avLst/>
          </a:prstGeom>
          <a:solidFill>
            <a:srgbClr val="1B3A72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7490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β₄ (time series)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749039"/>
            <a:ext cx="2743200" cy="457200"/>
          </a:xfrm>
          <a:prstGeom prst="rect">
            <a:avLst/>
          </a:prstGeom>
          <a:solidFill>
            <a:srgbClr val="1B3A72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7490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39"/>
            <a:ext cx="3840480" cy="457200"/>
          </a:xfrm>
          <a:prstGeom prst="rect">
            <a:avLst/>
          </a:prstGeom>
          <a:solidFill>
            <a:srgbClr val="FDEC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06239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time / prof (used)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4206239"/>
            <a:ext cx="2743200" cy="457200"/>
          </a:xfrm>
          <a:prstGeom prst="rect">
            <a:avLst/>
          </a:prstGeom>
          <a:solidFill>
            <a:srgbClr val="FDEC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−35.89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206239"/>
            <a:ext cx="2743200" cy="457200"/>
          </a:xfrm>
          <a:prstGeom prst="rect">
            <a:avLst/>
          </a:prstGeom>
          <a:solidFill>
            <a:srgbClr val="FDEC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2062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0.032  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39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39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rolling 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663439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6634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+5.25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4663439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6634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0.873  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39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20639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forward-fill (old)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120639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1206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−26.26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120639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5120639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0.563  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436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When the headline coefficient's significance flips with how you fill the MISSING data, it describes the fill — not Tether.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And the levels regression is spurious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Stationarity + cointegration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Spread and L are both non-stationary (ADF p = 0.49, 0.90) — they trend, they don't mean-revert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They do NOT cointegrate (Engle–Granger and corrected Johansen) → non-stationary + no cointegration = textbook spurious regression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Common driver: the 2022–24 Fed hiking cycle pushed both down together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First-differencing kills β₁ and β₄ — and β₄ flips sign (−35.9 → +8.9). A sign that depends on levels-vs-differences is noise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Both series fall together 2022→2025:   </a:t>
            </a:r>
            <a:r>
              <a:rPr sz="1400" b="1">
                <a:solidFill>
                  <a:srgbClr val="C62828"/>
                </a:solidFill>
                <a:latin typeface="Calibri"/>
              </a:rPr>
              <a:t>spread +0.85 → −0.29   |   L  0.19 → 0.06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Two series trending down together → high R² by trend, not by mechanism.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9436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β₁ (privilege) and the 13% threshold are significant only in the one specification that is statistically invalid.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Rebuild 1 — bid-cover at the auction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My contribution: the test done properly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Old test: 1,094 auctions collapsed to 51 monthly means; no auction-size control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Rebuild: one row per auction (N=1,094)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1A1A2E"/>
                </a:solidFill>
                <a:latin typeface="Calibri"/>
              </a:rPr>
              <a:t>control for ln(offering size) — the mechanical driver of bid-cover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1A1A2E"/>
                </a:solidFill>
                <a:latin typeface="Calibri"/>
              </a:rPr>
              <a:t>maturity FE, VIX, time trend; SE clustered by month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1A1A2E"/>
                </a:solidFill>
                <a:latin typeface="Calibri"/>
              </a:rPr>
              <a:t>falsification: future supply must NOT predict</a:t>
            </a:r>
          </a:p>
        </p:txBody>
      </p:sp>
      <p:pic>
        <p:nvPicPr>
          <p:cNvPr id="7" name="Picture 6" descr="bidcover_tear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24277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8932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Strip the interpolated controls / control for offering → the USDT bid-cover channel disappears.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Rebuild 2 — multi-event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Drop SVB (confounded), add crypto-native crises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Prof.: keep LUNA as motivation, drop SVB (banking-confounded), add more similar crises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Selection rule: crypto-native stress, no banking/macro shock to Treasuries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1A1A2E"/>
                </a:solidFill>
                <a:latin typeface="Calibri"/>
              </a:rPr>
              <a:t>LUNA · Celsius · FTX · BUSD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–  </a:t>
            </a:r>
            <a:r>
              <a:rPr sz="1500" b="0">
                <a:solidFill>
                  <a:srgbClr val="1A1A2E"/>
                </a:solidFill>
                <a:latin typeface="Calibri"/>
              </a:rPr>
              <a:t>first-difference normal model; cross-event CAAR (events = unit)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C62828"/>
                </a:solidFill>
                <a:latin typeface="Calibri"/>
              </a:rPr>
              <a:t>Result: per-event CARs mostly n.s.; events disagree in sign (FTX −28 bps); pooled p = 0.43</a:t>
            </a:r>
          </a:p>
        </p:txBody>
      </p:sp>
      <p:pic>
        <p:nvPicPr>
          <p:cNvPr id="7" name="Picture 6" descr="event_study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400800" cy="1137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98932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No systematic spread response to crypto crises — exactly the 'motivation only' role the prof assigned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survives the reassessment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The defensible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64592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10789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USDT is one of the largest structural holders of US T-bills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Documented fact (attestations) — the privilege mechanism EXISTS structurally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41448"/>
            <a:ext cx="164592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10789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β₃: liquid buffer correlates with the spread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Survives levels AND first-differencing — but likely macro co-movement, not a buffer 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02736"/>
            <a:ext cx="164592" cy="105156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02736"/>
            <a:ext cx="10789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Short-run USDT → spread (daily VAR, Δspread)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Day-1 compression, but reverses by day 3 and explains ~1.3% of variance — suggestive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64024"/>
            <a:ext cx="164592" cy="1051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64024"/>
            <a:ext cx="107899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Everything built on θ, L-levels, the spread-levels regression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Spurious / interpolation-driven — demote to 'we tried this; it does not survive'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reframe — an honest paper that holds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BFD0E8"/>
                </a:solidFill>
                <a:latin typeface="Calibri"/>
              </a:rPr>
              <a:t>How to present this to Prof. Hur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Lead with the structural fact: stablecoins have become programmatic T-bill buyers — the privilege channel is real by construction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Then the honest finding: at monthly/auction frequency the causal imprint is small and swamped by the Fed cycle and data limits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Show the rigour: we stress-tested our OWN headline results (stationarity, interpolation, auction-level, falsification) and report what fails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1A1A2E"/>
                </a:solidFill>
                <a:latin typeface="Calibri"/>
              </a:rPr>
              <a:t>Keep β₃ and the event study as supporting / motivation, clearly labelled as such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D4632A"/>
                </a:solidFill>
                <a:latin typeface="Calibri"/>
              </a:rPr>
              <a:t>◆  </a:t>
            </a:r>
            <a:r>
              <a:rPr sz="1500" b="0">
                <a:solidFill>
                  <a:srgbClr val="2E7D32"/>
                </a:solidFill>
                <a:latin typeface="Calibri"/>
              </a:rPr>
              <a:t>This pre-empts every objection an examiner would raise — owning the limitation is stronger than defending a fragile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521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'We tried to break our own results. Here is what survived.' — the strongest position in the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0800"/>
          </a:xfrm>
          <a:prstGeom prst="rect">
            <a:avLst/>
          </a:prstGeom>
          <a:solidFill>
            <a:srgbClr val="D46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contribution is the rigour.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• A documented structural privilege channel (USDT ≈ T-bill buyer)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• An honest null on its high-frequency causal footprint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• Two purpose-built robustness rebuilds that earn that null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CFDDF0"/>
                </a:solidFill>
                <a:latin typeface="Calibri"/>
              </a:rPr>
              <a:t>• One surviving correlation (β₃), reported with the right caveats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