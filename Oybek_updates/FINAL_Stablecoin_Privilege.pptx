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1E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0"/>
            <a:ext cx="12188952" cy="50800"/>
          </a:xfrm>
          <a:prstGeom prst="rect">
            <a:avLst/>
          </a:prstGeom>
          <a:solidFill>
            <a:srgbClr val="D46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737360"/>
            <a:ext cx="1069848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3800" b="1">
                <a:solidFill>
                  <a:srgbClr val="FFFFFF"/>
                </a:solidFill>
                <a:latin typeface="Calibri"/>
              </a:rPr>
              <a:t>Stablecoins &amp; the Exorbitant Privilege</a:t>
            </a:r>
          </a:p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2100" b="0">
                <a:solidFill>
                  <a:srgbClr val="BFD0E8"/>
                </a:solidFill>
                <a:latin typeface="Calibri"/>
              </a:rPr>
              <a:t>Do stablecoin issuers shape demand for US Treasury bills?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343400"/>
            <a:ext cx="1069848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600" b="0">
                <a:solidFill>
                  <a:srgbClr val="FFFFFF"/>
                </a:solidFill>
                <a:latin typeface="Calibri"/>
              </a:rPr>
              <a:t>Mireu (Mimi) Kim · Minjin · Oybek Ibragimov · Sara Chekroune</a:t>
            </a:r>
          </a:p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400" b="0">
                <a:solidFill>
                  <a:srgbClr val="9FB3D0"/>
                </a:solidFill>
                <a:latin typeface="Calibri"/>
              </a:rPr>
              <a:t>Yonsei GSIS — Topics in International Finance · June 2026 · final results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B3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88952" cy="38100"/>
          </a:xfrm>
          <a:prstGeom prst="rect">
            <a:avLst/>
          </a:prstGeom>
          <a:solidFill>
            <a:srgbClr val="D46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2500" b="1">
                <a:solidFill>
                  <a:srgbClr val="FFFFFF"/>
                </a:solidFill>
                <a:latin typeface="Calibri"/>
              </a:rPr>
              <a:t>The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66928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250" b="0">
                <a:solidFill>
                  <a:srgbClr val="BFD0E8"/>
                </a:solidFill>
                <a:latin typeface="Calibri"/>
              </a:rPr>
              <a:t>A structural fact, then a causal test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25880"/>
            <a:ext cx="10972800" cy="2926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500" b="0">
                <a:solidFill>
                  <a:srgbClr val="D4632A"/>
                </a:solidFill>
                <a:latin typeface="Calibri"/>
              </a:rPr>
              <a:t>◆  </a:t>
            </a:r>
            <a:r>
              <a:rPr sz="1500" b="0">
                <a:solidFill>
                  <a:srgbClr val="1A1A2E"/>
                </a:solidFill>
                <a:latin typeface="Calibri"/>
              </a:rPr>
              <a:t>Stablecoin issuers hold their reserves largely in short-term US Treasuries. USDT alone is now one of the largest holders of T-bills in the world — a structural fact, by construction.</a:t>
            </a:r>
          </a:p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500" b="0">
                <a:solidFill>
                  <a:srgbClr val="D4632A"/>
                </a:solidFill>
                <a:latin typeface="Calibri"/>
              </a:rPr>
              <a:t>◆  </a:t>
            </a:r>
            <a:r>
              <a:rPr sz="1500" b="0">
                <a:solidFill>
                  <a:srgbClr val="1A1A2E"/>
                </a:solidFill>
                <a:latin typeface="Calibri"/>
              </a:rPr>
              <a:t>So when USDT grows, it mechanically buys T-bills. Does this programmatic demand show up in the US Treasury market — i.e. is it a channel of the 'exorbitant privilege'?</a:t>
            </a:r>
          </a:p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500" b="0">
                <a:solidFill>
                  <a:srgbClr val="D4632A"/>
                </a:solidFill>
                <a:latin typeface="Calibri"/>
              </a:rPr>
              <a:t>◆  </a:t>
            </a:r>
            <a:r>
              <a:rPr sz="1500" b="0">
                <a:solidFill>
                  <a:srgbClr val="1A1A2E"/>
                </a:solidFill>
                <a:latin typeface="Calibri"/>
              </a:rPr>
              <a:t>We test it against T-bill auction demand (bid-cover), and stress-test every result for robustness.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5852160"/>
            <a:ext cx="11064240" cy="658368"/>
          </a:xfrm>
          <a:prstGeom prst="rect">
            <a:avLst/>
          </a:prstGeom>
          <a:solidFill>
            <a:srgbClr val="D46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5852160"/>
            <a:ext cx="10735056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Headline: USDT supply growth is associated with weaker T-bill auction demand — robustly. USDC is not.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B3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88952" cy="38100"/>
          </a:xfrm>
          <a:prstGeom prst="rect">
            <a:avLst/>
          </a:prstGeom>
          <a:solidFill>
            <a:srgbClr val="D46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2500" b="1">
                <a:solidFill>
                  <a:srgbClr val="FFFFFF"/>
                </a:solidFill>
                <a:latin typeface="Calibri"/>
              </a:rPr>
              <a:t>How we got here — three contributions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66928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250" b="0">
                <a:solidFill>
                  <a:srgbClr val="BFD0E8"/>
                </a:solidFill>
                <a:latin typeface="Calibri"/>
              </a:rPr>
              <a:t>Diagnose → stress-test → defend &amp; sharpen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325880"/>
            <a:ext cx="1737360" cy="1371600"/>
          </a:xfrm>
          <a:prstGeom prst="rect">
            <a:avLst/>
          </a:prstGeom>
          <a:solidFill>
            <a:srgbClr val="1B3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325880"/>
            <a:ext cx="173736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300"/>
              </a:spcAft>
            </a:pPr>
            <a:r>
              <a:rPr sz="1900" b="1">
                <a:solidFill>
                  <a:srgbClr val="FFFFFF"/>
                </a:solidFill>
                <a:latin typeface="Calibri"/>
              </a:rPr>
              <a:t>Mimi</a:t>
            </a:r>
          </a:p>
        </p:txBody>
      </p:sp>
      <p:sp>
        <p:nvSpPr>
          <p:cNvPr id="8" name="Rectangle 7"/>
          <p:cNvSpPr/>
          <p:nvPr/>
        </p:nvSpPr>
        <p:spPr>
          <a:xfrm>
            <a:off x="2423160" y="1325880"/>
            <a:ext cx="9189720" cy="1371600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606040" y="1325880"/>
            <a:ext cx="886968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450" b="0">
                <a:solidFill>
                  <a:srgbClr val="1A1A2E"/>
                </a:solidFill>
                <a:latin typeface="Calibri"/>
              </a:rPr>
              <a:t>Methodology overhaul: showed the original levels/threshold regression is spurious (stationarity + cointegration), ran the VAR/IRF, and recommended leading with the bid-cover result.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2880360"/>
            <a:ext cx="1737360" cy="1371600"/>
          </a:xfrm>
          <a:prstGeom prst="rect">
            <a:avLst/>
          </a:prstGeom>
          <a:solidFill>
            <a:srgbClr val="D46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2880360"/>
            <a:ext cx="173736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300"/>
              </a:spcAft>
            </a:pPr>
            <a:r>
              <a:rPr sz="1900" b="1">
                <a:solidFill>
                  <a:srgbClr val="FFFFFF"/>
                </a:solidFill>
                <a:latin typeface="Calibri"/>
              </a:rPr>
              <a:t>Oybek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423160" y="2880360"/>
            <a:ext cx="9189720" cy="1371600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606040" y="2880360"/>
            <a:ext cx="886968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450" b="0">
                <a:solidFill>
                  <a:srgbClr val="1A1A2E"/>
                </a:solidFill>
                <a:latin typeface="Calibri"/>
              </a:rPr>
              <a:t>Stress-test: rebuilt bid-cover at the auction level, introduced the offering-size control and a falsification test, and rebuilt the event study (drop SVB, add crypto crises).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4434840"/>
            <a:ext cx="1737360" cy="137160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4434840"/>
            <a:ext cx="173736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300"/>
              </a:spcAft>
            </a:pPr>
            <a:r>
              <a:rPr sz="1900" b="1">
                <a:solidFill>
                  <a:srgbClr val="FFFFFF"/>
                </a:solidFill>
                <a:latin typeface="Calibri"/>
              </a:rPr>
              <a:t>Minjin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423160" y="4434840"/>
            <a:ext cx="9189720" cy="1371600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606040" y="4434840"/>
            <a:ext cx="886968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450" b="0">
                <a:solidFill>
                  <a:srgbClr val="1A1A2E"/>
                </a:solidFill>
                <a:latin typeface="Calibri"/>
              </a:rPr>
              <a:t>Defense &amp; sharpening: reproduced the stress-test point by point, found the Fed-funds control is the crux, established the frequency-mismatch argument, and wrote the final spec + placebo.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5989320"/>
            <a:ext cx="11064240" cy="658368"/>
          </a:xfrm>
          <a:prstGeom prst="rect">
            <a:avLst/>
          </a:prstGeom>
          <a:solidFill>
            <a:srgbClr val="D46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13232" y="5989320"/>
            <a:ext cx="10735056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Three independent passes converged on ONE robust result.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B3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88952" cy="38100"/>
          </a:xfrm>
          <a:prstGeom prst="rect">
            <a:avLst/>
          </a:prstGeom>
          <a:solidFill>
            <a:srgbClr val="D46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2500" b="1">
                <a:solidFill>
                  <a:srgbClr val="FFFFFF"/>
                </a:solidFill>
                <a:latin typeface="Calibri"/>
              </a:rPr>
              <a:t>What we dropped — and why (Mimi)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66928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250" b="0">
                <a:solidFill>
                  <a:srgbClr val="BFD0E8"/>
                </a:solidFill>
                <a:latin typeface="Calibri"/>
              </a:rPr>
              <a:t>The convenience-yield regression does not survive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280160"/>
            <a:ext cx="10972800" cy="2560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500" b="0">
                <a:solidFill>
                  <a:srgbClr val="D4632A"/>
                </a:solidFill>
                <a:latin typeface="Calibri"/>
              </a:rPr>
              <a:t>◆  </a:t>
            </a:r>
            <a:r>
              <a:rPr sz="1500" b="0">
                <a:solidFill>
                  <a:srgbClr val="1A1A2E"/>
                </a:solidFill>
                <a:latin typeface="Calibri"/>
              </a:rPr>
              <a:t>Our first approach regressed the OIS–Treasury spread on stablecoin supply (β₁), with a reserve-buffer threshold and an LSTAR model.</a:t>
            </a:r>
          </a:p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500" b="0">
                <a:solidFill>
                  <a:srgbClr val="D4632A"/>
                </a:solidFill>
                <a:latin typeface="Calibri"/>
              </a:rPr>
              <a:t>◆  </a:t>
            </a:r>
            <a:r>
              <a:rPr sz="1500" b="0">
                <a:solidFill>
                  <a:srgbClr val="C62828"/>
                </a:solidFill>
                <a:latin typeface="Calibri"/>
              </a:rPr>
              <a:t>Diagnostics killed it: the spread and the reserve buffer are non-stationary (ADF) and do not cointegrate (Engle–Granger, Johansen) — a textbook spurious regression driven by the 2022–24 Fed hiking cycle.</a:t>
            </a:r>
          </a:p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500" b="0">
                <a:solidFill>
                  <a:srgbClr val="D4632A"/>
                </a:solidFill>
                <a:latin typeface="Calibri"/>
              </a:rPr>
              <a:t>◆  </a:t>
            </a:r>
            <a:r>
              <a:rPr sz="1500" b="0">
                <a:solidFill>
                  <a:srgbClr val="1A1A2E"/>
                </a:solidFill>
                <a:latin typeface="Calibri"/>
              </a:rPr>
              <a:t>First-differencing removes β₁ and the threshold; the threshold also jumped 13% → 6.6% with the interpolation method. We demote all of it.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5029200"/>
            <a:ext cx="11064240" cy="658368"/>
          </a:xfrm>
          <a:prstGeom prst="rect">
            <a:avLst/>
          </a:prstGeom>
          <a:solidFill>
            <a:srgbClr val="0A1E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5029200"/>
            <a:ext cx="10735056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β₁ (privilege amplification), the 13% threshold, and LSTAR are spurious → not in our main claims.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B3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88952" cy="38100"/>
          </a:xfrm>
          <a:prstGeom prst="rect">
            <a:avLst/>
          </a:prstGeom>
          <a:solidFill>
            <a:srgbClr val="D46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2500" b="1">
                <a:solidFill>
                  <a:srgbClr val="FFFFFF"/>
                </a:solidFill>
                <a:latin typeface="Calibri"/>
              </a:rPr>
              <a:t>Headline result — T-bill auction bid-cover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66928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250" b="0">
                <a:solidFill>
                  <a:srgbClr val="BFD0E8"/>
                </a:solidFill>
                <a:latin typeface="Calibri"/>
              </a:rPr>
              <a:t>Monthly, N=51, Newey–West HAC(1)</a:t>
            </a:r>
          </a:p>
        </p:txBody>
      </p:sp>
      <p:sp>
        <p:nvSpPr>
          <p:cNvPr id="6" name="Rectangle 5"/>
          <p:cNvSpPr/>
          <p:nvPr/>
        </p:nvSpPr>
        <p:spPr>
          <a:xfrm>
            <a:off x="1371600" y="1463040"/>
            <a:ext cx="2377440" cy="457200"/>
          </a:xfrm>
          <a:prstGeom prst="rect">
            <a:avLst/>
          </a:prstGeom>
          <a:solidFill>
            <a:srgbClr val="1B3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71600" y="1463040"/>
            <a:ext cx="23774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300"/>
              </a:spcAft>
            </a:pPr>
            <a:r>
              <a:rPr sz="1250" b="1">
                <a:solidFill>
                  <a:srgbClr val="FFFFFF"/>
                </a:solidFill>
                <a:latin typeface="Calibri"/>
              </a:rPr>
              <a:t>Maturity</a:t>
            </a:r>
          </a:p>
        </p:txBody>
      </p:sp>
      <p:sp>
        <p:nvSpPr>
          <p:cNvPr id="8" name="Rectangle 7"/>
          <p:cNvSpPr/>
          <p:nvPr/>
        </p:nvSpPr>
        <p:spPr>
          <a:xfrm>
            <a:off x="3749040" y="1463040"/>
            <a:ext cx="2377440" cy="457200"/>
          </a:xfrm>
          <a:prstGeom prst="rect">
            <a:avLst/>
          </a:prstGeom>
          <a:solidFill>
            <a:srgbClr val="1B3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49040" y="1463040"/>
            <a:ext cx="23774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300"/>
              </a:spcAft>
            </a:pPr>
            <a:r>
              <a:rPr sz="1250" b="1">
                <a:solidFill>
                  <a:srgbClr val="FFFFFF"/>
                </a:solidFill>
                <a:latin typeface="Calibri"/>
              </a:rPr>
              <a:t>USDT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26480" y="1463040"/>
            <a:ext cx="2377440" cy="457200"/>
          </a:xfrm>
          <a:prstGeom prst="rect">
            <a:avLst/>
          </a:prstGeom>
          <a:solidFill>
            <a:srgbClr val="1B3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26480" y="1463040"/>
            <a:ext cx="23774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300"/>
              </a:spcAft>
            </a:pPr>
            <a:r>
              <a:rPr sz="1250" b="1">
                <a:solidFill>
                  <a:srgbClr val="FFFFFF"/>
                </a:solidFill>
                <a:latin typeface="Calibri"/>
              </a:rPr>
              <a:t>USDC (foil)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503920" y="1463040"/>
            <a:ext cx="2377440" cy="457200"/>
          </a:xfrm>
          <a:prstGeom prst="rect">
            <a:avLst/>
          </a:prstGeom>
          <a:solidFill>
            <a:srgbClr val="1B3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03920" y="1463040"/>
            <a:ext cx="23774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300"/>
              </a:spcAft>
            </a:pPr>
            <a:r>
              <a:rPr sz="1250" b="1">
                <a:solidFill>
                  <a:srgbClr val="FFFFFF"/>
                </a:solidFill>
                <a:latin typeface="Calibri"/>
              </a:rPr>
              <a:t>Wald USDT≠USDC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371600" y="1920240"/>
            <a:ext cx="2377440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71600" y="1920240"/>
            <a:ext cx="23774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300"/>
              </a:spcAft>
            </a:pPr>
            <a:r>
              <a:rPr sz="1250" b="0">
                <a:solidFill>
                  <a:srgbClr val="1A1A2E"/>
                </a:solidFill>
                <a:latin typeface="Calibri"/>
              </a:rPr>
              <a:t>4-Week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749040" y="1920240"/>
            <a:ext cx="2377440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749040" y="1920240"/>
            <a:ext cx="23774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300"/>
              </a:spcAft>
            </a:pPr>
            <a:r>
              <a:rPr sz="1250" b="0">
                <a:solidFill>
                  <a:srgbClr val="1A1A2E"/>
                </a:solidFill>
                <a:latin typeface="Calibri"/>
              </a:rPr>
              <a:t>-0.61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26480" y="1920240"/>
            <a:ext cx="2377440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26480" y="1920240"/>
            <a:ext cx="23774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300"/>
              </a:spcAft>
            </a:pPr>
            <a:r>
              <a:rPr sz="1250" b="0">
                <a:solidFill>
                  <a:srgbClr val="2E7D32"/>
                </a:solidFill>
                <a:latin typeface="Calibri"/>
              </a:rPr>
              <a:t>+0.61***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503920" y="1920240"/>
            <a:ext cx="2377440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503920" y="1920240"/>
            <a:ext cx="23774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300"/>
              </a:spcAft>
            </a:pPr>
            <a:r>
              <a:rPr sz="1250" b="0">
                <a:solidFill>
                  <a:srgbClr val="1A1A2E"/>
                </a:solidFill>
                <a:latin typeface="Calibri"/>
              </a:rPr>
              <a:t>0.026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371600" y="2377440"/>
            <a:ext cx="2377440" cy="457200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371600" y="2377440"/>
            <a:ext cx="23774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300"/>
              </a:spcAft>
            </a:pPr>
            <a:r>
              <a:rPr sz="1250" b="0">
                <a:solidFill>
                  <a:srgbClr val="1A1A2E"/>
                </a:solidFill>
                <a:latin typeface="Calibri"/>
              </a:rPr>
              <a:t>8-Week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749040" y="2377440"/>
            <a:ext cx="2377440" cy="457200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749040" y="2377440"/>
            <a:ext cx="23774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300"/>
              </a:spcAft>
            </a:pPr>
            <a:r>
              <a:rPr sz="1250" b="0">
                <a:solidFill>
                  <a:srgbClr val="2E7D32"/>
                </a:solidFill>
                <a:latin typeface="Calibri"/>
              </a:rPr>
              <a:t>-1.33***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126480" y="2377440"/>
            <a:ext cx="2377440" cy="457200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126480" y="2377440"/>
            <a:ext cx="23774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300"/>
              </a:spcAft>
            </a:pPr>
            <a:r>
              <a:rPr sz="1250" b="0">
                <a:solidFill>
                  <a:srgbClr val="2E7D32"/>
                </a:solidFill>
                <a:latin typeface="Calibri"/>
              </a:rPr>
              <a:t>+0.47**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503920" y="2377440"/>
            <a:ext cx="2377440" cy="457200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503920" y="2377440"/>
            <a:ext cx="23774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300"/>
              </a:spcAft>
            </a:pPr>
            <a:r>
              <a:rPr sz="1250" b="0">
                <a:solidFill>
                  <a:srgbClr val="1A1A2E"/>
                </a:solidFill>
                <a:latin typeface="Calibri"/>
              </a:rPr>
              <a:t>0.000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371600" y="2834640"/>
            <a:ext cx="2377440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371600" y="2834640"/>
            <a:ext cx="23774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300"/>
              </a:spcAft>
            </a:pPr>
            <a:r>
              <a:rPr sz="1250" b="0">
                <a:solidFill>
                  <a:srgbClr val="1A1A2E"/>
                </a:solidFill>
                <a:latin typeface="Calibri"/>
              </a:rPr>
              <a:t>13-Week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749040" y="2834640"/>
            <a:ext cx="2377440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749040" y="2834640"/>
            <a:ext cx="23774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300"/>
              </a:spcAft>
            </a:pPr>
            <a:r>
              <a:rPr sz="1250" b="0">
                <a:solidFill>
                  <a:srgbClr val="2E7D32"/>
                </a:solidFill>
                <a:latin typeface="Calibri"/>
              </a:rPr>
              <a:t>-1.51***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126480" y="2834640"/>
            <a:ext cx="2377440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126480" y="2834640"/>
            <a:ext cx="23774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300"/>
              </a:spcAft>
            </a:pPr>
            <a:r>
              <a:rPr sz="1250" b="0">
                <a:solidFill>
                  <a:srgbClr val="1A1A2E"/>
                </a:solidFill>
                <a:latin typeface="Calibri"/>
              </a:rPr>
              <a:t>+0.32*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503920" y="2834640"/>
            <a:ext cx="2377440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503920" y="2834640"/>
            <a:ext cx="23774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300"/>
              </a:spcAft>
            </a:pPr>
            <a:r>
              <a:rPr sz="1250" b="0">
                <a:solidFill>
                  <a:srgbClr val="1A1A2E"/>
                </a:solidFill>
                <a:latin typeface="Calibri"/>
              </a:rPr>
              <a:t>0.000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371600" y="3291840"/>
            <a:ext cx="2377440" cy="457200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371600" y="3291840"/>
            <a:ext cx="23774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300"/>
              </a:spcAft>
            </a:pPr>
            <a:r>
              <a:rPr sz="1250" b="0">
                <a:solidFill>
                  <a:srgbClr val="1A1A2E"/>
                </a:solidFill>
                <a:latin typeface="Calibri"/>
              </a:rPr>
              <a:t>26-Week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749040" y="3291840"/>
            <a:ext cx="2377440" cy="457200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749040" y="3291840"/>
            <a:ext cx="23774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300"/>
              </a:spcAft>
            </a:pPr>
            <a:r>
              <a:rPr sz="1250" b="0">
                <a:solidFill>
                  <a:srgbClr val="2E7D32"/>
                </a:solidFill>
                <a:latin typeface="Calibri"/>
              </a:rPr>
              <a:t>-1.53***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126480" y="3291840"/>
            <a:ext cx="2377440" cy="457200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126480" y="3291840"/>
            <a:ext cx="23774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300"/>
              </a:spcAft>
            </a:pPr>
            <a:r>
              <a:rPr sz="1250" b="0">
                <a:solidFill>
                  <a:srgbClr val="C62828"/>
                </a:solidFill>
                <a:latin typeface="Calibri"/>
              </a:rPr>
              <a:t>-0.09 (ns)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503920" y="3291840"/>
            <a:ext cx="2377440" cy="457200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503920" y="3291840"/>
            <a:ext cx="23774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300"/>
              </a:spcAft>
            </a:pPr>
            <a:r>
              <a:rPr sz="1250" b="0">
                <a:solidFill>
                  <a:srgbClr val="1A1A2E"/>
                </a:solidFill>
                <a:latin typeface="Calibri"/>
              </a:rPr>
              <a:t>0.001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371600" y="4663440"/>
            <a:ext cx="94183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400" b="0">
                <a:solidFill>
                  <a:srgbClr val="1A1A2E"/>
                </a:solidFill>
                <a:latin typeface="Calibri"/>
              </a:rPr>
              <a:t>USDT supply growth lowers bid-cover (weaker auction demand); </a:t>
            </a:r>
            <a:r>
              <a:rPr sz="1400" b="1">
                <a:solidFill>
                  <a:srgbClr val="D4632A"/>
                </a:solidFill>
                <a:latin typeface="Calibri"/>
              </a:rPr>
              <a:t>USDC does not</a:t>
            </a:r>
            <a:r>
              <a:rPr sz="1400" b="0">
                <a:solidFill>
                  <a:srgbClr val="1A1A2E"/>
                </a:solidFill>
                <a:latin typeface="Calibri"/>
              </a:rPr>
              <a:t>. The two issuers differ at every maturity (Wald p≤0.01).</a:t>
            </a:r>
          </a:p>
        </p:txBody>
      </p:sp>
      <p:sp>
        <p:nvSpPr>
          <p:cNvPr id="47" name="Rectangle 46"/>
          <p:cNvSpPr/>
          <p:nvPr/>
        </p:nvSpPr>
        <p:spPr>
          <a:xfrm>
            <a:off x="1371600" y="5897880"/>
            <a:ext cx="9418320" cy="658368"/>
          </a:xfrm>
          <a:prstGeom prst="rect">
            <a:avLst/>
          </a:prstGeom>
          <a:solidFill>
            <a:srgbClr val="D46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536192" y="5897880"/>
            <a:ext cx="9089136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Final spec (Minjin): supply growth + VIX + Δfed-funds + offering size — zero interpolated variables.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B3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88952" cy="38100"/>
          </a:xfrm>
          <a:prstGeom prst="rect">
            <a:avLst/>
          </a:prstGeom>
          <a:solidFill>
            <a:srgbClr val="D46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2500" b="1">
                <a:solidFill>
                  <a:srgbClr val="FFFFFF"/>
                </a:solidFill>
                <a:latin typeface="Calibri"/>
              </a:rPr>
              <a:t>Robustness — what survives every test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66928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250" b="0">
                <a:solidFill>
                  <a:srgbClr val="BFD0E8"/>
                </a:solidFill>
                <a:latin typeface="Calibri"/>
              </a:rPr>
              <a:t>Oybek's stress-tests + Minjin's defense, converged</a:t>
            </a:r>
          </a:p>
        </p:txBody>
      </p:sp>
      <p:pic>
        <p:nvPicPr>
          <p:cNvPr id="6" name="Picture 5" descr="bidcover_final_fig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371600"/>
            <a:ext cx="6766560" cy="247223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315200" y="1371600"/>
            <a:ext cx="4663440" cy="4206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500" b="0">
                <a:solidFill>
                  <a:srgbClr val="D4632A"/>
                </a:solidFill>
                <a:latin typeface="Calibri"/>
              </a:rPr>
              <a:t>◆  </a:t>
            </a:r>
            <a:r>
              <a:rPr sz="1500" b="0">
                <a:solidFill>
                  <a:srgbClr val="2E7D32"/>
                </a:solidFill>
                <a:latin typeface="Calibri"/>
              </a:rPr>
              <a:t>Not the interpolated reserves: drop θ/L entirely → result holds (Oybek/Minjin)</a:t>
            </a:r>
          </a:p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500" b="0">
                <a:solidFill>
                  <a:srgbClr val="D4632A"/>
                </a:solidFill>
                <a:latin typeface="Calibri"/>
              </a:rPr>
              <a:t>◆  </a:t>
            </a:r>
            <a:r>
              <a:rPr sz="1500" b="0">
                <a:solidFill>
                  <a:srgbClr val="1A1A2E"/>
                </a:solidFill>
                <a:latin typeface="Calibri"/>
              </a:rPr>
              <a:t>The Fed-funds control is the crux — control the rate cycle and USDT is significant at all maturities (Minjin)</a:t>
            </a:r>
          </a:p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500" b="0">
                <a:solidFill>
                  <a:srgbClr val="D4632A"/>
                </a:solidFill>
                <a:latin typeface="Calibri"/>
              </a:rPr>
              <a:t>◆  </a:t>
            </a:r>
            <a:r>
              <a:rPr sz="1500" b="0">
                <a:solidFill>
                  <a:srgbClr val="1A1A2E"/>
                </a:solidFill>
                <a:latin typeface="Calibri"/>
              </a:rPr>
              <a:t>Survives auction-size (offering) control — 4-wk softens, 8/13/26-wk strong (Oybek)</a:t>
            </a:r>
          </a:p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500" b="0">
                <a:solidFill>
                  <a:srgbClr val="D4632A"/>
                </a:solidFill>
                <a:latin typeface="Calibri"/>
              </a:rPr>
              <a:t>◆  </a:t>
            </a:r>
            <a:r>
              <a:rPr sz="1500" b="0">
                <a:solidFill>
                  <a:srgbClr val="2E7D32"/>
                </a:solidFill>
                <a:latin typeface="Calibri"/>
              </a:rPr>
              <a:t>Placebo-validated (2,000 time-shuffles)</a:t>
            </a:r>
          </a:p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500" b="0">
                <a:solidFill>
                  <a:srgbClr val="D4632A"/>
                </a:solidFill>
                <a:latin typeface="Calibri"/>
              </a:rPr>
              <a:t>◆  </a:t>
            </a:r>
            <a:r>
              <a:rPr sz="1500" b="0">
                <a:solidFill>
                  <a:srgbClr val="2E7D32"/>
                </a:solidFill>
                <a:latin typeface="Calibri"/>
              </a:rPr>
              <a:t>USDT ≠ USDC at every maturity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5943600"/>
            <a:ext cx="11521440" cy="658368"/>
          </a:xfrm>
          <a:prstGeom prst="rect">
            <a:avLst/>
          </a:prstGeom>
          <a:solidFill>
            <a:srgbClr val="D46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84632" y="5943600"/>
            <a:ext cx="11192256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No interpolated data, auction size controlled, Fed cycle controlled, placebo-passed — hard to break.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B3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88952" cy="38100"/>
          </a:xfrm>
          <a:prstGeom prst="rect">
            <a:avLst/>
          </a:prstGeom>
          <a:solidFill>
            <a:srgbClr val="D46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2500" b="1">
                <a:solidFill>
                  <a:srgbClr val="FFFFFF"/>
                </a:solidFill>
                <a:latin typeface="Calibri"/>
              </a:rPr>
              <a:t>One honest caveat — frequency, not absence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66928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250" b="0">
                <a:solidFill>
                  <a:srgbClr val="BFD0E8"/>
                </a:solidFill>
                <a:latin typeface="Calibri"/>
              </a:rPr>
              <a:t>Oybek raised it; Minjin pinned down why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25880"/>
            <a:ext cx="10972800" cy="2743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500" b="0">
                <a:solidFill>
                  <a:srgbClr val="D4632A"/>
                </a:solidFill>
                <a:latin typeface="Calibri"/>
              </a:rPr>
              <a:t>◆  </a:t>
            </a:r>
            <a:r>
              <a:rPr sz="1500" b="0">
                <a:solidFill>
                  <a:srgbClr val="1A1A2E"/>
                </a:solidFill>
                <a:latin typeface="Calibri"/>
              </a:rPr>
              <a:t>At the individual-auction level (N=1,094) the USDT effect is not significant (Oybek).</a:t>
            </a:r>
          </a:p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500" b="0">
                <a:solidFill>
                  <a:srgbClr val="D4632A"/>
                </a:solidFill>
                <a:latin typeface="Calibri"/>
              </a:rPr>
              <a:t>◆  </a:t>
            </a:r>
            <a:r>
              <a:rPr sz="1500" b="0">
                <a:solidFill>
                  <a:srgbClr val="1A1A2E"/>
                </a:solidFill>
                <a:latin typeface="Calibri"/>
              </a:rPr>
              <a:t>But stablecoin supply is a MONTHLY series: ~70% of its variation is between months, ~30% within. The same monthly value repeats across ~17 auctions/month, and pre-auction windows overlap heavily (Minjin).</a:t>
            </a:r>
          </a:p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500" b="0">
                <a:solidFill>
                  <a:srgbClr val="D4632A"/>
                </a:solidFill>
                <a:latin typeface="Calibri"/>
              </a:rPr>
              <a:t>◆  </a:t>
            </a:r>
            <a:r>
              <a:rPr sz="1500" b="0">
                <a:solidFill>
                  <a:srgbClr val="1A1A2E"/>
                </a:solidFill>
                <a:latin typeface="Calibri"/>
              </a:rPr>
              <a:t>So N=1,094 carries only ~51 independent supply observations. A non-result there is the expected consequence of a frequency mismatch — not evidence against the channel.</a:t>
            </a:r>
          </a:p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500" b="0">
                <a:solidFill>
                  <a:srgbClr val="D4632A"/>
                </a:solidFill>
                <a:latin typeface="Calibri"/>
              </a:rPr>
              <a:t>◆  </a:t>
            </a:r>
            <a:r>
              <a:rPr sz="1500" b="0">
                <a:solidFill>
                  <a:srgbClr val="2E7D32"/>
                </a:solidFill>
                <a:latin typeface="Calibri"/>
              </a:rPr>
              <a:t>The appropriate unit for a monthly regressor is monthly — where the effect is significant.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5852160"/>
            <a:ext cx="11064240" cy="658368"/>
          </a:xfrm>
          <a:prstGeom prst="rect">
            <a:avLst/>
          </a:prstGeom>
          <a:solidFill>
            <a:srgbClr val="0A1E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5852160"/>
            <a:ext cx="10735056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Auction-level null = frequency mismatch, not a counter-result. Monthly is the correct unit.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B3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88952" cy="38100"/>
          </a:xfrm>
          <a:prstGeom prst="rect">
            <a:avLst/>
          </a:prstGeom>
          <a:solidFill>
            <a:srgbClr val="D46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2500" b="1">
                <a:solidFill>
                  <a:srgbClr val="FFFFFF"/>
                </a:solidFill>
                <a:latin typeface="Calibri"/>
              </a:rPr>
              <a:t>Supporting evidence &amp; motivation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66928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250" b="0">
                <a:solidFill>
                  <a:srgbClr val="BFD0E8"/>
                </a:solidFill>
                <a:latin typeface="Calibri"/>
              </a:rPr>
              <a:t>Daily VAR/IRF (Mimi) · multi-event study (Oybek)</a:t>
            </a:r>
          </a:p>
        </p:txBody>
      </p:sp>
      <p:pic>
        <p:nvPicPr>
          <p:cNvPr id="6" name="Picture 5" descr="irf_usdt_usd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417320"/>
            <a:ext cx="7550623" cy="2468880"/>
          </a:xfrm>
          <a:prstGeom prst="rect">
            <a:avLst/>
          </a:prstGeom>
        </p:spPr>
      </p:pic>
      <p:pic>
        <p:nvPicPr>
          <p:cNvPr id="7" name="Picture 6" descr="event_study_mult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4069080"/>
            <a:ext cx="7680960" cy="136539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138160" y="1463040"/>
            <a:ext cx="3840480" cy="457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500" b="0">
                <a:solidFill>
                  <a:srgbClr val="D4632A"/>
                </a:solidFill>
                <a:latin typeface="Calibri"/>
              </a:rPr>
              <a:t>◆  </a:t>
            </a:r>
            <a:r>
              <a:rPr sz="1500" b="0">
                <a:solidFill>
                  <a:srgbClr val="1A1A2E"/>
                </a:solidFill>
                <a:latin typeface="Calibri"/>
              </a:rPr>
              <a:t>VAR/IRF (Mimi): USDT supply Granger-causes the spread; day-1 compression, small magnitude — suggestive support</a:t>
            </a:r>
          </a:p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500" b="0">
                <a:solidFill>
                  <a:srgbClr val="D4632A"/>
                </a:solidFill>
                <a:latin typeface="Calibri"/>
              </a:rPr>
              <a:t>◆  </a:t>
            </a:r>
            <a:r>
              <a:rPr sz="1500" b="0">
                <a:solidFill>
                  <a:srgbClr val="1A1A2E"/>
                </a:solidFill>
                <a:latin typeface="Calibri"/>
              </a:rPr>
              <a:t>Event study (Oybek): LUNA + Celsius + FTX + BUSD; SVB dropped (confounded)</a:t>
            </a:r>
          </a:p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500" b="0">
                <a:solidFill>
                  <a:srgbClr val="D4632A"/>
                </a:solidFill>
                <a:latin typeface="Calibri"/>
              </a:rPr>
              <a:t>◆  </a:t>
            </a:r>
            <a:r>
              <a:rPr sz="1500" b="0">
                <a:solidFill>
                  <a:srgbClr val="C62828"/>
                </a:solidFill>
                <a:latin typeface="Calibri"/>
              </a:rPr>
              <a:t>Events disagree in sign; pooled p=0.43 → no systematic effect</a:t>
            </a:r>
          </a:p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500" b="0">
                <a:solidFill>
                  <a:srgbClr val="D4632A"/>
                </a:solidFill>
                <a:latin typeface="Calibri"/>
              </a:rPr>
              <a:t>◆  </a:t>
            </a:r>
            <a:r>
              <a:rPr sz="1500" b="0">
                <a:solidFill>
                  <a:srgbClr val="555566"/>
                </a:solidFill>
                <a:latin typeface="Calibri"/>
              </a:rPr>
              <a:t>Both are supporting / motivation, not identification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B3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88952" cy="38100"/>
          </a:xfrm>
          <a:prstGeom prst="rect">
            <a:avLst/>
          </a:prstGeom>
          <a:solidFill>
            <a:srgbClr val="D46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2500" b="1">
                <a:solidFill>
                  <a:srgbClr val="FFFFFF"/>
                </a:solidFill>
                <a:latin typeface="Calibri"/>
              </a:rPr>
              <a:t>Conclusion — the defensible claim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0698480" cy="2194560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554480"/>
            <a:ext cx="1014984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700" b="1">
                <a:solidFill>
                  <a:srgbClr val="1A1A2E"/>
                </a:solidFill>
                <a:latin typeface="Calibri"/>
              </a:rPr>
              <a:t>USDT supply growth is associated with lower T-bill auction bid-cover at all maturities, while USDC is not.</a:t>
            </a:r>
          </a:p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500" b="0">
                <a:solidFill>
                  <a:srgbClr val="555566"/>
                </a:solidFill>
                <a:latin typeface="Calibri"/>
              </a:rPr>
              <a:t>Robust to controlling auction size and to removing all interpolated reserve controls, and it passes a 2,000-iteration placebo. At the individual-auction frequency the association is not detectable, consistent with stablecoin supply being a monthly-frequency variable.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840480"/>
            <a:ext cx="1069848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500" b="0">
                <a:solidFill>
                  <a:srgbClr val="D4632A"/>
                </a:solidFill>
                <a:latin typeface="Calibri"/>
              </a:rPr>
              <a:t>◆  </a:t>
            </a:r>
            <a:r>
              <a:rPr sz="1500" b="0">
                <a:solidFill>
                  <a:srgbClr val="2E7D32"/>
                </a:solidFill>
                <a:latin typeface="Calibri"/>
              </a:rPr>
              <a:t>Structural privilege channel is real (USDT ≈ programmatic T-bill buyer)</a:t>
            </a:r>
          </a:p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500" b="0">
                <a:solidFill>
                  <a:srgbClr val="D4632A"/>
                </a:solidFill>
                <a:latin typeface="Calibri"/>
              </a:rPr>
              <a:t>◆  </a:t>
            </a:r>
            <a:r>
              <a:rPr sz="1500" b="0">
                <a:solidFill>
                  <a:srgbClr val="1A1A2E"/>
                </a:solidFill>
                <a:latin typeface="Calibri"/>
              </a:rPr>
              <a:t>Its imprint is visible in auction demand (bid-cover), not in the spurious levels regression</a:t>
            </a:r>
          </a:p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500" b="0">
                <a:solidFill>
                  <a:srgbClr val="D4632A"/>
                </a:solidFill>
                <a:latin typeface="Calibri"/>
              </a:rPr>
              <a:t>◆  </a:t>
            </a:r>
            <a:r>
              <a:rPr sz="1500" b="0">
                <a:solidFill>
                  <a:srgbClr val="2E7D32"/>
                </a:solidFill>
                <a:latin typeface="Calibri"/>
              </a:rPr>
              <a:t>Stated carefully, this is a robust, honest finding that survives every robustness check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1E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108960"/>
            <a:ext cx="12188952" cy="50800"/>
          </a:xfrm>
          <a:prstGeom prst="rect">
            <a:avLst/>
          </a:prstGeom>
          <a:solidFill>
            <a:srgbClr val="D46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1069848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3200" b="1">
                <a:solidFill>
                  <a:srgbClr val="FFFFFF"/>
                </a:solidFill>
                <a:latin typeface="Calibri"/>
              </a:rPr>
              <a:t>A robust result, honestly earned.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383280"/>
            <a:ext cx="1069848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700" b="0">
                <a:solidFill>
                  <a:srgbClr val="CFDDF0"/>
                </a:solidFill>
                <a:latin typeface="Calibri"/>
              </a:rPr>
              <a:t>• USDT supply growth → weaker T-bill auction demand (USDT ≠ USDC)</a:t>
            </a:r>
          </a:p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700" b="0">
                <a:solidFill>
                  <a:srgbClr val="CFDDF0"/>
                </a:solidFill>
                <a:latin typeface="Calibri"/>
              </a:rPr>
              <a:t>• Survives offering size, zero interpolated data, the Fed-cycle control, and a placebo</a:t>
            </a:r>
          </a:p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700" b="0">
                <a:solidFill>
                  <a:srgbClr val="CFDDF0"/>
                </a:solidFill>
                <a:latin typeface="Calibri"/>
              </a:rPr>
              <a:t>• Spurious levels results dropped; VAR/IRF &amp; event study kept as support</a:t>
            </a:r>
          </a:p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700" b="0">
                <a:solidFill>
                  <a:srgbClr val="CFDDF0"/>
                </a:solidFill>
                <a:latin typeface="Calibri"/>
              </a:rPr>
              <a:t>• Mimi diagnosed · Oybek stress-tested · Minjin defended — one agreed result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