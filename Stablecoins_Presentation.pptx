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1051560"/>
          </a:xfrm>
          <a:prstGeom prst="rect">
            <a:avLst/>
          </a:prstGeom>
          <a:solidFill>
            <a:srgbClr val="14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" y="0"/>
            <a:ext cx="3474720" cy="3474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411480"/>
            <a:ext cx="2651760" cy="2651760"/>
          </a:xfrm>
          <a:prstGeom prst="ellipse">
            <a:avLst/>
          </a:prstGeom>
          <a:solidFill>
            <a:srgbClr val="0A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" y="4023360"/>
            <a:ext cx="3291840" cy="3291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4434840"/>
            <a:ext cx="2286000" cy="2286000"/>
          </a:xfrm>
          <a:prstGeom prst="ellipse">
            <a:avLst/>
          </a:prstGeom>
          <a:solidFill>
            <a:srgbClr val="0A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331720"/>
            <a:ext cx="3474720" cy="54864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42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STABLECOINS AND THE EXORBITANT PRIVILEGE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272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  <a:latin typeface="Calibri"/>
              </a:rPr>
              <a:t>A New Channel for Safe-Asset Demand and Its Systemic Fragility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4069080"/>
            <a:ext cx="6858000" cy="2560320"/>
          </a:xfrm>
          <a:prstGeom prst="rect">
            <a:avLst/>
          </a:prstGeom>
          <a:solidFill>
            <a:srgbClr val="0E2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420624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Yonsei GSIS 2026-1
Topics in International Finance
Mireu Kim · Sara Chekroune · Oybek Ibragimov
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2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Motivation — why stablecoins matter for sovereign debt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The New Triffin Dilemma — our core argument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Theoretical extension of Maggiori (2017)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Data &amp; Methodology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Result 1 — Privilege amplification regression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Result 2 — Reserve adequacy threshold (Hansen 2000)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Result 3 — Buffer-conditioned event study</a:t>
            </a:r>
          </a:p>
          <a:p>
            <a:pPr algn="l">
              <a:spcBef>
                <a:spcPts val="800"/>
              </a:spcBef>
            </a:pPr>
            <a:r>
              <a:rPr sz="2000" b="0" i="0">
                <a:solidFill>
                  <a:srgbClr val="1A1A2E"/>
                </a:solidFill>
                <a:latin typeface="Calibri"/>
              </a:rPr>
              <a:t>❖  Conclusion &amp; Policy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Motivation: Stablecoins as Treasury Buyers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200"/>
              </a:spcBef>
            </a:pPr>
            <a:r>
              <a:rPr sz="1800" b="1" i="0">
                <a:solidFill>
                  <a:srgbClr val="1B3A72"/>
                </a:solidFill>
                <a:latin typeface="Calibri"/>
              </a:rPr>
              <a:t>Key Market Trends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1A1A2E"/>
                </a:solidFill>
                <a:latin typeface="Calibri"/>
              </a:rPr>
              <a:t>❖  Growth: Combined market cap surged from under $50bn (2021) to over $300bn (2026)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1A1A2E"/>
                </a:solidFill>
                <a:latin typeface="Calibri"/>
              </a:rPr>
              <a:t>❖  Usage: 30%+ of on-chain crypto transactions involve stablecoins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1A1A2E"/>
                </a:solidFill>
                <a:latin typeface="Calibri"/>
              </a:rPr>
              <a:t>❖  Regulation: US, EU, Japan, and Hong Kong each finalising reserve legislation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1A1A2E"/>
                </a:solidFill>
                <a:latin typeface="Calibri"/>
              </a:rPr>
              <a:t>❖  Scale: Tether alone holds $127bn in US Treasuries (Q2 2025) — comparable to mid-sized sovereigns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1A1A2E"/>
                </a:solidFill>
                <a:latin typeface="Calibri"/>
              </a:rPr>
              <a:t>❖  Projection: $1–2 trillion ecosystem within this decade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960120"/>
            <a:ext cx="5303520" cy="10972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0332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$300bn+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184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C4E8"/>
                </a:solidFill>
                <a:latin typeface="Calibri"/>
              </a:rPr>
              <a:t>Total USD-pegged supply (2026)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221992"/>
            <a:ext cx="5303520" cy="10972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9514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$127bn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0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C4E8"/>
                </a:solidFill>
                <a:latin typeface="Calibri"/>
              </a:rPr>
              <a:t>Tether T-bill holdings (Q2 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483864"/>
            <a:ext cx="5303520" cy="10972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557016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$1–2 tn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422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C4E8"/>
                </a:solidFill>
                <a:latin typeface="Calibri"/>
              </a:rPr>
              <a:t>Projected ecosystem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745736"/>
            <a:ext cx="5303520" cy="10972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81888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4041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C4E8"/>
                </a:solidFill>
                <a:latin typeface="Calibri"/>
              </a:rPr>
              <a:t>Jurisdictions finalising legislation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596128"/>
            <a:ext cx="12188952" cy="1097280"/>
          </a:xfrm>
          <a:prstGeom prst="rect">
            <a:avLst/>
          </a:prstGeom>
          <a:solidFill>
            <a:srgbClr val="D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1274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 same structural role that deepens US safe-asset demand also embeds a fragility that can rapidly reverse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The New Triffin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400"/>
              </a:spcBef>
            </a:pPr>
            <a:r>
              <a:rPr sz="1400" b="0" i="1">
                <a:solidFill>
                  <a:srgbClr val="1A1A2E"/>
                </a:solidFill>
                <a:latin typeface="Calibri"/>
              </a:rPr>
              <a:t>Triffin (1960): the reserve currency country must supply safe assets to the world — but that very supply undermines confidence in the currency.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72"/>
                </a:solidFill>
                <a:latin typeface="Calibri"/>
              </a:rPr>
              <a:t>Our analogue for stablecoin issuers: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749039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1343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Normal times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70048"/>
            <a:ext cx="3749039" cy="2331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724912"/>
            <a:ext cx="35478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Stablecoin growth → more T-bill buying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Deepens US safe-asset demand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Compresses OIS–Treasury spreads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Amplifies exorbitant privilege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286000"/>
            <a:ext cx="374903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Run scenario 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670048"/>
            <a:ext cx="3749039" cy="2331720"/>
          </a:xfrm>
          <a:prstGeom prst="rect">
            <a:avLst/>
          </a:prstGeom>
          <a:solidFill>
            <a:srgbClr val="FC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724912"/>
            <a:ext cx="35478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Run on issuer → forced T-bill liquidation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Yields spike above OIS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Sovereign-linked liquidity shock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Cole–Kehoe crisis zone activated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3749039" cy="384048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determines outcome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670048"/>
            <a:ext cx="3749039" cy="23317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724912"/>
            <a:ext cx="35478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θ = T-bill holdings / supply  (Treasury Exposure)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L = cash reserves / supply  (Liquid Buffer)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L adequate: run absorbed, no liquidation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•  → We estimate the threshold L* (Hansen 2000)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596128"/>
            <a:ext cx="12188952" cy="1097280"/>
          </a:xfrm>
          <a:prstGeom prst="rect">
            <a:avLst/>
          </a:prstGeom>
          <a:solidFill>
            <a:srgbClr val="D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1274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Our paper: decompose reserve quality into θ (privilege channel) and L (fragility channel); estimate threshold L*.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Theoretical Extension: Maggiori (2017)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B3A72"/>
                </a:solidFill>
                <a:latin typeface="Calibri"/>
              </a:rPr>
              <a:t>Maggiori (2017) original: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Safe-asset demand driven by Ω* (marginal value of RoW net worth).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B3A72"/>
                </a:solidFill>
                <a:latin typeface="Calibri"/>
              </a:rPr>
              <a:t>Our extension — add stablecoin supply S, θ, and L: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1A1A2E"/>
                </a:solidFill>
                <a:latin typeface="Calibri"/>
              </a:rPr>
              <a:t>D*(Ñ*, S, θ, L)  =  D*precautionary(Ñ*)  +  D*stablecoin(S, θ)  +  D*buffer(L)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B3A72"/>
                </a:solidFill>
                <a:latin typeface="Calibri"/>
              </a:rPr>
              <a:t>Liquid Buffer L enters asymmetrically: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A7A4A"/>
                </a:solidFill>
                <a:latin typeface="Calibri"/>
              </a:rPr>
              <a:t>❖  L ≥ L*  →  run absorbed, no T-bill liquidation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C0392B"/>
                </a:solidFill>
                <a:latin typeface="Calibri"/>
              </a:rPr>
              <a:t>❖  L &lt; L*  →  forced T-bill sales, spread spikes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60120"/>
            <a:ext cx="5577840" cy="47548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0241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Main Estimating Equation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36192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Spreadₜ = α + β₁·ΔlnSₜ + β₂·θₜ + β₃·Lₜ
           + β₄·(Lₜ × ΔlnSₜ)
           + β₅·Vₜ + β₆·VIXₜ
           + β₇·ΔlnN*ₜ + εₜ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3375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AAC4E8"/>
                </a:solidFill>
                <a:latin typeface="Calibri"/>
              </a:rPr>
              <a:t>Predicted signs: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❖  β₁ &lt; 0: ΔlnS compresses spreads (privilege amplification)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❖  β₂ &gt; 0: Higher T-bill exposure θ amplifies demand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❖  β₄ &gt; 0: Higher L dampens crisis transmission during 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Data &amp;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11521440" cy="384048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987552"/>
            <a:ext cx="2441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987552"/>
            <a:ext cx="4453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987552"/>
            <a:ext cx="2075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Frequency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44168"/>
            <a:ext cx="11521440" cy="6675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" y="143560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OIS–Treasury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4" y="14356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DTB3 − SOFR90DAYAVG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143560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FRED (direct CSV, no API key)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1784" y="143560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Daily → Monthly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11680"/>
            <a:ext cx="11521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1031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Stablecoin Supply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9464" y="21031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USDT + USDC market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10312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DeFiLlama stablecoins API (free)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1031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Daily → Monthly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79192"/>
            <a:ext cx="11521440" cy="6675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77063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θ  (Treasury Exposure)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464" y="27706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T-bill holdings / supply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70632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Tether/BDO + Circle/Deloitte attestations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4" y="277063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Quarterly/Monthly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46704"/>
            <a:ext cx="11521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343814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  (Liquid Buffer)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9464" y="343814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Cash reserves / supply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343814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Tether/BDO + Circle/Deloitte attestations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1784" y="343814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Quarterly/Monthly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14216"/>
            <a:ext cx="11521440" cy="6675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4105656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Velocity 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9464" y="410565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7-day rolling SD of ΔlnS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4105656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Computed from DeFiLlama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1784" y="4105656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Daily → Monthly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81728"/>
            <a:ext cx="115214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47731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9464" y="47731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CBOE VIX index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9784" y="477316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1784" y="47731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Daily → Monthly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349240"/>
            <a:ext cx="11521440" cy="6675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54406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ΔlnN* (RoW equity)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9464" y="5440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ACWX ETF log-return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9784" y="544068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Yahoo Finance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1784" y="54406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Daily → Monthly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35508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66"/>
                </a:solidFill>
                <a:latin typeface="Calibri"/>
              </a:rPr>
              <a:t>Sample: January 2022 – March 2026  |  N = 51 monthly observations  |  θ and L sourced from Tether/BDO and Circle/Deloitte reserve attestations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Key Variables: January 2022 –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692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00584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B3A72"/>
                </a:solidFill>
                <a:latin typeface="Calibri"/>
              </a:rPr>
              <a:t>Key observations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Spread compresses as stablecoin supply grows (2022–24)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Spread spikes during LUNA/USDT run (May 2022)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Liquid buffer L builds 2023–25 as Tether shifts to cash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Below threshold (L &lt; 0.130) during 2022 stress periods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Vertical lines: 3 stress events studied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Result 1: Privilege Amplification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66"/>
                </a:solidFill>
                <a:latin typeface="Calibri"/>
              </a:rPr>
              <a:t>OLS with Newey–West HAC (3 lags, N = 51)  |  January 2022 –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16736"/>
            <a:ext cx="6355080" cy="347472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34416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13441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13441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7296" y="1344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HAC 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6355080" cy="420624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728216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ΔlnS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1728216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−6.017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1728216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1728216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(2.499)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84832"/>
            <a:ext cx="63550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148840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θ  (Treasury Exposure)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2148840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148840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148840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(0.261)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05456"/>
            <a:ext cx="635508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2569464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  (Liquid Buffer)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2569464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1.034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2569464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2569464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(0.895)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6355080" cy="420624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2990088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 × ΔlnS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990088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3.891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2990088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7296" y="2990088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(18.413)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46704"/>
            <a:ext cx="635508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3410712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 — velocity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1376" y="3410712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−12.019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3410712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7296" y="3410712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(6.684)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67328"/>
            <a:ext cx="63550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3831336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3831336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−0.008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3831336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7296" y="3831336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(0.016)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87952"/>
            <a:ext cx="635508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" y="4251960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ΔlnN*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4251960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−0.438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251960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7296" y="4251960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(0.536)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608576"/>
            <a:ext cx="63550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4672584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1376" y="4672584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57216" y="4672584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7296" y="4672584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29200"/>
            <a:ext cx="635508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5093208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1376" y="5093208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0.502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7216" y="5093208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97296" y="5093208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449824"/>
            <a:ext cx="63550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2336" y="5513832"/>
            <a:ext cx="3648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Adj. R²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1376" y="5513832"/>
            <a:ext cx="905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0.420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57216" y="5513832"/>
            <a:ext cx="539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97296" y="5513832"/>
            <a:ext cx="1042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0350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  <a:latin typeface="Calibri"/>
              </a:rPr>
              <a:t>** p&lt;0.05  * p&lt;0.10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1316736"/>
            <a:ext cx="4572000" cy="205740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0" y="138988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β₁ = −6.02**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1920240"/>
            <a:ext cx="4389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4E8"/>
                </a:solidFill>
                <a:latin typeface="Calibri"/>
              </a:rPr>
              <a:t>1 SD supply growth → −24 bp spread compression
→ H1 (privilege amplification) confirmed 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23760" y="3493008"/>
            <a:ext cx="4572000" cy="2057400"/>
          </a:xfrm>
          <a:prstGeom prst="rect">
            <a:avLst/>
          </a:prstGeom>
          <a:solidFill>
            <a:srgbClr val="14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0" y="3566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θ, L, L×ΔlnS: 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4096512"/>
            <a:ext cx="4389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4E8"/>
                </a:solidFill>
                <a:latin typeface="Calibri"/>
              </a:rPr>
              <a:t>H2 not confirmed at N=51
Post-2023 sub-sample (N=39):
β₁=−8.14*** · L×ΔlnS=49.17*** (p=0.004)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Result 2: Reserve Adequacy Threshold (Hansen 2000)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threshold_s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943600" cy="33454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96012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B3A72"/>
                </a:solidFill>
                <a:latin typeface="Calibri"/>
              </a:rPr>
              <a:t>Threshold estimate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❖  Optimal q* (on L):  0.1301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❖  LR statistic:  4.524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❖  Bootstrap p-value:  0.260  (1,000 replications)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❖  90% CI:  [0.068, 0.130]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1A1A2E"/>
                </a:solidFill>
                <a:latin typeface="Calibri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1B3A72"/>
                </a:solidFill>
                <a:latin typeface="Calibri"/>
              </a:rPr>
              <a:t>What q* = 0.130 means: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2E"/>
                </a:solidFill>
                <a:latin typeface="Calibri"/>
              </a:rPr>
              <a:t>Liquid cash reserves must cover ≥ 13% of outstanding supply
to dampen crisis transmission (suggestive, p=0.26).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257800"/>
            <a:ext cx="5669280" cy="777240"/>
          </a:xfrm>
          <a:prstGeom prst="rect">
            <a:avLst/>
          </a:prstGeom>
          <a:solidFill>
            <a:srgbClr val="FC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53218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  <a:latin typeface="Calibri"/>
              </a:rPr>
              <a:t>Low liquid buffer  (L ≤ 0.130, N=38):  β_ΔlnS = −6.97  →  Compression persists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5257800"/>
            <a:ext cx="5669280" cy="7772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53218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4A"/>
                </a:solidFill>
                <a:latin typeface="Calibri"/>
              </a:rPr>
              <a:t>High liquid buffer  (L &gt; 0.130, N=13):  β_ΔlnS = +1.26  →  Effect dampened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Result 3: Buffer-Conditioned Event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347472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9875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LUNA / UST Collapse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07592"/>
            <a:ext cx="3749039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33502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Low buffer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3749039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459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May 9, 2022
CAR = +8.91 pp***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960120"/>
            <a:ext cx="3749039" cy="347472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1" y="9875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USDT Partial Depeg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307592"/>
            <a:ext cx="3749039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1" y="133502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Low buffer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600200"/>
            <a:ext cx="3749039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6459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May 12, 2022
CAR = +8.85 pp***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8" y="960120"/>
            <a:ext cx="3749039" cy="347472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0" y="9875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USDC / SVB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8" y="1307592"/>
            <a:ext cx="3749039" cy="29260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0" y="133502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High buffer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8" y="1600200"/>
            <a:ext cx="3749039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8" y="16459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4A"/>
                </a:solidFill>
                <a:latin typeface="Calibri"/>
              </a:rPr>
              <a:t>Mar 11, 2023
CAR = −18.01 pp***</a:t>
            </a:r>
          </a:p>
        </p:txBody>
      </p:sp>
      <p:pic>
        <p:nvPicPr>
          <p:cNvPr id="24" name="Picture 23" descr="event_study_c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0"/>
            <a:ext cx="6858000" cy="18204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0" y="278892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B3A72"/>
                </a:solidFill>
                <a:latin typeface="Calibri"/>
              </a:rPr>
              <a:t>Interpretation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Low-buffer runs → T-bill yields spike (+8.9 pp)
    Cole–Kehoe crisis zone activated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High-buffer stress → flight to Treasuries
    compresses spread (−18.0 pp)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❖  Welch test: t = 15.22, p &lt; 0.001
    Buffer regime is the key conditioning variable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Robustness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55321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5532120" cy="384048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881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NW lag sensitivity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79" y="108813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7A4A"/>
                </a:solidFill>
                <a:latin typeface="Calibri"/>
              </a:rPr>
              <a:t>✅ 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27048"/>
            <a:ext cx="53218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β₁ stable across all lag choices
(−5.95 to −6.02, p &lt; 0.05 throughout)
θ, L, L×ΔlnS remain 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24128"/>
            <a:ext cx="55321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24128"/>
            <a:ext cx="5532120" cy="384048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881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Post-2023 sub-sample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19" y="108813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7A4A"/>
                </a:solidFill>
                <a:latin typeface="Calibri"/>
              </a:rPr>
              <a:t>✅ 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527048"/>
            <a:ext cx="53218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β₁ = −8.14*** (p &lt; 0.001)
L×ΔlnS = 49.17*** (p = 0.004)
H2 recovers with broader attestation 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47288"/>
            <a:ext cx="55321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447288"/>
            <a:ext cx="5532120" cy="384048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511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Mean-centering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35112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7A4A"/>
                </a:solidFill>
                <a:latin typeface="Calibri"/>
              </a:rPr>
              <a:t>✅ 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3950208"/>
            <a:ext cx="53218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All VIFs &lt; 8 in N=51 sample
Coefficients and significance unchanged
Interaction term VIF resolves with centering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447288"/>
            <a:ext cx="55321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447288"/>
            <a:ext cx="5532120" cy="384048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511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First-differenced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35112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4632A"/>
                </a:solidFill>
                <a:latin typeface="Calibri"/>
              </a:rPr>
              <a:t>⚠️  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950208"/>
            <a:ext cx="53218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β₁ not significant in differences
Level spec captures structural relationship;
event study provides causal identification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Summary of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02920" cy="850392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005840"/>
            <a:ext cx="10972800" cy="8503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060704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72"/>
                </a:solidFill>
                <a:latin typeface="Calibri"/>
              </a:rPr>
              <a:t>H1 confirmed — privilege amplification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2646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β₁ = −6.02**  |  1 SD supply growth → −24 bp spread compression  (N=51, Jan 2022–Mar 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93392"/>
            <a:ext cx="502920" cy="850392"/>
          </a:xfrm>
          <a:prstGeom prst="rect">
            <a:avLst/>
          </a:prstGeom>
          <a:solidFill>
            <a:srgbClr val="D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993392"/>
            <a:ext cx="10972800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048256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72"/>
                </a:solidFill>
                <a:latin typeface="Calibri"/>
              </a:rPr>
              <a:t>H2 suggestive — buffer channel (power-limited at N=51)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1401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θ, L, L×ΔlnS individually NS; post-2023 sub-sample confirms β₁=−8.14***, L×ΔlnS=49.17***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80944"/>
            <a:ext cx="502920" cy="850392"/>
          </a:xfrm>
          <a:prstGeom prst="rect">
            <a:avLst/>
          </a:prstGeom>
          <a:solidFill>
            <a:srgbClr val="D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1638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80944"/>
            <a:ext cx="10972800" cy="8503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03580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72"/>
                </a:solidFill>
                <a:latin typeface="Calibri"/>
              </a:rPr>
              <a:t>Threshold suggestive — q* = 0.1301 (p = 0.260)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01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Liquid reserves ≥ 13% of supply keeps issuers outside the fragility zone (economically meaningful)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68496"/>
            <a:ext cx="502920" cy="850392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1513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968496"/>
            <a:ext cx="10972800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23360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72"/>
                </a:solidFill>
                <a:latin typeface="Calibri"/>
              </a:rPr>
              <a:t>Event study confirms asymmetry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Low-buffer runs: CAR +8.9 pp  vs.  High-buffer stress: CAR −18.0 pp  (Welch t = 15.2***)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56048"/>
            <a:ext cx="502920" cy="850392"/>
          </a:xfrm>
          <a:prstGeom prst="rect">
            <a:avLst/>
          </a:prstGeom>
          <a:solidFill>
            <a:srgbClr val="D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138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956048"/>
            <a:ext cx="10972800" cy="8503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1091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72"/>
                </a:solidFill>
                <a:latin typeface="Calibri"/>
              </a:rPr>
              <a:t>Stationarity caveat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766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Level results don't survive first-differencing; event study provides causal identification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Policy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66"/>
                </a:solidFill>
                <a:latin typeface="Calibri"/>
              </a:rPr>
              <a:t>Our threshold estimate provides a direct reference point at a moment when the US, EU, Japan, and Hong Kong are each finalising stablecoin reserve legislation.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557784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64592" cy="2011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82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72"/>
                </a:solidFill>
                <a:latin typeface="Calibri"/>
              </a:rPr>
              <a:t>Minimum liquid reserve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756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Require cash + near-cash reserves ≥ 13% of outstanding supply — placing issuers above the empirically estimated fragility threshold (q* = 0.1301).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72768"/>
            <a:ext cx="557784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72768"/>
            <a:ext cx="164592" cy="2011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82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72"/>
                </a:solidFill>
                <a:latin typeface="Calibri"/>
              </a:rPr>
              <a:t>Decomposed reporting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756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Mandate separate disclosure of θ (T-bill exposure) and L (liquid cash buffer). Aggregate reserve ratios obscure the quality and liquidity of the backing.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21608"/>
            <a:ext cx="557784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721608"/>
            <a:ext cx="164592" cy="2011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8313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72"/>
                </a:solidFill>
                <a:latin typeface="Calibri"/>
              </a:rPr>
              <a:t>Velocity-contingent buffers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2245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Our velocity variable V (7-day rolling SD of supply changes) predicts stress. Higher recent redemption velocity → higher required liquid buffer. Dynamic rules.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21608"/>
            <a:ext cx="557784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21608"/>
            <a:ext cx="164592" cy="2011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8313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72"/>
                </a:solidFill>
                <a:latin typeface="Calibri"/>
              </a:rPr>
              <a:t>Systemic size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2245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Fragility is proportional to scale. A $100bn issuer's forced liquidation is 10× more disruptive than a $10bn issuer. Tiered requirements by AUM.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596128"/>
            <a:ext cx="12188952" cy="1097280"/>
          </a:xfrm>
          <a:prstGeom prst="rect">
            <a:avLst/>
          </a:prstGeom>
          <a:solidFill>
            <a:srgbClr val="D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60720"/>
            <a:ext cx="11274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Policy bottom line: Liquid cash reserves ≥ 13% of supply (q* = 0.1301) keeps issuers outside the fragility zone.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4739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66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11521440" cy="1051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3A72"/>
                </a:solidFill>
                <a:latin typeface="Calibri"/>
              </a:rPr>
              <a:t>Large-scale USD-pegged stablecoins introduce a two-sided 'New Triffin Dilemma': amplifying U.S. exorbitant privilege in normal times, while embedding a fragility that can rapidly reverse that benefit when liquid cash reserves fall below a critical threshold.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5577840" cy="1417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148840"/>
            <a:ext cx="1188720" cy="141732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286000"/>
            <a:ext cx="4206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Extended Maggiori (2017) with supply S,
θ (privilege channel) and L (fragility channel)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148840"/>
            <a:ext cx="5577840" cy="1417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48840"/>
            <a:ext cx="1188720" cy="141732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Empirics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286000"/>
            <a:ext cx="4206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β₁ = −6.02** (H1 confirmed)
Post-2023: β₁=−8.14***, L×ΔlnS=49.17***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03320"/>
            <a:ext cx="5577840" cy="1417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03320"/>
            <a:ext cx="1188720" cy="141732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60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Empirics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840480"/>
            <a:ext cx="4206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Suggestive threshold: q* = 0.1301 (p=0.260)
Liquid reserves ≥ 13% of supply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03320"/>
            <a:ext cx="5577840" cy="1417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703320"/>
            <a:ext cx="1188720" cy="1417320"/>
          </a:xfrm>
          <a:prstGeom prst="rect">
            <a:avLst/>
          </a:prstGeom>
          <a:solidFill>
            <a:srgbClr val="1B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160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Empirics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3840480"/>
            <a:ext cx="4206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27 pp CAR swing between low- and
high-buffer stress episodes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</a:p>
          <a:p>
            <a:pPr algn="l">
              <a:spcBef>
                <a:spcPts val="400"/>
              </a:spcBef>
            </a:pPr>
            <a:r>
              <a:rPr sz="1200" b="0" i="1">
                <a:solidFill>
                  <a:srgbClr val="555566"/>
                </a:solidFill>
                <a:latin typeface="Calibri"/>
              </a:rPr>
              <a:t>Limitation: Level results don't survive first-differencing. Event study (daily data, quasi-experimental) provides the primary causal identification.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1051560"/>
          </a:xfrm>
          <a:prstGeom prst="rect">
            <a:avLst/>
          </a:prstGeom>
          <a:solidFill>
            <a:srgbClr val="14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" y="0"/>
            <a:ext cx="3474720" cy="3474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411480"/>
            <a:ext cx="2651760" cy="2651760"/>
          </a:xfrm>
          <a:prstGeom prst="ellipse">
            <a:avLst/>
          </a:prstGeom>
          <a:solidFill>
            <a:srgbClr val="0A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" y="4023360"/>
            <a:ext cx="3291840" cy="3291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4434840"/>
            <a:ext cx="2286000" cy="2286000"/>
          </a:xfrm>
          <a:prstGeom prst="ellipse">
            <a:avLst/>
          </a:prstGeom>
          <a:solidFill>
            <a:srgbClr val="0A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331720"/>
            <a:ext cx="3474720" cy="54864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069080"/>
            <a:ext cx="6858000" cy="2560320"/>
          </a:xfrm>
          <a:prstGeom prst="rect">
            <a:avLst/>
          </a:prstGeom>
          <a:solidFill>
            <a:srgbClr val="0E2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420624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Yonsei GSIS 2026-1
Topics in International Finance
Mireu Kim · Sara Chekroune · Oybek Ibragimov
kimmireu0921@gmail.com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