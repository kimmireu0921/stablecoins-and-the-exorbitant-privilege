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606040"/>
            <a:ext cx="12188952" cy="1051560"/>
          </a:xfrm>
          <a:prstGeom prst="rect">
            <a:avLst/>
          </a:prstGeom>
          <a:solidFill>
            <a:srgbClr val="14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440" y="0"/>
            <a:ext cx="3474720" cy="34747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2920" y="411480"/>
            <a:ext cx="2651760" cy="2651760"/>
          </a:xfrm>
          <a:prstGeom prst="ellipse">
            <a:avLst/>
          </a:prstGeom>
          <a:solidFill>
            <a:srgbClr val="0A1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" y="4023360"/>
            <a:ext cx="3291840" cy="32918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94360" y="4434840"/>
            <a:ext cx="2286000" cy="2286000"/>
          </a:xfrm>
          <a:prstGeom prst="ellipse">
            <a:avLst/>
          </a:prstGeom>
          <a:solidFill>
            <a:srgbClr val="0A1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2331720"/>
            <a:ext cx="3474720" cy="548640"/>
          </a:xfrm>
          <a:prstGeom prst="rect">
            <a:avLst/>
          </a:prstGeom>
          <a:solidFill>
            <a:srgbClr val="55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254203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 Light"/>
              </a:rPr>
              <a:t>STABLECOINS AND THE EXORBITANT PRIVILEGE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312724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AAC4E8"/>
                </a:solidFill>
                <a:latin typeface="Calibri"/>
              </a:rPr>
              <a:t>A New Channel for Safe-Asset Demand and Its Systemic Fragility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66160" y="4069080"/>
            <a:ext cx="6858000" cy="2560320"/>
          </a:xfrm>
          <a:prstGeom prst="rect">
            <a:avLst/>
          </a:prstGeom>
          <a:solidFill>
            <a:srgbClr val="0E26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49039" y="4206240"/>
            <a:ext cx="65836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Yonsei GSIS 2026-1
Topics in International Finance
Mireu Kim · Sara Chekroune · Oybek Ibragimov
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0515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86032" y="6473952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555566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05840"/>
            <a:ext cx="111556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</a:p>
          <a:p>
            <a:pPr algn="l">
              <a:spcBef>
                <a:spcPts val="200"/>
              </a:spcBef>
            </a:pPr>
            <a:r>
              <a:rPr sz="2000" b="0" i="0">
                <a:solidFill>
                  <a:srgbClr val="1A1A2E"/>
                </a:solidFill>
                <a:latin typeface="Calibri"/>
              </a:rPr>
              <a:t>❖  Motivation — why stablecoins matter for sovereign debt</a:t>
            </a:r>
          </a:p>
          <a:p>
            <a:pPr algn="l">
              <a:spcBef>
                <a:spcPts val="800"/>
              </a:spcBef>
            </a:pPr>
            <a:r>
              <a:rPr sz="2000" b="0" i="0">
                <a:solidFill>
                  <a:srgbClr val="1A1A2E"/>
                </a:solidFill>
                <a:latin typeface="Calibri"/>
              </a:rPr>
              <a:t>❖  The New Triffin Dilemma — our core argument</a:t>
            </a:r>
          </a:p>
          <a:p>
            <a:pPr algn="l">
              <a:spcBef>
                <a:spcPts val="800"/>
              </a:spcBef>
            </a:pPr>
            <a:r>
              <a:rPr sz="2000" b="0" i="0">
                <a:solidFill>
                  <a:srgbClr val="1A1A2E"/>
                </a:solidFill>
                <a:latin typeface="Calibri"/>
              </a:rPr>
              <a:t>❖  Theoretical extension of Maggiori (2017)</a:t>
            </a:r>
          </a:p>
          <a:p>
            <a:pPr algn="l">
              <a:spcBef>
                <a:spcPts val="800"/>
              </a:spcBef>
            </a:pPr>
            <a:r>
              <a:rPr sz="2000" b="0" i="0">
                <a:solidFill>
                  <a:srgbClr val="1A1A2E"/>
                </a:solidFill>
                <a:latin typeface="Calibri"/>
              </a:rPr>
              <a:t>❖  Data &amp; Methodology</a:t>
            </a:r>
          </a:p>
          <a:p>
            <a:pPr algn="l">
              <a:spcBef>
                <a:spcPts val="800"/>
              </a:spcBef>
            </a:pPr>
            <a:r>
              <a:rPr sz="2000" b="0" i="0">
                <a:solidFill>
                  <a:srgbClr val="1A1A2E"/>
                </a:solidFill>
                <a:latin typeface="Calibri"/>
              </a:rPr>
              <a:t>❖  Result 1 — Privilege amplification regression</a:t>
            </a:r>
          </a:p>
          <a:p>
            <a:pPr algn="l">
              <a:spcBef>
                <a:spcPts val="800"/>
              </a:spcBef>
            </a:pPr>
            <a:r>
              <a:rPr sz="2000" b="0" i="0">
                <a:solidFill>
                  <a:srgbClr val="1A1A2E"/>
                </a:solidFill>
                <a:latin typeface="Calibri"/>
              </a:rPr>
              <a:t>❖  Result 2 — Reserve adequacy threshold (Hansen 2000)</a:t>
            </a:r>
          </a:p>
          <a:p>
            <a:pPr algn="l">
              <a:spcBef>
                <a:spcPts val="800"/>
              </a:spcBef>
            </a:pPr>
            <a:r>
              <a:rPr sz="2000" b="0" i="0">
                <a:solidFill>
                  <a:srgbClr val="1A1A2E"/>
                </a:solidFill>
                <a:latin typeface="Calibri"/>
              </a:rPr>
              <a:t>❖  Result 3 — Buffer-conditioned event study</a:t>
            </a:r>
          </a:p>
          <a:p>
            <a:pPr algn="l">
              <a:spcBef>
                <a:spcPts val="800"/>
              </a:spcBef>
            </a:pPr>
            <a:r>
              <a:rPr sz="2000" b="0" i="0">
                <a:solidFill>
                  <a:srgbClr val="1A1A2E"/>
                </a:solidFill>
                <a:latin typeface="Calibri"/>
              </a:rPr>
              <a:t>❖  Conclusion &amp; Policy implications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0515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Motivation: Stablecoins as Treasury Buyers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86032" y="6473952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555566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5669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</a:p>
          <a:p>
            <a:pPr algn="l">
              <a:spcBef>
                <a:spcPts val="200"/>
              </a:spcBef>
            </a:pPr>
            <a:r>
              <a:rPr sz="1800" b="1" i="0">
                <a:solidFill>
                  <a:srgbClr val="1B3A72"/>
                </a:solidFill>
                <a:latin typeface="Calibri"/>
              </a:rPr>
              <a:t>Key Market Trends</a:t>
            </a:r>
          </a:p>
          <a:p>
            <a:pPr algn="l">
              <a:spcBef>
                <a:spcPts val="1000"/>
              </a:spcBef>
            </a:pPr>
            <a:r>
              <a:rPr sz="1700" b="0" i="0">
                <a:solidFill>
                  <a:srgbClr val="1A1A2E"/>
                </a:solidFill>
                <a:latin typeface="Calibri"/>
              </a:rPr>
              <a:t>❖  Growth: Combined market cap surged from under $50bn (2021) to over $300bn (2026)</a:t>
            </a:r>
          </a:p>
          <a:p>
            <a:pPr algn="l">
              <a:spcBef>
                <a:spcPts val="1000"/>
              </a:spcBef>
            </a:pPr>
            <a:r>
              <a:rPr sz="1700" b="0" i="0">
                <a:solidFill>
                  <a:srgbClr val="1A1A2E"/>
                </a:solidFill>
                <a:latin typeface="Calibri"/>
              </a:rPr>
              <a:t>❖  Usage: 30%+ of on-chain crypto transactions involve stablecoins</a:t>
            </a:r>
          </a:p>
          <a:p>
            <a:pPr algn="l">
              <a:spcBef>
                <a:spcPts val="1000"/>
              </a:spcBef>
            </a:pPr>
            <a:r>
              <a:rPr sz="1700" b="0" i="0">
                <a:solidFill>
                  <a:srgbClr val="1A1A2E"/>
                </a:solidFill>
                <a:latin typeface="Calibri"/>
              </a:rPr>
              <a:t>❖  Regulation: US, EU, Japan, and Hong Kong each finalising reserve legislation</a:t>
            </a:r>
          </a:p>
          <a:p>
            <a:pPr algn="l">
              <a:spcBef>
                <a:spcPts val="1000"/>
              </a:spcBef>
            </a:pPr>
            <a:r>
              <a:rPr sz="1700" b="0" i="0">
                <a:solidFill>
                  <a:srgbClr val="1A1A2E"/>
                </a:solidFill>
                <a:latin typeface="Calibri"/>
              </a:rPr>
              <a:t>❖  Scale: Tether alone holds $127bn in US Treasuries (Q2 2025) — comparable to mid-sized sovereigns</a:t>
            </a:r>
          </a:p>
          <a:p>
            <a:pPr algn="l">
              <a:spcBef>
                <a:spcPts val="1000"/>
              </a:spcBef>
            </a:pPr>
            <a:r>
              <a:rPr sz="1700" b="0" i="0">
                <a:solidFill>
                  <a:srgbClr val="1A1A2E"/>
                </a:solidFill>
                <a:latin typeface="Calibri"/>
              </a:rPr>
              <a:t>❖  Projection: $1–2 trillion ecosystem within this decade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92240" y="960120"/>
            <a:ext cx="5303520" cy="1097280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033272"/>
            <a:ext cx="5120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$300bn+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61848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AAC4E8"/>
                </a:solidFill>
                <a:latin typeface="Calibri"/>
              </a:rPr>
              <a:t>Total USD-pegged supply (2026)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92240" y="2221992"/>
            <a:ext cx="5303520" cy="1097280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295144"/>
            <a:ext cx="5120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$127bn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8803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AAC4E8"/>
                </a:solidFill>
                <a:latin typeface="Calibri"/>
              </a:rPr>
              <a:t>Tether T-bill holdings (Q2 2025)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483864"/>
            <a:ext cx="5303520" cy="1097280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3557016"/>
            <a:ext cx="5120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$1–2 tn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414223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AAC4E8"/>
                </a:solidFill>
                <a:latin typeface="Calibri"/>
              </a:rPr>
              <a:t>Projected ecosystem size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4745736"/>
            <a:ext cx="5303520" cy="1097280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4818888"/>
            <a:ext cx="5120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5404104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AAC4E8"/>
                </a:solidFill>
                <a:latin typeface="Calibri"/>
              </a:rPr>
              <a:t>Jurisdictions finalising legislation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5596128"/>
            <a:ext cx="12188952" cy="1097280"/>
          </a:xfrm>
          <a:prstGeom prst="rect">
            <a:avLst/>
          </a:prstGeom>
          <a:solidFill>
            <a:srgbClr val="D46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760720"/>
            <a:ext cx="1127455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The same structural role that deepens US safe-asset demand also embeds a fragility that can rapidly reverse 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0515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The New Triffin Dilemma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86032" y="6473952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555566"/>
                </a:solidFill>
                <a:latin typeface="Calibri"/>
              </a:rPr>
              <a:t>4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60120"/>
            <a:ext cx="11430000" cy="7772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005840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</a:p>
          <a:p>
            <a:pPr algn="l">
              <a:spcBef>
                <a:spcPts val="400"/>
              </a:spcBef>
            </a:pPr>
            <a:r>
              <a:rPr sz="1400" b="0" i="1">
                <a:solidFill>
                  <a:srgbClr val="1A1A2E"/>
                </a:solidFill>
                <a:latin typeface="Calibri"/>
              </a:rPr>
              <a:t>Triffin (1960): the reserve currency country must supply safe assets to the world — but that very supply undermines confidence in the currency.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74519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B3A72"/>
                </a:solidFill>
                <a:latin typeface="Calibri"/>
              </a:rPr>
              <a:t>Our analogue for stablecoin issuers: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286000"/>
            <a:ext cx="3749039" cy="384048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313432"/>
            <a:ext cx="3566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Normal times 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670048"/>
            <a:ext cx="3749039" cy="2331720"/>
          </a:xfrm>
          <a:prstGeom prst="rect">
            <a:avLst/>
          </a:prstGeom>
          <a:solidFill>
            <a:srgbClr val="E6F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724912"/>
            <a:ext cx="3547872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1A1A2E"/>
                </a:solidFill>
                <a:latin typeface="Calibri"/>
              </a:rPr>
              <a:t>•  Stablecoin growth → more T-bill buying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1A1A2E"/>
                </a:solidFill>
                <a:latin typeface="Calibri"/>
              </a:rPr>
              <a:t>•  Deepens US safe-asset demand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1A1A2E"/>
                </a:solidFill>
                <a:latin typeface="Calibri"/>
              </a:rPr>
              <a:t>•  Compresses OIS–Treasury spreads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1A1A2E"/>
                </a:solidFill>
                <a:latin typeface="Calibri"/>
              </a:rPr>
              <a:t>•  Amplifies exorbitant privilege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80" y="2286000"/>
            <a:ext cx="3749039" cy="38404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2313432"/>
            <a:ext cx="3566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Run scenario 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7680" y="2670048"/>
            <a:ext cx="3749039" cy="2331720"/>
          </a:xfrm>
          <a:prstGeom prst="rect">
            <a:avLst/>
          </a:prstGeom>
          <a:solidFill>
            <a:srgbClr val="FCEB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07408" y="2724912"/>
            <a:ext cx="3547872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1A1A2E"/>
                </a:solidFill>
                <a:latin typeface="Calibri"/>
              </a:rPr>
              <a:t>•  Run on issuer → forced T-bill liquidation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1A1A2E"/>
                </a:solidFill>
                <a:latin typeface="Calibri"/>
              </a:rPr>
              <a:t>•  Yields spike above OIS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1A1A2E"/>
                </a:solidFill>
                <a:latin typeface="Calibri"/>
              </a:rPr>
              <a:t>•  Sovereign-linked liquidity shock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1A1A2E"/>
                </a:solidFill>
                <a:latin typeface="Calibri"/>
              </a:rPr>
              <a:t>•  Cole–Kehoe crisis zone activated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2286000"/>
            <a:ext cx="3749039" cy="384048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2313432"/>
            <a:ext cx="3566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What determines outcome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2670048"/>
            <a:ext cx="3749039" cy="2331720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8" y="2724912"/>
            <a:ext cx="3547872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1A1A2E"/>
                </a:solidFill>
                <a:latin typeface="Calibri"/>
              </a:rPr>
              <a:t>•  θ = T-bill holdings / supply  (Treasury Exposure)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1A1A2E"/>
                </a:solidFill>
                <a:latin typeface="Calibri"/>
              </a:rPr>
              <a:t>•  L = cash reserves / supply  (Liquid Buffer)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1A1A2E"/>
                </a:solidFill>
                <a:latin typeface="Calibri"/>
              </a:rPr>
              <a:t>•  L adequate: run absorbed, no liquidation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1A1A2E"/>
                </a:solidFill>
                <a:latin typeface="Calibri"/>
              </a:rPr>
              <a:t>•  → We estimate the threshold L* (Hansen 2000)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5596128"/>
            <a:ext cx="12188952" cy="1097280"/>
          </a:xfrm>
          <a:prstGeom prst="rect">
            <a:avLst/>
          </a:prstGeom>
          <a:solidFill>
            <a:srgbClr val="D46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5760720"/>
            <a:ext cx="1127455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Our paper: decompose reserve quality into θ (privilege channel) and L (fragility channel); estimate threshold L*.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0515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Theoretical Extension: Maggiori (2017)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86032" y="6473952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555566"/>
                </a:solidFill>
                <a:latin typeface="Calibri"/>
              </a:rPr>
              <a:t>5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60120"/>
            <a:ext cx="5669280" cy="475488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024128"/>
            <a:ext cx="5394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</a:p>
          <a:p>
            <a:pPr algn="l">
              <a:spcBef>
                <a:spcPts val="400"/>
              </a:spcBef>
            </a:pPr>
            <a:r>
              <a:rPr sz="1400" b="1" i="0">
                <a:solidFill>
                  <a:srgbClr val="1B3A72"/>
                </a:solidFill>
                <a:latin typeface="Calibri"/>
              </a:rPr>
              <a:t>Maggiori (2017) original: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1A1A2E"/>
                </a:solidFill>
                <a:latin typeface="Calibri"/>
              </a:rPr>
              <a:t>Safe-asset demand driven by Ω* (marginal value of RoW net worth).</a:t>
            </a:r>
          </a:p>
          <a:p>
            <a:pPr algn="l">
              <a:spcBef>
                <a:spcPts val="400"/>
              </a:spcBef>
            </a:pPr>
            <a:r>
              <a:rPr sz="800" b="0" i="0">
                <a:solidFill>
                  <a:srgbClr val="1A1A2E"/>
                </a:solidFill>
                <a:latin typeface="Calibri"/>
              </a:rPr>
              <a:t> </a:t>
            </a:r>
          </a:p>
          <a:p>
            <a:pPr algn="l">
              <a:spcBef>
                <a:spcPts val="600"/>
              </a:spcBef>
            </a:pPr>
            <a:r>
              <a:rPr sz="1400" b="1" i="0">
                <a:solidFill>
                  <a:srgbClr val="1B3A72"/>
                </a:solidFill>
                <a:latin typeface="Calibri"/>
              </a:rPr>
              <a:t>Our extension — add stablecoin supply S, θ, and L:</a:t>
            </a:r>
          </a:p>
          <a:p>
            <a:pPr algn="l">
              <a:spcBef>
                <a:spcPts val="400"/>
              </a:spcBef>
            </a:pPr>
            <a:r>
              <a:rPr sz="1300" b="0" i="1">
                <a:solidFill>
                  <a:srgbClr val="1A1A2E"/>
                </a:solidFill>
                <a:latin typeface="Calibri"/>
              </a:rPr>
              <a:t>D*(Ñ*, S, θ, L)  =  D*precautionary(Ñ*)  +  D*stablecoin(S, θ)  +  D*buffer(L)</a:t>
            </a:r>
          </a:p>
          <a:p>
            <a:pPr algn="l">
              <a:spcBef>
                <a:spcPts val="400"/>
              </a:spcBef>
            </a:pPr>
            <a:r>
              <a:rPr sz="800" b="0" i="0">
                <a:solidFill>
                  <a:srgbClr val="1A1A2E"/>
                </a:solidFill>
                <a:latin typeface="Calibri"/>
              </a:rPr>
              <a:t> </a:t>
            </a:r>
          </a:p>
          <a:p>
            <a:pPr algn="l">
              <a:spcBef>
                <a:spcPts val="400"/>
              </a:spcBef>
            </a:pPr>
            <a:r>
              <a:rPr sz="1400" b="1" i="0">
                <a:solidFill>
                  <a:srgbClr val="1B3A72"/>
                </a:solidFill>
                <a:latin typeface="Calibri"/>
              </a:rPr>
              <a:t>Liquid Buffer L enters asymmetrically: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1A7A4A"/>
                </a:solidFill>
                <a:latin typeface="Calibri"/>
              </a:rPr>
              <a:t>❖  L ≥ L*  →  run absorbed, no T-bill liquidation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C0392B"/>
                </a:solidFill>
                <a:latin typeface="Calibri"/>
              </a:rPr>
              <a:t>❖  L &lt; L*  →  forced T-bill sales, spread spikes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960120"/>
            <a:ext cx="5577840" cy="4754880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024128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Main Estimating Equation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536192"/>
            <a:ext cx="53035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Spreadₜ = α + β₁·ΔlnSₜ + β₂·θₜ + β₃·Lₜ
           + β₄·(Lₜ × ΔlnSₜ)
           + β₅·Vₜ + β₆·VIXₜ
           + β₇·ΔlnN*ₜ + εₜ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333756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</a:p>
          <a:p>
            <a:pPr algn="l">
              <a:spcBef>
                <a:spcPts val="400"/>
              </a:spcBef>
            </a:pPr>
            <a:r>
              <a:rPr sz="1300" b="1" i="0">
                <a:solidFill>
                  <a:srgbClr val="AAC4E8"/>
                </a:solidFill>
                <a:latin typeface="Calibri"/>
              </a:rPr>
              <a:t>Predicted signs:</a:t>
            </a:r>
          </a:p>
          <a:p>
            <a:pPr algn="l">
              <a:spcBef>
                <a:spcPts val="600"/>
              </a:spcBef>
            </a:pPr>
            <a:r>
              <a:rPr sz="1200" b="0" i="0">
                <a:solidFill>
                  <a:srgbClr val="FFFFFF"/>
                </a:solidFill>
                <a:latin typeface="Calibri"/>
              </a:rPr>
              <a:t>❖  β₁ &lt; 0: ΔlnS compresses spreads (privilege amplification)</a:t>
            </a:r>
          </a:p>
          <a:p>
            <a:pPr algn="l">
              <a:spcBef>
                <a:spcPts val="600"/>
              </a:spcBef>
            </a:pPr>
            <a:r>
              <a:rPr sz="1200" b="0" i="0">
                <a:solidFill>
                  <a:srgbClr val="FFFFFF"/>
                </a:solidFill>
                <a:latin typeface="Calibri"/>
              </a:rPr>
              <a:t>❖  β₂ &gt; 0: Higher T-bill exposure θ amplifies demand</a:t>
            </a:r>
          </a:p>
          <a:p>
            <a:pPr algn="l">
              <a:spcBef>
                <a:spcPts val="600"/>
              </a:spcBef>
            </a:pPr>
            <a:r>
              <a:rPr sz="1200" b="0" i="0">
                <a:solidFill>
                  <a:srgbClr val="FFFFFF"/>
                </a:solidFill>
                <a:latin typeface="Calibri"/>
              </a:rPr>
              <a:t>❖  β₄ &gt; 0: Higher L dampens crisis transmission during runs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0515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Data &amp; Sample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86032" y="6473952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555566"/>
                </a:solidFill>
                <a:latin typeface="Calibri"/>
              </a:rPr>
              <a:t>6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960120"/>
            <a:ext cx="11521440" cy="384048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987552"/>
            <a:ext cx="20756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Variable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987552"/>
            <a:ext cx="24414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Definition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987552"/>
            <a:ext cx="445312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Source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987552"/>
            <a:ext cx="20756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Frequency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344168"/>
            <a:ext cx="11521440" cy="66751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4904" y="1435608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OIS–Treasury Spread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9464" y="1435608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DTB3 − SOFR90DAYAVG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9784" y="1435608"/>
            <a:ext cx="4434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FRED (direct CSV, no API key)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01784" y="1435608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Daily → Monthly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011680"/>
            <a:ext cx="11521440" cy="6675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4904" y="2103120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Stablecoin Supply 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9464" y="2103120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USDT + USDC market cap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9784" y="2103120"/>
            <a:ext cx="4434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DeFiLlama stablecoins API (free)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01784" y="2103120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Daily → Monthly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2679192"/>
            <a:ext cx="11521440" cy="66751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4904" y="2770632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θ  (Treasury Exposure)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9464" y="2770632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T-bill holdings / supply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9784" y="2770632"/>
            <a:ext cx="4434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Tether/BDO + Circle/Deloitte attestations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01784" y="2770632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Quarterly/Monthly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3346704"/>
            <a:ext cx="11521440" cy="6675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4904" y="3438144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L  (Liquid Buffer)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69464" y="3438144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Cash reserves / supply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9784" y="3438144"/>
            <a:ext cx="4434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Tether/BDO + Circle/Deloitte attestations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01784" y="3438144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Quarterly/Monthly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4014216"/>
            <a:ext cx="11521440" cy="66751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4904" y="4105656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Velocity V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569464" y="4105656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7-day rolling SD of ΔlnS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9784" y="4105656"/>
            <a:ext cx="4434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Computed from DeFiLlama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01784" y="4105656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Daily → Monthly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4681728"/>
            <a:ext cx="11521440" cy="6675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74904" y="4773168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VIX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69464" y="4773168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CBOE VIX index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29784" y="4773168"/>
            <a:ext cx="4434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FRED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01784" y="4773168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Daily → Monthly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5349240"/>
            <a:ext cx="11521440" cy="66751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74904" y="5440680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ΔlnN* (RoW equity)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569464" y="5440680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ACWX ETF log-return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29784" y="5440680"/>
            <a:ext cx="4434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Yahoo Finance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01784" y="5440680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Daily → Monthly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0040" y="6355080"/>
            <a:ext cx="11521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55566"/>
                </a:solidFill>
                <a:latin typeface="Calibri"/>
              </a:rPr>
              <a:t>Sample: January 2022 – March 2026  |  N = 51 monthly observations  |  θ and L sourced from Tether/BDO and Circle/Deloitte reserve attestations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686032" y="6473952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5555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0515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Key Variables: January 2022 – March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86032" y="6473952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555566"/>
                </a:solidFill>
                <a:latin typeface="Calibri"/>
              </a:rPr>
              <a:t>7</a:t>
            </a:r>
          </a:p>
        </p:txBody>
      </p:sp>
      <p:pic>
        <p:nvPicPr>
          <p:cNvPr id="6" name="Picture 5" descr="fig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772400" cy="569288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0" y="1005840"/>
            <a:ext cx="35661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</a:p>
          <a:p>
            <a:pPr algn="l">
              <a:spcBef>
                <a:spcPts val="400"/>
              </a:spcBef>
            </a:pPr>
            <a:r>
              <a:rPr sz="1500" b="1" i="0">
                <a:solidFill>
                  <a:srgbClr val="1B3A72"/>
                </a:solidFill>
                <a:latin typeface="Calibri"/>
              </a:rPr>
              <a:t>Three panels, one story</a:t>
            </a:r>
          </a:p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1A1A2E"/>
                </a:solidFill>
                <a:latin typeface="Calibri"/>
              </a:rPr>
              <a:t>❖  A: Treasury spread — compresses when supply grows, spikes in crises</a:t>
            </a:r>
          </a:p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1A1A2E"/>
                </a:solidFill>
                <a:latin typeface="Calibri"/>
              </a:rPr>
              <a:t>❖  B: USDT + USDC supply — grew from $100bn to $200bn+ over this period</a:t>
            </a:r>
          </a:p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1A1A2E"/>
                </a:solidFill>
                <a:latin typeface="Calibri"/>
              </a:rPr>
              <a:t>❖  C: Liquid buffer L — dangerously thin in 2022, recovering since 2023</a:t>
            </a:r>
          </a:p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1A1A2E"/>
                </a:solidFill>
                <a:latin typeface="Calibri"/>
              </a:rPr>
              <a:t>❖  Red dashed line = our estimated safety threshold (13%)</a:t>
            </a:r>
          </a:p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1A1A2E"/>
                </a:solidFill>
                <a:latin typeface="Calibri"/>
              </a:rPr>
              <a:t>❖  Red vertical lines = three stress events we study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0515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What the Data Shows 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86032" y="6473952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555566"/>
                </a:solidFill>
                <a:latin typeface="Calibri"/>
              </a:rPr>
              <a:t>8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05840"/>
            <a:ext cx="11430000" cy="41148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069848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MORE SUPPLY  →  LOWER SPREAD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417320"/>
            <a:ext cx="11430000" cy="1298448"/>
          </a:xfrm>
          <a:prstGeom prst="rect">
            <a:avLst/>
          </a:prstGeom>
          <a:solidFill>
            <a:srgbClr val="E6F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536192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As USDT and USDC supply grew, the gap between Treasury yields and overnight rates compressed. Stablecoin issuers were buying U.S. T-bills to back their tokens — deepening demand for safe assets.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788920"/>
            <a:ext cx="11430000" cy="4114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852928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CRISIS  →  SPREAD SPIKES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200400"/>
            <a:ext cx="11430000" cy="1298448"/>
          </a:xfrm>
          <a:prstGeom prst="rect">
            <a:avLst/>
          </a:prstGeom>
          <a:solidFill>
            <a:srgbClr val="FCEB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319272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During the LUNA/UST collapse (May 2022), spreads spiked as issuers were forced to liquidate T-bill holdings to meet redemptions. The privilege reversed — exactly what our theory predicts.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572000"/>
            <a:ext cx="11430000" cy="411480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636008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BUFFER WAS THIN WHEN IT MATTERED MOST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983480"/>
            <a:ext cx="11430000" cy="129844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5102352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In 2022, liquid cash reserves sat below our estimated 13% safety threshold. Issuers had to sell T-bills instead of using cash — amplifying the shock.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0515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Result 1: Stablecoin Growth Compresses Treasury Spreads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86032" y="6473952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555566"/>
                </a:solidFill>
                <a:latin typeface="Calibri"/>
              </a:rPr>
              <a:t>9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60120"/>
            <a:ext cx="11430000" cy="475488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05840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H1  CONFIRMED  ✅   —   statistically significant at the 5% level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508760"/>
            <a:ext cx="5303520" cy="2286000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600200"/>
            <a:ext cx="5120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β₁ = −6.02**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9748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AAC4E8"/>
                </a:solidFill>
                <a:latin typeface="Calibri"/>
              </a:rPr>
              <a:t>N = 51 months  |  R² = 0.50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0" y="1508760"/>
            <a:ext cx="5943600" cy="2286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0" y="1627632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3A72"/>
                </a:solidFill>
                <a:latin typeface="Calibri"/>
              </a:rPr>
              <a:t>What this means in plain terms: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2029968"/>
            <a:ext cx="557784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Every 1% growth in stablecoin supply compresses the Treasury spread by about 6 basis points.
When Tether and Circle expand, they buy more U.S. T-bills — pushing Treasury yields down relative to overnight rates. This is the exorbitant privilege being amplified.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913632"/>
            <a:ext cx="9326880" cy="329184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941063"/>
            <a:ext cx="7086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Variable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43799" y="3941063"/>
            <a:ext cx="1508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Coefficient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98280" y="394106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Sig.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242816"/>
            <a:ext cx="9326880" cy="347472"/>
          </a:xfrm>
          <a:prstGeom prst="rect">
            <a:avLst/>
          </a:prstGeom>
          <a:solidFill>
            <a:srgbClr val="FFF0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4297680"/>
            <a:ext cx="70134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Calibri"/>
              </a:rPr>
              <a:t>ΔlnS  (stablecoin supply growth)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43799" y="4297680"/>
            <a:ext cx="1435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A2E"/>
                </a:solidFill>
                <a:latin typeface="Calibri"/>
              </a:rPr>
              <a:t>−6.017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98280" y="4297680"/>
            <a:ext cx="6583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A2E"/>
                </a:solidFill>
                <a:latin typeface="Calibri"/>
              </a:rPr>
              <a:t>**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590288"/>
            <a:ext cx="93268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4645152"/>
            <a:ext cx="70134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θ  (Treasury Exposure)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43799" y="4645152"/>
            <a:ext cx="1435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Calibri"/>
              </a:rPr>
              <a:t> 0.100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98280" y="4645152"/>
            <a:ext cx="6583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Calibri"/>
              </a:rP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4937760"/>
            <a:ext cx="932688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4992624"/>
            <a:ext cx="70134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L  (Liquid Buffer)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43799" y="4992624"/>
            <a:ext cx="1435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Calibri"/>
              </a:rPr>
              <a:t> 1.034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8280" y="4992624"/>
            <a:ext cx="6583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Calibri"/>
              </a:rPr>
              <a:t>—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5285232"/>
            <a:ext cx="93268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5340096"/>
            <a:ext cx="70134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L × ΔlnS  (buffer interaction)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43799" y="5340096"/>
            <a:ext cx="1435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Calibri"/>
              </a:rPr>
              <a:t> 3.891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98280" y="5340096"/>
            <a:ext cx="6583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Calibri"/>
              </a:rPr>
              <a:t>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5632704"/>
            <a:ext cx="932688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5687568"/>
            <a:ext cx="70134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Controls (velocity, VIX, ΔlnN*)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43799" y="5687568"/>
            <a:ext cx="1435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Calibri"/>
              </a:rPr>
              <a:t>included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98280" y="5687568"/>
            <a:ext cx="6583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Calibri"/>
              </a:rPr>
              <a:t/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608076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566"/>
                </a:solidFill>
                <a:latin typeface="Calibri"/>
              </a:rPr>
              <a:t>** p &lt; 0.05   — = not significant at conventional levels   HAC Newey–West SE (3 lags)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0515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Result 1: When Data Quality Improves, the Picture Sharpens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86032" y="6473952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555566"/>
                </a:solidFill>
                <a:latin typeface="Calibri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60120"/>
            <a:ext cx="11430000" cy="10058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24128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1A1A2E"/>
                </a:solidFill>
                <a:latin typeface="Calibri"/>
              </a:rPr>
              <a:t>The buffer variables (θ and L) were not individually significant at our full sample of 51 months. This is a power problem — not a theory problem. Reserve attestations only became comprehensive after 2023.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1031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B3A72"/>
                </a:solidFill>
                <a:latin typeface="Calibri"/>
              </a:rPr>
              <a:t>When we restrict to January 2023 – March 2026  (N = 39 months, best attestation coverage):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606040"/>
            <a:ext cx="5577840" cy="2926080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72491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AAC4E8"/>
                </a:solidFill>
                <a:latin typeface="Calibri"/>
              </a:rPr>
              <a:t>Supply channel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108960"/>
            <a:ext cx="5212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β₁  =  −8.14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91363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D700"/>
                </a:solidFill>
                <a:latin typeface="Calibri"/>
              </a:rPr>
              <a:t>***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315968"/>
            <a:ext cx="5212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C4E8"/>
                </a:solidFill>
                <a:latin typeface="Calibri"/>
              </a:rPr>
              <a:t>Even stronger supply effect in recent data.
Confirmed at the 1% level.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2606040"/>
            <a:ext cx="5577840" cy="2926080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272491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AAC4E8"/>
                </a:solidFill>
                <a:latin typeface="Calibri"/>
              </a:rPr>
              <a:t>Buffer interaction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108960"/>
            <a:ext cx="5212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L×ΔlnS  =  +49.17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91363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D700"/>
                </a:solidFill>
                <a:latin typeface="Calibri"/>
              </a:rPr>
              <a:t>***  (p = 0.004)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315968"/>
            <a:ext cx="5212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C4E8"/>
                </a:solidFill>
                <a:latin typeface="Calibri"/>
              </a:rPr>
              <a:t>Higher liquid buffer dampens the spread compression.
The fragility mechanism is confirmed.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5596128"/>
            <a:ext cx="12188952" cy="1097280"/>
          </a:xfrm>
          <a:prstGeom prst="rect">
            <a:avLst/>
          </a:prstGeom>
          <a:solidFill>
            <a:srgbClr val="D46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760720"/>
            <a:ext cx="1127455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Both channels confirmed in recent data. The mechanism is real — our full sample just needs more months to reach significance.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0515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Result 2: Is There a Safety Threshold?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86032" y="6473952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555566"/>
                </a:solidFill>
                <a:latin typeface="Calibri"/>
              </a:rPr>
              <a:t>11</a:t>
            </a:r>
          </a:p>
        </p:txBody>
      </p:sp>
      <p:pic>
        <p:nvPicPr>
          <p:cNvPr id="6" name="Picture 5" descr="threshold_ss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60120"/>
            <a:ext cx="6400800" cy="360277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0" y="960120"/>
            <a:ext cx="5029200" cy="1828800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105156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q*  =  13%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1874519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AAC4E8"/>
                </a:solidFill>
                <a:latin typeface="Calibri"/>
              </a:rPr>
              <a:t>of supply held as liquid cash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0" y="2880360"/>
            <a:ext cx="5029200" cy="23774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0" y="2999232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3A72"/>
                </a:solidFill>
                <a:latin typeface="Calibri"/>
              </a:rPr>
              <a:t>What this means: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3364992"/>
            <a:ext cx="46634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Using Hansen (2000) threshold regression, we find a tipping point at 13% liquid cash reserves.
Below this level — where most of our data falls — issuers don't have enough cash to absorb redemptions without selling T-bills.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60350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66"/>
                </a:solidFill>
                <a:latin typeface="Calibri"/>
              </a:rPr>
              <a:t>← Lower SSR = better model fit at that threshold value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6400800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55566"/>
                </a:solidFill>
                <a:latin typeface="Calibri"/>
              </a:rPr>
              <a:t>Bootstrap p = 0.260  (suggestive — the direction is clear; significance grows as data accumulates past 2026)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0515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Below vs. Above the Threshold: Two Different Worlds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86032" y="6473952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555566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6012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55566"/>
                </a:solidFill>
                <a:latin typeface="Calibri"/>
              </a:rPr>
              <a:t>Splitting our 51 months at q* = 13% reveals a striking difference in how stablecoin growth affects Treasury markets: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463040"/>
            <a:ext cx="5486400" cy="4160520"/>
          </a:xfrm>
          <a:prstGeom prst="rect">
            <a:avLst/>
          </a:prstGeom>
          <a:solidFill>
            <a:srgbClr val="FCEB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463040"/>
            <a:ext cx="5486400" cy="5029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08760"/>
            <a:ext cx="5303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BELOW  13%  LIQUID BUFFER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05740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55566"/>
                </a:solidFill>
                <a:latin typeface="Calibri"/>
              </a:rPr>
              <a:t>38 out of 51 months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423160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C0392B"/>
                </a:solidFill>
                <a:latin typeface="Calibri"/>
              </a:rPr>
              <a:t>β  =  −6.97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91840"/>
            <a:ext cx="51206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Supply growth STRONGLY compresses spreads.
Issuers don't have enough cash to pay redemptions, so they sell T-bills — moving the market.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463040"/>
            <a:ext cx="5486400" cy="4160520"/>
          </a:xfrm>
          <a:prstGeom prst="rect">
            <a:avLst/>
          </a:prstGeom>
          <a:solidFill>
            <a:srgbClr val="E6F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463040"/>
            <a:ext cx="5486400" cy="50292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508760"/>
            <a:ext cx="5303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ABOVE  13%  LIQUID BUFFER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05740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55566"/>
                </a:solidFill>
                <a:latin typeface="Calibri"/>
              </a:rPr>
              <a:t>13 out of 51 months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423160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1A7A4A"/>
                </a:solidFill>
                <a:latin typeface="Calibri"/>
              </a:rPr>
              <a:t>β  =  +1.26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291840"/>
            <a:ext cx="51206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Supply growth has NO compression effect.
Issuers use their cash buffer to absorb redemptions — T-bill holdings stay intact, spreads are undisturbed.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5596128"/>
            <a:ext cx="12188952" cy="1097280"/>
          </a:xfrm>
          <a:prstGeom prst="rect">
            <a:avLst/>
          </a:prstGeom>
          <a:solidFill>
            <a:srgbClr val="D46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760720"/>
            <a:ext cx="1127455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The liquid cash buffer is what separates a stablecoin issuer that stabilises Treasury markets from one that disrupts them.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0515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Result 3: Buffer-Conditioned Event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86032" y="6473952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555566"/>
                </a:solidFill>
                <a:latin typeface="Calibri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960120"/>
            <a:ext cx="3749039" cy="347472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93192" y="987552"/>
            <a:ext cx="3611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LUNA / UST Collapse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307592"/>
            <a:ext cx="3749039" cy="29260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" y="1335024"/>
            <a:ext cx="3611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Low buffer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600200"/>
            <a:ext cx="3749039" cy="10058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164592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0392B"/>
                </a:solidFill>
                <a:latin typeface="Calibri"/>
              </a:rPr>
              <a:t>May 9, 2022
CAR = +8.91 pp***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79" y="960120"/>
            <a:ext cx="3749039" cy="347472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70831" y="987552"/>
            <a:ext cx="3611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USDT Partial Depeg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79" y="1307592"/>
            <a:ext cx="3749039" cy="29260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70831" y="1335024"/>
            <a:ext cx="3611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Low buffer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97679" y="1600200"/>
            <a:ext cx="3749039" cy="10058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19" y="164592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0392B"/>
                </a:solidFill>
                <a:latin typeface="Calibri"/>
              </a:rPr>
              <a:t>May 12, 2022
CAR = +8.85 pp***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75318" y="960120"/>
            <a:ext cx="3749039" cy="347472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48470" y="987552"/>
            <a:ext cx="3611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USDC / SVB Failure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75318" y="1307592"/>
            <a:ext cx="3749039" cy="292608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48470" y="1335024"/>
            <a:ext cx="3611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High buffer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75318" y="1600200"/>
            <a:ext cx="3749039" cy="10058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66758" y="164592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7A4A"/>
                </a:solidFill>
                <a:latin typeface="Calibri"/>
              </a:rPr>
              <a:t>Mar 11, 2023
CAR = −18.01 pp***</a:t>
            </a:r>
          </a:p>
        </p:txBody>
      </p:sp>
      <p:pic>
        <p:nvPicPr>
          <p:cNvPr id="24" name="Picture 23" descr="event_study_c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2743200"/>
            <a:ext cx="6858000" cy="1820409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315200" y="2788920"/>
            <a:ext cx="44805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</a:p>
          <a:p>
            <a:pPr algn="l">
              <a:spcBef>
                <a:spcPts val="400"/>
              </a:spcBef>
            </a:pPr>
            <a:r>
              <a:rPr sz="1500" b="1" i="0">
                <a:solidFill>
                  <a:srgbClr val="1B3A72"/>
                </a:solidFill>
                <a:latin typeface="Calibri"/>
              </a:rPr>
              <a:t>Interpretation</a:t>
            </a:r>
          </a:p>
          <a:p>
            <a:pPr algn="l">
              <a:spcBef>
                <a:spcPts val="800"/>
              </a:spcBef>
            </a:pPr>
            <a:r>
              <a:rPr sz="1300" b="0" i="0">
                <a:solidFill>
                  <a:srgbClr val="1A1A2E"/>
                </a:solidFill>
                <a:latin typeface="Calibri"/>
              </a:rPr>
              <a:t>❖  Low-buffer runs → T-bill yields spike (+8.9 pp)
    Cole–Kehoe crisis zone activated</a:t>
            </a:r>
          </a:p>
          <a:p>
            <a:pPr algn="l">
              <a:spcBef>
                <a:spcPts val="800"/>
              </a:spcBef>
            </a:pPr>
            <a:r>
              <a:rPr sz="1300" b="0" i="0">
                <a:solidFill>
                  <a:srgbClr val="1A1A2E"/>
                </a:solidFill>
                <a:latin typeface="Calibri"/>
              </a:rPr>
              <a:t>❖  High-buffer stress → flight to Treasuries
    compresses spread (−18.0 pp)</a:t>
            </a:r>
          </a:p>
          <a:p>
            <a:pPr algn="l">
              <a:spcBef>
                <a:spcPts val="800"/>
              </a:spcBef>
            </a:pPr>
            <a:r>
              <a:rPr sz="1300" b="0" i="0">
                <a:solidFill>
                  <a:srgbClr val="1A1A2E"/>
                </a:solidFill>
                <a:latin typeface="Calibri"/>
              </a:rPr>
              <a:t>❖  Welch test: t = 15.22, p &lt; 0.001
    Buffer regime is the key conditioning variable ✅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0515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Robustness Checks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86032" y="6473952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555566"/>
                </a:solidFill>
                <a:latin typeface="Calibri"/>
              </a:rPr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24128"/>
            <a:ext cx="5532120" cy="2286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024128"/>
            <a:ext cx="5532120" cy="384048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088136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NW lag sensitivity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9079" y="1088136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1A7A4A"/>
                </a:solidFill>
                <a:latin typeface="Calibri"/>
              </a:rPr>
              <a:t>✅  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527048"/>
            <a:ext cx="5321808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β₁ stable across all lag choices
(−5.95 to −6.02, p &lt; 0.05 throughout)
θ, L, L×ΔlnS remain 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024128"/>
            <a:ext cx="5532120" cy="2286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26480" y="1024128"/>
            <a:ext cx="5532120" cy="384048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1088136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Post-2023 sub-sample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19" y="1088136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1A7A4A"/>
                </a:solidFill>
                <a:latin typeface="Calibri"/>
              </a:rPr>
              <a:t>✅  PASS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1527048"/>
            <a:ext cx="5321808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β₁ = −8.14*** (p &lt; 0.001)
L×ΔlnS = 49.17*** (p = 0.004)
H2 recovers with broader attestation coverage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3447288"/>
            <a:ext cx="5532120" cy="2286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0040" y="3447288"/>
            <a:ext cx="5532120" cy="384048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511296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Mean-centering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69079" y="3511296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1A7A4A"/>
                </a:solidFill>
                <a:latin typeface="Calibri"/>
              </a:rPr>
              <a:t>✅  PASS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3950208"/>
            <a:ext cx="5321808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All VIFs &lt; 8 in N=51 sample
Coefficients and significance unchanged
Interaction term VIF resolves with centering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3447288"/>
            <a:ext cx="5532120" cy="2286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3447288"/>
            <a:ext cx="5532120" cy="384048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0" y="3511296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First-differenced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19" y="3511296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D4632A"/>
                </a:solidFill>
                <a:latin typeface="Calibri"/>
              </a:rPr>
              <a:t>⚠️  PARTIAL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36208" y="3950208"/>
            <a:ext cx="5321808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β₁ not significant in differences
Level spec captures structural relationship;
event study provides causal identification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0515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Summary of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86032" y="6473952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555566"/>
                </a:solidFill>
                <a:latin typeface="Calibri"/>
              </a:rPr>
              <a:t>12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05840"/>
            <a:ext cx="502920" cy="850392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✅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1005840"/>
            <a:ext cx="10972800" cy="85039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060704"/>
            <a:ext cx="10698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B3A72"/>
                </a:solidFill>
                <a:latin typeface="Calibri"/>
              </a:rPr>
              <a:t>H1 confirmed — privilege amplification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426464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β₁ = −6.02**  |  1 SD supply growth → −24 bp spread compression  (N=51, Jan 2022–Mar 2026)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993392"/>
            <a:ext cx="502920" cy="850392"/>
          </a:xfrm>
          <a:prstGeom prst="rect">
            <a:avLst/>
          </a:prstGeom>
          <a:solidFill>
            <a:srgbClr val="D46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217627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~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1993392"/>
            <a:ext cx="10972800" cy="8503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2048256"/>
            <a:ext cx="10698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B3A72"/>
                </a:solidFill>
                <a:latin typeface="Calibri"/>
              </a:rPr>
              <a:t>H2 suggestive — buffer channel (power-limited at N=51)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414016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θ, L, L×ΔlnS individually NS; post-2023 sub-sample confirms β₁=−8.14***, L×ΔlnS=49.17***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980944"/>
            <a:ext cx="502920" cy="850392"/>
          </a:xfrm>
          <a:prstGeom prst="rect">
            <a:avLst/>
          </a:prstGeom>
          <a:solidFill>
            <a:srgbClr val="D46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3163824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~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8680" y="2980944"/>
            <a:ext cx="10972800" cy="85039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3035808"/>
            <a:ext cx="10698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B3A72"/>
                </a:solidFill>
                <a:latin typeface="Calibri"/>
              </a:rPr>
              <a:t>Threshold suggestive — q* = 0.1301 (p = 0.260)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401568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Liquid reserves ≥ 13% of supply keeps issuers outside the fragility zone (economically meaningful)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3968496"/>
            <a:ext cx="502920" cy="850392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040" y="4151376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✅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8680" y="3968496"/>
            <a:ext cx="10972800" cy="8503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4023360"/>
            <a:ext cx="10698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B3A72"/>
                </a:solidFill>
                <a:latin typeface="Calibri"/>
              </a:rPr>
              <a:t>Event study confirms asymmetry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43891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Low-buffer runs: CAR +8.9 pp  vs.  High-buffer stress: CAR −18.0 pp  (Welch t = 15.2***)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4956048"/>
            <a:ext cx="502920" cy="850392"/>
          </a:xfrm>
          <a:prstGeom prst="rect">
            <a:avLst/>
          </a:prstGeom>
          <a:solidFill>
            <a:srgbClr val="D46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" y="513892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⚠️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8680" y="4956048"/>
            <a:ext cx="10972800" cy="85039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5010912"/>
            <a:ext cx="10698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B3A72"/>
                </a:solidFill>
                <a:latin typeface="Calibri"/>
              </a:rPr>
              <a:t>Stationarity caveat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" y="5376672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Level results don't survive first-differencing; event study provides causal identification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0515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Policy Implications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86032" y="6473952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555566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601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55566"/>
                </a:solidFill>
                <a:latin typeface="Calibri"/>
              </a:rPr>
              <a:t>Our threshold estimate provides a direct reference point at a moment when the US, EU, Japan, and Hong Kong are each finalising stablecoin reserve legislation.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572768"/>
            <a:ext cx="5577840" cy="201168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572768"/>
            <a:ext cx="164592" cy="2011680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1682496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3A72"/>
                </a:solidFill>
                <a:latin typeface="Calibri"/>
              </a:rPr>
              <a:t>Minimum liquid reserve ratio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" y="2075688"/>
            <a:ext cx="5212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Require cash + near-cash reserves ≥ 13% of outstanding supply — placing issuers above the empirically estimated fragility threshold (q* = 0.1301).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572768"/>
            <a:ext cx="5577840" cy="201168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572768"/>
            <a:ext cx="164592" cy="2011680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3952" y="1682496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3A72"/>
                </a:solidFill>
                <a:latin typeface="Calibri"/>
              </a:rPr>
              <a:t>Decomposed reporting requirements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2075688"/>
            <a:ext cx="5212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Mandate separate disclosure of θ (T-bill exposure) and L (liquid cash buffer). Aggregate reserve ratios obscure the quality and liquidity of the backing.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3721608"/>
            <a:ext cx="5577840" cy="201168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0040" y="3721608"/>
            <a:ext cx="164592" cy="2011680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6072" y="3831336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3A72"/>
                </a:solidFill>
                <a:latin typeface="Calibri"/>
              </a:rPr>
              <a:t>Velocity-contingent buffers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72" y="4224528"/>
            <a:ext cx="5212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Our velocity variable V (7-day rolling SD of supply changes) predicts stress. Higher recent redemption velocity → higher required liquid buffer. Dynamic rules.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3721608"/>
            <a:ext cx="5577840" cy="201168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3721608"/>
            <a:ext cx="164592" cy="2011680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3831336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3A72"/>
                </a:solidFill>
                <a:latin typeface="Calibri"/>
              </a:rPr>
              <a:t>Systemic size threshold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2" y="4224528"/>
            <a:ext cx="5212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Fragility is proportional to scale. A $100bn issuer's forced liquidation is 10× more disruptive than a $10bn issuer. Tiered requirements by AUM.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5596128"/>
            <a:ext cx="12188952" cy="1097280"/>
          </a:xfrm>
          <a:prstGeom prst="rect">
            <a:avLst/>
          </a:prstGeom>
          <a:solidFill>
            <a:srgbClr val="D46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5760720"/>
            <a:ext cx="1127455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Policy bottom line: Liquid cash reserves ≥ 13% of supply (q* = 0.1301) keeps issuers outside the fragility zone.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0515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86032" y="6473952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555566"/>
                </a:solidFill>
                <a:latin typeface="Calibri"/>
              </a:rPr>
              <a:t>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960120"/>
            <a:ext cx="11521440" cy="10515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05840"/>
            <a:ext cx="11247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B3A72"/>
                </a:solidFill>
                <a:latin typeface="Calibri"/>
              </a:rPr>
              <a:t>Large-scale USD-pegged stablecoins introduce a two-sided 'New Triffin Dilemma': amplifying U.S. exorbitant privilege in normal times, while embedding a fragility that can rapidly reverse that benefit when liquid cash reserves fall below a critical threshold.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2148840"/>
            <a:ext cx="5577840" cy="1417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2148840"/>
            <a:ext cx="1188720" cy="1417320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60604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Theory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1912" y="2286000"/>
            <a:ext cx="42062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Extended Maggiori (2017) with supply S,
θ (privilege channel) and L (fragility channel)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2148840"/>
            <a:ext cx="5577840" cy="1417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2148840"/>
            <a:ext cx="1188720" cy="1417320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0" y="260604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Empirics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88352" y="2286000"/>
            <a:ext cx="42062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β₁ = −6.02** (H1 confirmed)
Post-2023: β₁=−8.14***, L×ΔlnS=49.17*** ✅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3703320"/>
            <a:ext cx="5577840" cy="1417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0040" y="3703320"/>
            <a:ext cx="1188720" cy="1417320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416052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Empirics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81912" y="3840480"/>
            <a:ext cx="42062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Suggestive threshold: q* = 0.1301 (p=0.260)
Liquid reserves ≥ 13% of supply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80" y="3703320"/>
            <a:ext cx="5577840" cy="1417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26480" y="3703320"/>
            <a:ext cx="1188720" cy="1417320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72200" y="416052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Empirics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88352" y="3840480"/>
            <a:ext cx="42062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27 pp CAR swing between low- and
high-buffer stress episodes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349240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</a:p>
          <a:p>
            <a:pPr algn="l">
              <a:spcBef>
                <a:spcPts val="400"/>
              </a:spcBef>
            </a:pPr>
            <a:r>
              <a:rPr sz="1200" b="0" i="1">
                <a:solidFill>
                  <a:srgbClr val="555566"/>
                </a:solidFill>
                <a:latin typeface="Calibri"/>
              </a:rPr>
              <a:t>Limitation: Level results don't survive first-differencing. Event study (daily data, quasi-experimental) provides the primary causal identification.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606040"/>
            <a:ext cx="12188952" cy="1051560"/>
          </a:xfrm>
          <a:prstGeom prst="rect">
            <a:avLst/>
          </a:prstGeom>
          <a:solidFill>
            <a:srgbClr val="14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440" y="0"/>
            <a:ext cx="3474720" cy="34747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2920" y="411480"/>
            <a:ext cx="2651760" cy="2651760"/>
          </a:xfrm>
          <a:prstGeom prst="ellipse">
            <a:avLst/>
          </a:prstGeom>
          <a:solidFill>
            <a:srgbClr val="0A1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" y="4023360"/>
            <a:ext cx="3291840" cy="32918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94360" y="4434840"/>
            <a:ext cx="2286000" cy="2286000"/>
          </a:xfrm>
          <a:prstGeom prst="ellipse">
            <a:avLst/>
          </a:prstGeom>
          <a:solidFill>
            <a:srgbClr val="0A1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2331720"/>
            <a:ext cx="3474720" cy="548640"/>
          </a:xfrm>
          <a:prstGeom prst="rect">
            <a:avLst/>
          </a:prstGeom>
          <a:solidFill>
            <a:srgbClr val="55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260604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  <a:latin typeface="Calibri Light"/>
              </a:rPr>
              <a:t>THANK YOU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66160" y="4069080"/>
            <a:ext cx="6858000" cy="2560320"/>
          </a:xfrm>
          <a:prstGeom prst="rect">
            <a:avLst/>
          </a:prstGeom>
          <a:solidFill>
            <a:srgbClr val="0E26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39" y="4206240"/>
            <a:ext cx="65836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Yonsei GSIS 2026-1
Topics in International Finance
Mireu Kim · Sara Chekroune · Oybek Ibragimov
kimmireu0921@gmail.com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