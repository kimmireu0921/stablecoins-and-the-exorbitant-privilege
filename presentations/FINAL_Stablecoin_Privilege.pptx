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9DB2D6"/>
                </a:solidFill>
                <a:latin typeface="Calibri"/>
              </a:rPr>
              <a:t>YONSEI GSIS   |   TOPICS IN INTERNATIONAL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Stablecoins and the Exorbitant Privilege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>
                <a:solidFill>
                  <a:srgbClr val="CADCFC"/>
                </a:solidFill>
                <a:latin typeface="Georgia"/>
              </a:rPr>
              <a:t>Safe-Asset Demand and Its Systemic Fragility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7D3E8"/>
                </a:solidFill>
                <a:latin typeface="Calibri"/>
              </a:rPr>
              <a:t>Group project  ·  Topics in International Finance  ·  June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97680"/>
            <a:ext cx="3291840" cy="1508760"/>
          </a:xfrm>
          <a:prstGeom prst="rect">
            <a:avLst/>
          </a:prstGeom>
          <a:solidFill>
            <a:srgbClr val="12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297680"/>
            <a:ext cx="3291840" cy="73152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07408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Bid-cover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749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AEC0DD"/>
                </a:solidFill>
                <a:latin typeface="Calibri"/>
              </a:rPr>
              <a:t>USDT supply weakens
T-bill auction demand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4297680"/>
            <a:ext cx="3291840" cy="1508760"/>
          </a:xfrm>
          <a:prstGeom prst="rect">
            <a:avLst/>
          </a:prstGeom>
          <a:solidFill>
            <a:srgbClr val="12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4297680"/>
            <a:ext cx="3291840" cy="73152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4407408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USDT ≠ USDC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0749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AEC0DD"/>
                </a:solidFill>
                <a:latin typeface="Calibri"/>
              </a:rPr>
              <a:t>A reserve-composition
channel, issuer-specific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297680"/>
            <a:ext cx="3291840" cy="1508760"/>
          </a:xfrm>
          <a:prstGeom prst="rect">
            <a:avLst/>
          </a:prstGeom>
          <a:solidFill>
            <a:srgbClr val="12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4297680"/>
            <a:ext cx="3291840" cy="73152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407408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Robust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0749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AEC0DD"/>
                </a:solidFill>
                <a:latin typeface="Calibri"/>
              </a:rPr>
              <a:t>Survives every
stress-test we 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/>
              </a:rPr>
              <a:t>The Question — A Structural Fact, Then a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/>
              </a:rPr>
              <a:t>Stablecoin issuers have quietly become major buyers of US Treasury bills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3520440" cy="3383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82296" cy="33832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22199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1B998B"/>
                </a:solidFill>
                <a:latin typeface="Georgia"/>
              </a:rPr>
              <a:t>The structural 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34056"/>
            <a:ext cx="3044952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Stablecoin issuers hold their reserves largely in short-term US Treasuries. USDT alone is now one of the largest holders of T-bills in the world — by construction.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2057400"/>
            <a:ext cx="3520440" cy="3383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2057400"/>
            <a:ext cx="82296" cy="33832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22199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13294B"/>
                </a:solidFill>
                <a:latin typeface="Georgia"/>
              </a:rPr>
              <a:t>The mechanism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34056"/>
            <a:ext cx="3044952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When USDT grows, it mechanically buys T-bills. This is programmatic, rule-bound demand for US government debt — a candidate channel of the 'exorbitant privilege'.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2057400"/>
            <a:ext cx="3520440" cy="3383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2057400"/>
            <a:ext cx="82296" cy="338328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22199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E8A12C"/>
                </a:solidFill>
                <a:latin typeface="Georgia"/>
              </a:rPr>
              <a:t>The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734056"/>
            <a:ext cx="3044952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Does this demand actually show up in the US Treasury market? We test it against T-bill auction demand (bid-cover) and stress-test every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AFTER THE PROFESSOR'S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/>
              </a:rPr>
              <a:t>What We 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/>
              </a:rPr>
              <a:t>We rebuilt the analysis around the professor's corrections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4068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82296" cy="15544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B998B"/>
                </a:solidFill>
                <a:latin typeface="Georgia"/>
              </a:rPr>
              <a:t>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88336"/>
            <a:ext cx="496519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Exploit the panel: each issuer (USDT, USDC) a separate observation. Stop combining Treasury and liquid reserves; drop θ (θ + L ≈ 1, collinear). Show the estimating equation on every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2011680"/>
            <a:ext cx="544068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2011680"/>
            <a:ext cx="82296" cy="15544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1762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3294B"/>
                </a:solidFill>
                <a:latin typeface="Georgia"/>
              </a:rPr>
              <a:t>Data 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688336"/>
            <a:ext cx="496519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Replace forward-filling of the quarterly reserve attestations with a moving-average interpolation between reporting dates, as advised.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44068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82296" cy="155448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67911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E8A12C"/>
                </a:solidFill>
                <a:latin typeface="Georgia"/>
              </a:rPr>
              <a:t>Event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79976"/>
            <a:ext cx="496519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Keep the LUNA collapse as motivation. Drop SVB — it is confounded by the banking crisis, so the stablecoin channel cannot be isolated there.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3703320"/>
            <a:ext cx="544068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703320"/>
            <a:ext cx="82296" cy="155448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867911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5B8DEF"/>
                </a:solidFill>
                <a:latin typeface="Georgia"/>
              </a:rPr>
              <a:t>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379976"/>
            <a:ext cx="496519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Re-centre the analysis on the buffer-interaction coefficient and re-run everything from the corrected panel.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AFTER THE PROFESSOR'S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/>
              </a:rPr>
              <a:t>What the Re-Run Revealed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/>
              </a:rPr>
              <a:t>The original headline results did not survive the corrected specification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40680" cy="228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82296" cy="22860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C1121F"/>
                </a:solidFill>
                <a:latin typeface="Georgia"/>
              </a:rPr>
              <a:t>The results weakened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88336"/>
            <a:ext cx="496519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Re-run on the corrected panel, the privilege coefficient β₁ became insignificant, and the buffer interaction was unstable — it even flipped sign under first-differencing. A warning sign, not a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2011680"/>
            <a:ext cx="5440680" cy="2286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2011680"/>
            <a:ext cx="82296" cy="2286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1762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3294B"/>
                </a:solidFill>
                <a:latin typeface="Georgia"/>
              </a:rPr>
              <a:t>The diagnosis: spurious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688336"/>
            <a:ext cx="496519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Formal tests explained why: the spread and the reserve buffer are non-stationary (ADF) and do not cointegrate (Engle–Granger, Johansen). Both simply trended down together during the 2022–24 Fed hiking cycle — a textbook spurious regression.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11091672" cy="1143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672584"/>
            <a:ext cx="10543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8A12C"/>
                </a:solidFill>
                <a:latin typeface="Georgia"/>
              </a:rPr>
              <a:t>What we dropped from the main claims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038344"/>
            <a:ext cx="105430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β₁ (privilege amplification)   ·   the ≈13% reserve threshold   ·   the LSTAR model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AEC0DD"/>
                </a:solidFill>
                <a:latin typeface="Calibri"/>
              </a:rPr>
              <a:t>All three are significant only in the spurious levels regression — so we demote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OUR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/>
              </a:rPr>
              <a:t>Finding the Result That Survives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/>
              </a:rPr>
              <a:t>We changed the dependent variable, then tried hard to break the new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3520440" cy="3383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82296" cy="33832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22199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1B998B"/>
                </a:solidFill>
                <a:latin typeface="Georgia"/>
              </a:rPr>
              <a:t>1 · Re-anchor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34056"/>
            <a:ext cx="3044952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Move from the (non-stationary) spread to T-bill auction demand — the bid-cover ratio. This sidesteps the spurious-regression problem entirely.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2057400"/>
            <a:ext cx="3520440" cy="3383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2057400"/>
            <a:ext cx="82296" cy="33832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22199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13294B"/>
                </a:solidFill>
                <a:latin typeface="Georgia"/>
              </a:rPr>
              <a:t>2 · Stress-test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34056"/>
            <a:ext cx="3044952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Control for auction size; remove the interpolated reserve data; control the Fed cycle; test at the individual-auction level; and run a 2,000-shuffle placebo.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2057400"/>
            <a:ext cx="3520440" cy="3383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2057400"/>
            <a:ext cx="82296" cy="338328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22199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E8A12C"/>
                </a:solidFill>
                <a:latin typeface="Georgia"/>
              </a:rPr>
              <a:t>3 · Converge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734056"/>
            <a:ext cx="3044952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Reproduce every check independently and reconcile. The bid-cover result holds throughout — and that becomes the paper's lead.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MAIN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/>
              </a:rPr>
              <a:t>USDT Supply Growth → Weaker T-Bill Auction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/>
              </a:rPr>
              <a:t>Monthly, N = 51, Newey–West HAC(1). Final spec: supply + VIX + Δfed-funds + offering size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2103120"/>
            <a:ext cx="2194560" cy="5669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Maturity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103120"/>
            <a:ext cx="2194560" cy="5669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USDT (β)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2103120"/>
            <a:ext cx="2468880" cy="5669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10312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USDC — foil (β)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103120"/>
            <a:ext cx="2468880" cy="5669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Wald  USDT≠USDC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670048"/>
            <a:ext cx="219456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2670048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4-Week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670048"/>
            <a:ext cx="219456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670048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5B6B82"/>
                </a:solidFill>
                <a:latin typeface="Calibri"/>
              </a:rPr>
              <a:t>-0.61 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2670048"/>
            <a:ext cx="246888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2670048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5B6B82"/>
                </a:solidFill>
                <a:latin typeface="Calibri"/>
              </a:rPr>
              <a:t>+0.61 ***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670048"/>
            <a:ext cx="246888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670048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13294B"/>
                </a:solidFill>
                <a:latin typeface="Calibri"/>
              </a:rPr>
              <a:t>p = 0.026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3236976"/>
            <a:ext cx="2194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3236976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8-Week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236976"/>
            <a:ext cx="2194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236976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  <a:latin typeface="Calibri"/>
              </a:rPr>
              <a:t>-1.33 ***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3236976"/>
            <a:ext cx="2468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3236976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5B6B82"/>
                </a:solidFill>
                <a:latin typeface="Calibri"/>
              </a:rPr>
              <a:t>+0.47 **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3236976"/>
            <a:ext cx="2468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236976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13294B"/>
                </a:solidFill>
                <a:latin typeface="Calibri"/>
              </a:rPr>
              <a:t>p = 0.000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3040" y="3803904"/>
            <a:ext cx="219456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040" y="3803904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13-Week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3803904"/>
            <a:ext cx="219456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3803904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  <a:latin typeface="Calibri"/>
              </a:rPr>
              <a:t>-1.51 ***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3803904"/>
            <a:ext cx="246888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3803904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5B6B82"/>
                </a:solidFill>
                <a:latin typeface="Calibri"/>
              </a:rPr>
              <a:t>+0.32 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3803904"/>
            <a:ext cx="246888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803904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13294B"/>
                </a:solidFill>
                <a:latin typeface="Calibri"/>
              </a:rPr>
              <a:t>p = 0.000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63040" y="4370832"/>
            <a:ext cx="2194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63040" y="4370832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26-Week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4370832"/>
            <a:ext cx="2194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0" y="4370832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  <a:latin typeface="Calibri"/>
              </a:rPr>
              <a:t>-1.53 ***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4370832"/>
            <a:ext cx="2468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4370832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5B6B82"/>
                </a:solidFill>
                <a:latin typeface="Calibri"/>
              </a:rPr>
              <a:t>-0.09 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4370832"/>
            <a:ext cx="2468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4370832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13294B"/>
                </a:solidFill>
                <a:latin typeface="Calibri"/>
              </a:rPr>
              <a:t>p = 0.001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63040" y="4983480"/>
            <a:ext cx="9326880" cy="10515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37360" y="5129784"/>
            <a:ext cx="8778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8A12C"/>
                </a:solidFill>
                <a:latin typeface="Georgia"/>
              </a:rPr>
              <a:t>Reading the result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5495544"/>
            <a:ext cx="877824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USDT supply growth predicts lower bid-cover (weaker auction demand); USDC does not. The two issuers differ at every maturity — the reserve-composition signature.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ROBUSTNESS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/>
              </a:rPr>
              <a:t>What Survives Every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/>
              </a:rPr>
              <a:t>The result holds with no interpolated data, with auction size controlled, and against a placebo</a:t>
            </a:r>
          </a:p>
        </p:txBody>
      </p:sp>
      <p:pic>
        <p:nvPicPr>
          <p:cNvPr id="7" name="Picture 6" descr="bidcover_final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6766560" cy="247112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43800" y="1965960"/>
            <a:ext cx="4114800" cy="3749039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965960"/>
            <a:ext cx="82296" cy="3749039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148840"/>
            <a:ext cx="37033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1B998B"/>
                </a:solidFill>
                <a:latin typeface="Calibri"/>
              </a:rPr>
              <a:t>◆  </a:t>
            </a:r>
            <a:r>
              <a:rPr sz="1300" b="0">
                <a:solidFill>
                  <a:srgbClr val="33425C"/>
                </a:solidFill>
                <a:latin typeface="Calibri"/>
              </a:rPr>
              <a:t>Drop the interpolated reserves (θ, L) entirely — result holds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1B998B"/>
                </a:solidFill>
                <a:latin typeface="Calibri"/>
              </a:rPr>
              <a:t>◆  </a:t>
            </a:r>
            <a:r>
              <a:rPr sz="1300" b="0">
                <a:solidFill>
                  <a:srgbClr val="33425C"/>
                </a:solidFill>
                <a:latin typeface="Calibri"/>
              </a:rPr>
              <a:t>Controlling the Fed rate cycle is the crux: once it is in, USDT is significant at every maturity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1B998B"/>
                </a:solidFill>
                <a:latin typeface="Calibri"/>
              </a:rPr>
              <a:t>◆  </a:t>
            </a:r>
            <a:r>
              <a:rPr sz="1300" b="0">
                <a:solidFill>
                  <a:srgbClr val="33425C"/>
                </a:solidFill>
                <a:latin typeface="Calibri"/>
              </a:rPr>
              <a:t>Survives the auction-size control (4-week softens; 8/13/26-week strong)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1B998B"/>
                </a:solidFill>
                <a:latin typeface="Calibri"/>
              </a:rPr>
              <a:t>◆  </a:t>
            </a:r>
            <a:r>
              <a:rPr sz="1300" b="0">
                <a:solidFill>
                  <a:srgbClr val="33425C"/>
                </a:solidFill>
                <a:latin typeface="Calibri"/>
              </a:rPr>
              <a:t>Passes a 2,000-shuffle placebo test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1B998B"/>
                </a:solidFill>
                <a:latin typeface="Calibri"/>
              </a:rPr>
              <a:t>◆  </a:t>
            </a:r>
            <a:r>
              <a:rPr sz="1300" b="0">
                <a:solidFill>
                  <a:srgbClr val="33425C"/>
                </a:solidFill>
                <a:latin typeface="Calibri"/>
              </a:rPr>
              <a:t>USDT ≠ USDC at every maturity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AN HONEST CAVEAT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/>
              </a:rPr>
              <a:t>Frequency, Not Absence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/>
              </a:rPr>
              <a:t>Why the appropriate unit of analysis is the month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40680" cy="3200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82296" cy="32004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13294B"/>
                </a:solidFill>
                <a:latin typeface="Georgia"/>
              </a:rPr>
              <a:t>At the auction level, no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88336"/>
            <a:ext cx="496519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Run auction by auction (N = 1,094), the USDT coefficient is not significant. Taken alone this looks like a non-result.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2011680"/>
            <a:ext cx="5440680" cy="3200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2011680"/>
            <a:ext cx="82296" cy="32004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1762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1B998B"/>
                </a:solidFill>
                <a:latin typeface="Georgia"/>
              </a:rPr>
              <a:t>Why — a frequency mismatch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688336"/>
            <a:ext cx="496519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Stablecoin supply is a monthly series: ~70% of its variation is between months, ~30% within. The same monthly value repeats across ~17 auctions a month, and the pre-auction windows overlap. So N = 1,094 carries only ~51 independent supply observations. The right unit for a monthly regressor is the month — where the effect is significant.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586984"/>
            <a:ext cx="10543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8A12C"/>
                </a:solidFill>
                <a:latin typeface="Georgia"/>
              </a:rPr>
              <a:t>Bottom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952744"/>
            <a:ext cx="10543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The auction-level null is the expected consequence of a frequency mismatch — not evidence against the channel.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SUPPORTING EVIDENCE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/>
              </a:rPr>
              <a:t>Two Secondary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/>
              </a:rPr>
              <a:t>Daily impulse responses, and an event study used as motivation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486400" cy="37033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82296" cy="37033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3294B"/>
                </a:solidFill>
                <a:latin typeface="Georgia"/>
              </a:rPr>
              <a:t>Daily VAR / impulse response</a:t>
            </a:r>
          </a:p>
        </p:txBody>
      </p:sp>
      <p:pic>
        <p:nvPicPr>
          <p:cNvPr id="10" name="Picture 9" descr="irf_usdt_us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06040"/>
            <a:ext cx="727097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07492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33425C"/>
                </a:solidFill>
                <a:latin typeface="Calibri"/>
              </a:rPr>
              <a:t>USDT supply Granger-causes the spread; small, short-lived day-1 compression — suggestive support.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965960"/>
            <a:ext cx="5486400" cy="37033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65960"/>
            <a:ext cx="82296" cy="370332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E8A12C"/>
                </a:solidFill>
                <a:latin typeface="Georgia"/>
              </a:rPr>
              <a:t>Multi-event study (motivation)</a:t>
            </a:r>
          </a:p>
        </p:txBody>
      </p:sp>
      <p:pic>
        <p:nvPicPr>
          <p:cNvPr id="15" name="Picture 14" descr="event_study_mul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43200"/>
            <a:ext cx="5074920" cy="90213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4617720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33425C"/>
                </a:solidFill>
                <a:latin typeface="Calibri"/>
              </a:rPr>
              <a:t>LUNA · Celsius · FTX · BUSD (SVB dropped — confounded). Events disagree in sign; pooled p = 0.43 → no systematic effect. Narrative motivation, not identification.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/>
              </a:rPr>
              <a:t>Why the Results Had to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/>
              </a:rPr>
              <a:t>The feedback exposed three constraints that bind any study of this market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520440" cy="32918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82296" cy="329184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C1121F"/>
                </a:solidFill>
                <a:latin typeface="Georgia"/>
              </a:rPr>
              <a:t>One macro regime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88336"/>
            <a:ext cx="3044952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33425C"/>
                </a:solidFill>
                <a:latin typeface="Calibri"/>
              </a:rPr>
              <a:t>Our 51 months are dominated by a single Fed hiking cycle and its unwind. Trending variables correlate mechanically, so a levels regression flatters any hypothesis — ours included. Removing θ and the forward-fill took away the props; the stationarity tests did the rest.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2011680"/>
            <a:ext cx="3520440" cy="32918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2011680"/>
            <a:ext cx="82296" cy="329184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7627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3294B"/>
                </a:solidFill>
                <a:latin typeface="Georgia"/>
              </a:rPr>
              <a:t>Reserves are unobserved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88336"/>
            <a:ext cx="3044952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33425C"/>
                </a:solidFill>
                <a:latin typeface="Calibri"/>
              </a:rPr>
              <a:t>Tether attests quarterly: roughly two-thirds of the monthly reserve ratios are interpolation, and the estimated threshold moved 13% → 6.6% just by changing the fill method. The buffer-fragility hypothesis is currently untestable at monthly frequency — not false.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2011680"/>
            <a:ext cx="3520440" cy="32918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2011680"/>
            <a:ext cx="82296" cy="329184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17627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E8A12C"/>
                </a:solidFill>
                <a:latin typeface="Georgia"/>
              </a:rPr>
              <a:t>A hard power ceiling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688336"/>
            <a:ext cx="3044952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33425C"/>
                </a:solidFill>
                <a:latin typeface="Calibri"/>
              </a:rPr>
              <a:t>Two issuers, 51 months, no natural experiment. Controls, an issuer foil, and a placebo are the strongest identification available here — and supply shocks still explain only ~1.3% of spread variance. These are limits of the setting, not of the specification.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486400"/>
            <a:ext cx="11091672" cy="8686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632704"/>
            <a:ext cx="10543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8A12C"/>
                </a:solidFill>
                <a:latin typeface="Georgia"/>
              </a:rPr>
              <a:t>The honest reading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998464"/>
            <a:ext cx="10543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The feedback did not break good results — it revealed which results this data could never have supported.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/>
              </a:rPr>
              <a:t>What We Can — and Cannot —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/>
              </a:rPr>
              <a:t>Drawing the boundary precisely is part of the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40680" cy="3200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82296" cy="32004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1B998B"/>
                </a:solidFill>
                <a:latin typeface="Georgia"/>
              </a:rPr>
              <a:t>Supported by the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88336"/>
            <a:ext cx="496519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1B998B"/>
                </a:solidFill>
                <a:latin typeface="Calibri"/>
              </a:rPr>
              <a:t>◆  </a:t>
            </a:r>
            <a:r>
              <a:rPr sz="1350" b="0">
                <a:solidFill>
                  <a:srgbClr val="33425C"/>
                </a:solidFill>
                <a:latin typeface="Calibri"/>
              </a:rPr>
              <a:t>USDT supply growth is associated with weaker T-bill auction demand — robust to every check we ran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1B998B"/>
                </a:solidFill>
                <a:latin typeface="Calibri"/>
              </a:rPr>
              <a:t>◆  </a:t>
            </a:r>
            <a:r>
              <a:rPr sz="1350" b="0">
                <a:solidFill>
                  <a:srgbClr val="33425C"/>
                </a:solidFill>
                <a:latin typeface="Calibri"/>
              </a:rPr>
              <a:t>The channel is issuer-specific (USDT ≠ USDC), consistent with reserve composition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1B998B"/>
                </a:solidFill>
                <a:latin typeface="Calibri"/>
              </a:rPr>
              <a:t>◆  </a:t>
            </a:r>
            <a:r>
              <a:rPr sz="1350" b="0">
                <a:solidFill>
                  <a:srgbClr val="33425C"/>
                </a:solidFill>
                <a:latin typeface="Calibri"/>
              </a:rPr>
              <a:t>The structural fact: programmatic T-bill purchases at sovereign-holder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2011680"/>
            <a:ext cx="5440680" cy="3200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2011680"/>
            <a:ext cx="82296" cy="32004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1762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C1121F"/>
                </a:solidFill>
                <a:latin typeface="Georgia"/>
              </a:rPr>
              <a:t>Beyond the data — for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688336"/>
            <a:ext cx="496519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C1121F"/>
                </a:solidFill>
                <a:latin typeface="Calibri"/>
              </a:rPr>
              <a:t>◆  </a:t>
            </a:r>
            <a:r>
              <a:rPr sz="1350" b="0">
                <a:solidFill>
                  <a:srgbClr val="33425C"/>
                </a:solidFill>
                <a:latin typeface="Calibri"/>
              </a:rPr>
              <a:t>A causal privilege effect in yield levels (β₁): one rate cycle cannot identify it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C1121F"/>
                </a:solidFill>
                <a:latin typeface="Calibri"/>
              </a:rPr>
              <a:t>◆  </a:t>
            </a:r>
            <a:r>
              <a:rPr sz="1350" b="0">
                <a:solidFill>
                  <a:srgbClr val="33425C"/>
                </a:solidFill>
                <a:latin typeface="Calibri"/>
              </a:rPr>
              <a:t>A reserve-buffer threshold (≈13%): reserves are not observed at monthly frequency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C1121F"/>
                </a:solidFill>
                <a:latin typeface="Calibri"/>
              </a:rPr>
              <a:t>◆  </a:t>
            </a:r>
            <a:r>
              <a:rPr sz="1350" b="0">
                <a:solidFill>
                  <a:srgbClr val="33425C"/>
                </a:solidFill>
                <a:latin typeface="Calibri"/>
              </a:rPr>
              <a:t>Run-scenario fragility: no clean redemption episode in sample (SVB is confounded)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586984"/>
            <a:ext cx="10543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8A12C"/>
                </a:solidFill>
                <a:latin typeface="Georgia"/>
              </a:rPr>
              <a:t>Untested is not rejected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952744"/>
            <a:ext cx="10543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The question is ahead of its data — and the data is catching 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LOOKING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/>
              </a:rPr>
              <a:t>The Constraints Relax Mechanically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/>
              </a:rPr>
              <a:t>Time, regulation, and scale each remove one of the binding limits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520440" cy="3246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82296" cy="324612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B998B"/>
                </a:solidFill>
                <a:latin typeface="Georgia"/>
              </a:rPr>
              <a:t>Time → regimes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88336"/>
            <a:ext cx="3044952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33425C"/>
                </a:solidFill>
                <a:latin typeface="Calibri"/>
              </a:rPr>
              <a:t>Each year adds 12 observations. By 2030 the sample roughly doubles (~100 months) and spans at least two full rate cycles. Regime variation — not just a larger N — is what separates a real channel from a shared trend.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2011680"/>
            <a:ext cx="3520440" cy="3246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2011680"/>
            <a:ext cx="82296" cy="32461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7627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3294B"/>
                </a:solidFill>
                <a:latin typeface="Georgia"/>
              </a:rPr>
              <a:t>Regulation → real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88336"/>
            <a:ext cx="3044952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33425C"/>
                </a:solidFill>
                <a:latin typeface="Calibri"/>
              </a:rPr>
              <a:t>The 2025 US stablecoin law (GENIUS) and the EU's MiCA mandate monthly, certified reserve disclosures. θ and L become observed rather than interpolated, and the issuer panel widens as banks and fintechs enter. The buffer hypothesis becomes testable for the first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2011680"/>
            <a:ext cx="3520440" cy="3246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2011680"/>
            <a:ext cx="82296" cy="324612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17627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E8A12C"/>
                </a:solidFill>
                <a:latin typeface="Georgia"/>
              </a:rPr>
              <a:t>Scale → detectability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688336"/>
            <a:ext cx="3044952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33425C"/>
                </a:solidFill>
                <a:latin typeface="Calibri"/>
              </a:rPr>
              <a:t>Combined USDT + USDC supply is ≈ $262B at the end of our sample — already on par with a mid-sized sovereign holder of US debt. Official and industry projections reach $1–2T by 2028–30; at that scale, issuers become marginal price-setters in the bill market.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586984"/>
            <a:ext cx="10543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8A12C"/>
                </a:solidFill>
                <a:latin typeface="Georgia"/>
              </a:rPr>
              <a:t>The same test rig, better inputs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952744"/>
            <a:ext cx="10543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Every analysis in this paper is scripted and reproducible — it can simply be re-run as each constraint lifts.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LOOKING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/>
              </a:rPr>
              <a:t>What We Expect — Falsifiable Predictions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/>
              </a:rPr>
              <a:t>Each claim comes with the evidence that would confirm or kill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3520440" cy="2423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82296" cy="242316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3911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B998B"/>
                </a:solidFill>
                <a:latin typeface="Georgia"/>
              </a:rPr>
              <a:t>Bid-cover sharpens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51176"/>
            <a:ext cx="3044952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33425C"/>
                </a:solidFill>
                <a:latin typeface="Calibri"/>
              </a:rPr>
              <a:t>If the channel is real, β stays near −1.4 and significance grows with the sample. If it was an artifact of the 2022–23 crypto winter, it attenuates toward zero as those months roll out of the window.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874519"/>
            <a:ext cx="3520440" cy="2423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874519"/>
            <a:ext cx="82296" cy="24231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03911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3294B"/>
                </a:solidFill>
                <a:latin typeface="Georgia"/>
              </a:rPr>
              <a:t>Privilege becomes measurable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551176"/>
            <a:ext cx="3044952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33425C"/>
                </a:solidFill>
                <a:latin typeface="Calibri"/>
              </a:rPr>
              <a:t>Across two or more rate cycles the spread regression becomes estimable in differences. Safe-asset demand-curve logic predicts a small, few-bps compression per $100B of issuance — visible only at scale.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1874519"/>
            <a:ext cx="3520440" cy="2423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1874519"/>
            <a:ext cx="82296" cy="242316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03911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C1121F"/>
                </a:solidFill>
                <a:latin typeface="Georgia"/>
              </a:rPr>
              <a:t>Fragility becomes testable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551176"/>
            <a:ext cx="3044952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33425C"/>
                </a:solidFill>
                <a:latin typeface="Calibri"/>
              </a:rPr>
              <a:t>Observed monthly reserves plus the first large redemption under the new regime test the buffer threshold directly. At $1T+ scale a forced bill sale is macro-relevant — the New Triffin question returns.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11091672" cy="162763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E8A12C"/>
                </a:solidFill>
                <a:latin typeface="Calibri"/>
              </a:rPr>
              <a:t>EXPECTED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01768"/>
            <a:ext cx="10561320" cy="20116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02352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2026–27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58968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AEC0DD"/>
                </a:solidFill>
                <a:latin typeface="Calibri"/>
              </a:rPr>
              <a:t>Monthly certified reserve reports begin (GENIUS / MiCA)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5102352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2027–28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5458968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AEC0DD"/>
                </a:solidFill>
                <a:latin typeface="Calibri"/>
              </a:rPr>
              <a:t>Sample spans a full easing cycle (~75 months)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3" y="5102352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2028–29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3" y="5458968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AEC0DD"/>
                </a:solidFill>
                <a:latin typeface="Calibri"/>
              </a:rPr>
              <a:t>2–3 years of observed θ, L → threshold test on real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7696" y="5102352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2030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7696" y="5458968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AEC0DD"/>
                </a:solidFill>
                <a:latin typeface="Calibri"/>
              </a:rPr>
              <a:t>~100 months, ≥2 cycles, wider issuer panel — full re-run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/>
              </a:rPr>
              <a:t>The Defensible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698480" cy="2103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82296" cy="210312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10149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800" b="1">
                <a:solidFill>
                  <a:srgbClr val="13294B"/>
                </a:solidFill>
                <a:latin typeface="Georgia"/>
              </a:rPr>
              <a:t>USDT supply growth is associated with lower T-bill auction bid-cover at all maturities, while USDC is not.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50" b="0">
                <a:solidFill>
                  <a:srgbClr val="33425C"/>
                </a:solidFill>
                <a:latin typeface="Georgia"/>
              </a:rPr>
              <a:t>Robust to controlling auction size and to removing all interpolated reserve controls, and it passes a 2,000-iteration placebo. At the individual-auction frequency the association is not detectable, consistent with stablecoin supply being a monthly-frequency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698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0">
                <a:solidFill>
                  <a:srgbClr val="1B998B"/>
                </a:solidFill>
                <a:latin typeface="Calibri"/>
              </a:rPr>
              <a:t>◆  </a:t>
            </a:r>
            <a:r>
              <a:rPr sz="1500" b="0">
                <a:solidFill>
                  <a:srgbClr val="33425C"/>
                </a:solidFill>
                <a:latin typeface="Calibri"/>
              </a:rPr>
              <a:t>The structural privilege channel is real — USDT is a programmatic T-bill buyer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0">
                <a:solidFill>
                  <a:srgbClr val="1B998B"/>
                </a:solidFill>
                <a:latin typeface="Calibri"/>
              </a:rPr>
              <a:t>◆  </a:t>
            </a:r>
            <a:r>
              <a:rPr sz="1500" b="0">
                <a:solidFill>
                  <a:srgbClr val="33425C"/>
                </a:solidFill>
                <a:latin typeface="Calibri"/>
              </a:rPr>
              <a:t>Its imprint is visible in auction demand, not in the spurious levels regression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0">
                <a:solidFill>
                  <a:srgbClr val="1B998B"/>
                </a:solidFill>
                <a:latin typeface="Calibri"/>
              </a:rPr>
              <a:t>◆  </a:t>
            </a:r>
            <a:r>
              <a:rPr sz="1500" b="0">
                <a:solidFill>
                  <a:srgbClr val="33425C"/>
                </a:solidFill>
                <a:latin typeface="Calibri"/>
              </a:rPr>
              <a:t>Stated carefully, the finding survives every robustness check we could devise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Georgia"/>
              </a:rPr>
              <a:t>A robust result, honestly earned.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700" b="0">
                <a:solidFill>
                  <a:srgbClr val="CADCFC"/>
                </a:solidFill>
                <a:latin typeface="Calibri"/>
              </a:rPr>
              <a:t>USDT supply growth → weaker T-bill auction demand, and USDT ≠ USDC.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700" b="0">
                <a:solidFill>
                  <a:srgbClr val="CADCFC"/>
                </a:solidFill>
                <a:latin typeface="Calibri"/>
              </a:rPr>
              <a:t>Survives offering size, zero interpolated data, the rate-cycle control, and a placebo.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700" b="0">
                <a:solidFill>
                  <a:srgbClr val="CADCFC"/>
                </a:solidFill>
                <a:latin typeface="Calibri"/>
              </a:rPr>
              <a:t>The spurious levels results are dropped; the VAR and event study remain as support.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700" b="0">
                <a:solidFill>
                  <a:srgbClr val="CADCFC"/>
                </a:solidFill>
                <a:latin typeface="Calibri"/>
              </a:rPr>
              <a:t>Diagnosis, stress-testing, and reconciliation were a shared, group effort.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