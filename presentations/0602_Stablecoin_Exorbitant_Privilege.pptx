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Following last week's feedback that our event study CARs were ridiculously large, we investigated the root cause, corrected the methodology, ran the placebo test, and want to be clear about what our paper actually proves. Today's deck covers exactly those four things.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deck has four parts. First, the CAR correction — what went wrong with our original numbers, illustrated with the time series. Second, the corrected event study results and the actual CAR graphs. Third, the placebo test with the corrected model. Fourth, what the paper actually proves — we'll use the Hansen threshold graph and explain reframing in plain terms. Let's begin.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today. The professor told us our percentage points were ridiculously large, and after investigating, he was correct. Let me explain exactly what happened. Our original model used the LEVEL of the spread. We estimated a normal baseline using data from January through May 2022 — which is visible in Panel A of the graph as the steep rising section. The Fed was raising rates faster than at any point in 40 years. The spread rose from 5 basis points in January to 78 basis points by May — entirely because of the Fed, not because of stablecoins. The model's six-month average baseline was 37 basis points. But the events happened when the spread was already at 71 basis points. So every single day, the model computed: actual 71 bps minus expected 37 bps equals 34 bps abnormal. Over 26 trading days: 34 times 26 equals 884 basis points or 8.84 percentage points. The spread did not actually move during the event window — the net change was negative 0.3 basis points. Panel C in the graph shows the liquid buffer falling below the 13 percent threshold — the shaded region — which is exactly when these events happened. We fixed this by switching to a first-difference model: we model the day-over-day CHANGE in spread, not the level. Stock event studies already do this for the same reason. The Fed hiking trend disappears when you take daily differences, leaving only idiosyncratic movements.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 visual comparison between the original and corrected models. The top row shows what our original event study produced: positive 8.9 pp for LUNA, positive 8.85 pp for USDT, and negative 18 pp for SVB. Every graph shows a clear dramatic trend — either up or down. The bottom row shows the corrected first-difference model: all three events produce CARs within a few hundredths of a percentage point from zero. The contrast is stark. The top row looked like strong evidence. The bottom row is the honest result. The key insight is that the top row's dramatic trend was the Fed raising rates — not the stablecoin events themselves. Once we remove the trend by modelling daily changes instead of levels, the stablecoin-specific effect on the Treasury spread is indistinguishable from zero.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actual CAR paths from the corrected first-difference model. All three end near zero at day plus 20. Let me explain what each graph shows. For LUNA and USDT on the left and centre: the spread was volatile but drifted around zero throughout. Tether was selling T-bills to meet redemptions, but at the same time the financial panic caused a general flight to safety — other investors were buying T-bills. The two forces cancelled. For SVB on the right: notice the sharp drop to about negative 0.5 pp around day plus 5. This is the acute flight-to-safety spike — the T-bill spread compressed sharply as investors rushed out of bank deposits and into T-bills. But it recovered back to near zero by day plus 20 as markets stabilised. The final CAR is near zero, but there was a real and large transient effect. Importantly, even that transient drop is fully explained by the VIX spike and equity selloff that came with the SVB banking panic — so there is no stablecoin-specific residual. The key reading: a flat line at zero means no effect. These graphs show lines that hover near zero, occasionally dipping or rising, but without the sustained directional trend we would need to call it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placebo test results in table form. The placebo test is supposed to validate our methodology: run the same event study on ordinary non-crisis days and confirm the CARs are near zero. With the original inflated model we got a 21.7 times difference — which looked great but was wrong. With the corrected first-difference model, the placebo mean absolute CAR is 0.05 pp and the actual event mean absolute CAR is 0.07 pp — a ratio of only 1.5 times. They are essentially the same. This confirms that the event study, with the correct methodology, truly finds no significant effect. The next slide shows the visual comparison of the CAR paths.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visual comparison. The top row shows the placebo dates — all three hover near zero, which is exactly what we want. No event happened, no effect is measured. The bottom row shows the actual crisis events, and they also hover near zero — essentially the same as the placebos. The key observation is that you cannot visually distinguish the bottom row from the top row. For the SVB event in the bottom right, you can see the sharp transient dip to negative 0.5 pp around day 5, then a recovery. That is the acute flight-to-safety spike during the banking panic. But because it recovers, the final CAR is near zero. The dashed versus solid line style and the red versus blue colour coding show that the buffer regime and whether it is a real event or a placebo do not systematically separate the results. This confirms that the event study methodology, once corrected, cannot quantitatively identify the stablecoin buffer channel. The paper's quantitative evidence lives in the regression.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what does it mean to reframe the paper? In plain terms: we are not changing the conclusion. We are being honest about which evidence proves it. Before, we were pointing to the event study as the main proof — the 27 pp swing with t = 15. That was built on inflated numbers. Once corrected, the event study finds nothing significant. After, we point to two results that were always there and were never affected by the correction. First: the regression coefficient. Beta one equals negative 6.02 basis points per standard deviation of stablecoin supply. This tells us that stablecoin growth compresses the OIS-Treasury spread in normal times. That is a clean result from the monthly panel, statistically significant. Second: the Hansen threshold. The graph on the right shows what the Hansen threshold regression does. It searches over all possible values of q — the liquid buffer — and finds the one that best splits the data into two regimes. The SSR, which is the model's error, is minimised at q* = 0.130, shown by the red dashed line. That is 13 percent liquid cash. Below that threshold, the regime switches: the privilege amplification reverses. Both of these results are completely independent of the event study. They were not broken. They are the paper. The conclusion — stablecoins amplify the privilege in normal times, and the 13 percent buffer is the tipping point — is exactly the same as before. We are just being honest that the regression and threshold are what prove it, not the event study.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Two sentences to close. First: stablecoin issuers have become structurally important buyers of U.S. Treasury bills. Each standard deviation of supply growth compresses the OIS-Treasury spread by 6 basis points — deepening the exorbitant privilege. Second: whether this persists or reverses during a shock depends on whether the issuer holds at least 13 percent of supply in liquid cash. The regression proves the first. The Hansen threshold proves the second. The event study is consistent with both — qualitatively. We are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06040"/>
            <a:ext cx="12188952" cy="1051560"/>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 y="0"/>
            <a:ext cx="3474720" cy="3474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411480"/>
            <a:ext cx="2651760" cy="265176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 y="4023360"/>
            <a:ext cx="3291840" cy="3291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4434840"/>
            <a:ext cx="2286000" cy="228600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331720"/>
            <a:ext cx="3474720" cy="548640"/>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423160"/>
            <a:ext cx="8229600" cy="594360"/>
          </a:xfrm>
          <a:prstGeom prst="rect">
            <a:avLst/>
          </a:prstGeom>
          <a:noFill/>
        </p:spPr>
        <p:txBody>
          <a:bodyPr wrap="square">
            <a:spAutoFit/>
          </a:bodyPr>
          <a:lstStyle/>
          <a:p>
            <a:pPr algn="l"/>
            <a:r>
              <a:rPr sz="2200" b="0" i="0">
                <a:solidFill>
                  <a:srgbClr val="FFFFFF"/>
                </a:solidFill>
                <a:latin typeface="Calibri Light"/>
              </a:rPr>
              <a:t>STABLECOINS AND THE EXORBITANT PRIVILEGE</a:t>
            </a:r>
          </a:p>
        </p:txBody>
      </p:sp>
      <p:sp>
        <p:nvSpPr>
          <p:cNvPr id="10" name="TextBox 9"/>
          <p:cNvSpPr txBox="1"/>
          <p:nvPr/>
        </p:nvSpPr>
        <p:spPr>
          <a:xfrm>
            <a:off x="3657600" y="3017520"/>
            <a:ext cx="8229600" cy="457200"/>
          </a:xfrm>
          <a:prstGeom prst="rect">
            <a:avLst/>
          </a:prstGeom>
          <a:noFill/>
        </p:spPr>
        <p:txBody>
          <a:bodyPr wrap="square">
            <a:spAutoFit/>
          </a:bodyPr>
          <a:lstStyle/>
          <a:p>
            <a:pPr algn="l"/>
            <a:r>
              <a:rPr sz="1300" b="0" i="1">
                <a:solidFill>
                  <a:srgbClr val="AAC4E8"/>
                </a:solidFill>
                <a:latin typeface="Calibri"/>
              </a:rPr>
              <a:t>Corrected Event Study  ·  Placebo Test  ·  What the Paper Proves</a:t>
            </a:r>
          </a:p>
        </p:txBody>
      </p:sp>
      <p:sp>
        <p:nvSpPr>
          <p:cNvPr id="11" name="Rectangle 10"/>
          <p:cNvSpPr/>
          <p:nvPr/>
        </p:nvSpPr>
        <p:spPr>
          <a:xfrm>
            <a:off x="3566160" y="4069080"/>
            <a:ext cx="6858000" cy="2560320"/>
          </a:xfrm>
          <a:prstGeom prst="rect">
            <a:avLst/>
          </a:prstGeom>
          <a:solidFill>
            <a:srgbClr val="0E2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4206240"/>
            <a:ext cx="6583680" cy="2286000"/>
          </a:xfrm>
          <a:prstGeom prst="rect">
            <a:avLst/>
          </a:prstGeom>
          <a:noFill/>
        </p:spPr>
        <p:txBody>
          <a:bodyPr wrap="square">
            <a:spAutoFit/>
          </a:bodyPr>
          <a:lstStyle/>
          <a:p>
            <a:pPr algn="l"/>
            <a:r>
              <a:rPr sz="1600" b="0" i="0">
                <a:solidFill>
                  <a:srgbClr val="FFFFFF"/>
                </a:solidFill>
                <a:latin typeface="Calibri"/>
              </a:rPr>
              <a:t>Yonsei GSIS 2026-1  |  Topics in International Finance
Mireu Kim · Sara Chekroune · Oybek Ibragimov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We Are Covering Today</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2</a:t>
            </a:r>
          </a:p>
        </p:txBody>
      </p:sp>
      <p:sp>
        <p:nvSpPr>
          <p:cNvPr id="6" name="Rectangle 5"/>
          <p:cNvSpPr/>
          <p:nvPr/>
        </p:nvSpPr>
        <p:spPr>
          <a:xfrm>
            <a:off x="320040" y="1051560"/>
            <a:ext cx="594360" cy="1143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344168"/>
            <a:ext cx="594360" cy="457200"/>
          </a:xfrm>
          <a:prstGeom prst="rect">
            <a:avLst/>
          </a:prstGeom>
          <a:noFill/>
        </p:spPr>
        <p:txBody>
          <a:bodyPr wrap="square">
            <a:spAutoFit/>
          </a:bodyPr>
          <a:lstStyle/>
          <a:p>
            <a:pPr algn="ctr"/>
            <a:r>
              <a:rPr sz="2600" b="1" i="0">
                <a:solidFill>
                  <a:srgbClr val="FFFFFF"/>
                </a:solidFill>
                <a:latin typeface="Calibri"/>
              </a:rPr>
              <a:t>1</a:t>
            </a:r>
          </a:p>
        </p:txBody>
      </p:sp>
      <p:sp>
        <p:nvSpPr>
          <p:cNvPr id="8" name="Rectangle 7"/>
          <p:cNvSpPr/>
          <p:nvPr/>
        </p:nvSpPr>
        <p:spPr>
          <a:xfrm>
            <a:off x="960120" y="1051560"/>
            <a:ext cx="10881360" cy="1143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143000"/>
            <a:ext cx="10607040" cy="320040"/>
          </a:xfrm>
          <a:prstGeom prst="rect">
            <a:avLst/>
          </a:prstGeom>
          <a:noFill/>
        </p:spPr>
        <p:txBody>
          <a:bodyPr wrap="square">
            <a:spAutoFit/>
          </a:bodyPr>
          <a:lstStyle/>
          <a:p>
            <a:pPr algn="l"/>
            <a:r>
              <a:rPr sz="1500" b="1" i="0">
                <a:solidFill>
                  <a:srgbClr val="C0392B"/>
                </a:solidFill>
                <a:latin typeface="Calibri"/>
              </a:rPr>
              <a:t>CAR Correction</a:t>
            </a:r>
          </a:p>
        </p:txBody>
      </p:sp>
      <p:sp>
        <p:nvSpPr>
          <p:cNvPr id="10" name="TextBox 9"/>
          <p:cNvSpPr txBox="1"/>
          <p:nvPr/>
        </p:nvSpPr>
        <p:spPr>
          <a:xfrm>
            <a:off x="1097280" y="1490472"/>
            <a:ext cx="10607040" cy="594360"/>
          </a:xfrm>
          <a:prstGeom prst="rect">
            <a:avLst/>
          </a:prstGeom>
          <a:noFill/>
        </p:spPr>
        <p:txBody>
          <a:bodyPr wrap="square">
            <a:spAutoFit/>
          </a:bodyPr>
          <a:lstStyle/>
          <a:p>
            <a:pPr algn="l"/>
            <a:r>
              <a:rPr sz="1300" b="0" i="0">
                <a:solidFill>
                  <a:srgbClr val="1A1A2E"/>
                </a:solidFill>
                <a:latin typeface="Calibri"/>
              </a:rPr>
              <a:t>Our original event study CARs (+8.9/−18 pp) were inflated by a model specification error. We show the time series that explains what went wrong, and present the corrected numbers.</a:t>
            </a:r>
          </a:p>
        </p:txBody>
      </p:sp>
      <p:sp>
        <p:nvSpPr>
          <p:cNvPr id="11" name="Rectangle 10"/>
          <p:cNvSpPr/>
          <p:nvPr/>
        </p:nvSpPr>
        <p:spPr>
          <a:xfrm>
            <a:off x="320040" y="2313432"/>
            <a:ext cx="594360" cy="1143000"/>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606040"/>
            <a:ext cx="594360" cy="457200"/>
          </a:xfrm>
          <a:prstGeom prst="rect">
            <a:avLst/>
          </a:prstGeom>
          <a:noFill/>
        </p:spPr>
        <p:txBody>
          <a:bodyPr wrap="square">
            <a:spAutoFit/>
          </a:bodyPr>
          <a:lstStyle/>
          <a:p>
            <a:pPr algn="ctr"/>
            <a:r>
              <a:rPr sz="2600" b="1" i="0">
                <a:solidFill>
                  <a:srgbClr val="FFFFFF"/>
                </a:solidFill>
                <a:latin typeface="Calibri"/>
              </a:rPr>
              <a:t>2</a:t>
            </a:r>
          </a:p>
        </p:txBody>
      </p:sp>
      <p:sp>
        <p:nvSpPr>
          <p:cNvPr id="13" name="Rectangle 12"/>
          <p:cNvSpPr/>
          <p:nvPr/>
        </p:nvSpPr>
        <p:spPr>
          <a:xfrm>
            <a:off x="960120" y="2313432"/>
            <a:ext cx="1088136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404872"/>
            <a:ext cx="10607040" cy="320040"/>
          </a:xfrm>
          <a:prstGeom prst="rect">
            <a:avLst/>
          </a:prstGeom>
          <a:noFill/>
        </p:spPr>
        <p:txBody>
          <a:bodyPr wrap="square">
            <a:spAutoFit/>
          </a:bodyPr>
          <a:lstStyle/>
          <a:p>
            <a:pPr algn="l"/>
            <a:r>
              <a:rPr sz="1500" b="1" i="0">
                <a:solidFill>
                  <a:srgbClr val="555566"/>
                </a:solidFill>
                <a:latin typeface="Calibri"/>
              </a:rPr>
              <a:t>Corrected Event Study</a:t>
            </a:r>
          </a:p>
        </p:txBody>
      </p:sp>
      <p:sp>
        <p:nvSpPr>
          <p:cNvPr id="15" name="TextBox 14"/>
          <p:cNvSpPr txBox="1"/>
          <p:nvPr/>
        </p:nvSpPr>
        <p:spPr>
          <a:xfrm>
            <a:off x="1097280" y="2752344"/>
            <a:ext cx="10607040" cy="594360"/>
          </a:xfrm>
          <a:prstGeom prst="rect">
            <a:avLst/>
          </a:prstGeom>
          <a:noFill/>
        </p:spPr>
        <p:txBody>
          <a:bodyPr wrap="square">
            <a:spAutoFit/>
          </a:bodyPr>
          <a:lstStyle/>
          <a:p>
            <a:pPr algn="l"/>
            <a:r>
              <a:rPr sz="1300" b="0" i="0">
                <a:solidFill>
                  <a:srgbClr val="1A1A2E"/>
                </a:solidFill>
                <a:latin typeface="Calibri"/>
              </a:rPr>
              <a:t>With the first-difference model, all three event CARs are near zero and insignificant. We show the actual CAR paths and explain what this means economically.</a:t>
            </a:r>
          </a:p>
        </p:txBody>
      </p:sp>
      <p:sp>
        <p:nvSpPr>
          <p:cNvPr id="16" name="Rectangle 15"/>
          <p:cNvSpPr/>
          <p:nvPr/>
        </p:nvSpPr>
        <p:spPr>
          <a:xfrm>
            <a:off x="320040" y="3575304"/>
            <a:ext cx="594360" cy="114300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3867912"/>
            <a:ext cx="594360" cy="457200"/>
          </a:xfrm>
          <a:prstGeom prst="rect">
            <a:avLst/>
          </a:prstGeom>
          <a:noFill/>
        </p:spPr>
        <p:txBody>
          <a:bodyPr wrap="square">
            <a:spAutoFit/>
          </a:bodyPr>
          <a:lstStyle/>
          <a:p>
            <a:pPr algn="ctr"/>
            <a:r>
              <a:rPr sz="2600" b="1" i="0">
                <a:solidFill>
                  <a:srgbClr val="FFFFFF"/>
                </a:solidFill>
                <a:latin typeface="Calibri"/>
              </a:rPr>
              <a:t>3</a:t>
            </a:r>
          </a:p>
        </p:txBody>
      </p:sp>
      <p:sp>
        <p:nvSpPr>
          <p:cNvPr id="18" name="Rectangle 17"/>
          <p:cNvSpPr/>
          <p:nvPr/>
        </p:nvSpPr>
        <p:spPr>
          <a:xfrm>
            <a:off x="960120" y="3575304"/>
            <a:ext cx="10881360" cy="1143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666744"/>
            <a:ext cx="10607040" cy="320040"/>
          </a:xfrm>
          <a:prstGeom prst="rect">
            <a:avLst/>
          </a:prstGeom>
          <a:noFill/>
        </p:spPr>
        <p:txBody>
          <a:bodyPr wrap="square">
            <a:spAutoFit/>
          </a:bodyPr>
          <a:lstStyle/>
          <a:p>
            <a:pPr algn="l"/>
            <a:r>
              <a:rPr sz="1500" b="1" i="0">
                <a:solidFill>
                  <a:srgbClr val="1B3A72"/>
                </a:solidFill>
                <a:latin typeface="Calibri"/>
              </a:rPr>
              <a:t>Placebo Test</a:t>
            </a:r>
          </a:p>
        </p:txBody>
      </p:sp>
      <p:sp>
        <p:nvSpPr>
          <p:cNvPr id="20" name="TextBox 19"/>
          <p:cNvSpPr txBox="1"/>
          <p:nvPr/>
        </p:nvSpPr>
        <p:spPr>
          <a:xfrm>
            <a:off x="1097280" y="4014216"/>
            <a:ext cx="10607040" cy="594360"/>
          </a:xfrm>
          <a:prstGeom prst="rect">
            <a:avLst/>
          </a:prstGeom>
          <a:noFill/>
        </p:spPr>
        <p:txBody>
          <a:bodyPr wrap="square">
            <a:spAutoFit/>
          </a:bodyPr>
          <a:lstStyle/>
          <a:p>
            <a:pPr algn="l"/>
            <a:r>
              <a:rPr sz="1300" b="0" i="0">
                <a:solidFill>
                  <a:srgbClr val="1A1A2E"/>
                </a:solidFill>
                <a:latin typeface="Calibri"/>
              </a:rPr>
              <a:t>We ran the same methodology on 3 non-crisis dates. Placebos and actual events are statistically indistinguishable — confirming the event study finds no quantitative effect.</a:t>
            </a:r>
          </a:p>
        </p:txBody>
      </p:sp>
      <p:sp>
        <p:nvSpPr>
          <p:cNvPr id="21" name="Rectangle 20"/>
          <p:cNvSpPr/>
          <p:nvPr/>
        </p:nvSpPr>
        <p:spPr>
          <a:xfrm>
            <a:off x="320040" y="4837176"/>
            <a:ext cx="594360" cy="1143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5129784"/>
            <a:ext cx="594360" cy="457200"/>
          </a:xfrm>
          <a:prstGeom prst="rect">
            <a:avLst/>
          </a:prstGeom>
          <a:noFill/>
        </p:spPr>
        <p:txBody>
          <a:bodyPr wrap="square">
            <a:spAutoFit/>
          </a:bodyPr>
          <a:lstStyle/>
          <a:p>
            <a:pPr algn="ctr"/>
            <a:r>
              <a:rPr sz="2600" b="1" i="0">
                <a:solidFill>
                  <a:srgbClr val="FFFFFF"/>
                </a:solidFill>
                <a:latin typeface="Calibri"/>
              </a:rPr>
              <a:t>4</a:t>
            </a:r>
          </a:p>
        </p:txBody>
      </p:sp>
      <p:sp>
        <p:nvSpPr>
          <p:cNvPr id="23" name="Rectangle 22"/>
          <p:cNvSpPr/>
          <p:nvPr/>
        </p:nvSpPr>
        <p:spPr>
          <a:xfrm>
            <a:off x="960120" y="4837176"/>
            <a:ext cx="1088136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928616"/>
            <a:ext cx="10607040" cy="320040"/>
          </a:xfrm>
          <a:prstGeom prst="rect">
            <a:avLst/>
          </a:prstGeom>
          <a:noFill/>
        </p:spPr>
        <p:txBody>
          <a:bodyPr wrap="square">
            <a:spAutoFit/>
          </a:bodyPr>
          <a:lstStyle/>
          <a:p>
            <a:pPr algn="l"/>
            <a:r>
              <a:rPr sz="1500" b="1" i="0">
                <a:solidFill>
                  <a:srgbClr val="1A7A4A"/>
                </a:solidFill>
                <a:latin typeface="Calibri"/>
              </a:rPr>
              <a:t>What the Paper Proves</a:t>
            </a:r>
          </a:p>
        </p:txBody>
      </p:sp>
      <p:sp>
        <p:nvSpPr>
          <p:cNvPr id="25" name="TextBox 24"/>
          <p:cNvSpPr txBox="1"/>
          <p:nvPr/>
        </p:nvSpPr>
        <p:spPr>
          <a:xfrm>
            <a:off x="1097280" y="5276088"/>
            <a:ext cx="10607040" cy="594360"/>
          </a:xfrm>
          <a:prstGeom prst="rect">
            <a:avLst/>
          </a:prstGeom>
          <a:noFill/>
        </p:spPr>
        <p:txBody>
          <a:bodyPr wrap="square">
            <a:spAutoFit/>
          </a:bodyPr>
          <a:lstStyle/>
          <a:p>
            <a:pPr algn="l"/>
            <a:r>
              <a:rPr sz="1300" b="0" i="0">
                <a:solidFill>
                  <a:srgbClr val="1A1A2E"/>
                </a:solidFill>
                <a:latin typeface="Calibri"/>
              </a:rPr>
              <a:t>The primary evidence is the regression (β₁ = −6.02 bps) and the Hansen threshold (q* = 13%). We show the threshold graph and explain in plain terms what 'reframing' means.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CAR Correction — What Was Wrong and What We Fixed</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3</a:t>
            </a:r>
          </a:p>
        </p:txBody>
      </p:sp>
      <p:sp>
        <p:nvSpPr>
          <p:cNvPr id="6" name="Rectangle 5"/>
          <p:cNvSpPr/>
          <p:nvPr/>
        </p:nvSpPr>
        <p:spPr>
          <a:xfrm>
            <a:off x="320040" y="960120"/>
            <a:ext cx="1152144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96696"/>
            <a:ext cx="11064240" cy="256032"/>
          </a:xfrm>
          <a:prstGeom prst="rect">
            <a:avLst/>
          </a:prstGeom>
          <a:noFill/>
        </p:spPr>
        <p:txBody>
          <a:bodyPr wrap="square">
            <a:spAutoFit/>
          </a:bodyPr>
          <a:lstStyle/>
          <a:p>
            <a:pPr algn="ctr"/>
            <a:r>
              <a:rPr sz="1100" b="1" i="1">
                <a:solidFill>
                  <a:srgbClr val="FFFFFF"/>
                </a:solidFill>
                <a:latin typeface="Calibri"/>
              </a:rPr>
              <a:t>Professor's feedback: 'Your percentage points are ridiculously large. Either something wrong, or wrong units.'  — He was right.</a:t>
            </a:r>
          </a:p>
        </p:txBody>
      </p:sp>
      <p:sp>
        <p:nvSpPr>
          <p:cNvPr id="8" name="Rectangle 7"/>
          <p:cNvSpPr/>
          <p:nvPr/>
        </p:nvSpPr>
        <p:spPr>
          <a:xfrm>
            <a:off x="320040" y="1389888"/>
            <a:ext cx="3246120" cy="3017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26464"/>
            <a:ext cx="3108960" cy="228600"/>
          </a:xfrm>
          <a:prstGeom prst="rect">
            <a:avLst/>
          </a:prstGeom>
          <a:noFill/>
        </p:spPr>
        <p:txBody>
          <a:bodyPr wrap="square">
            <a:spAutoFit/>
          </a:bodyPr>
          <a:lstStyle/>
          <a:p>
            <a:pPr algn="l"/>
            <a:r>
              <a:rPr sz="1100" b="1" i="0">
                <a:solidFill>
                  <a:srgbClr val="FFFFFF"/>
                </a:solidFill>
                <a:latin typeface="Calibri"/>
              </a:rPr>
              <a:t>Original  (level model)</a:t>
            </a:r>
          </a:p>
        </p:txBody>
      </p:sp>
      <p:sp>
        <p:nvSpPr>
          <p:cNvPr id="10" name="Rectangle 9"/>
          <p:cNvSpPr/>
          <p:nvPr/>
        </p:nvSpPr>
        <p:spPr>
          <a:xfrm>
            <a:off x="320040" y="1691640"/>
            <a:ext cx="3246120" cy="1389888"/>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737360"/>
            <a:ext cx="3063240" cy="1280160"/>
          </a:xfrm>
          <a:prstGeom prst="rect">
            <a:avLst/>
          </a:prstGeom>
          <a:noFill/>
        </p:spPr>
        <p:txBody>
          <a:bodyPr wrap="square">
            <a:spAutoFit/>
          </a:bodyPr>
          <a:lstStyle/>
          <a:p>
            <a:pPr>
              <a:spcBef>
                <a:spcPts val="0"/>
              </a:spcBef>
            </a:pPr>
          </a:p>
          <a:p>
            <a:pPr algn="l">
              <a:spcBef>
                <a:spcPts val="400"/>
              </a:spcBef>
            </a:pPr>
            <a:r>
              <a:rPr sz="1000" b="0" i="0">
                <a:solidFill>
                  <a:srgbClr val="1A1A2E"/>
                </a:solidFill>
                <a:latin typeface="Calibri"/>
              </a:rPr>
              <a:t>LUNA  (May 2022):</a:t>
            </a:r>
          </a:p>
          <a:p>
            <a:pPr algn="l">
              <a:spcBef>
                <a:spcPts val="100"/>
              </a:spcBef>
            </a:pPr>
            <a:r>
              <a:rPr sz="1300" b="1" i="0">
                <a:solidFill>
                  <a:srgbClr val="C0392B"/>
                </a:solidFill>
                <a:latin typeface="Calibri"/>
              </a:rPr>
              <a:t>        +8.91 pp  ***</a:t>
            </a:r>
          </a:p>
          <a:p>
            <a:pPr algn="l">
              <a:spcBef>
                <a:spcPts val="400"/>
              </a:spcBef>
            </a:pPr>
            <a:r>
              <a:rPr sz="1000" b="0" i="0">
                <a:solidFill>
                  <a:srgbClr val="1A1A2E"/>
                </a:solidFill>
                <a:latin typeface="Calibri"/>
              </a:rPr>
              <a:t>USDT  (May 2022):</a:t>
            </a:r>
          </a:p>
          <a:p>
            <a:pPr algn="l">
              <a:spcBef>
                <a:spcPts val="100"/>
              </a:spcBef>
            </a:pPr>
            <a:r>
              <a:rPr sz="1300" b="1" i="0">
                <a:solidFill>
                  <a:srgbClr val="C0392B"/>
                </a:solidFill>
                <a:latin typeface="Calibri"/>
              </a:rPr>
              <a:t>        +8.85 pp  ***</a:t>
            </a:r>
          </a:p>
          <a:p>
            <a:pPr algn="l">
              <a:spcBef>
                <a:spcPts val="400"/>
              </a:spcBef>
            </a:pPr>
            <a:r>
              <a:rPr sz="1000" b="0" i="0">
                <a:solidFill>
                  <a:srgbClr val="1A1A2E"/>
                </a:solidFill>
                <a:latin typeface="Calibri"/>
              </a:rPr>
              <a:t>SVB   (Mar 2023):</a:t>
            </a:r>
          </a:p>
          <a:p>
            <a:pPr algn="l">
              <a:spcBef>
                <a:spcPts val="100"/>
              </a:spcBef>
            </a:pPr>
            <a:r>
              <a:rPr sz="1300" b="1" i="0">
                <a:solidFill>
                  <a:srgbClr val="1A7A4A"/>
                </a:solidFill>
                <a:latin typeface="Calibri"/>
              </a:rPr>
              <a:t>        −18.01 pp  ***</a:t>
            </a:r>
          </a:p>
        </p:txBody>
      </p:sp>
      <p:sp>
        <p:nvSpPr>
          <p:cNvPr id="12" name="Rectangle 11"/>
          <p:cNvSpPr/>
          <p:nvPr/>
        </p:nvSpPr>
        <p:spPr>
          <a:xfrm>
            <a:off x="3703320" y="1389888"/>
            <a:ext cx="4754880" cy="30175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4760" y="1426464"/>
            <a:ext cx="4617720" cy="228600"/>
          </a:xfrm>
          <a:prstGeom prst="rect">
            <a:avLst/>
          </a:prstGeom>
          <a:noFill/>
        </p:spPr>
        <p:txBody>
          <a:bodyPr wrap="square">
            <a:spAutoFit/>
          </a:bodyPr>
          <a:lstStyle/>
          <a:p>
            <a:pPr algn="l"/>
            <a:r>
              <a:rPr sz="1100" b="1" i="0">
                <a:solidFill>
                  <a:srgbClr val="FFFFFF"/>
                </a:solidFill>
                <a:latin typeface="Calibri"/>
              </a:rPr>
              <a:t>Root cause — Fed hiking trend in estimation window</a:t>
            </a:r>
          </a:p>
        </p:txBody>
      </p:sp>
      <p:sp>
        <p:nvSpPr>
          <p:cNvPr id="14" name="Rectangle 13"/>
          <p:cNvSpPr/>
          <p:nvPr/>
        </p:nvSpPr>
        <p:spPr>
          <a:xfrm>
            <a:off x="3703320" y="1691640"/>
            <a:ext cx="4754880" cy="1389888"/>
          </a:xfrm>
          <a:prstGeom prst="rect">
            <a:avLst/>
          </a:prstGeom>
          <a:solidFill>
            <a:srgbClr val="FFF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4760" y="1737360"/>
            <a:ext cx="4572000" cy="1280160"/>
          </a:xfrm>
          <a:prstGeom prst="rect">
            <a:avLst/>
          </a:prstGeom>
          <a:noFill/>
        </p:spPr>
        <p:txBody>
          <a:bodyPr wrap="square">
            <a:spAutoFit/>
          </a:bodyPr>
          <a:lstStyle/>
          <a:p>
            <a:pPr>
              <a:spcBef>
                <a:spcPts val="0"/>
              </a:spcBef>
            </a:pPr>
          </a:p>
          <a:p>
            <a:pPr algn="l">
              <a:spcBef>
                <a:spcPts val="200"/>
              </a:spcBef>
            </a:pPr>
            <a:r>
              <a:rPr sz="1100" b="1" i="0">
                <a:solidFill>
                  <a:srgbClr val="1A1A2E"/>
                </a:solidFill>
                <a:latin typeface="Calibri"/>
              </a:rPr>
              <a:t>Estimation window for 2022 events: Jan–May 2022</a:t>
            </a:r>
          </a:p>
          <a:p>
            <a:pPr algn="l">
              <a:spcBef>
                <a:spcPts val="400"/>
              </a:spcBef>
            </a:pPr>
            <a:r>
              <a:rPr sz="1100" b="1" i="0">
                <a:solidFill>
                  <a:srgbClr val="E67E22"/>
                </a:solidFill>
                <a:latin typeface="Calibri"/>
              </a:rPr>
              <a:t>Spread in that window: 5 bps → 78 bps (Fed hiking!)</a:t>
            </a:r>
          </a:p>
          <a:p>
            <a:pPr algn="l">
              <a:spcBef>
                <a:spcPts val="400"/>
              </a:spcBef>
            </a:pPr>
            <a:r>
              <a:rPr sz="1100" b="0" i="0">
                <a:solidFill>
                  <a:srgbClr val="1A1A2E"/>
                </a:solidFill>
                <a:latin typeface="Calibri"/>
              </a:rPr>
              <a:t>Model baseline: 37 bps avg  |  Events happened at: 71 bps</a:t>
            </a:r>
          </a:p>
          <a:p>
            <a:pPr algn="l">
              <a:spcBef>
                <a:spcPts val="500"/>
              </a:spcBef>
            </a:pPr>
            <a:r>
              <a:rPr sz="1200" b="1" i="0">
                <a:solidFill>
                  <a:srgbClr val="C0392B"/>
                </a:solidFill>
                <a:latin typeface="Calibri"/>
              </a:rPr>
              <a:t>→ 34 bps/day fake 'abnormal' × 26 days = 8.84 pp</a:t>
            </a:r>
          </a:p>
          <a:p>
            <a:pPr algn="l">
              <a:spcBef>
                <a:spcPts val="400"/>
              </a:spcBef>
            </a:pPr>
            <a:r>
              <a:rPr sz="1000" b="0" i="1">
                <a:solidFill>
                  <a:srgbClr val="555566"/>
                </a:solidFill>
                <a:latin typeface="Calibri"/>
              </a:rPr>
              <a:t>Net actual spread change during LUNA event: −0.3 bps</a:t>
            </a:r>
          </a:p>
        </p:txBody>
      </p:sp>
      <p:sp>
        <p:nvSpPr>
          <p:cNvPr id="16" name="Rectangle 15"/>
          <p:cNvSpPr/>
          <p:nvPr/>
        </p:nvSpPr>
        <p:spPr>
          <a:xfrm>
            <a:off x="8595360" y="1389888"/>
            <a:ext cx="3291840" cy="30175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1426464"/>
            <a:ext cx="3154680" cy="228600"/>
          </a:xfrm>
          <a:prstGeom prst="rect">
            <a:avLst/>
          </a:prstGeom>
          <a:noFill/>
        </p:spPr>
        <p:txBody>
          <a:bodyPr wrap="square">
            <a:spAutoFit/>
          </a:bodyPr>
          <a:lstStyle/>
          <a:p>
            <a:pPr algn="l"/>
            <a:r>
              <a:rPr sz="1100" b="1" i="0">
                <a:solidFill>
                  <a:srgbClr val="FFFFFF"/>
                </a:solidFill>
                <a:latin typeface="Calibri"/>
              </a:rPr>
              <a:t>Corrected  (first-diff model)</a:t>
            </a:r>
          </a:p>
        </p:txBody>
      </p:sp>
      <p:sp>
        <p:nvSpPr>
          <p:cNvPr id="18" name="Rectangle 17"/>
          <p:cNvSpPr/>
          <p:nvPr/>
        </p:nvSpPr>
        <p:spPr>
          <a:xfrm>
            <a:off x="8595360" y="1691640"/>
            <a:ext cx="3291840" cy="1389888"/>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1737360"/>
            <a:ext cx="3108960" cy="1280160"/>
          </a:xfrm>
          <a:prstGeom prst="rect">
            <a:avLst/>
          </a:prstGeom>
          <a:noFill/>
        </p:spPr>
        <p:txBody>
          <a:bodyPr wrap="square">
            <a:spAutoFit/>
          </a:bodyPr>
          <a:lstStyle/>
          <a:p>
            <a:pPr>
              <a:spcBef>
                <a:spcPts val="0"/>
              </a:spcBef>
            </a:pPr>
          </a:p>
          <a:p>
            <a:pPr algn="l">
              <a:spcBef>
                <a:spcPts val="400"/>
              </a:spcBef>
            </a:pPr>
            <a:r>
              <a:rPr sz="1000" b="0" i="0">
                <a:solidFill>
                  <a:srgbClr val="1A1A2E"/>
                </a:solidFill>
                <a:latin typeface="Calibri"/>
              </a:rPr>
              <a:t>LUNA  (May 2022):</a:t>
            </a:r>
          </a:p>
          <a:p>
            <a:pPr algn="l">
              <a:spcBef>
                <a:spcPts val="100"/>
              </a:spcBef>
            </a:pPr>
            <a:r>
              <a:rPr sz="1300" b="1" i="0">
                <a:solidFill>
                  <a:srgbClr val="555566"/>
                </a:solidFill>
                <a:latin typeface="Calibri"/>
              </a:rPr>
              <a:t>        −0.15 pp  n.s.</a:t>
            </a:r>
          </a:p>
          <a:p>
            <a:pPr algn="l">
              <a:spcBef>
                <a:spcPts val="400"/>
              </a:spcBef>
            </a:pPr>
            <a:r>
              <a:rPr sz="1000" b="0" i="0">
                <a:solidFill>
                  <a:srgbClr val="1A1A2E"/>
                </a:solidFill>
                <a:latin typeface="Calibri"/>
              </a:rPr>
              <a:t>USDT  (May 2022):</a:t>
            </a:r>
          </a:p>
          <a:p>
            <a:pPr algn="l">
              <a:spcBef>
                <a:spcPts val="100"/>
              </a:spcBef>
            </a:pPr>
            <a:r>
              <a:rPr sz="1300" b="1" i="0">
                <a:solidFill>
                  <a:srgbClr val="555566"/>
                </a:solidFill>
                <a:latin typeface="Calibri"/>
              </a:rPr>
              <a:t>        −0.04 pp  n.s.</a:t>
            </a:r>
          </a:p>
          <a:p>
            <a:pPr algn="l">
              <a:spcBef>
                <a:spcPts val="400"/>
              </a:spcBef>
            </a:pPr>
            <a:r>
              <a:rPr sz="1000" b="0" i="0">
                <a:solidFill>
                  <a:srgbClr val="1A1A2E"/>
                </a:solidFill>
                <a:latin typeface="Calibri"/>
              </a:rPr>
              <a:t>SVB   (Mar 2023):</a:t>
            </a:r>
          </a:p>
          <a:p>
            <a:pPr algn="l">
              <a:spcBef>
                <a:spcPts val="100"/>
              </a:spcBef>
            </a:pPr>
            <a:r>
              <a:rPr sz="1300" b="1" i="0">
                <a:solidFill>
                  <a:srgbClr val="555566"/>
                </a:solidFill>
                <a:latin typeface="Calibri"/>
              </a:rPr>
              <a:t>        −0.02 pp  n.s.</a:t>
            </a:r>
          </a:p>
          <a:p>
            <a:pPr algn="l">
              <a:spcBef>
                <a:spcPts val="200"/>
              </a:spcBef>
            </a:pPr>
            <a:r>
              <a:rPr sz="400" b="0" i="0">
                <a:solidFill>
                  <a:srgbClr val="1A1A2E"/>
                </a:solidFill>
                <a:latin typeface="Calibri"/>
              </a:rPr>
              <a:t> </a:t>
            </a:r>
          </a:p>
          <a:p>
            <a:pPr algn="l">
              <a:spcBef>
                <a:spcPts val="200"/>
              </a:spcBef>
            </a:pPr>
            <a:r>
              <a:rPr sz="1100" b="1" i="0">
                <a:solidFill>
                  <a:srgbClr val="1A1A2E"/>
                </a:solidFill>
                <a:latin typeface="Calibri"/>
              </a:rPr>
              <a:t>All near zero. All insignificant.</a:t>
            </a:r>
          </a:p>
        </p:txBody>
      </p:sp>
      <p:sp>
        <p:nvSpPr>
          <p:cNvPr id="20" name="Rectangle 19"/>
          <p:cNvSpPr/>
          <p:nvPr/>
        </p:nvSpPr>
        <p:spPr>
          <a:xfrm>
            <a:off x="320040" y="3172968"/>
            <a:ext cx="11521440" cy="274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191256"/>
            <a:ext cx="11064240" cy="228600"/>
          </a:xfrm>
          <a:prstGeom prst="rect">
            <a:avLst/>
          </a:prstGeom>
          <a:noFill/>
        </p:spPr>
        <p:txBody>
          <a:bodyPr wrap="square">
            <a:spAutoFit/>
          </a:bodyPr>
          <a:lstStyle/>
          <a:p>
            <a:pPr algn="l"/>
            <a:r>
              <a:rPr sz="1000" b="0" i="1">
                <a:solidFill>
                  <a:srgbClr val="FFFFFF"/>
                </a:solidFill>
                <a:latin typeface="Calibri"/>
              </a:rPr>
              <a:t>Why the model failed: the spread (Panel A) rose from ~0 bps to ~80 bps during our estimation window — all Fed policy, not stablecoins. The buffer fell below 13% (Panel C shading) right at the 2022 events.</a:t>
            </a:r>
          </a:p>
        </p:txBody>
      </p:sp>
      <p:pic>
        <p:nvPicPr>
          <p:cNvPr id="22" name="Picture 21" descr="fig_timeseries.png"/>
          <p:cNvPicPr>
            <a:picLocks noChangeAspect="1"/>
          </p:cNvPicPr>
          <p:nvPr/>
        </p:nvPicPr>
        <p:blipFill>
          <a:blip r:embed="rId2"/>
          <a:stretch>
            <a:fillRect/>
          </a:stretch>
        </p:blipFill>
        <p:spPr>
          <a:xfrm>
            <a:off x="320040" y="3447288"/>
            <a:ext cx="11521440" cy="23774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Before vs After — CAR Paths: Original vs Corrected Model</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4</a:t>
            </a:r>
          </a:p>
        </p:txBody>
      </p:sp>
      <p:sp>
        <p:nvSpPr>
          <p:cNvPr id="6" name="Rectangle 5"/>
          <p:cNvSpPr/>
          <p:nvPr/>
        </p:nvSpPr>
        <p:spPr>
          <a:xfrm>
            <a:off x="320040" y="960120"/>
            <a:ext cx="11521440" cy="3200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11064240" cy="256032"/>
          </a:xfrm>
          <a:prstGeom prst="rect">
            <a:avLst/>
          </a:prstGeom>
          <a:noFill/>
        </p:spPr>
        <p:txBody>
          <a:bodyPr wrap="square">
            <a:spAutoFit/>
          </a:bodyPr>
          <a:lstStyle/>
          <a:p>
            <a:pPr algn="l"/>
            <a:r>
              <a:rPr sz="1100" b="0" i="1">
                <a:solidFill>
                  <a:srgbClr val="1B3A72"/>
                </a:solidFill>
                <a:latin typeface="Calibri"/>
              </a:rPr>
              <a:t>Top row (red, solid) = ORIGINAL level model   |   Bottom row (teal, dashed) = CORRECTED first-diff model   |   Columns: LUNA/UST · USDT Depeg · USDC/SVB</a:t>
            </a:r>
          </a:p>
        </p:txBody>
      </p:sp>
      <p:pic>
        <p:nvPicPr>
          <p:cNvPr id="8" name="Picture 7" descr="car_comparison.png"/>
          <p:cNvPicPr>
            <a:picLocks noChangeAspect="1"/>
          </p:cNvPicPr>
          <p:nvPr/>
        </p:nvPicPr>
        <p:blipFill>
          <a:blip r:embed="rId2"/>
          <a:stretch>
            <a:fillRect/>
          </a:stretch>
        </p:blipFill>
        <p:spPr>
          <a:xfrm>
            <a:off x="320040" y="1344168"/>
            <a:ext cx="11521440" cy="4526280"/>
          </a:xfrm>
          <a:prstGeom prst="rect">
            <a:avLst/>
          </a:prstGeom>
        </p:spPr>
      </p:pic>
      <p:sp>
        <p:nvSpPr>
          <p:cNvPr id="9" name="Rectangle 8"/>
          <p:cNvSpPr/>
          <p:nvPr/>
        </p:nvSpPr>
        <p:spPr>
          <a:xfrm>
            <a:off x="320040" y="5943600"/>
            <a:ext cx="5577840" cy="347472"/>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980176"/>
            <a:ext cx="5303520" cy="256032"/>
          </a:xfrm>
          <a:prstGeom prst="rect">
            <a:avLst/>
          </a:prstGeom>
          <a:noFill/>
        </p:spPr>
        <p:txBody>
          <a:bodyPr wrap="square">
            <a:spAutoFit/>
          </a:bodyPr>
          <a:lstStyle/>
          <a:p>
            <a:pPr algn="l"/>
            <a:r>
              <a:rPr sz="1100" b="1" i="0">
                <a:solidFill>
                  <a:srgbClr val="C0392B"/>
                </a:solidFill>
                <a:latin typeface="Calibri"/>
              </a:rPr>
              <a:t>Original (level model):  LUNA +8.91 pp***  ·  USDT +8.85 pp***  ·  SVB −18.01 pp***</a:t>
            </a:r>
          </a:p>
        </p:txBody>
      </p:sp>
      <p:sp>
        <p:nvSpPr>
          <p:cNvPr id="11" name="Rectangle 10"/>
          <p:cNvSpPr/>
          <p:nvPr/>
        </p:nvSpPr>
        <p:spPr>
          <a:xfrm>
            <a:off x="6035040" y="5943600"/>
            <a:ext cx="5806440" cy="347472"/>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5980176"/>
            <a:ext cx="5486400" cy="256032"/>
          </a:xfrm>
          <a:prstGeom prst="rect">
            <a:avLst/>
          </a:prstGeom>
          <a:noFill/>
        </p:spPr>
        <p:txBody>
          <a:bodyPr wrap="square">
            <a:spAutoFit/>
          </a:bodyPr>
          <a:lstStyle/>
          <a:p>
            <a:pPr algn="l"/>
            <a:r>
              <a:rPr sz="1100" b="1" i="0">
                <a:solidFill>
                  <a:srgbClr val="1A7A4A"/>
                </a:solidFill>
                <a:latin typeface="Calibri"/>
              </a:rPr>
              <a:t>Corrected (first-diff model):  LUNA −0.15 pp n.s.  ·  USDT −0.04 pp n.s.  ·  SVB −0.02 pp n.s.</a:t>
            </a:r>
          </a:p>
        </p:txBody>
      </p:sp>
      <p:sp>
        <p:nvSpPr>
          <p:cNvPr id="13" name="Rectangle 12"/>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852160"/>
            <a:ext cx="11274552" cy="749808"/>
          </a:xfrm>
          <a:prstGeom prst="rect">
            <a:avLst/>
          </a:prstGeom>
          <a:noFill/>
        </p:spPr>
        <p:txBody>
          <a:bodyPr wrap="square">
            <a:spAutoFit/>
          </a:bodyPr>
          <a:lstStyle/>
          <a:p>
            <a:pPr algn="ctr"/>
            <a:r>
              <a:rPr sz="1300" b="1" i="0">
                <a:solidFill>
                  <a:srgbClr val="FFFFFF"/>
                </a:solidFill>
                <a:latin typeface="Calibri"/>
              </a:rPr>
              <a:t>The top row spikes were not stablecoin effects — they were the Fed hiking trend. The corrected bottom row shows the true market response: near zero.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Corrected Event Study — CAR Paths (First-Difference Model)</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5</a:t>
            </a:r>
          </a:p>
        </p:txBody>
      </p:sp>
      <p:sp>
        <p:nvSpPr>
          <p:cNvPr id="6" name="Rectangle 5"/>
          <p:cNvSpPr/>
          <p:nvPr/>
        </p:nvSpPr>
        <p:spPr>
          <a:xfrm>
            <a:off x="320040" y="960120"/>
            <a:ext cx="11521440" cy="3200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11064240" cy="256032"/>
          </a:xfrm>
          <a:prstGeom prst="rect">
            <a:avLst/>
          </a:prstGeom>
          <a:noFill/>
        </p:spPr>
        <p:txBody>
          <a:bodyPr wrap="square">
            <a:spAutoFit/>
          </a:bodyPr>
          <a:lstStyle/>
          <a:p>
            <a:pPr algn="l"/>
            <a:r>
              <a:rPr sz="1100" b="0" i="1">
                <a:solidFill>
                  <a:srgbClr val="1B3A72"/>
                </a:solidFill>
                <a:latin typeface="Calibri"/>
              </a:rPr>
              <a:t>Model:  ΔSpread_t = α + β₁·ΔVIX_t + β₂·Δln(equity)_t     Estimation window: −120 to −6 trading days     Event window: −5 to +20 trading days</a:t>
            </a:r>
          </a:p>
        </p:txBody>
      </p:sp>
      <p:pic>
        <p:nvPicPr>
          <p:cNvPr id="8" name="Picture 7" descr="event_study_cars.png"/>
          <p:cNvPicPr>
            <a:picLocks noChangeAspect="1"/>
          </p:cNvPicPr>
          <p:nvPr/>
        </p:nvPicPr>
        <p:blipFill>
          <a:blip r:embed="rId2"/>
          <a:stretch>
            <a:fillRect/>
          </a:stretch>
        </p:blipFill>
        <p:spPr>
          <a:xfrm>
            <a:off x="320040" y="1353312"/>
            <a:ext cx="7772400" cy="3474720"/>
          </a:xfrm>
          <a:prstGeom prst="rect">
            <a:avLst/>
          </a:prstGeom>
        </p:spPr>
      </p:pic>
      <p:sp>
        <p:nvSpPr>
          <p:cNvPr id="9" name="Rectangle 8"/>
          <p:cNvSpPr/>
          <p:nvPr/>
        </p:nvSpPr>
        <p:spPr>
          <a:xfrm>
            <a:off x="8229600" y="1353312"/>
            <a:ext cx="365760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380744"/>
            <a:ext cx="3547872" cy="201168"/>
          </a:xfrm>
          <a:prstGeom prst="rect">
            <a:avLst/>
          </a:prstGeom>
          <a:noFill/>
        </p:spPr>
        <p:txBody>
          <a:bodyPr wrap="square">
            <a:spAutoFit/>
          </a:bodyPr>
          <a:lstStyle/>
          <a:p>
            <a:pPr algn="l"/>
            <a:r>
              <a:rPr sz="1000" b="1" i="0">
                <a:solidFill>
                  <a:srgbClr val="FFFFFF"/>
                </a:solidFill>
                <a:latin typeface="Calibri"/>
              </a:rPr>
              <a:t>LUNA/UST Collapse  (May 9, 2022)</a:t>
            </a:r>
          </a:p>
        </p:txBody>
      </p:sp>
      <p:sp>
        <p:nvSpPr>
          <p:cNvPr id="11" name="Rectangle 10"/>
          <p:cNvSpPr/>
          <p:nvPr/>
        </p:nvSpPr>
        <p:spPr>
          <a:xfrm>
            <a:off x="8229600" y="1609344"/>
            <a:ext cx="3657600" cy="8961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645920"/>
            <a:ext cx="3520440" cy="274320"/>
          </a:xfrm>
          <a:prstGeom prst="rect">
            <a:avLst/>
          </a:prstGeom>
          <a:noFill/>
        </p:spPr>
        <p:txBody>
          <a:bodyPr wrap="square">
            <a:spAutoFit/>
          </a:bodyPr>
          <a:lstStyle/>
          <a:p>
            <a:pPr algn="l"/>
            <a:r>
              <a:rPr sz="1400" b="1" i="0">
                <a:solidFill>
                  <a:srgbClr val="555566"/>
                </a:solidFill>
                <a:latin typeface="Calibri"/>
              </a:rPr>
              <a:t>CAR = −0.15 pp  n.s.</a:t>
            </a:r>
          </a:p>
        </p:txBody>
      </p:sp>
      <p:sp>
        <p:nvSpPr>
          <p:cNvPr id="13" name="TextBox 12"/>
          <p:cNvSpPr txBox="1"/>
          <p:nvPr/>
        </p:nvSpPr>
        <p:spPr>
          <a:xfrm>
            <a:off x="8321040" y="1920240"/>
            <a:ext cx="3520440" cy="548640"/>
          </a:xfrm>
          <a:prstGeom prst="rect">
            <a:avLst/>
          </a:prstGeom>
          <a:noFill/>
        </p:spPr>
        <p:txBody>
          <a:bodyPr wrap="square">
            <a:spAutoFit/>
          </a:bodyPr>
          <a:lstStyle/>
          <a:p>
            <a:pPr algn="l"/>
            <a:r>
              <a:rPr sz="1000" b="0" i="0">
                <a:solidFill>
                  <a:srgbClr val="1A1A2E"/>
                </a:solidFill>
                <a:latin typeface="Calibri"/>
              </a:rPr>
              <a:t>Spread barely moved (net −0.3 bps). T-bill selling (Tether) offset by market flight-to-safety buying. Net effect: indistinguishable from noise.</a:t>
            </a:r>
          </a:p>
        </p:txBody>
      </p:sp>
      <p:sp>
        <p:nvSpPr>
          <p:cNvPr id="14" name="Rectangle 13"/>
          <p:cNvSpPr/>
          <p:nvPr/>
        </p:nvSpPr>
        <p:spPr>
          <a:xfrm>
            <a:off x="8229600" y="2523744"/>
            <a:ext cx="3657600" cy="25603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551176"/>
            <a:ext cx="3547872" cy="201168"/>
          </a:xfrm>
          <a:prstGeom prst="rect">
            <a:avLst/>
          </a:prstGeom>
          <a:noFill/>
        </p:spPr>
        <p:txBody>
          <a:bodyPr wrap="square">
            <a:spAutoFit/>
          </a:bodyPr>
          <a:lstStyle/>
          <a:p>
            <a:pPr algn="l"/>
            <a:r>
              <a:rPr sz="1000" b="1" i="0">
                <a:solidFill>
                  <a:srgbClr val="FFFFFF"/>
                </a:solidFill>
                <a:latin typeface="Calibri"/>
              </a:rPr>
              <a:t>USDT Partial Depeg  (May 12, 2022)</a:t>
            </a:r>
          </a:p>
        </p:txBody>
      </p:sp>
      <p:sp>
        <p:nvSpPr>
          <p:cNvPr id="16" name="Rectangle 15"/>
          <p:cNvSpPr/>
          <p:nvPr/>
        </p:nvSpPr>
        <p:spPr>
          <a:xfrm>
            <a:off x="8229600" y="2779776"/>
            <a:ext cx="3657600" cy="896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816352"/>
            <a:ext cx="3520440" cy="274320"/>
          </a:xfrm>
          <a:prstGeom prst="rect">
            <a:avLst/>
          </a:prstGeom>
          <a:noFill/>
        </p:spPr>
        <p:txBody>
          <a:bodyPr wrap="square">
            <a:spAutoFit/>
          </a:bodyPr>
          <a:lstStyle/>
          <a:p>
            <a:pPr algn="l"/>
            <a:r>
              <a:rPr sz="1400" b="1" i="0">
                <a:solidFill>
                  <a:srgbClr val="555566"/>
                </a:solidFill>
                <a:latin typeface="Calibri"/>
              </a:rPr>
              <a:t>CAR = −0.04 pp  n.s.</a:t>
            </a:r>
          </a:p>
        </p:txBody>
      </p:sp>
      <p:sp>
        <p:nvSpPr>
          <p:cNvPr id="18" name="TextBox 17"/>
          <p:cNvSpPr txBox="1"/>
          <p:nvPr/>
        </p:nvSpPr>
        <p:spPr>
          <a:xfrm>
            <a:off x="8321040" y="3090672"/>
            <a:ext cx="3520440" cy="548640"/>
          </a:xfrm>
          <a:prstGeom prst="rect">
            <a:avLst/>
          </a:prstGeom>
          <a:noFill/>
        </p:spPr>
        <p:txBody>
          <a:bodyPr wrap="square">
            <a:spAutoFit/>
          </a:bodyPr>
          <a:lstStyle/>
          <a:p>
            <a:pPr algn="l"/>
            <a:r>
              <a:rPr sz="1000" b="0" i="0">
                <a:solidFill>
                  <a:srgbClr val="1A1A2E"/>
                </a:solidFill>
                <a:latin typeface="Calibri"/>
              </a:rPr>
              <a:t>Same buffer, same period. $7B in redemptions met via T-bill sales, but market-wide buying cancelled the effect.</a:t>
            </a:r>
          </a:p>
        </p:txBody>
      </p:sp>
      <p:sp>
        <p:nvSpPr>
          <p:cNvPr id="19" name="Rectangle 18"/>
          <p:cNvSpPr/>
          <p:nvPr/>
        </p:nvSpPr>
        <p:spPr>
          <a:xfrm>
            <a:off x="8229600" y="3694176"/>
            <a:ext cx="3657600" cy="2560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3721608"/>
            <a:ext cx="3547872" cy="201168"/>
          </a:xfrm>
          <a:prstGeom prst="rect">
            <a:avLst/>
          </a:prstGeom>
          <a:noFill/>
        </p:spPr>
        <p:txBody>
          <a:bodyPr wrap="square">
            <a:spAutoFit/>
          </a:bodyPr>
          <a:lstStyle/>
          <a:p>
            <a:pPr algn="l"/>
            <a:r>
              <a:rPr sz="1000" b="1" i="0">
                <a:solidFill>
                  <a:srgbClr val="FFFFFF"/>
                </a:solidFill>
                <a:latin typeface="Calibri"/>
              </a:rPr>
              <a:t>USDC / SVB Failure  (Mar 11, 2023)</a:t>
            </a:r>
          </a:p>
        </p:txBody>
      </p:sp>
      <p:sp>
        <p:nvSpPr>
          <p:cNvPr id="21" name="Rectangle 20"/>
          <p:cNvSpPr/>
          <p:nvPr/>
        </p:nvSpPr>
        <p:spPr>
          <a:xfrm>
            <a:off x="8229600" y="3950208"/>
            <a:ext cx="3657600" cy="89611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986784"/>
            <a:ext cx="3520440" cy="274320"/>
          </a:xfrm>
          <a:prstGeom prst="rect">
            <a:avLst/>
          </a:prstGeom>
          <a:noFill/>
        </p:spPr>
        <p:txBody>
          <a:bodyPr wrap="square">
            <a:spAutoFit/>
          </a:bodyPr>
          <a:lstStyle/>
          <a:p>
            <a:pPr algn="l"/>
            <a:r>
              <a:rPr sz="1400" b="1" i="0">
                <a:solidFill>
                  <a:srgbClr val="555566"/>
                </a:solidFill>
                <a:latin typeface="Calibri"/>
              </a:rPr>
              <a:t>CAR = −0.02 pp  n.s.</a:t>
            </a:r>
          </a:p>
        </p:txBody>
      </p:sp>
      <p:sp>
        <p:nvSpPr>
          <p:cNvPr id="23" name="TextBox 22"/>
          <p:cNvSpPr txBox="1"/>
          <p:nvPr/>
        </p:nvSpPr>
        <p:spPr>
          <a:xfrm>
            <a:off x="8321040" y="4261104"/>
            <a:ext cx="3520440" cy="548640"/>
          </a:xfrm>
          <a:prstGeom prst="rect">
            <a:avLst/>
          </a:prstGeom>
          <a:noFill/>
        </p:spPr>
        <p:txBody>
          <a:bodyPr wrap="square">
            <a:spAutoFit/>
          </a:bodyPr>
          <a:lstStyle/>
          <a:p>
            <a:pPr algn="l"/>
            <a:r>
              <a:rPr sz="1000" b="0" i="0">
                <a:solidFill>
                  <a:srgbClr val="1A1A2E"/>
                </a:solidFill>
                <a:latin typeface="Calibri"/>
              </a:rPr>
              <a:t>Govt. guarantee → no T-bill sales. Sharp transient drop then recovery. Spread move fully explained by VIX/equity.</a:t>
            </a:r>
          </a:p>
        </p:txBody>
      </p:sp>
      <p:sp>
        <p:nvSpPr>
          <p:cNvPr id="24" name="Rectangle 23"/>
          <p:cNvSpPr/>
          <p:nvPr/>
        </p:nvSpPr>
        <p:spPr>
          <a:xfrm>
            <a:off x="320040" y="4910328"/>
            <a:ext cx="7772400" cy="27432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937760"/>
            <a:ext cx="7498079" cy="219456"/>
          </a:xfrm>
          <a:prstGeom prst="rect">
            <a:avLst/>
          </a:prstGeom>
          <a:noFill/>
        </p:spPr>
        <p:txBody>
          <a:bodyPr wrap="square">
            <a:spAutoFit/>
          </a:bodyPr>
          <a:lstStyle/>
          <a:p>
            <a:pPr algn="l"/>
            <a:r>
              <a:rPr sz="1100" b="1" i="0">
                <a:solidFill>
                  <a:srgbClr val="FFFFFF"/>
                </a:solidFill>
                <a:latin typeface="Calibri"/>
              </a:rPr>
              <a:t>How to read these graphs:</a:t>
            </a:r>
          </a:p>
        </p:txBody>
      </p:sp>
      <p:sp>
        <p:nvSpPr>
          <p:cNvPr id="26" name="Rectangle 25"/>
          <p:cNvSpPr/>
          <p:nvPr/>
        </p:nvSpPr>
        <p:spPr>
          <a:xfrm>
            <a:off x="320040" y="5184648"/>
            <a:ext cx="7772400" cy="47548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212080"/>
            <a:ext cx="7498079" cy="402336"/>
          </a:xfrm>
          <a:prstGeom prst="rect">
            <a:avLst/>
          </a:prstGeom>
          <a:noFill/>
        </p:spPr>
        <p:txBody>
          <a:bodyPr wrap="square">
            <a:spAutoFit/>
          </a:bodyPr>
          <a:lstStyle/>
          <a:p>
            <a:pPr algn="l"/>
            <a:r>
              <a:rPr sz="1100" b="0" i="0">
                <a:solidFill>
                  <a:srgbClr val="1A1A2E"/>
                </a:solidFill>
                <a:latin typeface="Calibri"/>
              </a:rPr>
              <a:t>Dashed vertical line = event date (τ = 0).  Y-axis = cumulative abnormal spread change in pp since 5 days before the event.  A flat line at zero means the event had no measurable effect on the spread.</a:t>
            </a:r>
          </a:p>
        </p:txBody>
      </p:sp>
      <p:sp>
        <p:nvSpPr>
          <p:cNvPr id="28" name="Rectangle 27"/>
          <p:cNvSpPr/>
          <p:nvPr/>
        </p:nvSpPr>
        <p:spPr>
          <a:xfrm>
            <a:off x="320040" y="5715000"/>
            <a:ext cx="7772400" cy="475488"/>
          </a:xfrm>
          <a:prstGeom prst="rect">
            <a:avLst/>
          </a:prstGeom>
          <a:solidFill>
            <a:srgbClr val="E8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742432"/>
            <a:ext cx="7498079" cy="402336"/>
          </a:xfrm>
          <a:prstGeom prst="rect">
            <a:avLst/>
          </a:prstGeom>
          <a:noFill/>
        </p:spPr>
        <p:txBody>
          <a:bodyPr wrap="square">
            <a:spAutoFit/>
          </a:bodyPr>
          <a:lstStyle/>
          <a:p>
            <a:pPr algn="l"/>
            <a:r>
              <a:rPr sz="1000" b="0" i="1">
                <a:solidFill>
                  <a:srgbClr val="1B3A72"/>
                </a:solidFill>
                <a:latin typeface="Calibri"/>
              </a:rPr>
              <a:t>Note on SVB (right panel): the CAR drops sharply to −0.5 pp around day +5 (the flight-to-safety spike), then recovers. Final CAR at day +20 is near zero because the spread normalised as markets calmed. The transient drop is real but fully explained by the VIX/equity controls.</a:t>
            </a:r>
          </a:p>
        </p:txBody>
      </p:sp>
      <p:sp>
        <p:nvSpPr>
          <p:cNvPr id="30" name="Rectangle 29"/>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852160"/>
            <a:ext cx="11274552" cy="749808"/>
          </a:xfrm>
          <a:prstGeom prst="rect">
            <a:avLst/>
          </a:prstGeom>
          <a:noFill/>
        </p:spPr>
        <p:txBody>
          <a:bodyPr wrap="square">
            <a:spAutoFit/>
          </a:bodyPr>
          <a:lstStyle/>
          <a:p>
            <a:pPr algn="ctr"/>
            <a:r>
              <a:rPr sz="1300" b="1" i="0">
                <a:solidFill>
                  <a:srgbClr val="FFFFFF"/>
                </a:solidFill>
                <a:latin typeface="Calibri"/>
              </a:rPr>
              <a:t>All three CARs end near zero — not because nothing happened, but because general market forces (flight to safety, VIX) account for all the spread movement.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Placebo Test — Results Table</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6</a:t>
            </a:r>
          </a:p>
        </p:txBody>
      </p:sp>
      <p:sp>
        <p:nvSpPr>
          <p:cNvPr id="6" name="Rectangle 5"/>
          <p:cNvSpPr/>
          <p:nvPr/>
        </p:nvSpPr>
        <p:spPr>
          <a:xfrm>
            <a:off x="320040" y="960120"/>
            <a:ext cx="11521440" cy="347472"/>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96696"/>
            <a:ext cx="11064240" cy="274320"/>
          </a:xfrm>
          <a:prstGeom prst="rect">
            <a:avLst/>
          </a:prstGeom>
          <a:noFill/>
        </p:spPr>
        <p:txBody>
          <a:bodyPr wrap="square">
            <a:spAutoFit/>
          </a:bodyPr>
          <a:lstStyle/>
          <a:p>
            <a:pPr algn="l"/>
            <a:r>
              <a:rPr sz="1200" b="0" i="1">
                <a:solidFill>
                  <a:srgbClr val="FFFFFF"/>
                </a:solidFill>
                <a:latin typeface="Calibri"/>
              </a:rPr>
              <a:t>Same event study methodology on 3 non-crisis dates with same buffer regimes. If methodology is sound: placebos near zero, actuals should be larger. If both are near zero: event study finds no effect.</a:t>
            </a:r>
          </a:p>
        </p:txBody>
      </p:sp>
      <p:sp>
        <p:nvSpPr>
          <p:cNvPr id="8" name="Rectangle 7"/>
          <p:cNvSpPr/>
          <p:nvPr/>
        </p:nvSpPr>
        <p:spPr>
          <a:xfrm>
            <a:off x="320040" y="1389888"/>
            <a:ext cx="114300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17320"/>
            <a:ext cx="1051560" cy="237744"/>
          </a:xfrm>
          <a:prstGeom prst="rect">
            <a:avLst/>
          </a:prstGeom>
          <a:noFill/>
        </p:spPr>
        <p:txBody>
          <a:bodyPr wrap="square">
            <a:spAutoFit/>
          </a:bodyPr>
          <a:lstStyle/>
          <a:p>
            <a:pPr algn="l"/>
            <a:r>
              <a:rPr sz="1100" b="1" i="0">
                <a:solidFill>
                  <a:srgbClr val="FFFFFF"/>
                </a:solidFill>
                <a:latin typeface="Calibri"/>
              </a:rPr>
              <a:t>Type</a:t>
            </a:r>
          </a:p>
        </p:txBody>
      </p:sp>
      <p:sp>
        <p:nvSpPr>
          <p:cNvPr id="10" name="Rectangle 9"/>
          <p:cNvSpPr/>
          <p:nvPr/>
        </p:nvSpPr>
        <p:spPr>
          <a:xfrm>
            <a:off x="1463040" y="1389888"/>
            <a:ext cx="278892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1417320"/>
            <a:ext cx="2697480" cy="237744"/>
          </a:xfrm>
          <a:prstGeom prst="rect">
            <a:avLst/>
          </a:prstGeom>
          <a:noFill/>
        </p:spPr>
        <p:txBody>
          <a:bodyPr wrap="square">
            <a:spAutoFit/>
          </a:bodyPr>
          <a:lstStyle/>
          <a:p>
            <a:pPr algn="l"/>
            <a:r>
              <a:rPr sz="1100" b="1" i="0">
                <a:solidFill>
                  <a:srgbClr val="FFFFFF"/>
                </a:solidFill>
                <a:latin typeface="Calibri"/>
              </a:rPr>
              <a:t>Date</a:t>
            </a:r>
          </a:p>
        </p:txBody>
      </p:sp>
      <p:sp>
        <p:nvSpPr>
          <p:cNvPr id="12" name="Rectangle 11"/>
          <p:cNvSpPr/>
          <p:nvPr/>
        </p:nvSpPr>
        <p:spPr>
          <a:xfrm>
            <a:off x="4251960" y="1389888"/>
            <a:ext cx="150876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417320"/>
            <a:ext cx="1417320" cy="237744"/>
          </a:xfrm>
          <a:prstGeom prst="rect">
            <a:avLst/>
          </a:prstGeom>
          <a:noFill/>
        </p:spPr>
        <p:txBody>
          <a:bodyPr wrap="square">
            <a:spAutoFit/>
          </a:bodyPr>
          <a:lstStyle/>
          <a:p>
            <a:pPr algn="l"/>
            <a:r>
              <a:rPr sz="1100" b="1" i="0">
                <a:solidFill>
                  <a:srgbClr val="FFFFFF"/>
                </a:solidFill>
                <a:latin typeface="Calibri"/>
              </a:rPr>
              <a:t>Buffer</a:t>
            </a:r>
          </a:p>
        </p:txBody>
      </p:sp>
      <p:sp>
        <p:nvSpPr>
          <p:cNvPr id="14" name="Rectangle 13"/>
          <p:cNvSpPr/>
          <p:nvPr/>
        </p:nvSpPr>
        <p:spPr>
          <a:xfrm>
            <a:off x="5760720" y="1389888"/>
            <a:ext cx="141732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06440" y="1417320"/>
            <a:ext cx="1325880" cy="237744"/>
          </a:xfrm>
          <a:prstGeom prst="rect">
            <a:avLst/>
          </a:prstGeom>
          <a:noFill/>
        </p:spPr>
        <p:txBody>
          <a:bodyPr wrap="square">
            <a:spAutoFit/>
          </a:bodyPr>
          <a:lstStyle/>
          <a:p>
            <a:pPr algn="l"/>
            <a:r>
              <a:rPr sz="1100" b="1" i="0">
                <a:solidFill>
                  <a:srgbClr val="FFFFFF"/>
                </a:solidFill>
                <a:latin typeface="Calibri"/>
              </a:rPr>
              <a:t>CAR (pp)</a:t>
            </a:r>
          </a:p>
        </p:txBody>
      </p:sp>
      <p:sp>
        <p:nvSpPr>
          <p:cNvPr id="16" name="Rectangle 15"/>
          <p:cNvSpPr/>
          <p:nvPr/>
        </p:nvSpPr>
        <p:spPr>
          <a:xfrm>
            <a:off x="7178040" y="1389888"/>
            <a:ext cx="109728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1417320"/>
            <a:ext cx="1005840" cy="237744"/>
          </a:xfrm>
          <a:prstGeom prst="rect">
            <a:avLst/>
          </a:prstGeom>
          <a:noFill/>
        </p:spPr>
        <p:txBody>
          <a:bodyPr wrap="square">
            <a:spAutoFit/>
          </a:bodyPr>
          <a:lstStyle/>
          <a:p>
            <a:pPr algn="l"/>
            <a:r>
              <a:rPr sz="1100" b="1" i="0">
                <a:solidFill>
                  <a:srgbClr val="FFFFFF"/>
                </a:solidFill>
                <a:latin typeface="Calibri"/>
              </a:rPr>
              <a:t>t-stat</a:t>
            </a:r>
          </a:p>
        </p:txBody>
      </p:sp>
      <p:sp>
        <p:nvSpPr>
          <p:cNvPr id="18" name="Rectangle 17"/>
          <p:cNvSpPr/>
          <p:nvPr/>
        </p:nvSpPr>
        <p:spPr>
          <a:xfrm>
            <a:off x="8275320" y="1389888"/>
            <a:ext cx="850392"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417320"/>
            <a:ext cx="758952" cy="237744"/>
          </a:xfrm>
          <a:prstGeom prst="rect">
            <a:avLst/>
          </a:prstGeom>
          <a:noFill/>
        </p:spPr>
        <p:txBody>
          <a:bodyPr wrap="square">
            <a:spAutoFit/>
          </a:bodyPr>
          <a:lstStyle/>
          <a:p>
            <a:pPr algn="l"/>
            <a:r>
              <a:rPr sz="1100" b="1" i="0">
                <a:solidFill>
                  <a:srgbClr val="FFFFFF"/>
                </a:solidFill>
                <a:latin typeface="Calibri"/>
              </a:rPr>
              <a:t>Sig.</a:t>
            </a:r>
          </a:p>
        </p:txBody>
      </p:sp>
      <p:sp>
        <p:nvSpPr>
          <p:cNvPr id="20" name="Rectangle 19"/>
          <p:cNvSpPr/>
          <p:nvPr/>
        </p:nvSpPr>
        <p:spPr>
          <a:xfrm>
            <a:off x="9125712" y="1389888"/>
            <a:ext cx="3337560" cy="310896"/>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1432" y="1417320"/>
            <a:ext cx="3246120" cy="237744"/>
          </a:xfrm>
          <a:prstGeom prst="rect">
            <a:avLst/>
          </a:prstGeom>
          <a:noFill/>
        </p:spPr>
        <p:txBody>
          <a:bodyPr wrap="square">
            <a:spAutoFit/>
          </a:bodyPr>
          <a:lstStyle/>
          <a:p>
            <a:pPr algn="l"/>
            <a:r>
              <a:rPr sz="1100" b="1" i="0">
                <a:solidFill>
                  <a:srgbClr val="FFFFFF"/>
                </a:solidFill>
                <a:latin typeface="Calibri"/>
              </a:rPr>
              <a:t>Interpretation</a:t>
            </a:r>
          </a:p>
        </p:txBody>
      </p:sp>
      <p:sp>
        <p:nvSpPr>
          <p:cNvPr id="22" name="Rectangle 21"/>
          <p:cNvSpPr/>
          <p:nvPr/>
        </p:nvSpPr>
        <p:spPr>
          <a:xfrm>
            <a:off x="320040" y="1700784"/>
            <a:ext cx="114300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1837944"/>
            <a:ext cx="1051560" cy="274320"/>
          </a:xfrm>
          <a:prstGeom prst="rect">
            <a:avLst/>
          </a:prstGeom>
          <a:noFill/>
        </p:spPr>
        <p:txBody>
          <a:bodyPr wrap="square">
            <a:spAutoFit/>
          </a:bodyPr>
          <a:lstStyle/>
          <a:p>
            <a:pPr algn="l"/>
            <a:r>
              <a:rPr sz="1100" b="1" i="0">
                <a:solidFill>
                  <a:srgbClr val="555566"/>
                </a:solidFill>
                <a:latin typeface="Calibri"/>
              </a:rPr>
              <a:t>PLACEBO</a:t>
            </a:r>
          </a:p>
        </p:txBody>
      </p:sp>
      <p:sp>
        <p:nvSpPr>
          <p:cNvPr id="24" name="Rectangle 23"/>
          <p:cNvSpPr/>
          <p:nvPr/>
        </p:nvSpPr>
        <p:spPr>
          <a:xfrm>
            <a:off x="1463040" y="1700784"/>
            <a:ext cx="27889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08760" y="1837944"/>
            <a:ext cx="2697480" cy="274320"/>
          </a:xfrm>
          <a:prstGeom prst="rect">
            <a:avLst/>
          </a:prstGeom>
          <a:noFill/>
        </p:spPr>
        <p:txBody>
          <a:bodyPr wrap="square">
            <a:spAutoFit/>
          </a:bodyPr>
          <a:lstStyle/>
          <a:p>
            <a:pPr algn="l"/>
            <a:r>
              <a:rPr sz="1100" b="0" i="0">
                <a:solidFill>
                  <a:srgbClr val="1A1A2E"/>
                </a:solidFill>
                <a:latin typeface="Calibri"/>
              </a:rPr>
              <a:t>Jun 15, 2021</a:t>
            </a:r>
          </a:p>
        </p:txBody>
      </p:sp>
      <p:sp>
        <p:nvSpPr>
          <p:cNvPr id="26" name="Rectangle 25"/>
          <p:cNvSpPr/>
          <p:nvPr/>
        </p:nvSpPr>
        <p:spPr>
          <a:xfrm>
            <a:off x="4251960" y="1700784"/>
            <a:ext cx="15087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80" y="1837944"/>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28" name="Rectangle 27"/>
          <p:cNvSpPr/>
          <p:nvPr/>
        </p:nvSpPr>
        <p:spPr>
          <a:xfrm>
            <a:off x="5760720" y="1700784"/>
            <a:ext cx="14173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06440" y="1837944"/>
            <a:ext cx="1325880" cy="274320"/>
          </a:xfrm>
          <a:prstGeom prst="rect">
            <a:avLst/>
          </a:prstGeom>
          <a:noFill/>
        </p:spPr>
        <p:txBody>
          <a:bodyPr wrap="square">
            <a:spAutoFit/>
          </a:bodyPr>
          <a:lstStyle/>
          <a:p>
            <a:pPr algn="l"/>
            <a:r>
              <a:rPr sz="1100" b="0" i="0">
                <a:solidFill>
                  <a:srgbClr val="1A1A2E"/>
                </a:solidFill>
                <a:latin typeface="Calibri"/>
              </a:rPr>
              <a:t>+0.01</a:t>
            </a:r>
          </a:p>
        </p:txBody>
      </p:sp>
      <p:sp>
        <p:nvSpPr>
          <p:cNvPr id="30" name="Rectangle 29"/>
          <p:cNvSpPr/>
          <p:nvPr/>
        </p:nvSpPr>
        <p:spPr>
          <a:xfrm>
            <a:off x="7178040" y="1700784"/>
            <a:ext cx="109728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0" y="1837944"/>
            <a:ext cx="1005840" cy="274320"/>
          </a:xfrm>
          <a:prstGeom prst="rect">
            <a:avLst/>
          </a:prstGeom>
          <a:noFill/>
        </p:spPr>
        <p:txBody>
          <a:bodyPr wrap="square">
            <a:spAutoFit/>
          </a:bodyPr>
          <a:lstStyle/>
          <a:p>
            <a:pPr algn="l"/>
            <a:r>
              <a:rPr sz="1100" b="0" i="0">
                <a:solidFill>
                  <a:srgbClr val="1A1A2E"/>
                </a:solidFill>
                <a:latin typeface="Calibri"/>
              </a:rPr>
              <a:t>0.47</a:t>
            </a:r>
          </a:p>
        </p:txBody>
      </p:sp>
      <p:sp>
        <p:nvSpPr>
          <p:cNvPr id="32" name="Rectangle 31"/>
          <p:cNvSpPr/>
          <p:nvPr/>
        </p:nvSpPr>
        <p:spPr>
          <a:xfrm>
            <a:off x="8275320" y="1700784"/>
            <a:ext cx="850392"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1837944"/>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34" name="Rectangle 33"/>
          <p:cNvSpPr/>
          <p:nvPr/>
        </p:nvSpPr>
        <p:spPr>
          <a:xfrm>
            <a:off x="9125712" y="1700784"/>
            <a:ext cx="33375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71432" y="1837944"/>
            <a:ext cx="3246120" cy="274320"/>
          </a:xfrm>
          <a:prstGeom prst="rect">
            <a:avLst/>
          </a:prstGeom>
          <a:noFill/>
        </p:spPr>
        <p:txBody>
          <a:bodyPr wrap="square">
            <a:spAutoFit/>
          </a:bodyPr>
          <a:lstStyle/>
          <a:p>
            <a:pPr algn="l"/>
            <a:r>
              <a:rPr sz="1100" b="0" i="0">
                <a:solidFill>
                  <a:srgbClr val="1A1A2E"/>
                </a:solidFill>
                <a:latin typeface="Calibri"/>
              </a:rPr>
              <a:t>Near zero — no event ✓</a:t>
            </a:r>
          </a:p>
        </p:txBody>
      </p:sp>
      <p:sp>
        <p:nvSpPr>
          <p:cNvPr id="36" name="Rectangle 35"/>
          <p:cNvSpPr/>
          <p:nvPr/>
        </p:nvSpPr>
        <p:spPr>
          <a:xfrm>
            <a:off x="320040" y="2276856"/>
            <a:ext cx="11430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2414016"/>
            <a:ext cx="1051560" cy="274320"/>
          </a:xfrm>
          <a:prstGeom prst="rect">
            <a:avLst/>
          </a:prstGeom>
          <a:noFill/>
        </p:spPr>
        <p:txBody>
          <a:bodyPr wrap="square">
            <a:spAutoFit/>
          </a:bodyPr>
          <a:lstStyle/>
          <a:p>
            <a:pPr algn="l"/>
            <a:r>
              <a:rPr sz="1100" b="1" i="0">
                <a:solidFill>
                  <a:srgbClr val="555566"/>
                </a:solidFill>
                <a:latin typeface="Calibri"/>
              </a:rPr>
              <a:t>PLACEBO</a:t>
            </a:r>
          </a:p>
        </p:txBody>
      </p:sp>
      <p:sp>
        <p:nvSpPr>
          <p:cNvPr id="38" name="Rectangle 37"/>
          <p:cNvSpPr/>
          <p:nvPr/>
        </p:nvSpPr>
        <p:spPr>
          <a:xfrm>
            <a:off x="1463040" y="2276856"/>
            <a:ext cx="27889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08760" y="2414016"/>
            <a:ext cx="2697480" cy="274320"/>
          </a:xfrm>
          <a:prstGeom prst="rect">
            <a:avLst/>
          </a:prstGeom>
          <a:noFill/>
        </p:spPr>
        <p:txBody>
          <a:bodyPr wrap="square">
            <a:spAutoFit/>
          </a:bodyPr>
          <a:lstStyle/>
          <a:p>
            <a:pPr algn="l"/>
            <a:r>
              <a:rPr sz="1100" b="0" i="0">
                <a:solidFill>
                  <a:srgbClr val="1A1A2E"/>
                </a:solidFill>
                <a:latin typeface="Calibri"/>
              </a:rPr>
              <a:t>Oct 12, 2021</a:t>
            </a:r>
          </a:p>
        </p:txBody>
      </p:sp>
      <p:sp>
        <p:nvSpPr>
          <p:cNvPr id="40" name="Rectangle 39"/>
          <p:cNvSpPr/>
          <p:nvPr/>
        </p:nvSpPr>
        <p:spPr>
          <a:xfrm>
            <a:off x="4251960" y="2276856"/>
            <a:ext cx="15087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97680" y="2414016"/>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42" name="Rectangle 41"/>
          <p:cNvSpPr/>
          <p:nvPr/>
        </p:nvSpPr>
        <p:spPr>
          <a:xfrm>
            <a:off x="5760720" y="2276856"/>
            <a:ext cx="1417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06440" y="2414016"/>
            <a:ext cx="1325880" cy="274320"/>
          </a:xfrm>
          <a:prstGeom prst="rect">
            <a:avLst/>
          </a:prstGeom>
          <a:noFill/>
        </p:spPr>
        <p:txBody>
          <a:bodyPr wrap="square">
            <a:spAutoFit/>
          </a:bodyPr>
          <a:lstStyle/>
          <a:p>
            <a:pPr algn="l"/>
            <a:r>
              <a:rPr sz="1100" b="0" i="0">
                <a:solidFill>
                  <a:srgbClr val="1A1A2E"/>
                </a:solidFill>
                <a:latin typeface="Calibri"/>
              </a:rPr>
              <a:t>+0.02</a:t>
            </a:r>
          </a:p>
        </p:txBody>
      </p:sp>
      <p:sp>
        <p:nvSpPr>
          <p:cNvPr id="44" name="Rectangle 43"/>
          <p:cNvSpPr/>
          <p:nvPr/>
        </p:nvSpPr>
        <p:spPr>
          <a:xfrm>
            <a:off x="7178040" y="2276856"/>
            <a:ext cx="10972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23760" y="2414016"/>
            <a:ext cx="1005840" cy="274320"/>
          </a:xfrm>
          <a:prstGeom prst="rect">
            <a:avLst/>
          </a:prstGeom>
          <a:noFill/>
        </p:spPr>
        <p:txBody>
          <a:bodyPr wrap="square">
            <a:spAutoFit/>
          </a:bodyPr>
          <a:lstStyle/>
          <a:p>
            <a:pPr algn="l"/>
            <a:r>
              <a:rPr sz="1100" b="0" i="0">
                <a:solidFill>
                  <a:srgbClr val="1A1A2E"/>
                </a:solidFill>
                <a:latin typeface="Calibri"/>
              </a:rPr>
              <a:t>0.73</a:t>
            </a:r>
          </a:p>
        </p:txBody>
      </p:sp>
      <p:sp>
        <p:nvSpPr>
          <p:cNvPr id="46" name="Rectangle 45"/>
          <p:cNvSpPr/>
          <p:nvPr/>
        </p:nvSpPr>
        <p:spPr>
          <a:xfrm>
            <a:off x="8275320" y="2276856"/>
            <a:ext cx="850392"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40" y="2414016"/>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48" name="Rectangle 47"/>
          <p:cNvSpPr/>
          <p:nvPr/>
        </p:nvSpPr>
        <p:spPr>
          <a:xfrm>
            <a:off x="9125712" y="2276856"/>
            <a:ext cx="33375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71432" y="2414016"/>
            <a:ext cx="3246120" cy="274320"/>
          </a:xfrm>
          <a:prstGeom prst="rect">
            <a:avLst/>
          </a:prstGeom>
          <a:noFill/>
        </p:spPr>
        <p:txBody>
          <a:bodyPr wrap="square">
            <a:spAutoFit/>
          </a:bodyPr>
          <a:lstStyle/>
          <a:p>
            <a:pPr algn="l"/>
            <a:r>
              <a:rPr sz="1100" b="0" i="0">
                <a:solidFill>
                  <a:srgbClr val="1A1A2E"/>
                </a:solidFill>
                <a:latin typeface="Calibri"/>
              </a:rPr>
              <a:t>Near zero — no event ✓</a:t>
            </a:r>
          </a:p>
        </p:txBody>
      </p:sp>
      <p:sp>
        <p:nvSpPr>
          <p:cNvPr id="50" name="Rectangle 49"/>
          <p:cNvSpPr/>
          <p:nvPr/>
        </p:nvSpPr>
        <p:spPr>
          <a:xfrm>
            <a:off x="320040" y="2852928"/>
            <a:ext cx="114300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5760" y="2990088"/>
            <a:ext cx="1051560" cy="274320"/>
          </a:xfrm>
          <a:prstGeom prst="rect">
            <a:avLst/>
          </a:prstGeom>
          <a:noFill/>
        </p:spPr>
        <p:txBody>
          <a:bodyPr wrap="square">
            <a:spAutoFit/>
          </a:bodyPr>
          <a:lstStyle/>
          <a:p>
            <a:pPr algn="l"/>
            <a:r>
              <a:rPr sz="1100" b="1" i="0">
                <a:solidFill>
                  <a:srgbClr val="555566"/>
                </a:solidFill>
                <a:latin typeface="Calibri"/>
              </a:rPr>
              <a:t>PLACEBO</a:t>
            </a:r>
          </a:p>
        </p:txBody>
      </p:sp>
      <p:sp>
        <p:nvSpPr>
          <p:cNvPr id="52" name="Rectangle 51"/>
          <p:cNvSpPr/>
          <p:nvPr/>
        </p:nvSpPr>
        <p:spPr>
          <a:xfrm>
            <a:off x="1463040" y="2852928"/>
            <a:ext cx="27889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08760" y="2990088"/>
            <a:ext cx="2697480" cy="274320"/>
          </a:xfrm>
          <a:prstGeom prst="rect">
            <a:avLst/>
          </a:prstGeom>
          <a:noFill/>
        </p:spPr>
        <p:txBody>
          <a:bodyPr wrap="square">
            <a:spAutoFit/>
          </a:bodyPr>
          <a:lstStyle/>
          <a:p>
            <a:pPr algn="l"/>
            <a:r>
              <a:rPr sz="1100" b="0" i="0">
                <a:solidFill>
                  <a:srgbClr val="1A1A2E"/>
                </a:solidFill>
                <a:latin typeface="Calibri"/>
              </a:rPr>
              <a:t>Jul 15, 2025</a:t>
            </a:r>
          </a:p>
        </p:txBody>
      </p:sp>
      <p:sp>
        <p:nvSpPr>
          <p:cNvPr id="54" name="Rectangle 53"/>
          <p:cNvSpPr/>
          <p:nvPr/>
        </p:nvSpPr>
        <p:spPr>
          <a:xfrm>
            <a:off x="4251960" y="2852928"/>
            <a:ext cx="15087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97680" y="2990088"/>
            <a:ext cx="1417320" cy="274320"/>
          </a:xfrm>
          <a:prstGeom prst="rect">
            <a:avLst/>
          </a:prstGeom>
          <a:noFill/>
        </p:spPr>
        <p:txBody>
          <a:bodyPr wrap="square">
            <a:spAutoFit/>
          </a:bodyPr>
          <a:lstStyle/>
          <a:p>
            <a:pPr algn="l"/>
            <a:r>
              <a:rPr sz="1100" b="0" i="0">
                <a:solidFill>
                  <a:srgbClr val="1A1A2E"/>
                </a:solidFill>
                <a:latin typeface="Calibri"/>
              </a:rPr>
              <a:t>High</a:t>
            </a:r>
          </a:p>
        </p:txBody>
      </p:sp>
      <p:sp>
        <p:nvSpPr>
          <p:cNvPr id="56" name="Rectangle 55"/>
          <p:cNvSpPr/>
          <p:nvPr/>
        </p:nvSpPr>
        <p:spPr>
          <a:xfrm>
            <a:off x="5760720" y="2852928"/>
            <a:ext cx="14173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06440" y="2990088"/>
            <a:ext cx="1325880" cy="274320"/>
          </a:xfrm>
          <a:prstGeom prst="rect">
            <a:avLst/>
          </a:prstGeom>
          <a:noFill/>
        </p:spPr>
        <p:txBody>
          <a:bodyPr wrap="square">
            <a:spAutoFit/>
          </a:bodyPr>
          <a:lstStyle/>
          <a:p>
            <a:pPr algn="l"/>
            <a:r>
              <a:rPr sz="1100" b="0" i="0">
                <a:solidFill>
                  <a:srgbClr val="1A1A2E"/>
                </a:solidFill>
                <a:latin typeface="Calibri"/>
              </a:rPr>
              <a:t>−0.11</a:t>
            </a:r>
          </a:p>
        </p:txBody>
      </p:sp>
      <p:sp>
        <p:nvSpPr>
          <p:cNvPr id="58" name="Rectangle 57"/>
          <p:cNvSpPr/>
          <p:nvPr/>
        </p:nvSpPr>
        <p:spPr>
          <a:xfrm>
            <a:off x="7178040" y="2852928"/>
            <a:ext cx="109728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23760" y="2990088"/>
            <a:ext cx="1005840" cy="274320"/>
          </a:xfrm>
          <a:prstGeom prst="rect">
            <a:avLst/>
          </a:prstGeom>
          <a:noFill/>
        </p:spPr>
        <p:txBody>
          <a:bodyPr wrap="square">
            <a:spAutoFit/>
          </a:bodyPr>
          <a:lstStyle/>
          <a:p>
            <a:pPr algn="l"/>
            <a:r>
              <a:rPr sz="1100" b="0" i="0">
                <a:solidFill>
                  <a:srgbClr val="1A1A2E"/>
                </a:solidFill>
                <a:latin typeface="Calibri"/>
              </a:rPr>
              <a:t>−1.80</a:t>
            </a:r>
          </a:p>
        </p:txBody>
      </p:sp>
      <p:sp>
        <p:nvSpPr>
          <p:cNvPr id="60" name="Rectangle 59"/>
          <p:cNvSpPr/>
          <p:nvPr/>
        </p:nvSpPr>
        <p:spPr>
          <a:xfrm>
            <a:off x="8275320" y="2852928"/>
            <a:ext cx="850392"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21040" y="2990088"/>
            <a:ext cx="758952" cy="274320"/>
          </a:xfrm>
          <a:prstGeom prst="rect">
            <a:avLst/>
          </a:prstGeom>
          <a:noFill/>
        </p:spPr>
        <p:txBody>
          <a:bodyPr wrap="square">
            <a:spAutoFit/>
          </a:bodyPr>
          <a:lstStyle/>
          <a:p>
            <a:pPr algn="l"/>
            <a:r>
              <a:rPr sz="1100" b="0" i="0">
                <a:solidFill>
                  <a:srgbClr val="1A1A2E"/>
                </a:solidFill>
                <a:latin typeface="Calibri"/>
              </a:rPr>
              <a:t>*</a:t>
            </a:r>
          </a:p>
        </p:txBody>
      </p:sp>
      <p:sp>
        <p:nvSpPr>
          <p:cNvPr id="62" name="Rectangle 61"/>
          <p:cNvSpPr/>
          <p:nvPr/>
        </p:nvSpPr>
        <p:spPr>
          <a:xfrm>
            <a:off x="9125712" y="2852928"/>
            <a:ext cx="33375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71432" y="2990088"/>
            <a:ext cx="3246120" cy="274320"/>
          </a:xfrm>
          <a:prstGeom prst="rect">
            <a:avLst/>
          </a:prstGeom>
          <a:noFill/>
        </p:spPr>
        <p:txBody>
          <a:bodyPr wrap="square">
            <a:spAutoFit/>
          </a:bodyPr>
          <a:lstStyle/>
          <a:p>
            <a:pPr algn="l"/>
            <a:r>
              <a:rPr sz="1100" b="0" i="0">
                <a:solidFill>
                  <a:srgbClr val="1A1A2E"/>
                </a:solidFill>
                <a:latin typeface="Calibri"/>
              </a:rPr>
              <a:t>Marginally sig. — likely random</a:t>
            </a:r>
          </a:p>
        </p:txBody>
      </p:sp>
      <p:sp>
        <p:nvSpPr>
          <p:cNvPr id="64" name="Rectangle 63"/>
          <p:cNvSpPr/>
          <p:nvPr/>
        </p:nvSpPr>
        <p:spPr>
          <a:xfrm>
            <a:off x="320040" y="3429000"/>
            <a:ext cx="11430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65760" y="3566160"/>
            <a:ext cx="1051560" cy="274320"/>
          </a:xfrm>
          <a:prstGeom prst="rect">
            <a:avLst/>
          </a:prstGeom>
          <a:noFill/>
        </p:spPr>
        <p:txBody>
          <a:bodyPr wrap="square">
            <a:spAutoFit/>
          </a:bodyPr>
          <a:lstStyle/>
          <a:p>
            <a:pPr algn="l"/>
            <a:r>
              <a:rPr sz="1100" b="1" i="0">
                <a:solidFill>
                  <a:srgbClr val="C0392B"/>
                </a:solidFill>
                <a:latin typeface="Calibri"/>
              </a:rPr>
              <a:t>ACTUAL</a:t>
            </a:r>
          </a:p>
        </p:txBody>
      </p:sp>
      <p:sp>
        <p:nvSpPr>
          <p:cNvPr id="66" name="Rectangle 65"/>
          <p:cNvSpPr/>
          <p:nvPr/>
        </p:nvSpPr>
        <p:spPr>
          <a:xfrm>
            <a:off x="1463040" y="3429000"/>
            <a:ext cx="27889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08760" y="3566160"/>
            <a:ext cx="2697480" cy="274320"/>
          </a:xfrm>
          <a:prstGeom prst="rect">
            <a:avLst/>
          </a:prstGeom>
          <a:noFill/>
        </p:spPr>
        <p:txBody>
          <a:bodyPr wrap="square">
            <a:spAutoFit/>
          </a:bodyPr>
          <a:lstStyle/>
          <a:p>
            <a:pPr algn="l"/>
            <a:r>
              <a:rPr sz="1100" b="0" i="0">
                <a:solidFill>
                  <a:srgbClr val="1A1A2E"/>
                </a:solidFill>
                <a:latin typeface="Calibri"/>
              </a:rPr>
              <a:t>May 9, 2022  (LUNA)</a:t>
            </a:r>
          </a:p>
        </p:txBody>
      </p:sp>
      <p:sp>
        <p:nvSpPr>
          <p:cNvPr id="68" name="Rectangle 67"/>
          <p:cNvSpPr/>
          <p:nvPr/>
        </p:nvSpPr>
        <p:spPr>
          <a:xfrm>
            <a:off x="4251960" y="3429000"/>
            <a:ext cx="15087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7680" y="3566160"/>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70" name="Rectangle 69"/>
          <p:cNvSpPr/>
          <p:nvPr/>
        </p:nvSpPr>
        <p:spPr>
          <a:xfrm>
            <a:off x="5760720" y="3429000"/>
            <a:ext cx="1417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806440" y="3566160"/>
            <a:ext cx="1325880" cy="274320"/>
          </a:xfrm>
          <a:prstGeom prst="rect">
            <a:avLst/>
          </a:prstGeom>
          <a:noFill/>
        </p:spPr>
        <p:txBody>
          <a:bodyPr wrap="square">
            <a:spAutoFit/>
          </a:bodyPr>
          <a:lstStyle/>
          <a:p>
            <a:pPr algn="l"/>
            <a:r>
              <a:rPr sz="1100" b="0" i="0">
                <a:solidFill>
                  <a:srgbClr val="1A1A2E"/>
                </a:solidFill>
                <a:latin typeface="Calibri"/>
              </a:rPr>
              <a:t>−0.15</a:t>
            </a:r>
          </a:p>
        </p:txBody>
      </p:sp>
      <p:sp>
        <p:nvSpPr>
          <p:cNvPr id="72" name="Rectangle 71"/>
          <p:cNvSpPr/>
          <p:nvPr/>
        </p:nvSpPr>
        <p:spPr>
          <a:xfrm>
            <a:off x="7178040" y="3429000"/>
            <a:ext cx="10972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223760" y="3566160"/>
            <a:ext cx="1005840" cy="274320"/>
          </a:xfrm>
          <a:prstGeom prst="rect">
            <a:avLst/>
          </a:prstGeom>
          <a:noFill/>
        </p:spPr>
        <p:txBody>
          <a:bodyPr wrap="square">
            <a:spAutoFit/>
          </a:bodyPr>
          <a:lstStyle/>
          <a:p>
            <a:pPr algn="l"/>
            <a:r>
              <a:rPr sz="1100" b="0" i="0">
                <a:solidFill>
                  <a:srgbClr val="1A1A2E"/>
                </a:solidFill>
                <a:latin typeface="Calibri"/>
              </a:rPr>
              <a:t>−1.07</a:t>
            </a:r>
          </a:p>
        </p:txBody>
      </p:sp>
      <p:sp>
        <p:nvSpPr>
          <p:cNvPr id="74" name="Rectangle 73"/>
          <p:cNvSpPr/>
          <p:nvPr/>
        </p:nvSpPr>
        <p:spPr>
          <a:xfrm>
            <a:off x="8275320" y="3429000"/>
            <a:ext cx="850392"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321040" y="3566160"/>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76" name="Rectangle 75"/>
          <p:cNvSpPr/>
          <p:nvPr/>
        </p:nvSpPr>
        <p:spPr>
          <a:xfrm>
            <a:off x="9125712" y="3429000"/>
            <a:ext cx="33375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71432" y="3566160"/>
            <a:ext cx="3246120" cy="274320"/>
          </a:xfrm>
          <a:prstGeom prst="rect">
            <a:avLst/>
          </a:prstGeom>
          <a:noFill/>
        </p:spPr>
        <p:txBody>
          <a:bodyPr wrap="square">
            <a:spAutoFit/>
          </a:bodyPr>
          <a:lstStyle/>
          <a:p>
            <a:pPr algn="l"/>
            <a:r>
              <a:rPr sz="1100" b="0" i="0">
                <a:solidFill>
                  <a:srgbClr val="1A1A2E"/>
                </a:solidFill>
                <a:latin typeface="Calibri"/>
              </a:rPr>
              <a:t>Not different from placebos</a:t>
            </a:r>
          </a:p>
        </p:txBody>
      </p:sp>
      <p:sp>
        <p:nvSpPr>
          <p:cNvPr id="78" name="Rectangle 77"/>
          <p:cNvSpPr/>
          <p:nvPr/>
        </p:nvSpPr>
        <p:spPr>
          <a:xfrm>
            <a:off x="320040" y="4005072"/>
            <a:ext cx="114300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65760" y="4142232"/>
            <a:ext cx="1051560" cy="274320"/>
          </a:xfrm>
          <a:prstGeom prst="rect">
            <a:avLst/>
          </a:prstGeom>
          <a:noFill/>
        </p:spPr>
        <p:txBody>
          <a:bodyPr wrap="square">
            <a:spAutoFit/>
          </a:bodyPr>
          <a:lstStyle/>
          <a:p>
            <a:pPr algn="l"/>
            <a:r>
              <a:rPr sz="1100" b="1" i="0">
                <a:solidFill>
                  <a:srgbClr val="C0392B"/>
                </a:solidFill>
                <a:latin typeface="Calibri"/>
              </a:rPr>
              <a:t>ACTUAL</a:t>
            </a:r>
          </a:p>
        </p:txBody>
      </p:sp>
      <p:sp>
        <p:nvSpPr>
          <p:cNvPr id="80" name="Rectangle 79"/>
          <p:cNvSpPr/>
          <p:nvPr/>
        </p:nvSpPr>
        <p:spPr>
          <a:xfrm>
            <a:off x="1463040" y="4005072"/>
            <a:ext cx="27889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508760" y="4142232"/>
            <a:ext cx="2697480" cy="274320"/>
          </a:xfrm>
          <a:prstGeom prst="rect">
            <a:avLst/>
          </a:prstGeom>
          <a:noFill/>
        </p:spPr>
        <p:txBody>
          <a:bodyPr wrap="square">
            <a:spAutoFit/>
          </a:bodyPr>
          <a:lstStyle/>
          <a:p>
            <a:pPr algn="l"/>
            <a:r>
              <a:rPr sz="1100" b="0" i="0">
                <a:solidFill>
                  <a:srgbClr val="1A1A2E"/>
                </a:solidFill>
                <a:latin typeface="Calibri"/>
              </a:rPr>
              <a:t>May 12, 2022  (USDT)</a:t>
            </a:r>
          </a:p>
        </p:txBody>
      </p:sp>
      <p:sp>
        <p:nvSpPr>
          <p:cNvPr id="82" name="Rectangle 81"/>
          <p:cNvSpPr/>
          <p:nvPr/>
        </p:nvSpPr>
        <p:spPr>
          <a:xfrm>
            <a:off x="4251960" y="4005072"/>
            <a:ext cx="15087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297680" y="4142232"/>
            <a:ext cx="1417320" cy="274320"/>
          </a:xfrm>
          <a:prstGeom prst="rect">
            <a:avLst/>
          </a:prstGeom>
          <a:noFill/>
        </p:spPr>
        <p:txBody>
          <a:bodyPr wrap="square">
            <a:spAutoFit/>
          </a:bodyPr>
          <a:lstStyle/>
          <a:p>
            <a:pPr algn="l"/>
            <a:r>
              <a:rPr sz="1100" b="0" i="0">
                <a:solidFill>
                  <a:srgbClr val="1A1A2E"/>
                </a:solidFill>
                <a:latin typeface="Calibri"/>
              </a:rPr>
              <a:t>Low</a:t>
            </a:r>
          </a:p>
        </p:txBody>
      </p:sp>
      <p:sp>
        <p:nvSpPr>
          <p:cNvPr id="84" name="Rectangle 83"/>
          <p:cNvSpPr/>
          <p:nvPr/>
        </p:nvSpPr>
        <p:spPr>
          <a:xfrm>
            <a:off x="5760720" y="4005072"/>
            <a:ext cx="141732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806440" y="4142232"/>
            <a:ext cx="1325880" cy="274320"/>
          </a:xfrm>
          <a:prstGeom prst="rect">
            <a:avLst/>
          </a:prstGeom>
          <a:noFill/>
        </p:spPr>
        <p:txBody>
          <a:bodyPr wrap="square">
            <a:spAutoFit/>
          </a:bodyPr>
          <a:lstStyle/>
          <a:p>
            <a:pPr algn="l"/>
            <a:r>
              <a:rPr sz="1100" b="0" i="0">
                <a:solidFill>
                  <a:srgbClr val="1A1A2E"/>
                </a:solidFill>
                <a:latin typeface="Calibri"/>
              </a:rPr>
              <a:t>−0.04</a:t>
            </a:r>
          </a:p>
        </p:txBody>
      </p:sp>
      <p:sp>
        <p:nvSpPr>
          <p:cNvPr id="86" name="Rectangle 85"/>
          <p:cNvSpPr/>
          <p:nvPr/>
        </p:nvSpPr>
        <p:spPr>
          <a:xfrm>
            <a:off x="7178040" y="4005072"/>
            <a:ext cx="109728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223760" y="4142232"/>
            <a:ext cx="1005840" cy="274320"/>
          </a:xfrm>
          <a:prstGeom prst="rect">
            <a:avLst/>
          </a:prstGeom>
          <a:noFill/>
        </p:spPr>
        <p:txBody>
          <a:bodyPr wrap="square">
            <a:spAutoFit/>
          </a:bodyPr>
          <a:lstStyle/>
          <a:p>
            <a:pPr algn="l"/>
            <a:r>
              <a:rPr sz="1100" b="0" i="0">
                <a:solidFill>
                  <a:srgbClr val="1A1A2E"/>
                </a:solidFill>
                <a:latin typeface="Calibri"/>
              </a:rPr>
              <a:t>−0.31</a:t>
            </a:r>
          </a:p>
        </p:txBody>
      </p:sp>
      <p:sp>
        <p:nvSpPr>
          <p:cNvPr id="88" name="Rectangle 87"/>
          <p:cNvSpPr/>
          <p:nvPr/>
        </p:nvSpPr>
        <p:spPr>
          <a:xfrm>
            <a:off x="8275320" y="4005072"/>
            <a:ext cx="850392"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321040" y="4142232"/>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90" name="Rectangle 89"/>
          <p:cNvSpPr/>
          <p:nvPr/>
        </p:nvSpPr>
        <p:spPr>
          <a:xfrm>
            <a:off x="9125712" y="4005072"/>
            <a:ext cx="3337560" cy="5394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171432" y="4142232"/>
            <a:ext cx="3246120" cy="274320"/>
          </a:xfrm>
          <a:prstGeom prst="rect">
            <a:avLst/>
          </a:prstGeom>
          <a:noFill/>
        </p:spPr>
        <p:txBody>
          <a:bodyPr wrap="square">
            <a:spAutoFit/>
          </a:bodyPr>
          <a:lstStyle/>
          <a:p>
            <a:pPr algn="l"/>
            <a:r>
              <a:rPr sz="1100" b="0" i="0">
                <a:solidFill>
                  <a:srgbClr val="1A1A2E"/>
                </a:solidFill>
                <a:latin typeface="Calibri"/>
              </a:rPr>
              <a:t>Not different from placebos</a:t>
            </a:r>
          </a:p>
        </p:txBody>
      </p:sp>
      <p:sp>
        <p:nvSpPr>
          <p:cNvPr id="92" name="Rectangle 91"/>
          <p:cNvSpPr/>
          <p:nvPr/>
        </p:nvSpPr>
        <p:spPr>
          <a:xfrm>
            <a:off x="320040" y="4581144"/>
            <a:ext cx="114300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65760" y="4718304"/>
            <a:ext cx="1051560" cy="274320"/>
          </a:xfrm>
          <a:prstGeom prst="rect">
            <a:avLst/>
          </a:prstGeom>
          <a:noFill/>
        </p:spPr>
        <p:txBody>
          <a:bodyPr wrap="square">
            <a:spAutoFit/>
          </a:bodyPr>
          <a:lstStyle/>
          <a:p>
            <a:pPr algn="l"/>
            <a:r>
              <a:rPr sz="1100" b="1" i="0">
                <a:solidFill>
                  <a:srgbClr val="C0392B"/>
                </a:solidFill>
                <a:latin typeface="Calibri"/>
              </a:rPr>
              <a:t>ACTUAL</a:t>
            </a:r>
          </a:p>
        </p:txBody>
      </p:sp>
      <p:sp>
        <p:nvSpPr>
          <p:cNvPr id="94" name="Rectangle 93"/>
          <p:cNvSpPr/>
          <p:nvPr/>
        </p:nvSpPr>
        <p:spPr>
          <a:xfrm>
            <a:off x="1463040" y="4581144"/>
            <a:ext cx="27889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508760" y="4718304"/>
            <a:ext cx="2697480" cy="274320"/>
          </a:xfrm>
          <a:prstGeom prst="rect">
            <a:avLst/>
          </a:prstGeom>
          <a:noFill/>
        </p:spPr>
        <p:txBody>
          <a:bodyPr wrap="square">
            <a:spAutoFit/>
          </a:bodyPr>
          <a:lstStyle/>
          <a:p>
            <a:pPr algn="l"/>
            <a:r>
              <a:rPr sz="1100" b="0" i="0">
                <a:solidFill>
                  <a:srgbClr val="1A1A2E"/>
                </a:solidFill>
                <a:latin typeface="Calibri"/>
              </a:rPr>
              <a:t>Mar 11, 2023  (SVB)</a:t>
            </a:r>
          </a:p>
        </p:txBody>
      </p:sp>
      <p:sp>
        <p:nvSpPr>
          <p:cNvPr id="96" name="Rectangle 95"/>
          <p:cNvSpPr/>
          <p:nvPr/>
        </p:nvSpPr>
        <p:spPr>
          <a:xfrm>
            <a:off x="4251960" y="4581144"/>
            <a:ext cx="15087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297680" y="4718304"/>
            <a:ext cx="1417320" cy="274320"/>
          </a:xfrm>
          <a:prstGeom prst="rect">
            <a:avLst/>
          </a:prstGeom>
          <a:noFill/>
        </p:spPr>
        <p:txBody>
          <a:bodyPr wrap="square">
            <a:spAutoFit/>
          </a:bodyPr>
          <a:lstStyle/>
          <a:p>
            <a:pPr algn="l"/>
            <a:r>
              <a:rPr sz="1100" b="0" i="0">
                <a:solidFill>
                  <a:srgbClr val="1A1A2E"/>
                </a:solidFill>
                <a:latin typeface="Calibri"/>
              </a:rPr>
              <a:t>High+Gov.</a:t>
            </a:r>
          </a:p>
        </p:txBody>
      </p:sp>
      <p:sp>
        <p:nvSpPr>
          <p:cNvPr id="98" name="Rectangle 97"/>
          <p:cNvSpPr/>
          <p:nvPr/>
        </p:nvSpPr>
        <p:spPr>
          <a:xfrm>
            <a:off x="5760720" y="4581144"/>
            <a:ext cx="1417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806440" y="4718304"/>
            <a:ext cx="1325880" cy="274320"/>
          </a:xfrm>
          <a:prstGeom prst="rect">
            <a:avLst/>
          </a:prstGeom>
          <a:noFill/>
        </p:spPr>
        <p:txBody>
          <a:bodyPr wrap="square">
            <a:spAutoFit/>
          </a:bodyPr>
          <a:lstStyle/>
          <a:p>
            <a:pPr algn="l"/>
            <a:r>
              <a:rPr sz="1100" b="0" i="0">
                <a:solidFill>
                  <a:srgbClr val="1A1A2E"/>
                </a:solidFill>
                <a:latin typeface="Calibri"/>
              </a:rPr>
              <a:t>−0.02</a:t>
            </a:r>
          </a:p>
        </p:txBody>
      </p:sp>
      <p:sp>
        <p:nvSpPr>
          <p:cNvPr id="100" name="Rectangle 99"/>
          <p:cNvSpPr/>
          <p:nvPr/>
        </p:nvSpPr>
        <p:spPr>
          <a:xfrm>
            <a:off x="7178040" y="4581144"/>
            <a:ext cx="109728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223760" y="4718304"/>
            <a:ext cx="1005840" cy="274320"/>
          </a:xfrm>
          <a:prstGeom prst="rect">
            <a:avLst/>
          </a:prstGeom>
          <a:noFill/>
        </p:spPr>
        <p:txBody>
          <a:bodyPr wrap="square">
            <a:spAutoFit/>
          </a:bodyPr>
          <a:lstStyle/>
          <a:p>
            <a:pPr algn="l"/>
            <a:r>
              <a:rPr sz="1100" b="0" i="0">
                <a:solidFill>
                  <a:srgbClr val="1A1A2E"/>
                </a:solidFill>
                <a:latin typeface="Calibri"/>
              </a:rPr>
              <a:t>−0.04</a:t>
            </a:r>
          </a:p>
        </p:txBody>
      </p:sp>
      <p:sp>
        <p:nvSpPr>
          <p:cNvPr id="102" name="Rectangle 101"/>
          <p:cNvSpPr/>
          <p:nvPr/>
        </p:nvSpPr>
        <p:spPr>
          <a:xfrm>
            <a:off x="8275320" y="4581144"/>
            <a:ext cx="850392"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321040" y="4718304"/>
            <a:ext cx="758952" cy="274320"/>
          </a:xfrm>
          <a:prstGeom prst="rect">
            <a:avLst/>
          </a:prstGeom>
          <a:noFill/>
        </p:spPr>
        <p:txBody>
          <a:bodyPr wrap="square">
            <a:spAutoFit/>
          </a:bodyPr>
          <a:lstStyle/>
          <a:p>
            <a:pPr algn="l"/>
            <a:r>
              <a:rPr sz="1100" b="0" i="0">
                <a:solidFill>
                  <a:srgbClr val="1A1A2E"/>
                </a:solidFill>
                <a:latin typeface="Calibri"/>
              </a:rPr>
              <a:t>n.s.</a:t>
            </a:r>
          </a:p>
        </p:txBody>
      </p:sp>
      <p:sp>
        <p:nvSpPr>
          <p:cNvPr id="104" name="Rectangle 103"/>
          <p:cNvSpPr/>
          <p:nvPr/>
        </p:nvSpPr>
        <p:spPr>
          <a:xfrm>
            <a:off x="9125712" y="4581144"/>
            <a:ext cx="33375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171432" y="4718304"/>
            <a:ext cx="3246120" cy="274320"/>
          </a:xfrm>
          <a:prstGeom prst="rect">
            <a:avLst/>
          </a:prstGeom>
          <a:noFill/>
        </p:spPr>
        <p:txBody>
          <a:bodyPr wrap="square">
            <a:spAutoFit/>
          </a:bodyPr>
          <a:lstStyle/>
          <a:p>
            <a:pPr algn="l"/>
            <a:r>
              <a:rPr sz="1100" b="0" i="0">
                <a:solidFill>
                  <a:srgbClr val="1A1A2E"/>
                </a:solidFill>
                <a:latin typeface="Calibri"/>
              </a:rPr>
              <a:t>Not different from placebos</a:t>
            </a:r>
          </a:p>
        </p:txBody>
      </p:sp>
      <p:sp>
        <p:nvSpPr>
          <p:cNvPr id="106" name="Rectangle 105"/>
          <p:cNvSpPr/>
          <p:nvPr/>
        </p:nvSpPr>
        <p:spPr>
          <a:xfrm>
            <a:off x="320040" y="5239512"/>
            <a:ext cx="1152144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57200" y="5266944"/>
            <a:ext cx="11064240" cy="237744"/>
          </a:xfrm>
          <a:prstGeom prst="rect">
            <a:avLst/>
          </a:prstGeom>
          <a:noFill/>
        </p:spPr>
        <p:txBody>
          <a:bodyPr wrap="square">
            <a:spAutoFit/>
          </a:bodyPr>
          <a:lstStyle/>
          <a:p>
            <a:pPr algn="ctr"/>
            <a:r>
              <a:rPr sz="1300" b="1" i="0">
                <a:solidFill>
                  <a:srgbClr val="1B3A72"/>
                </a:solidFill>
                <a:latin typeface="Calibri"/>
              </a:rPr>
              <a:t>Placebo mean |CAR| = 0.05 pp          Actual mean |CAR| = 0.07 pp          Ratio = 1.5×          (original inflated ratio was 21.7×)</a:t>
            </a:r>
          </a:p>
        </p:txBody>
      </p:sp>
      <p:sp>
        <p:nvSpPr>
          <p:cNvPr id="108" name="Rectangle 107"/>
          <p:cNvSpPr/>
          <p:nvPr/>
        </p:nvSpPr>
        <p:spPr>
          <a:xfrm>
            <a:off x="320040" y="5532120"/>
            <a:ext cx="5577840" cy="45720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57200" y="5577840"/>
            <a:ext cx="5303520" cy="347472"/>
          </a:xfrm>
          <a:prstGeom prst="rect">
            <a:avLst/>
          </a:prstGeom>
          <a:noFill/>
        </p:spPr>
        <p:txBody>
          <a:bodyPr wrap="square">
            <a:spAutoFit/>
          </a:bodyPr>
          <a:lstStyle/>
          <a:p>
            <a:pPr algn="l"/>
            <a:r>
              <a:rPr sz="1100" b="0" i="1">
                <a:solidFill>
                  <a:srgbClr val="C0392B"/>
                </a:solidFill>
                <a:latin typeface="Calibri"/>
              </a:rPr>
              <a:t>Original (inflated level model):  ratio = 21.7×  — wrong model, inflated CARs</a:t>
            </a:r>
          </a:p>
        </p:txBody>
      </p:sp>
      <p:sp>
        <p:nvSpPr>
          <p:cNvPr id="110" name="Rectangle 109"/>
          <p:cNvSpPr/>
          <p:nvPr/>
        </p:nvSpPr>
        <p:spPr>
          <a:xfrm>
            <a:off x="6035040" y="5532120"/>
            <a:ext cx="5806440" cy="45720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172200" y="5577840"/>
            <a:ext cx="5486400" cy="347472"/>
          </a:xfrm>
          <a:prstGeom prst="rect">
            <a:avLst/>
          </a:prstGeom>
          <a:noFill/>
        </p:spPr>
        <p:txBody>
          <a:bodyPr wrap="square">
            <a:spAutoFit/>
          </a:bodyPr>
          <a:lstStyle/>
          <a:p>
            <a:pPr algn="l"/>
            <a:r>
              <a:rPr sz="1100" b="0" i="1">
                <a:solidFill>
                  <a:srgbClr val="1A7A4A"/>
                </a:solidFill>
                <a:latin typeface="Calibri"/>
              </a:rPr>
              <a:t>Corrected (first-diff model):  ratio = 1.5×  — honest, confirms event study limits</a:t>
            </a:r>
          </a:p>
        </p:txBody>
      </p:sp>
      <p:sp>
        <p:nvSpPr>
          <p:cNvPr id="112" name="Rectangle 111"/>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48640" y="5852160"/>
            <a:ext cx="11274552" cy="749808"/>
          </a:xfrm>
          <a:prstGeom prst="rect">
            <a:avLst/>
          </a:prstGeom>
          <a:noFill/>
        </p:spPr>
        <p:txBody>
          <a:bodyPr wrap="square">
            <a:spAutoFit/>
          </a:bodyPr>
          <a:lstStyle/>
          <a:p>
            <a:pPr algn="ctr"/>
            <a:r>
              <a:rPr sz="1300" b="1" i="0">
                <a:solidFill>
                  <a:srgbClr val="FFFFFF"/>
                </a:solidFill>
                <a:latin typeface="Calibri"/>
              </a:rPr>
              <a:t>Placebos and actuals are statistically indistinguishable → the event study CANNOT quantitatively identify the buffer channel. Next slide shows the CAR path comparison.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Placebo Test — CAR Path Comparison</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7</a:t>
            </a:r>
          </a:p>
        </p:txBody>
      </p:sp>
      <p:sp>
        <p:nvSpPr>
          <p:cNvPr id="6" name="Rectangle 5"/>
          <p:cNvSpPr/>
          <p:nvPr/>
        </p:nvSpPr>
        <p:spPr>
          <a:xfrm>
            <a:off x="320040" y="960120"/>
            <a:ext cx="11521440" cy="31089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11064240" cy="246888"/>
          </a:xfrm>
          <a:prstGeom prst="rect">
            <a:avLst/>
          </a:prstGeom>
          <a:noFill/>
        </p:spPr>
        <p:txBody>
          <a:bodyPr wrap="square">
            <a:spAutoFit/>
          </a:bodyPr>
          <a:lstStyle/>
          <a:p>
            <a:pPr algn="l"/>
            <a:r>
              <a:rPr sz="1200" b="0" i="1">
                <a:solidFill>
                  <a:srgbClr val="1B3A72"/>
                </a:solidFill>
                <a:latin typeface="Calibri"/>
              </a:rPr>
              <a:t>Top row = PLACEBO dates (dashed lines)   |   Bottom row = ACTUAL events (solid lines)   |   Red = low buffer  ·  Blue = high buffer</a:t>
            </a:r>
          </a:p>
        </p:txBody>
      </p:sp>
      <p:pic>
        <p:nvPicPr>
          <p:cNvPr id="8" name="Picture 7" descr="placebo_cars.png"/>
          <p:cNvPicPr>
            <a:picLocks noChangeAspect="1"/>
          </p:cNvPicPr>
          <p:nvPr/>
        </p:nvPicPr>
        <p:blipFill>
          <a:blip r:embed="rId2"/>
          <a:stretch>
            <a:fillRect/>
          </a:stretch>
        </p:blipFill>
        <p:spPr>
          <a:xfrm>
            <a:off x="320040" y="1325880"/>
            <a:ext cx="11521440" cy="4297680"/>
          </a:xfrm>
          <a:prstGeom prst="rect">
            <a:avLst/>
          </a:prstGeom>
        </p:spPr>
      </p:pic>
      <p:sp>
        <p:nvSpPr>
          <p:cNvPr id="9" name="Rectangle 8"/>
          <p:cNvSpPr/>
          <p:nvPr/>
        </p:nvSpPr>
        <p:spPr>
          <a:xfrm>
            <a:off x="320040" y="5696712"/>
            <a:ext cx="3749039" cy="237744"/>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 y="5715000"/>
            <a:ext cx="3611880" cy="182880"/>
          </a:xfrm>
          <a:prstGeom prst="rect">
            <a:avLst/>
          </a:prstGeom>
          <a:noFill/>
        </p:spPr>
        <p:txBody>
          <a:bodyPr wrap="square">
            <a:spAutoFit/>
          </a:bodyPr>
          <a:lstStyle/>
          <a:p>
            <a:pPr algn="ctr"/>
            <a:r>
              <a:rPr sz="1000" b="1" i="0">
                <a:solidFill>
                  <a:srgbClr val="FFFFFF"/>
                </a:solidFill>
                <a:latin typeface="Calibri"/>
              </a:rPr>
              <a:t>Placebos (top row)</a:t>
            </a:r>
          </a:p>
        </p:txBody>
      </p:sp>
      <p:sp>
        <p:nvSpPr>
          <p:cNvPr id="11" name="Rectangle 10"/>
          <p:cNvSpPr/>
          <p:nvPr/>
        </p:nvSpPr>
        <p:spPr>
          <a:xfrm>
            <a:off x="320040" y="5934456"/>
            <a:ext cx="3749039" cy="3840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 y="5961888"/>
            <a:ext cx="3611880" cy="320040"/>
          </a:xfrm>
          <a:prstGeom prst="rect">
            <a:avLst/>
          </a:prstGeom>
          <a:noFill/>
        </p:spPr>
        <p:txBody>
          <a:bodyPr wrap="square">
            <a:spAutoFit/>
          </a:bodyPr>
          <a:lstStyle/>
          <a:p>
            <a:pPr algn="ctr"/>
            <a:r>
              <a:rPr sz="1000" b="0" i="0">
                <a:solidFill>
                  <a:srgbClr val="1A1A2E"/>
                </a:solidFill>
                <a:latin typeface="Calibri"/>
              </a:rPr>
              <a:t>All near zero — as expected. No event, no effect.</a:t>
            </a:r>
          </a:p>
        </p:txBody>
      </p:sp>
      <p:sp>
        <p:nvSpPr>
          <p:cNvPr id="13" name="Rectangle 12"/>
          <p:cNvSpPr/>
          <p:nvPr/>
        </p:nvSpPr>
        <p:spPr>
          <a:xfrm>
            <a:off x="4251960" y="5696712"/>
            <a:ext cx="3749039" cy="2377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5715000"/>
            <a:ext cx="3611880" cy="182880"/>
          </a:xfrm>
          <a:prstGeom prst="rect">
            <a:avLst/>
          </a:prstGeom>
          <a:noFill/>
        </p:spPr>
        <p:txBody>
          <a:bodyPr wrap="square">
            <a:spAutoFit/>
          </a:bodyPr>
          <a:lstStyle/>
          <a:p>
            <a:pPr algn="ctr"/>
            <a:r>
              <a:rPr sz="1000" b="1" i="0">
                <a:solidFill>
                  <a:srgbClr val="FFFFFF"/>
                </a:solidFill>
                <a:latin typeface="Calibri"/>
              </a:rPr>
              <a:t>2022 events (bottom left/centre)</a:t>
            </a:r>
          </a:p>
        </p:txBody>
      </p:sp>
      <p:sp>
        <p:nvSpPr>
          <p:cNvPr id="15" name="Rectangle 14"/>
          <p:cNvSpPr/>
          <p:nvPr/>
        </p:nvSpPr>
        <p:spPr>
          <a:xfrm>
            <a:off x="4251960" y="5934456"/>
            <a:ext cx="3749039" cy="3840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5112" y="5961888"/>
            <a:ext cx="3611880" cy="320040"/>
          </a:xfrm>
          <a:prstGeom prst="rect">
            <a:avLst/>
          </a:prstGeom>
          <a:noFill/>
        </p:spPr>
        <p:txBody>
          <a:bodyPr wrap="square">
            <a:spAutoFit/>
          </a:bodyPr>
          <a:lstStyle/>
          <a:p>
            <a:pPr algn="ctr"/>
            <a:r>
              <a:rPr sz="1000" b="0" i="0">
                <a:solidFill>
                  <a:srgbClr val="1A1A2E"/>
                </a:solidFill>
                <a:latin typeface="Calibri"/>
              </a:rPr>
              <a:t>Near zero — same as placebos. Crisis-specific buying offset Tether selling.</a:t>
            </a:r>
          </a:p>
        </p:txBody>
      </p:sp>
      <p:sp>
        <p:nvSpPr>
          <p:cNvPr id="17" name="Rectangle 16"/>
          <p:cNvSpPr/>
          <p:nvPr/>
        </p:nvSpPr>
        <p:spPr>
          <a:xfrm>
            <a:off x="8183880" y="5696712"/>
            <a:ext cx="3749039" cy="237744"/>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2" y="5715000"/>
            <a:ext cx="3611880" cy="182880"/>
          </a:xfrm>
          <a:prstGeom prst="rect">
            <a:avLst/>
          </a:prstGeom>
          <a:noFill/>
        </p:spPr>
        <p:txBody>
          <a:bodyPr wrap="square">
            <a:spAutoFit/>
          </a:bodyPr>
          <a:lstStyle/>
          <a:p>
            <a:pPr algn="ctr"/>
            <a:r>
              <a:rPr sz="1000" b="1" i="0">
                <a:solidFill>
                  <a:srgbClr val="FFFFFF"/>
                </a:solidFill>
                <a:latin typeface="Calibri"/>
              </a:rPr>
              <a:t>SVB event (bottom right)</a:t>
            </a:r>
          </a:p>
        </p:txBody>
      </p:sp>
      <p:sp>
        <p:nvSpPr>
          <p:cNvPr id="19" name="Rectangle 18"/>
          <p:cNvSpPr/>
          <p:nvPr/>
        </p:nvSpPr>
        <p:spPr>
          <a:xfrm>
            <a:off x="8183880" y="5934456"/>
            <a:ext cx="3749039" cy="38404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2" y="5961888"/>
            <a:ext cx="3611880" cy="320040"/>
          </a:xfrm>
          <a:prstGeom prst="rect">
            <a:avLst/>
          </a:prstGeom>
          <a:noFill/>
        </p:spPr>
        <p:txBody>
          <a:bodyPr wrap="square">
            <a:spAutoFit/>
          </a:bodyPr>
          <a:lstStyle/>
          <a:p>
            <a:pPr algn="ctr"/>
            <a:r>
              <a:rPr sz="1000" b="0" i="0">
                <a:solidFill>
                  <a:srgbClr val="1A1A2E"/>
                </a:solidFill>
                <a:latin typeface="Calibri"/>
              </a:rPr>
              <a:t>Sharp transient dip then recovery. Fully explained by banking panic VIX/equity.</a:t>
            </a:r>
          </a:p>
        </p:txBody>
      </p:sp>
      <p:sp>
        <p:nvSpPr>
          <p:cNvPr id="21" name="Rectangle 20"/>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852160"/>
            <a:ext cx="11274552" cy="749808"/>
          </a:xfrm>
          <a:prstGeom prst="rect">
            <a:avLst/>
          </a:prstGeom>
          <a:noFill/>
        </p:spPr>
        <p:txBody>
          <a:bodyPr wrap="square">
            <a:spAutoFit/>
          </a:bodyPr>
          <a:lstStyle/>
          <a:p>
            <a:pPr algn="ctr"/>
            <a:r>
              <a:rPr sz="1300" b="1" i="0">
                <a:solidFill>
                  <a:srgbClr val="FFFFFF"/>
                </a:solidFill>
                <a:latin typeface="Calibri"/>
              </a:rPr>
              <a:t>The placebo PASSES — the corrected methodology finds no effect on either crisis or ordinary days. The event study is qualitative context only.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0515600" cy="713232"/>
          </a:xfrm>
          <a:prstGeom prst="rect">
            <a:avLst/>
          </a:prstGeom>
          <a:noFill/>
        </p:spPr>
        <p:txBody>
          <a:bodyPr wrap="square">
            <a:spAutoFit/>
          </a:bodyPr>
          <a:lstStyle/>
          <a:p>
            <a:pPr algn="l"/>
            <a:r>
              <a:rPr sz="2600" b="0" i="0">
                <a:solidFill>
                  <a:srgbClr val="FFFFFF"/>
                </a:solidFill>
                <a:latin typeface="Calibri"/>
              </a:rPr>
              <a:t>What Our Paper Proves — In Plain Terms</a:t>
            </a:r>
          </a:p>
        </p:txBody>
      </p:sp>
      <p:sp>
        <p:nvSpPr>
          <p:cNvPr id="5" name="TextBox 4"/>
          <p:cNvSpPr txBox="1"/>
          <p:nvPr/>
        </p:nvSpPr>
        <p:spPr>
          <a:xfrm>
            <a:off x="11686032" y="6473952"/>
            <a:ext cx="411480" cy="320040"/>
          </a:xfrm>
          <a:prstGeom prst="rect">
            <a:avLst/>
          </a:prstGeom>
          <a:noFill/>
        </p:spPr>
        <p:txBody>
          <a:bodyPr wrap="square">
            <a:spAutoFit/>
          </a:bodyPr>
          <a:lstStyle/>
          <a:p>
            <a:pPr algn="r"/>
            <a:r>
              <a:rPr sz="1300" b="0" i="0">
                <a:solidFill>
                  <a:srgbClr val="555566"/>
                </a:solidFill>
                <a:latin typeface="Calibri"/>
              </a:rPr>
              <a:t>8</a:t>
            </a:r>
          </a:p>
        </p:txBody>
      </p:sp>
      <p:sp>
        <p:nvSpPr>
          <p:cNvPr id="6" name="Rectangle 5"/>
          <p:cNvSpPr/>
          <p:nvPr/>
        </p:nvSpPr>
        <p:spPr>
          <a:xfrm>
            <a:off x="320040" y="960120"/>
            <a:ext cx="11521440" cy="512064"/>
          </a:xfrm>
          <a:prstGeom prst="rect">
            <a:avLst/>
          </a:prstGeom>
          <a:solidFill>
            <a:srgbClr val="1B3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87552"/>
            <a:ext cx="11064240" cy="228600"/>
          </a:xfrm>
          <a:prstGeom prst="rect">
            <a:avLst/>
          </a:prstGeom>
          <a:noFill/>
        </p:spPr>
        <p:txBody>
          <a:bodyPr wrap="square">
            <a:spAutoFit/>
          </a:bodyPr>
          <a:lstStyle/>
          <a:p>
            <a:pPr algn="l"/>
            <a:r>
              <a:rPr sz="1200" b="1" i="0">
                <a:solidFill>
                  <a:srgbClr val="FFD700"/>
                </a:solidFill>
                <a:latin typeface="Calibri"/>
              </a:rPr>
              <a:t>What does 'reframing' mean?</a:t>
            </a:r>
          </a:p>
        </p:txBody>
      </p:sp>
      <p:sp>
        <p:nvSpPr>
          <p:cNvPr id="8" name="TextBox 7"/>
          <p:cNvSpPr txBox="1"/>
          <p:nvPr/>
        </p:nvSpPr>
        <p:spPr>
          <a:xfrm>
            <a:off x="457200" y="1207008"/>
            <a:ext cx="11064240" cy="228600"/>
          </a:xfrm>
          <a:prstGeom prst="rect">
            <a:avLst/>
          </a:prstGeom>
          <a:noFill/>
        </p:spPr>
        <p:txBody>
          <a:bodyPr wrap="square">
            <a:spAutoFit/>
          </a:bodyPr>
          <a:lstStyle/>
          <a:p>
            <a:pPr algn="l"/>
            <a:r>
              <a:rPr sz="1100" b="0" i="1">
                <a:solidFill>
                  <a:srgbClr val="FFFFFF"/>
                </a:solidFill>
                <a:latin typeface="Calibri"/>
              </a:rPr>
              <a:t>It means we are NOT changing the paper's conclusion. We are being honest about WHICH EVIDENCE proves it. The event study had a flaw. But our other two results are solid, unchanged, and stronger than the event study ever was.</a:t>
            </a:r>
          </a:p>
        </p:txBody>
      </p:sp>
      <p:sp>
        <p:nvSpPr>
          <p:cNvPr id="9" name="Rectangle 8"/>
          <p:cNvSpPr/>
          <p:nvPr/>
        </p:nvSpPr>
        <p:spPr>
          <a:xfrm>
            <a:off x="320040" y="1554480"/>
            <a:ext cx="5120640" cy="2743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581912"/>
            <a:ext cx="4983480" cy="219456"/>
          </a:xfrm>
          <a:prstGeom prst="rect">
            <a:avLst/>
          </a:prstGeom>
          <a:noFill/>
        </p:spPr>
        <p:txBody>
          <a:bodyPr wrap="square">
            <a:spAutoFit/>
          </a:bodyPr>
          <a:lstStyle/>
          <a:p>
            <a:pPr algn="l"/>
            <a:r>
              <a:rPr sz="1200" b="1" i="0">
                <a:solidFill>
                  <a:srgbClr val="FFFFFF"/>
                </a:solidFill>
                <a:latin typeface="Calibri"/>
              </a:rPr>
              <a:t>Before — what we were implying</a:t>
            </a:r>
          </a:p>
        </p:txBody>
      </p:sp>
      <p:sp>
        <p:nvSpPr>
          <p:cNvPr id="11" name="Rectangle 10"/>
          <p:cNvSpPr/>
          <p:nvPr/>
        </p:nvSpPr>
        <p:spPr>
          <a:xfrm>
            <a:off x="320040" y="1828800"/>
            <a:ext cx="5120640" cy="1920240"/>
          </a:xfrm>
          <a:prstGeom prst="rect">
            <a:avLst/>
          </a:prstGeom>
          <a:solidFill>
            <a:srgbClr val="FC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892807"/>
            <a:ext cx="4937760" cy="1792224"/>
          </a:xfrm>
          <a:prstGeom prst="rect">
            <a:avLst/>
          </a:prstGeom>
          <a:noFill/>
        </p:spPr>
        <p:txBody>
          <a:bodyPr wrap="square">
            <a:spAutoFit/>
          </a:bodyPr>
          <a:lstStyle/>
          <a:p>
            <a:pPr>
              <a:spcBef>
                <a:spcPts val="0"/>
              </a:spcBef>
            </a:pPr>
          </a:p>
          <a:p>
            <a:pPr algn="l">
              <a:spcBef>
                <a:spcPts val="200"/>
              </a:spcBef>
            </a:pPr>
            <a:r>
              <a:rPr sz="1200" b="1" i="0">
                <a:solidFill>
                  <a:srgbClr val="C0392B"/>
                </a:solidFill>
                <a:latin typeface="Calibri"/>
              </a:rPr>
              <a:t>"The event study shows +8.9/−18 pp CARs."</a:t>
            </a:r>
          </a:p>
          <a:p>
            <a:pPr algn="l">
              <a:spcBef>
                <a:spcPts val="400"/>
              </a:spcBef>
            </a:pPr>
            <a:r>
              <a:rPr sz="1200" b="1" i="0">
                <a:solidFill>
                  <a:srgbClr val="C0392B"/>
                </a:solidFill>
                <a:latin typeface="Calibri"/>
              </a:rPr>
              <a:t>"A 27 pp swing with Welch t = 15.22."</a:t>
            </a:r>
          </a:p>
          <a:p>
            <a:pPr algn="l">
              <a:spcBef>
                <a:spcPts val="400"/>
              </a:spcBef>
            </a:pPr>
            <a:r>
              <a:rPr sz="1200" b="1" i="0">
                <a:solidFill>
                  <a:srgbClr val="C0392B"/>
                </a:solidFill>
                <a:latin typeface="Calibri"/>
              </a:rPr>
              <a:t>"This proves the buffer channel."</a:t>
            </a:r>
          </a:p>
          <a:p>
            <a:pPr algn="l">
              <a:spcBef>
                <a:spcPts val="200"/>
              </a:spcBef>
            </a:pPr>
            <a:r>
              <a:rPr sz="500" b="0" i="0">
                <a:solidFill>
                  <a:srgbClr val="1A1A2E"/>
                </a:solidFill>
                <a:latin typeface="Calibri"/>
              </a:rPr>
              <a:t> </a:t>
            </a:r>
          </a:p>
          <a:p>
            <a:pPr algn="l">
              <a:spcBef>
                <a:spcPts val="400"/>
              </a:spcBef>
            </a:pPr>
            <a:r>
              <a:rPr sz="1100" b="0" i="0">
                <a:solidFill>
                  <a:srgbClr val="1A1A2E"/>
                </a:solidFill>
                <a:latin typeface="Calibri"/>
              </a:rPr>
              <a:t>Problem: CARs were inflated ~12× by the Fed hiking trend.</a:t>
            </a:r>
          </a:p>
          <a:p>
            <a:pPr algn="l">
              <a:spcBef>
                <a:spcPts val="400"/>
              </a:spcBef>
            </a:pPr>
            <a:r>
              <a:rPr sz="1100" b="1" i="0">
                <a:solidFill>
                  <a:srgbClr val="C0392B"/>
                </a:solidFill>
                <a:latin typeface="Calibri"/>
              </a:rPr>
              <a:t>Corrected CARs: near zero. The '27 pp swing' disappears.</a:t>
            </a:r>
          </a:p>
        </p:txBody>
      </p:sp>
      <p:sp>
        <p:nvSpPr>
          <p:cNvPr id="13" name="Rectangle 12"/>
          <p:cNvSpPr/>
          <p:nvPr/>
        </p:nvSpPr>
        <p:spPr>
          <a:xfrm>
            <a:off x="320040" y="3840480"/>
            <a:ext cx="5120640" cy="2743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867912"/>
            <a:ext cx="4983480" cy="219456"/>
          </a:xfrm>
          <a:prstGeom prst="rect">
            <a:avLst/>
          </a:prstGeom>
          <a:noFill/>
        </p:spPr>
        <p:txBody>
          <a:bodyPr wrap="square">
            <a:spAutoFit/>
          </a:bodyPr>
          <a:lstStyle/>
          <a:p>
            <a:pPr algn="l"/>
            <a:r>
              <a:rPr sz="1200" b="1" i="0">
                <a:solidFill>
                  <a:srgbClr val="FFFFFF"/>
                </a:solidFill>
                <a:latin typeface="Calibri"/>
              </a:rPr>
              <a:t>After — what we now say</a:t>
            </a:r>
          </a:p>
        </p:txBody>
      </p:sp>
      <p:sp>
        <p:nvSpPr>
          <p:cNvPr id="15" name="Rectangle 14"/>
          <p:cNvSpPr/>
          <p:nvPr/>
        </p:nvSpPr>
        <p:spPr>
          <a:xfrm>
            <a:off x="320040" y="4114800"/>
            <a:ext cx="5120640" cy="2011680"/>
          </a:xfrm>
          <a:prstGeom prst="rect">
            <a:avLst/>
          </a:prstGeom>
          <a:solidFill>
            <a:srgbClr val="E6F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4178808"/>
            <a:ext cx="4937760" cy="1883664"/>
          </a:xfrm>
          <a:prstGeom prst="rect">
            <a:avLst/>
          </a:prstGeom>
          <a:noFill/>
        </p:spPr>
        <p:txBody>
          <a:bodyPr wrap="square">
            <a:spAutoFit/>
          </a:bodyPr>
          <a:lstStyle/>
          <a:p>
            <a:pPr>
              <a:spcBef>
                <a:spcPts val="0"/>
              </a:spcBef>
            </a:pPr>
          </a:p>
          <a:p>
            <a:pPr algn="l">
              <a:spcBef>
                <a:spcPts val="200"/>
              </a:spcBef>
            </a:pPr>
            <a:r>
              <a:rPr sz="1200" b="1" i="0">
                <a:solidFill>
                  <a:srgbClr val="1A7A4A"/>
                </a:solidFill>
                <a:latin typeface="Calibri"/>
              </a:rPr>
              <a:t>"β₁ = −6.02 bps per σ of supply (regression)."</a:t>
            </a:r>
          </a:p>
          <a:p>
            <a:pPr algn="l">
              <a:spcBef>
                <a:spcPts val="400"/>
              </a:spcBef>
            </a:pPr>
            <a:r>
              <a:rPr sz="1200" b="1" i="0">
                <a:solidFill>
                  <a:srgbClr val="1A7A4A"/>
                </a:solidFill>
                <a:latin typeface="Calibri"/>
              </a:rPr>
              <a:t>"q* = 13% liquid cash threshold (Hansen test)."</a:t>
            </a:r>
          </a:p>
          <a:p>
            <a:pPr algn="l">
              <a:spcBef>
                <a:spcPts val="400"/>
              </a:spcBef>
            </a:pPr>
            <a:r>
              <a:rPr sz="1200" b="0" i="0">
                <a:solidFill>
                  <a:srgbClr val="1A1A2E"/>
                </a:solidFill>
                <a:latin typeface="Calibri"/>
              </a:rPr>
              <a:t>"Event study is directionally consistent — but illustrative."</a:t>
            </a:r>
          </a:p>
          <a:p>
            <a:pPr algn="l">
              <a:spcBef>
                <a:spcPts val="200"/>
              </a:spcBef>
            </a:pPr>
            <a:r>
              <a:rPr sz="500" b="0" i="0">
                <a:solidFill>
                  <a:srgbClr val="1A1A2E"/>
                </a:solidFill>
                <a:latin typeface="Calibri"/>
              </a:rPr>
              <a:t> </a:t>
            </a:r>
          </a:p>
          <a:p>
            <a:pPr algn="l">
              <a:spcBef>
                <a:spcPts val="400"/>
              </a:spcBef>
            </a:pPr>
            <a:r>
              <a:rPr sz="1100" b="1" i="0">
                <a:solidFill>
                  <a:srgbClr val="1A7A4A"/>
                </a:solidFill>
                <a:latin typeface="Calibri"/>
              </a:rPr>
              <a:t>These two results were never broken. They are the paper.</a:t>
            </a:r>
          </a:p>
          <a:p>
            <a:pPr algn="l">
              <a:spcBef>
                <a:spcPts val="400"/>
              </a:spcBef>
            </a:pPr>
            <a:r>
              <a:rPr sz="1100" b="0" i="0">
                <a:solidFill>
                  <a:srgbClr val="1A1A2E"/>
                </a:solidFill>
                <a:latin typeface="Calibri"/>
              </a:rPr>
              <a:t>The conclusion is identical — only the evidence hierarchy changed.</a:t>
            </a:r>
          </a:p>
        </p:txBody>
      </p:sp>
      <p:sp>
        <p:nvSpPr>
          <p:cNvPr id="17" name="Rectangle 16"/>
          <p:cNvSpPr/>
          <p:nvPr/>
        </p:nvSpPr>
        <p:spPr>
          <a:xfrm>
            <a:off x="5623560" y="1554480"/>
            <a:ext cx="6263640" cy="2743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42432" y="1581912"/>
            <a:ext cx="6035040" cy="219456"/>
          </a:xfrm>
          <a:prstGeom prst="rect">
            <a:avLst/>
          </a:prstGeom>
          <a:noFill/>
        </p:spPr>
        <p:txBody>
          <a:bodyPr wrap="square">
            <a:spAutoFit/>
          </a:bodyPr>
          <a:lstStyle/>
          <a:p>
            <a:pPr algn="l"/>
            <a:r>
              <a:rPr sz="1200" b="1" i="0">
                <a:solidFill>
                  <a:srgbClr val="FFFFFF"/>
                </a:solidFill>
                <a:latin typeface="Calibri"/>
              </a:rPr>
              <a:t>Finding 2 — Hansen (2000) threshold search: q* = 13%</a:t>
            </a:r>
          </a:p>
        </p:txBody>
      </p:sp>
      <p:pic>
        <p:nvPicPr>
          <p:cNvPr id="19" name="Picture 18" descr="threshold_ssr.png"/>
          <p:cNvPicPr>
            <a:picLocks noChangeAspect="1"/>
          </p:cNvPicPr>
          <p:nvPr/>
        </p:nvPicPr>
        <p:blipFill>
          <a:blip r:embed="rId2"/>
          <a:stretch>
            <a:fillRect/>
          </a:stretch>
        </p:blipFill>
        <p:spPr>
          <a:xfrm>
            <a:off x="5623560" y="1828800"/>
            <a:ext cx="6263640" cy="3429000"/>
          </a:xfrm>
          <a:prstGeom prst="rect">
            <a:avLst/>
          </a:prstGeom>
        </p:spPr>
      </p:pic>
      <p:sp>
        <p:nvSpPr>
          <p:cNvPr id="20" name="Rectangle 19"/>
          <p:cNvSpPr/>
          <p:nvPr/>
        </p:nvSpPr>
        <p:spPr>
          <a:xfrm>
            <a:off x="5623560" y="5257800"/>
            <a:ext cx="6263640" cy="47548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42432" y="5285232"/>
            <a:ext cx="6035040" cy="420624"/>
          </a:xfrm>
          <a:prstGeom prst="rect">
            <a:avLst/>
          </a:prstGeom>
          <a:noFill/>
        </p:spPr>
        <p:txBody>
          <a:bodyPr wrap="square">
            <a:spAutoFit/>
          </a:bodyPr>
          <a:lstStyle/>
          <a:p>
            <a:pPr>
              <a:spcBef>
                <a:spcPts val="0"/>
              </a:spcBef>
            </a:pPr>
          </a:p>
          <a:p>
            <a:pPr algn="l">
              <a:spcBef>
                <a:spcPts val="200"/>
              </a:spcBef>
            </a:pPr>
            <a:r>
              <a:rPr sz="1000" b="0" i="0">
                <a:solidFill>
                  <a:srgbClr val="1A1A2E"/>
                </a:solidFill>
                <a:latin typeface="Calibri"/>
              </a:rPr>
              <a:t>The SSR (model fit) is minimised at q* = 0.130 (the red dashed line). Below that threshold, the regime switches — forced T-bill selling reverses the privilege. This result is independent of the event study and was never affected by the correction.</a:t>
            </a:r>
          </a:p>
        </p:txBody>
      </p:sp>
      <p:sp>
        <p:nvSpPr>
          <p:cNvPr id="22" name="Rectangle 21"/>
          <p:cNvSpPr/>
          <p:nvPr/>
        </p:nvSpPr>
        <p:spPr>
          <a:xfrm>
            <a:off x="0" y="5742432"/>
            <a:ext cx="12188952" cy="960120"/>
          </a:xfrm>
          <a:prstGeom prst="rect">
            <a:avLst/>
          </a:prstGeom>
          <a:solidFill>
            <a:srgbClr val="D463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852160"/>
            <a:ext cx="11274552" cy="749808"/>
          </a:xfrm>
          <a:prstGeom prst="rect">
            <a:avLst/>
          </a:prstGeom>
          <a:noFill/>
        </p:spPr>
        <p:txBody>
          <a:bodyPr wrap="square">
            <a:spAutoFit/>
          </a:bodyPr>
          <a:lstStyle/>
          <a:p>
            <a:pPr algn="ctr"/>
            <a:r>
              <a:rPr sz="1400" b="1" i="0">
                <a:solidFill>
                  <a:srgbClr val="FFFFFF"/>
                </a:solidFill>
                <a:latin typeface="Calibri"/>
              </a:rPr>
              <a:t>Same conclusion. Same argument. Honest about the evidence. β₁ = −6.02 bps (regression) + q* = 13% (Hansen) = the paper. The event study illustrates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06040"/>
            <a:ext cx="12188952" cy="1051560"/>
          </a:xfrm>
          <a:prstGeom prst="rect">
            <a:avLst/>
          </a:prstGeom>
          <a:solidFill>
            <a:srgbClr val="143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 y="0"/>
            <a:ext cx="3474720" cy="34747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02920" y="411480"/>
            <a:ext cx="2651760" cy="265176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 y="4023360"/>
            <a:ext cx="3291840" cy="3291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4434840"/>
            <a:ext cx="2286000" cy="2286000"/>
          </a:xfrm>
          <a:prstGeom prst="ellipse">
            <a:avLst/>
          </a:prstGeom>
          <a:solidFill>
            <a:srgbClr val="0A1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331720"/>
            <a:ext cx="3474720" cy="548640"/>
          </a:xfrm>
          <a:prstGeom prst="rect">
            <a:avLst/>
          </a:prstGeom>
          <a:solidFill>
            <a:srgbClr val="5555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606040"/>
            <a:ext cx="8046720" cy="548640"/>
          </a:xfrm>
          <a:prstGeom prst="rect">
            <a:avLst/>
          </a:prstGeom>
          <a:noFill/>
        </p:spPr>
        <p:txBody>
          <a:bodyPr wrap="square">
            <a:spAutoFit/>
          </a:bodyPr>
          <a:lstStyle/>
          <a:p>
            <a:pPr algn="l"/>
            <a:r>
              <a:rPr sz="2800" b="0" i="0">
                <a:solidFill>
                  <a:srgbClr val="FFFFFF"/>
                </a:solidFill>
                <a:latin typeface="Calibri Light"/>
              </a:rPr>
              <a:t>THANK YOU</a:t>
            </a:r>
          </a:p>
        </p:txBody>
      </p:sp>
      <p:sp>
        <p:nvSpPr>
          <p:cNvPr id="10" name="TextBox 9"/>
          <p:cNvSpPr txBox="1"/>
          <p:nvPr/>
        </p:nvSpPr>
        <p:spPr>
          <a:xfrm>
            <a:off x="3657600" y="3200400"/>
            <a:ext cx="8229600" cy="365760"/>
          </a:xfrm>
          <a:prstGeom prst="rect">
            <a:avLst/>
          </a:prstGeom>
          <a:noFill/>
        </p:spPr>
        <p:txBody>
          <a:bodyPr wrap="square">
            <a:spAutoFit/>
          </a:bodyPr>
          <a:lstStyle/>
          <a:p>
            <a:pPr algn="l"/>
            <a:r>
              <a:rPr sz="1300" b="0" i="1">
                <a:solidFill>
                  <a:srgbClr val="AAC4E8"/>
                </a:solidFill>
                <a:latin typeface="Calibri"/>
              </a:rPr>
              <a:t>CAR corrected  ·  Placebo test complete  ·  Evidence reframed honestly</a:t>
            </a:r>
          </a:p>
        </p:txBody>
      </p:sp>
      <p:sp>
        <p:nvSpPr>
          <p:cNvPr id="11" name="Rectangle 10"/>
          <p:cNvSpPr/>
          <p:nvPr/>
        </p:nvSpPr>
        <p:spPr>
          <a:xfrm>
            <a:off x="3566160" y="4069080"/>
            <a:ext cx="6858000" cy="2560320"/>
          </a:xfrm>
          <a:prstGeom prst="rect">
            <a:avLst/>
          </a:prstGeom>
          <a:solidFill>
            <a:srgbClr val="0E2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4206240"/>
            <a:ext cx="6583680" cy="2286000"/>
          </a:xfrm>
          <a:prstGeom prst="rect">
            <a:avLst/>
          </a:prstGeom>
          <a:noFill/>
        </p:spPr>
        <p:txBody>
          <a:bodyPr wrap="square">
            <a:spAutoFit/>
          </a:bodyPr>
          <a:lstStyle/>
          <a:p>
            <a:pPr algn="l"/>
            <a:r>
              <a:rPr sz="1600" b="0" i="0">
                <a:solidFill>
                  <a:srgbClr val="FFFFFF"/>
                </a:solidFill>
                <a:latin typeface="Calibri"/>
              </a:rPr>
              <a:t>Yonsei GSIS 2026-1  |  Topics in International Finance
Mireu Kim · Sara Chekroune · Oybek Ibragimov
kimmireu0921@gmail.com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