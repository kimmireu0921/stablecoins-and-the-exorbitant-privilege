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66" r:id="rId2"/>
    <p:sldId id="257" r:id="rId3"/>
    <p:sldId id="258" r:id="rId4"/>
    <p:sldId id="259" r:id="rId5"/>
    <p:sldId id="260" r:id="rId6"/>
    <p:sldId id="263" r:id="rId7"/>
    <p:sldId id="268" r:id="rId8"/>
    <p:sldId id="267"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838"/>
    <p:restoredTop sz="48853"/>
  </p:normalViewPr>
  <p:slideViewPr>
    <p:cSldViewPr snapToGrid="0" snapToObjects="1" showGuides="1">
      <p:cViewPr>
        <p:scale>
          <a:sx n="118" d="100"/>
          <a:sy n="118" d="100"/>
        </p:scale>
        <p:origin x="184" y="-2456"/>
      </p:cViewPr>
      <p:guideLst>
        <p:guide orient="horz" pos="2230"/>
        <p:guide pos="2880"/>
      </p:guideLst>
    </p:cSldViewPr>
  </p:slideViewPr>
  <p:notesTextViewPr>
    <p:cViewPr>
      <p:scale>
        <a:sx n="100" d="100"/>
        <a:sy n="100" d="100"/>
      </p:scale>
      <p:origin x="0" y="-100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defRPr/>
            </a:pPr>
            <a:r>
              <a:rPr lang="en-US" altLang="ko-KR" dirty="0"/>
              <a:t>Good afternoon, everyone. We will be talking about Stablecoins and the Exorbitant Privilege. The central argument is that large stablecoin issuers like Tether and Circle have become significant buyers of U.S. Treasury bills — which amplifies America's safe-asset privilege in normal times, but can sharply reverse that benefit during a run if their cash reserves are too thin. Today we want to address some of the methodological questions that came up last time and walk you through our three key findings clearly.</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 me quickly walk you through what we have done and what is coming. On the left, you can see everything we have completed: the theoretical framework, the main regression, the threshold test, the event study across three crises, and several robustness checks. This deck specifically addresses the clarification questions from last session — why we use the OIS spread, what the buffer condition is, and how to read the event study graphs.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question came up about why we use the OIS-Treasury spread instead of just Treasury yields. Here is the intuition. A raw T-bill yield</a:t>
            </a:r>
            <a:r>
              <a:rPr lang="en-US" dirty="0"/>
              <a:t> (red)</a:t>
            </a:r>
            <a:r>
              <a:rPr dirty="0"/>
              <a:t> moves for two completely different reasons at the same time: one is the Fed raising or cutting </a:t>
            </a:r>
            <a:r>
              <a:rPr lang="en-US" dirty="0"/>
              <a:t>the </a:t>
            </a:r>
            <a:r>
              <a:rPr dirty="0"/>
              <a:t>interest rates, and the other is investors specifically wanting to hold safe U.S. Treasury bills. </a:t>
            </a:r>
            <a:r>
              <a:rPr b="1" dirty="0"/>
              <a:t>We only care about the second one — the safe-asset demand. </a:t>
            </a:r>
            <a:endParaRPr lang="en-US" b="1" dirty="0"/>
          </a:p>
          <a:p>
            <a:endParaRPr lang="en-US" b="1" dirty="0"/>
          </a:p>
          <a:p>
            <a:r>
              <a:rPr dirty="0"/>
              <a:t>The OIS rate</a:t>
            </a:r>
            <a:r>
              <a:rPr lang="en-US" dirty="0"/>
              <a:t> (blue)</a:t>
            </a:r>
            <a:r>
              <a:rPr dirty="0"/>
              <a:t>, which stands for Overnight Index Swap, tracks market expectations of the Fed Funds rate. So when we subtract it from the T-bill yield, we cancel out the monetary policy part and are left with just the premium that investors pay to hold Treasuries specifically. That premium is exactly what stablecoin issuers affect when they buy T-bills. </a:t>
            </a:r>
            <a:endParaRPr lang="en-US" dirty="0"/>
          </a:p>
          <a:p>
            <a:endParaRPr lang="en-US" dirty="0"/>
          </a:p>
          <a:p>
            <a:r>
              <a:rPr dirty="0"/>
              <a:t>This approach is standard in the literature — Krishnamurthy and Vissing-Jorgensen in 2012, and Nagel in 2016, both use this same spread as their measure of safe-asset convenience yield. The practical implication: </a:t>
            </a:r>
            <a:r>
              <a:rPr b="1" dirty="0"/>
              <a:t>if we had used raw yields, a Fed rate cut and a Tether buying surge would look identical in our data. </a:t>
            </a:r>
            <a:r>
              <a:rPr dirty="0"/>
              <a:t>The spread separates them cleanly.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buffer condition is the central variable in our paper, so let me explain it precisely. L is the liquid buffer — it is the share of an issuer's reserves held in cash or cash equivalents, divided by the total stablecoin supply outstanding. Our Hansen threshold regression estimates a critical cutoff of 13 percent. Here is why it matters. When investors want to redeem their stablecoins for dollars, the issuer has to pay them back. If the issuer holds enough cash — above 13 percent — they simply pay from that cash and their Treasury bill holdings are untouched. The T-bill market does not feel anything. But if the cash buffer is below 13 percent, the issuer cannot cover redemptions from cash alone. They have to sell Treasury bills quickly to raise the dollars. That sudden selling pushes T-bill yields up relative to OIS — the spread spikes. So the buffer condition is essentially asking: does this issuer have enough cash to absorb a redemption shock without being forced to liquidate their T-bill portfolio? In May 2022, the answer </a:t>
            </a:r>
            <a:r>
              <a:rPr lang="en-US" dirty="0"/>
              <a:t>to holding enough cash </a:t>
            </a:r>
            <a:r>
              <a:rPr dirty="0"/>
              <a:t>was no. In March 2023, the answer was yes.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en-US" dirty="0"/>
              <a:t>"Before I show you the results, I need to explain what you are looking at — because without understanding the model, the graphs are just lines."</a:t>
            </a:r>
          </a:p>
          <a:p>
            <a:endParaRPr lang="en-US" altLang="en-US" dirty="0"/>
          </a:p>
          <a:p>
            <a:r>
              <a:rPr lang="en-US" altLang="en-US" dirty="0"/>
              <a:t>[Point to Step 1]</a:t>
            </a:r>
          </a:p>
          <a:p>
            <a:endParaRPr lang="en-US" altLang="en-US" dirty="0"/>
          </a:p>
          <a:p>
            <a:r>
              <a:rPr lang="en-US" altLang="en-US" dirty="0"/>
              <a:t>"Before each crisis event, we take data from 120 to 6 trading days prior to the event — roughly six months of pre-crisis data — and we run a regression. We ask: given the VIX level and global equity returns on any given day, what would we expect the OIS-Treasury spread to be? This gives us our normal model. It tells us what the spread looks like when nothing unusual is happening."</a:t>
            </a:r>
          </a:p>
          <a:p>
            <a:endParaRPr lang="en-US" altLang="en-US" dirty="0"/>
          </a:p>
          <a:p>
            <a:r>
              <a:rPr lang="en-US" altLang="en-US" dirty="0"/>
              <a:t>[Point to Step 2]</a:t>
            </a:r>
          </a:p>
          <a:p>
            <a:endParaRPr lang="en-US" altLang="en-US" dirty="0"/>
          </a:p>
          <a:p>
            <a:r>
              <a:rPr lang="en-US" altLang="en-US" dirty="0"/>
              <a:t>"Then during the event window — five days before to twenty days after the crisis — for each trading day, we subtract the predicted spread from the actual spread. That difference is the abnormal spread. A positive abnormal spread or rising line means something beyond normal market conditions is pushing T-bill yields above the risk-free rate - suggesting forced selling pressure. A negative abnormal spread or falling line means something is compressing them below normal- suggesting flight-to-safety buying."</a:t>
            </a:r>
          </a:p>
          <a:p>
            <a:endParaRPr lang="en-US" altLang="en-US" dirty="0"/>
          </a:p>
          <a:p>
            <a:r>
              <a:rPr lang="en-US" altLang="en-US" dirty="0"/>
              <a:t>[Point to Step 3]</a:t>
            </a:r>
          </a:p>
          <a:p>
            <a:endParaRPr lang="en-US" altLang="en-US" dirty="0"/>
          </a:p>
          <a:p>
            <a:r>
              <a:rPr lang="en-US" altLang="en-US" dirty="0"/>
              <a:t>"We then add up all those daily abnormal values. That running total — from day minus five to day plus twenty — is the CAR. The Y-axis shows percentage points of accumulated deviation. The X-axis shows trading days. Day zero is the crisis date itself."</a:t>
            </a:r>
          </a:p>
          <a:p>
            <a:endParaRPr lang="en-US" altLang="en-US" dirty="0"/>
          </a:p>
          <a:p>
            <a:r>
              <a:rPr lang="en-US" altLang="en-US" dirty="0"/>
              <a:t>[Click — LUNA graph appears on the right]</a:t>
            </a:r>
          </a:p>
          <a:p>
            <a:endParaRPr lang="en-US" altLang="en-US" dirty="0"/>
          </a:p>
          <a:p>
            <a:r>
              <a:rPr lang="en-US" altLang="en-US" dirty="0"/>
              <a:t>"This is Event 1. Day zero is May 9th 2022 — the LUNA collapse. UST was an algorithmic stablecoin. It had no real dollar reserves. Its one-dollar peg was maintained by minting and burning LUNA tokens. When confidence broke, the mechanism failed instantly. Forty billion dollars wiped out in 72 hours."</a:t>
            </a:r>
          </a:p>
          <a:p>
            <a:endParaRPr lang="en-US" altLang="en-US" dirty="0"/>
          </a:p>
          <a:p>
            <a:r>
              <a:rPr lang="en-US" altLang="en-US" dirty="0"/>
              <a:t>"Look at the graph. The line starts near zero before the event and rises steadily. By day plus 20, the CAR has accumulated to plus 8.9 percentage points. That means the OIS-Treasury spread accumulated 8.9 percentage points above what normal market conditions predicted — sustained, persistent T-bill selling pressure over twenty trading days. Exactly what our theory predicts for a low-buffer issuer."</a:t>
            </a:r>
          </a:p>
          <a:p>
            <a:endParaRPr lang="en-US" altLang="en-US" dirty="0"/>
          </a:p>
          <a:p>
            <a:r>
              <a:rPr lang="en-US" altLang="en-US" dirty="0">
                <a:sym typeface="+mn-ea"/>
              </a:rPr>
              <a:t>"The panic spread to Tether — a completely different issuer, fiat-backed with real reserves. But Tether had a critical vulnerability: its liquid cash buffer was only 5 to 8 percent of outstanding supply. When investors demanded their dollars back, Tether had no choice — it had to sell T-bills immediately to raise cash."</a:t>
            </a:r>
            <a:endParaRPr lang="en-US" altLang="en-US" dirty="0"/>
          </a:p>
          <a:p>
            <a:endParaRPr lang="en-US" altLang="en-US" dirty="0"/>
          </a:p>
          <a:p>
            <a:r>
              <a:rPr lang="en-US" altLang="en-US" dirty="0"/>
              <a:t>"Three days later — Event 2 — USDT itself partially depegged to 95 cents. This time the run was directly on Tether, not on an algorithmic stablecoin. </a:t>
            </a:r>
            <a:r>
              <a:rPr dirty="0">
                <a:sym typeface="+mn-ea"/>
              </a:rPr>
              <a:t>In a single day, over 7 billion dollars of USDT was redeemed — the largest single-day redemption in Tether's history. </a:t>
            </a:r>
            <a:r>
              <a:rPr lang="en-US" dirty="0">
                <a:sym typeface="+mn-ea"/>
              </a:rPr>
              <a:t> </a:t>
            </a:r>
            <a:r>
              <a:rPr b="1" dirty="0">
                <a:sym typeface="+mn-ea"/>
              </a:rPr>
              <a:t>Tether managed to maintain the peg and return to one dollar within days, which actually validated their reserves. But during those days of uncertainty, the forced selling mechanism activated again:</a:t>
            </a:r>
            <a:r>
              <a:rPr lang="en-US" b="1" dirty="0">
                <a:sym typeface="+mn-ea"/>
              </a:rPr>
              <a:t> </a:t>
            </a:r>
            <a:r>
              <a:rPr lang="en-US" altLang="en-US" dirty="0"/>
              <a:t>Different trigger, different mechanism — but the same buffer level of 5 to 8 percent, and the same result: CAR of plus 8.85 — nearly identical. The buffer determined the outcome. Not the nature of the shock."</a:t>
            </a:r>
          </a:p>
          <a:p>
            <a:endParaRPr lang="en-US" altLang="en-US" dirty="0"/>
          </a:p>
          <a:p>
            <a:r>
              <a:rPr lang="en-US" altLang="en-US" dirty="0"/>
              <a:t>[Hand to Mimi]</a:t>
            </a:r>
          </a:p>
          <a:p>
            <a:endParaRPr lang="en-US" altLang="en-US" dirty="0"/>
          </a:p>
          <a:p>
            <a:r>
              <a:rPr lang="en-US" altLang="en-US" dirty="0"/>
              <a:t>"Mimi will now show you what happens when the same type of stress hits a high-buffer issuer — and why the outcome is completely different."</a:t>
            </a:r>
            <a:br>
              <a:rPr lang="en-US" altLang="en-US" dirty="0"/>
            </a:br>
            <a:br>
              <a:rPr lang="en-US" altLang="en-US" dirty="0"/>
            </a:br>
            <a:r>
              <a:rPr dirty="0">
                <a:sym typeface="+mn-ea"/>
              </a:rPr>
              <a:t>UST was an algorithmic stablecoin — it did not hold real dollars or Treasury bills. Instead, its one-dollar peg was maintained by a mathematical relationship with its sister token, LUNA. When a large coordinated sell-off drained UST's liquidity on May 7th, the peg broke, a death spiral began, and roughly 40 billion dollars in market value was destroyed within days. </a:t>
            </a:r>
            <a:br>
              <a:rPr dirty="0">
                <a:sym typeface="+mn-ea"/>
              </a:rPr>
            </a:br>
            <a:br>
              <a:rPr dirty="0">
                <a:sym typeface="+mn-ea"/>
              </a:rPr>
            </a:br>
            <a:r>
              <a:rPr lang="en-US" dirty="0">
                <a:sym typeface="+mn-ea"/>
              </a:rPr>
              <a:t>Note: </a:t>
            </a:r>
            <a:r>
              <a:rPr lang="ko-KR" altLang="ko-KR" b="1" dirty="0">
                <a:effectLst/>
                <a:sym typeface="+mn-ea"/>
              </a:rPr>
              <a:t>UST (</a:t>
            </a:r>
            <a:r>
              <a:rPr lang="ko-KR" altLang="ko-KR" b="1" dirty="0" err="1">
                <a:effectLst/>
                <a:sym typeface="+mn-ea"/>
              </a:rPr>
              <a:t>TerraUSD</a:t>
            </a:r>
            <a:r>
              <a:rPr lang="ko-KR" altLang="ko-KR" b="1" dirty="0">
                <a:effectLst/>
                <a:sym typeface="+mn-ea"/>
              </a:rPr>
              <a:t>):</a:t>
            </a:r>
            <a:r>
              <a:rPr lang="ko-KR" altLang="ko-KR" dirty="0">
                <a:effectLst/>
                <a:sym typeface="+mn-ea"/>
              </a:rPr>
              <a:t> </a:t>
            </a:r>
            <a:r>
              <a:rPr lang="ko-KR" altLang="ko-KR" dirty="0" err="1">
                <a:effectLst/>
                <a:sym typeface="+mn-ea"/>
              </a:rPr>
              <a:t>Unlike</a:t>
            </a:r>
            <a:r>
              <a:rPr lang="ko-KR" altLang="ko-KR" dirty="0">
                <a:effectLst/>
                <a:sym typeface="+mn-ea"/>
              </a:rPr>
              <a:t> </a:t>
            </a:r>
            <a:r>
              <a:rPr lang="ko-KR" altLang="ko-KR" dirty="0" err="1">
                <a:effectLst/>
                <a:sym typeface="+mn-ea"/>
              </a:rPr>
              <a:t>traditional</a:t>
            </a:r>
            <a:r>
              <a:rPr lang="ko-KR" altLang="ko-KR" dirty="0">
                <a:effectLst/>
                <a:sym typeface="+mn-ea"/>
              </a:rPr>
              <a:t> </a:t>
            </a:r>
            <a:r>
              <a:rPr lang="ko-KR" altLang="ko-KR" dirty="0" err="1">
                <a:effectLst/>
                <a:sym typeface="+mn-ea"/>
              </a:rPr>
              <a:t>stablecoins</a:t>
            </a:r>
            <a:r>
              <a:rPr lang="ko-KR" altLang="ko-KR" dirty="0">
                <a:effectLst/>
                <a:sym typeface="+mn-ea"/>
              </a:rPr>
              <a:t> </a:t>
            </a:r>
            <a:r>
              <a:rPr lang="ko-KR" altLang="ko-KR" dirty="0" err="1">
                <a:effectLst/>
                <a:sym typeface="+mn-ea"/>
              </a:rPr>
              <a:t>backed</a:t>
            </a:r>
            <a:r>
              <a:rPr lang="ko-KR" altLang="ko-KR" dirty="0">
                <a:effectLst/>
                <a:sym typeface="+mn-ea"/>
              </a:rPr>
              <a:t> </a:t>
            </a:r>
            <a:r>
              <a:rPr lang="ko-KR" altLang="ko-KR" dirty="0" err="1">
                <a:effectLst/>
                <a:sym typeface="+mn-ea"/>
              </a:rPr>
              <a:t>by</a:t>
            </a:r>
            <a:r>
              <a:rPr lang="ko-KR" altLang="ko-KR" dirty="0">
                <a:effectLst/>
                <a:sym typeface="+mn-ea"/>
              </a:rPr>
              <a:t> </a:t>
            </a:r>
            <a:r>
              <a:rPr lang="ko-KR" altLang="ko-KR" dirty="0" err="1">
                <a:effectLst/>
                <a:sym typeface="+mn-ea"/>
              </a:rPr>
              <a:t>fiat</a:t>
            </a:r>
            <a:r>
              <a:rPr lang="ko-KR" altLang="ko-KR" dirty="0">
                <a:effectLst/>
                <a:sym typeface="+mn-ea"/>
              </a:rPr>
              <a:t> </a:t>
            </a:r>
            <a:r>
              <a:rPr lang="ko-KR" altLang="ko-KR" dirty="0" err="1">
                <a:effectLst/>
                <a:sym typeface="+mn-ea"/>
              </a:rPr>
              <a:t>reserves</a:t>
            </a:r>
            <a:r>
              <a:rPr lang="ko-KR" altLang="ko-KR" dirty="0">
                <a:effectLst/>
                <a:sym typeface="+mn-ea"/>
              </a:rPr>
              <a:t> (</a:t>
            </a:r>
            <a:r>
              <a:rPr lang="ko-KR" altLang="ko-KR" dirty="0" err="1">
                <a:effectLst/>
                <a:sym typeface="+mn-ea"/>
              </a:rPr>
              <a:t>such</a:t>
            </a:r>
            <a:r>
              <a:rPr lang="ko-KR" altLang="ko-KR" dirty="0">
                <a:effectLst/>
                <a:sym typeface="+mn-ea"/>
              </a:rPr>
              <a:t> </a:t>
            </a:r>
            <a:r>
              <a:rPr lang="ko-KR" altLang="ko-KR" dirty="0" err="1">
                <a:effectLst/>
                <a:sym typeface="+mn-ea"/>
              </a:rPr>
              <a:t>as</a:t>
            </a:r>
            <a:r>
              <a:rPr lang="ko-KR" altLang="ko-KR" dirty="0">
                <a:effectLst/>
                <a:sym typeface="+mn-ea"/>
              </a:rPr>
              <a:t> USDC), UST </a:t>
            </a:r>
            <a:r>
              <a:rPr lang="ko-KR" altLang="ko-KR" dirty="0" err="1">
                <a:effectLst/>
                <a:sym typeface="+mn-ea"/>
              </a:rPr>
              <a:t>was</a:t>
            </a:r>
            <a:r>
              <a:rPr lang="ko-KR" altLang="ko-KR" dirty="0">
                <a:effectLst/>
                <a:sym typeface="+mn-ea"/>
              </a:rPr>
              <a:t> </a:t>
            </a:r>
            <a:r>
              <a:rPr lang="ko-KR" altLang="ko-KR" dirty="0" err="1">
                <a:effectLst/>
                <a:sym typeface="+mn-ea"/>
              </a:rPr>
              <a:t>unbacked</a:t>
            </a:r>
            <a:r>
              <a:rPr lang="ko-KR" altLang="ko-KR" dirty="0">
                <a:effectLst/>
                <a:sym typeface="+mn-ea"/>
              </a:rPr>
              <a:t>. </a:t>
            </a:r>
            <a:r>
              <a:rPr lang="ko-KR" altLang="ko-KR" dirty="0" err="1">
                <a:effectLst/>
                <a:sym typeface="+mn-ea"/>
              </a:rPr>
              <a:t>Its</a:t>
            </a:r>
            <a:r>
              <a:rPr lang="ko-KR" altLang="ko-KR" dirty="0">
                <a:effectLst/>
                <a:sym typeface="+mn-ea"/>
              </a:rPr>
              <a:t> </a:t>
            </a:r>
            <a:r>
              <a:rPr lang="ko-KR" altLang="ko-KR" dirty="0" err="1">
                <a:effectLst/>
                <a:sym typeface="+mn-ea"/>
              </a:rPr>
              <a:t>peg</a:t>
            </a:r>
            <a:r>
              <a:rPr lang="ko-KR" altLang="ko-KR" dirty="0">
                <a:effectLst/>
                <a:sym typeface="+mn-ea"/>
              </a:rPr>
              <a:t> </a:t>
            </a:r>
            <a:r>
              <a:rPr lang="ko-KR" altLang="ko-KR" dirty="0" err="1">
                <a:effectLst/>
                <a:sym typeface="+mn-ea"/>
              </a:rPr>
              <a:t>relied</a:t>
            </a:r>
            <a:r>
              <a:rPr lang="ko-KR" altLang="ko-KR" dirty="0">
                <a:effectLst/>
                <a:sym typeface="+mn-ea"/>
              </a:rPr>
              <a:t> </a:t>
            </a:r>
            <a:r>
              <a:rPr lang="ko-KR" altLang="ko-KR" dirty="0" err="1">
                <a:effectLst/>
                <a:sym typeface="+mn-ea"/>
              </a:rPr>
              <a:t>entirely</a:t>
            </a:r>
            <a:r>
              <a:rPr lang="ko-KR" altLang="ko-KR" dirty="0">
                <a:effectLst/>
                <a:sym typeface="+mn-ea"/>
              </a:rPr>
              <a:t> </a:t>
            </a:r>
            <a:r>
              <a:rPr lang="ko-KR" altLang="ko-KR" dirty="0" err="1">
                <a:effectLst/>
                <a:sym typeface="+mn-ea"/>
              </a:rPr>
              <a:t>on</a:t>
            </a:r>
            <a:r>
              <a:rPr lang="ko-KR" altLang="ko-KR" dirty="0">
                <a:effectLst/>
                <a:sym typeface="+mn-ea"/>
              </a:rPr>
              <a:t> </a:t>
            </a:r>
            <a:r>
              <a:rPr lang="ko-KR" altLang="ko-KR" dirty="0" err="1">
                <a:effectLst/>
                <a:sym typeface="+mn-ea"/>
              </a:rPr>
              <a:t>a</a:t>
            </a:r>
            <a:r>
              <a:rPr lang="ko-KR" altLang="ko-KR" dirty="0">
                <a:effectLst/>
                <a:sym typeface="+mn-ea"/>
              </a:rPr>
              <a:t> </a:t>
            </a:r>
            <a:r>
              <a:rPr lang="ko-KR" altLang="ko-KR" dirty="0" err="1">
                <a:effectLst/>
                <a:sym typeface="+mn-ea"/>
              </a:rPr>
              <a:t>smart</a:t>
            </a:r>
            <a:r>
              <a:rPr lang="ko-KR" altLang="ko-KR" dirty="0">
                <a:effectLst/>
                <a:sym typeface="+mn-ea"/>
              </a:rPr>
              <a:t> </a:t>
            </a:r>
            <a:r>
              <a:rPr lang="ko-KR" altLang="ko-KR" dirty="0" err="1">
                <a:effectLst/>
                <a:sym typeface="+mn-ea"/>
              </a:rPr>
              <a:t>contract</a:t>
            </a:r>
            <a:r>
              <a:rPr lang="ko-KR" altLang="ko-KR" dirty="0">
                <a:effectLst/>
                <a:sym typeface="+mn-ea"/>
              </a:rPr>
              <a:t> "</a:t>
            </a:r>
            <a:r>
              <a:rPr lang="ko-KR" altLang="ko-KR" dirty="0" err="1">
                <a:effectLst/>
                <a:sym typeface="+mn-ea"/>
              </a:rPr>
              <a:t>mint</a:t>
            </a:r>
            <a:r>
              <a:rPr lang="ko-KR" altLang="ko-KR" dirty="0">
                <a:effectLst/>
                <a:sym typeface="+mn-ea"/>
              </a:rPr>
              <a:t>-and-</a:t>
            </a:r>
            <a:r>
              <a:rPr lang="ko-KR" altLang="ko-KR" dirty="0" err="1">
                <a:effectLst/>
                <a:sym typeface="+mn-ea"/>
              </a:rPr>
              <a:t>burn</a:t>
            </a:r>
            <a:r>
              <a:rPr lang="ko-KR" altLang="ko-KR" dirty="0">
                <a:effectLst/>
                <a:sym typeface="+mn-ea"/>
              </a:rPr>
              <a:t>" </a:t>
            </a:r>
            <a:r>
              <a:rPr lang="ko-KR" altLang="ko-KR" dirty="0" err="1">
                <a:effectLst/>
                <a:sym typeface="+mn-ea"/>
              </a:rPr>
              <a:t>mechanism</a:t>
            </a:r>
            <a:r>
              <a:rPr lang="ko-KR" altLang="ko-KR" dirty="0">
                <a:effectLst/>
                <a:sym typeface="+mn-ea"/>
              </a:rPr>
              <a:t> </a:t>
            </a:r>
            <a:r>
              <a:rPr lang="ko-KR" altLang="ko-KR" dirty="0" err="1">
                <a:effectLst/>
                <a:sym typeface="+mn-ea"/>
              </a:rPr>
              <a:t>tied</a:t>
            </a:r>
            <a:r>
              <a:rPr lang="ko-KR" altLang="ko-KR" dirty="0">
                <a:effectLst/>
                <a:sym typeface="+mn-ea"/>
              </a:rPr>
              <a:t> </a:t>
            </a:r>
            <a:r>
              <a:rPr lang="ko-KR" altLang="ko-KR" dirty="0" err="1">
                <a:effectLst/>
                <a:sym typeface="+mn-ea"/>
              </a:rPr>
              <a:t>to</a:t>
            </a:r>
            <a:r>
              <a:rPr lang="ko-KR" altLang="ko-KR" dirty="0">
                <a:effectLst/>
                <a:sym typeface="+mn-ea"/>
              </a:rPr>
              <a:t> LUNA.</a:t>
            </a:r>
            <a:endParaRPr lang="ko-KR" altLang="ko-KR" b="0" i="0" kern="1200" dirty="0">
              <a:solidFill>
                <a:schemeClr val="tx1"/>
              </a:solidFill>
              <a:effectLst/>
              <a:latin typeface="+mn-lt"/>
              <a:ea typeface="+mn-ea"/>
              <a:cs typeface="+mn-cs"/>
            </a:endParaRPr>
          </a:p>
          <a:p>
            <a:r>
              <a:rPr lang="ko-KR" altLang="ko-KR" b="1" dirty="0">
                <a:effectLst/>
                <a:sym typeface="+mn-ea"/>
              </a:rPr>
              <a:t>LUNA:</a:t>
            </a:r>
            <a:r>
              <a:rPr lang="ko-KR" altLang="ko-KR" dirty="0">
                <a:effectLst/>
                <a:sym typeface="+mn-ea"/>
              </a:rPr>
              <a:t> </a:t>
            </a:r>
            <a:r>
              <a:rPr lang="ko-KR" altLang="ko-KR" dirty="0" err="1">
                <a:effectLst/>
                <a:sym typeface="+mn-ea"/>
              </a:rPr>
              <a:t>When</a:t>
            </a:r>
            <a:r>
              <a:rPr lang="ko-KR" altLang="ko-KR" dirty="0">
                <a:effectLst/>
                <a:sym typeface="+mn-ea"/>
              </a:rPr>
              <a:t> </a:t>
            </a:r>
            <a:r>
              <a:rPr lang="ko-KR" altLang="ko-KR" dirty="0" err="1">
                <a:effectLst/>
                <a:sym typeface="+mn-ea"/>
              </a:rPr>
              <a:t>the</a:t>
            </a:r>
            <a:r>
              <a:rPr lang="ko-KR" altLang="ko-KR" dirty="0">
                <a:effectLst/>
                <a:sym typeface="+mn-ea"/>
              </a:rPr>
              <a:t> </a:t>
            </a:r>
            <a:r>
              <a:rPr lang="ko-KR" altLang="ko-KR" dirty="0" err="1">
                <a:effectLst/>
                <a:sym typeface="+mn-ea"/>
              </a:rPr>
              <a:t>price</a:t>
            </a:r>
            <a:r>
              <a:rPr lang="ko-KR" altLang="ko-KR" dirty="0">
                <a:effectLst/>
                <a:sym typeface="+mn-ea"/>
              </a:rPr>
              <a:t> of UST </a:t>
            </a:r>
            <a:r>
              <a:rPr lang="ko-KR" altLang="ko-KR" dirty="0" err="1">
                <a:effectLst/>
                <a:sym typeface="+mn-ea"/>
              </a:rPr>
              <a:t>rose</a:t>
            </a:r>
            <a:r>
              <a:rPr lang="ko-KR" altLang="ko-KR" dirty="0">
                <a:effectLst/>
                <a:sym typeface="+mn-ea"/>
              </a:rPr>
              <a:t> </a:t>
            </a:r>
            <a:r>
              <a:rPr lang="ko-KR" altLang="ko-KR" dirty="0" err="1">
                <a:effectLst/>
                <a:sym typeface="+mn-ea"/>
              </a:rPr>
              <a:t>above</a:t>
            </a:r>
            <a:r>
              <a:rPr lang="ko-KR" altLang="ko-KR" dirty="0">
                <a:effectLst/>
                <a:sym typeface="+mn-ea"/>
              </a:rPr>
              <a:t> $1, </a:t>
            </a:r>
            <a:r>
              <a:rPr lang="ko-KR" altLang="ko-KR" dirty="0" err="1">
                <a:effectLst/>
                <a:sym typeface="+mn-ea"/>
              </a:rPr>
              <a:t>users</a:t>
            </a:r>
            <a:r>
              <a:rPr lang="ko-KR" altLang="ko-KR" dirty="0">
                <a:effectLst/>
                <a:sym typeface="+mn-ea"/>
              </a:rPr>
              <a:t> </a:t>
            </a:r>
            <a:r>
              <a:rPr lang="ko-KR" altLang="ko-KR" dirty="0" err="1">
                <a:effectLst/>
                <a:sym typeface="+mn-ea"/>
              </a:rPr>
              <a:t>could</a:t>
            </a:r>
            <a:r>
              <a:rPr lang="ko-KR" altLang="ko-KR" dirty="0">
                <a:effectLst/>
                <a:sym typeface="+mn-ea"/>
              </a:rPr>
              <a:t> </a:t>
            </a:r>
            <a:r>
              <a:rPr lang="ko-KR" altLang="ko-KR" dirty="0" err="1">
                <a:effectLst/>
                <a:sym typeface="+mn-ea"/>
              </a:rPr>
              <a:t>burn</a:t>
            </a:r>
            <a:r>
              <a:rPr lang="ko-KR" altLang="ko-KR" dirty="0">
                <a:effectLst/>
                <a:sym typeface="+mn-ea"/>
              </a:rPr>
              <a:t> $1 of LUNA </a:t>
            </a:r>
            <a:r>
              <a:rPr lang="ko-KR" altLang="ko-KR" dirty="0" err="1">
                <a:effectLst/>
                <a:sym typeface="+mn-ea"/>
              </a:rPr>
              <a:t>to</a:t>
            </a:r>
            <a:r>
              <a:rPr lang="ko-KR" altLang="ko-KR" dirty="0">
                <a:effectLst/>
                <a:sym typeface="+mn-ea"/>
              </a:rPr>
              <a:t> </a:t>
            </a:r>
            <a:r>
              <a:rPr lang="ko-KR" altLang="ko-KR" dirty="0" err="1">
                <a:effectLst/>
                <a:sym typeface="+mn-ea"/>
              </a:rPr>
              <a:t>mint</a:t>
            </a:r>
            <a:r>
              <a:rPr lang="ko-KR" altLang="ko-KR" dirty="0">
                <a:effectLst/>
                <a:sym typeface="+mn-ea"/>
              </a:rPr>
              <a:t> 1 </a:t>
            </a:r>
            <a:r>
              <a:rPr lang="ko-KR" altLang="ko-KR" dirty="0" err="1">
                <a:effectLst/>
                <a:sym typeface="+mn-ea"/>
              </a:rPr>
              <a:t>new</a:t>
            </a:r>
            <a:r>
              <a:rPr lang="ko-KR" altLang="ko-KR" dirty="0">
                <a:effectLst/>
                <a:sym typeface="+mn-ea"/>
              </a:rPr>
              <a:t> UST (</a:t>
            </a:r>
            <a:r>
              <a:rPr lang="ko-KR" altLang="ko-KR" dirty="0" err="1">
                <a:effectLst/>
                <a:sym typeface="+mn-ea"/>
              </a:rPr>
              <a:t>increasing</a:t>
            </a:r>
            <a:r>
              <a:rPr lang="ko-KR" altLang="ko-KR" dirty="0">
                <a:effectLst/>
                <a:sym typeface="+mn-ea"/>
              </a:rPr>
              <a:t> </a:t>
            </a:r>
            <a:r>
              <a:rPr lang="ko-KR" altLang="ko-KR" dirty="0" err="1">
                <a:effectLst/>
                <a:sym typeface="+mn-ea"/>
              </a:rPr>
              <a:t>supply</a:t>
            </a:r>
            <a:r>
              <a:rPr lang="ko-KR" altLang="ko-KR" dirty="0">
                <a:effectLst/>
                <a:sym typeface="+mn-ea"/>
              </a:rPr>
              <a:t> and </a:t>
            </a:r>
            <a:r>
              <a:rPr lang="ko-KR" altLang="ko-KR" dirty="0" err="1">
                <a:effectLst/>
                <a:sym typeface="+mn-ea"/>
              </a:rPr>
              <a:t>bringing</a:t>
            </a:r>
            <a:r>
              <a:rPr lang="ko-KR" altLang="ko-KR" dirty="0">
                <a:effectLst/>
                <a:sym typeface="+mn-ea"/>
              </a:rPr>
              <a:t> </a:t>
            </a:r>
            <a:r>
              <a:rPr lang="ko-KR" altLang="ko-KR" dirty="0" err="1">
                <a:effectLst/>
                <a:sym typeface="+mn-ea"/>
              </a:rPr>
              <a:t>the</a:t>
            </a:r>
            <a:r>
              <a:rPr lang="ko-KR" altLang="ko-KR" dirty="0">
                <a:effectLst/>
                <a:sym typeface="+mn-ea"/>
              </a:rPr>
              <a:t> </a:t>
            </a:r>
            <a:r>
              <a:rPr lang="ko-KR" altLang="ko-KR" dirty="0" err="1">
                <a:effectLst/>
                <a:sym typeface="+mn-ea"/>
              </a:rPr>
              <a:t>price</a:t>
            </a:r>
            <a:r>
              <a:rPr lang="ko-KR" altLang="ko-KR" dirty="0">
                <a:effectLst/>
                <a:sym typeface="+mn-ea"/>
              </a:rPr>
              <a:t> </a:t>
            </a:r>
            <a:r>
              <a:rPr lang="ko-KR" altLang="ko-KR" dirty="0" err="1">
                <a:effectLst/>
                <a:sym typeface="+mn-ea"/>
              </a:rPr>
              <a:t>back</a:t>
            </a:r>
            <a:r>
              <a:rPr lang="ko-KR" altLang="ko-KR" dirty="0">
                <a:effectLst/>
                <a:sym typeface="+mn-ea"/>
              </a:rPr>
              <a:t> </a:t>
            </a:r>
            <a:r>
              <a:rPr lang="ko-KR" altLang="ko-KR" dirty="0" err="1">
                <a:effectLst/>
                <a:sym typeface="+mn-ea"/>
              </a:rPr>
              <a:t>down</a:t>
            </a:r>
            <a:r>
              <a:rPr lang="ko-KR" altLang="ko-KR" dirty="0">
                <a:effectLst/>
                <a:sym typeface="+mn-ea"/>
              </a:rPr>
              <a:t>). </a:t>
            </a:r>
            <a:r>
              <a:rPr lang="ko-KR" altLang="ko-KR" dirty="0" err="1">
                <a:effectLst/>
                <a:sym typeface="+mn-ea"/>
              </a:rPr>
              <a:t>When</a:t>
            </a:r>
            <a:r>
              <a:rPr lang="ko-KR" altLang="ko-KR" dirty="0">
                <a:effectLst/>
                <a:sym typeface="+mn-ea"/>
              </a:rPr>
              <a:t> UST </a:t>
            </a:r>
            <a:r>
              <a:rPr lang="ko-KR" altLang="ko-KR" dirty="0" err="1">
                <a:effectLst/>
                <a:sym typeface="+mn-ea"/>
              </a:rPr>
              <a:t>dropped</a:t>
            </a:r>
            <a:r>
              <a:rPr lang="ko-KR" altLang="ko-KR" dirty="0">
                <a:effectLst/>
                <a:sym typeface="+mn-ea"/>
              </a:rPr>
              <a:t> </a:t>
            </a:r>
            <a:r>
              <a:rPr lang="ko-KR" altLang="ko-KR" dirty="0" err="1">
                <a:effectLst/>
                <a:sym typeface="+mn-ea"/>
              </a:rPr>
              <a:t>below</a:t>
            </a:r>
            <a:r>
              <a:rPr lang="ko-KR" altLang="ko-KR" dirty="0">
                <a:effectLst/>
                <a:sym typeface="+mn-ea"/>
              </a:rPr>
              <a:t> $1, </a:t>
            </a:r>
            <a:r>
              <a:rPr lang="ko-KR" altLang="ko-KR" dirty="0" err="1">
                <a:effectLst/>
                <a:sym typeface="+mn-ea"/>
              </a:rPr>
              <a:t>users</a:t>
            </a:r>
            <a:r>
              <a:rPr lang="ko-KR" altLang="ko-KR" dirty="0">
                <a:effectLst/>
                <a:sym typeface="+mn-ea"/>
              </a:rPr>
              <a:t> </a:t>
            </a:r>
            <a:r>
              <a:rPr lang="ko-KR" altLang="ko-KR" dirty="0" err="1">
                <a:effectLst/>
                <a:sym typeface="+mn-ea"/>
              </a:rPr>
              <a:t>could</a:t>
            </a:r>
            <a:r>
              <a:rPr lang="ko-KR" altLang="ko-KR" dirty="0">
                <a:effectLst/>
                <a:sym typeface="+mn-ea"/>
              </a:rPr>
              <a:t> </a:t>
            </a:r>
            <a:r>
              <a:rPr lang="ko-KR" altLang="ko-KR" dirty="0" err="1">
                <a:effectLst/>
                <a:sym typeface="+mn-ea"/>
              </a:rPr>
              <a:t>burn</a:t>
            </a:r>
            <a:r>
              <a:rPr lang="ko-KR" altLang="ko-KR" dirty="0">
                <a:effectLst/>
                <a:sym typeface="+mn-ea"/>
              </a:rPr>
              <a:t> 1 UST </a:t>
            </a:r>
            <a:r>
              <a:rPr lang="ko-KR" altLang="ko-KR" dirty="0" err="1">
                <a:effectLst/>
                <a:sym typeface="+mn-ea"/>
              </a:rPr>
              <a:t>to</a:t>
            </a:r>
            <a:r>
              <a:rPr lang="ko-KR" altLang="ko-KR" dirty="0">
                <a:effectLst/>
                <a:sym typeface="+mn-ea"/>
              </a:rPr>
              <a:t> </a:t>
            </a:r>
            <a:r>
              <a:rPr lang="ko-KR" altLang="ko-KR" dirty="0" err="1">
                <a:effectLst/>
                <a:sym typeface="+mn-ea"/>
              </a:rPr>
              <a:t>receive</a:t>
            </a:r>
            <a:r>
              <a:rPr lang="ko-KR" altLang="ko-KR" dirty="0">
                <a:effectLst/>
                <a:sym typeface="+mn-ea"/>
              </a:rPr>
              <a:t> $1 </a:t>
            </a:r>
            <a:r>
              <a:rPr lang="ko-KR" altLang="ko-KR" dirty="0" err="1">
                <a:effectLst/>
                <a:sym typeface="+mn-ea"/>
              </a:rPr>
              <a:t>worth</a:t>
            </a:r>
            <a:r>
              <a:rPr lang="ko-KR" altLang="ko-KR" dirty="0">
                <a:effectLst/>
                <a:sym typeface="+mn-ea"/>
              </a:rPr>
              <a:t> of LUNA (</a:t>
            </a:r>
            <a:r>
              <a:rPr lang="ko-KR" altLang="ko-KR" dirty="0" err="1">
                <a:effectLst/>
                <a:sym typeface="+mn-ea"/>
              </a:rPr>
              <a:t>reducing</a:t>
            </a:r>
            <a:r>
              <a:rPr lang="ko-KR" altLang="ko-KR" dirty="0">
                <a:effectLst/>
                <a:sym typeface="+mn-ea"/>
              </a:rPr>
              <a:t> </a:t>
            </a:r>
            <a:r>
              <a:rPr lang="ko-KR" altLang="ko-KR" dirty="0" err="1">
                <a:effectLst/>
                <a:sym typeface="+mn-ea"/>
              </a:rPr>
              <a:t>supply</a:t>
            </a:r>
            <a:r>
              <a:rPr lang="ko-KR" altLang="ko-KR" dirty="0">
                <a:effectLst/>
                <a:sym typeface="+mn-ea"/>
              </a:rPr>
              <a:t> </a:t>
            </a:r>
            <a:r>
              <a:rPr lang="ko-KR" altLang="ko-KR" dirty="0" err="1">
                <a:effectLst/>
                <a:sym typeface="+mn-ea"/>
              </a:rPr>
              <a:t>to</a:t>
            </a:r>
            <a:r>
              <a:rPr lang="ko-KR" altLang="ko-KR" dirty="0">
                <a:effectLst/>
                <a:sym typeface="+mn-ea"/>
              </a:rPr>
              <a:t> </a:t>
            </a:r>
            <a:r>
              <a:rPr lang="ko-KR" altLang="ko-KR" dirty="0" err="1">
                <a:effectLst/>
                <a:sym typeface="+mn-ea"/>
              </a:rPr>
              <a:t>drive</a:t>
            </a:r>
            <a:r>
              <a:rPr lang="ko-KR" altLang="ko-KR" dirty="0">
                <a:effectLst/>
                <a:sym typeface="+mn-ea"/>
              </a:rPr>
              <a:t> </a:t>
            </a:r>
            <a:r>
              <a:rPr lang="ko-KR" altLang="ko-KR" dirty="0" err="1">
                <a:effectLst/>
                <a:sym typeface="+mn-ea"/>
              </a:rPr>
              <a:t>the</a:t>
            </a:r>
            <a:r>
              <a:rPr lang="ko-KR" altLang="ko-KR" dirty="0">
                <a:effectLst/>
                <a:sym typeface="+mn-ea"/>
              </a:rPr>
              <a:t> </a:t>
            </a:r>
            <a:r>
              <a:rPr lang="ko-KR" altLang="ko-KR" dirty="0" err="1">
                <a:effectLst/>
                <a:sym typeface="+mn-ea"/>
              </a:rPr>
              <a:t>price</a:t>
            </a:r>
            <a:r>
              <a:rPr lang="ko-KR" altLang="ko-KR" dirty="0">
                <a:effectLst/>
                <a:sym typeface="+mn-ea"/>
              </a:rPr>
              <a:t> </a:t>
            </a:r>
            <a:r>
              <a:rPr lang="ko-KR" altLang="ko-KR" dirty="0" err="1">
                <a:effectLst/>
                <a:sym typeface="+mn-ea"/>
              </a:rPr>
              <a:t>back</a:t>
            </a:r>
            <a:r>
              <a:rPr lang="ko-KR" altLang="ko-KR" dirty="0">
                <a:effectLst/>
                <a:sym typeface="+mn-ea"/>
              </a:rPr>
              <a:t> </a:t>
            </a:r>
            <a:r>
              <a:rPr lang="ko-KR" altLang="ko-KR" dirty="0" err="1">
                <a:effectLst/>
                <a:sym typeface="+mn-ea"/>
              </a:rPr>
              <a:t>up</a:t>
            </a:r>
            <a:r>
              <a:rPr lang="ko-KR" altLang="ko-KR" dirty="0">
                <a:effectLst/>
                <a:sym typeface="+mn-ea"/>
              </a:rPr>
              <a:t>).</a:t>
            </a:r>
            <a:endParaRPr lang="ko-KR" altLang="ko-KR" b="0" i="0" kern="1200" dirty="0">
              <a:solidFill>
                <a:schemeClr val="tx1"/>
              </a:solidFill>
              <a:effectLst/>
              <a:latin typeface="+mn-lt"/>
              <a:ea typeface="+mn-ea"/>
              <a:cs typeface="+mn-cs"/>
            </a:endParaRPr>
          </a:p>
          <a:p>
            <a:endParaRPr dirty="0"/>
          </a:p>
          <a:p>
            <a:endParaRPr lang="en-US" dirty="0"/>
          </a:p>
          <a:p>
            <a:endParaRPr lang="en-US" altLang="en-US"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a:t>
            </a:r>
            <a:r>
              <a:rPr dirty="0"/>
              <a:t>he Silicon Valley Bank failure in March 2023, and this one needs careful explanation because the graph </a:t>
            </a:r>
            <a:r>
              <a:rPr b="1" dirty="0"/>
              <a:t>looks counterintuitive</a:t>
            </a:r>
            <a:r>
              <a:rPr dirty="0"/>
              <a:t>. SVB collapsed on March 10th — the second largest U.S. bank failure in history</a:t>
            </a:r>
            <a:r>
              <a:rPr lang="en-US" dirty="0"/>
              <a:t> since 2008</a:t>
            </a:r>
            <a:r>
              <a:rPr dirty="0"/>
              <a:t>. Circle, which issues USDC, disclosed that 3.3 billion dollars of its reserves were held at SVB and temporarily inaccessible. </a:t>
            </a:r>
            <a:endParaRPr lang="en-US" dirty="0"/>
          </a:p>
          <a:p>
            <a:endParaRPr lang="en-US" dirty="0"/>
          </a:p>
          <a:p>
            <a:r>
              <a:rPr dirty="0"/>
              <a:t>USDC </a:t>
            </a:r>
            <a:r>
              <a:rPr dirty="0" err="1"/>
              <a:t>depegged</a:t>
            </a:r>
            <a:r>
              <a:rPr dirty="0"/>
              <a:t> to around 87 cents — actually a larger nominal </a:t>
            </a:r>
            <a:r>
              <a:rPr dirty="0" err="1"/>
              <a:t>depeg</a:t>
            </a:r>
            <a:r>
              <a:rPr dirty="0"/>
              <a:t> than Tether in 2022. So why does the CAR go to minus 18 instead of spiking upward like the 2022 events? </a:t>
            </a:r>
            <a:r>
              <a:rPr b="1" dirty="0"/>
              <a:t>The answer is the buffer condition. By early 2023, Circle had rebuilt its cash reserves to around 18 to 22 percent — well above our 13 percent threshold. When redemptions came in, Circle paid from cash. It did not need to sell a single Treasury bill. So there was no forced selling pressure on the T-bill market from Circle's side. </a:t>
            </a:r>
            <a:endParaRPr lang="en-US" b="1" dirty="0"/>
          </a:p>
          <a:p>
            <a:endParaRPr lang="en-US" dirty="0"/>
          </a:p>
          <a:p>
            <a:r>
              <a:rPr dirty="0"/>
              <a:t>But here is what actually happened: SVB's collapse triggered a massive market-wide flight to safety. </a:t>
            </a:r>
            <a:r>
              <a:rPr b="1" dirty="0"/>
              <a:t>Investors across the entire financial system rushed to buy U.S. Treasury bills — the safest short-term asset available. </a:t>
            </a:r>
            <a:r>
              <a:rPr dirty="0"/>
              <a:t>That buying pressure pushed T-bill yields sharply below OIS, compressing the spread far below what our normal model would predict. That is why the CAR is minus 18 and not flat. </a:t>
            </a:r>
            <a:r>
              <a:rPr b="1" dirty="0"/>
              <a:t>The high buffer prevented the forced-selling story. But it could not prevent the flight-to-safety buying story. </a:t>
            </a:r>
            <a:r>
              <a:rPr dirty="0"/>
              <a:t>What we observe in the SVB event is the pure flight-to-safety effect, completely uncontaminated by any issuer-side selling pressure.</a:t>
            </a:r>
            <a:br>
              <a:rPr dirty="0"/>
            </a:br>
            <a:br>
              <a:rPr dirty="0"/>
            </a:br>
            <a:r>
              <a:rPr lang="en-US" dirty="0">
                <a:sym typeface="+mn-ea"/>
              </a:rPr>
              <a:t>The bottom part</a:t>
            </a:r>
            <a:r>
              <a:rPr dirty="0">
                <a:sym typeface="+mn-ea"/>
              </a:rPr>
              <a:t> brings all three events together. Look at what is the same across all three events: stablecoin issuers, U.S. Treasury bills, a sudden confidence shock, and mass redemptions. </a:t>
            </a:r>
            <a:r>
              <a:rPr b="1" dirty="0">
                <a:sym typeface="+mn-ea"/>
              </a:rPr>
              <a:t>The only systematic difference is the liquid buffer level.</a:t>
            </a:r>
            <a:r>
              <a:rPr dirty="0">
                <a:sym typeface="+mn-ea"/>
              </a:rPr>
              <a:t> In 2022, the buffer was low — around 5 to 8 percent — and both events produced a CAR of about plus 9 percentage points. </a:t>
            </a:r>
            <a:endParaRPr lang="en-US" dirty="0"/>
          </a:p>
          <a:p>
            <a:endParaRPr lang="en-US" dirty="0"/>
          </a:p>
          <a:p>
            <a:r>
              <a:rPr dirty="0">
                <a:sym typeface="+mn-ea"/>
              </a:rPr>
              <a:t>In 2023, the buffer was high — around 18 to 22 percent — and the event produced a CAR of minus 18 percentage points. That is a swing of 27 percentage points driven entirely by the buffer condition. The Welch t-statistic comparing the two groups is 15.22 with a p-value below 0.001, meaning this difference is not remotely explained by chance. </a:t>
            </a:r>
            <a:endParaRPr lang="en-US" dirty="0"/>
          </a:p>
          <a:p>
            <a:endParaRPr lang="en-US" dirty="0"/>
          </a:p>
          <a:p>
            <a:r>
              <a:rPr dirty="0">
                <a:sym typeface="+mn-ea"/>
              </a:rPr>
              <a:t>This is the core empirical finding of our paper: the liquid cash buffer is what determines whether a stablecoin issuer amplifies or absorbs a shock to the Treasury market. And next week, the placebo test will confirm that these large CARs only appear on real crisis days — not on ordinary days with the same buffer conditions.</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the right is what we are planning for next week. We are running a placebo test — </a:t>
            </a:r>
            <a:r>
              <a:rPr b="1" dirty="0"/>
              <a:t>we take three ordinary, uneventful days with the same buffer conditions as our real events, run the exact same methodology</a:t>
            </a:r>
            <a:r>
              <a:rPr lang="en-US" b="1" dirty="0"/>
              <a:t>.</a:t>
            </a:r>
            <a:r>
              <a:rPr b="1" dirty="0"/>
              <a:t>. </a:t>
            </a:r>
            <a:r>
              <a:rPr dirty="0"/>
              <a:t>Our preliminary result already shows the placebo CARs are less than one basis point, compared to nine to eighteen basis points in the actual events. That is a 22 times difference, which strongly supports that our results are real and not just noise.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ko-KR" dirty="0"/>
              <a:t>Thank you for listening. To summarize in two sentences: stablecoin issuers have become structurally important buyers of U.S. Treasury bills, which deepens America's safe-asset privilege in normal times. But when their liquid cash buffers fall below roughly 13 percent of supply, a run forces them to liquidate T-bills — turning a privilege amplifier into a systemic disruptor. We are happy to take any questions.</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그림 2"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094095" y="5560060"/>
            <a:ext cx="5842635" cy="1198880"/>
          </a:xfrm>
          <a:prstGeom prst="rect">
            <a:avLst/>
          </a:prstGeom>
          <a:noFill/>
        </p:spPr>
        <p:txBody>
          <a:bodyPr wrap="squar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br>
              <a:rPr lang="en-US" altLang="ko-KR" b="1" dirty="0">
                <a:solidFill>
                  <a:srgbClr val="FFFFFF"/>
                </a:solidFill>
              </a:rPr>
            </a:br>
            <a:r>
              <a:rPr lang="en-US" altLang="ko-KR" b="1" dirty="0">
                <a:solidFill>
                  <a:srgbClr val="FFFFFF"/>
                </a:solidFill>
              </a:rPr>
              <a:t>· Jade Zhu · Alexandre Godefroy · Baptiste Degand</a:t>
            </a:r>
            <a:endParaRPr lang="en-US" altLang="ko-KR" sz="1800" b="1"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7006374" cy="492443"/>
          </a:xfrm>
          <a:prstGeom prst="rect">
            <a:avLst/>
          </a:prstGeom>
          <a:noFill/>
        </p:spPr>
        <p:txBody>
          <a:bodyPr wrap="square">
            <a:spAutoFit/>
          </a:bodyPr>
          <a:lstStyle/>
          <a:p>
            <a:pPr algn="l"/>
            <a:r>
              <a:rPr sz="2600" b="0" i="0" dirty="0">
                <a:solidFill>
                  <a:srgbClr val="FFFFFF"/>
                </a:solidFill>
                <a:latin typeface="Calibri"/>
              </a:rPr>
              <a:t>Roadmap</a:t>
            </a:r>
          </a:p>
        </p:txBody>
      </p:sp>
      <p:sp>
        <p:nvSpPr>
          <p:cNvPr id="6" name="Rectangle 5"/>
          <p:cNvSpPr/>
          <p:nvPr/>
        </p:nvSpPr>
        <p:spPr>
          <a:xfrm>
            <a:off x="320040" y="960120"/>
            <a:ext cx="55778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87552"/>
            <a:ext cx="5394960" cy="310896"/>
          </a:xfrm>
          <a:prstGeom prst="rect">
            <a:avLst/>
          </a:prstGeom>
          <a:noFill/>
        </p:spPr>
        <p:txBody>
          <a:bodyPr wrap="square">
            <a:spAutoFit/>
          </a:bodyPr>
          <a:lstStyle/>
          <a:p>
            <a:pPr algn="l"/>
            <a:r>
              <a:rPr sz="1500" b="1" i="0">
                <a:solidFill>
                  <a:srgbClr val="FFFFFF"/>
                </a:solidFill>
                <a:latin typeface="Calibri"/>
              </a:rPr>
              <a:t>What we have done</a:t>
            </a:r>
          </a:p>
        </p:txBody>
      </p:sp>
      <p:sp>
        <p:nvSpPr>
          <p:cNvPr id="8" name="Rectangle 7"/>
          <p:cNvSpPr/>
          <p:nvPr/>
        </p:nvSpPr>
        <p:spPr>
          <a:xfrm>
            <a:off x="320040" y="1417320"/>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1600200"/>
            <a:ext cx="1042415" cy="347472"/>
          </a:xfrm>
          <a:prstGeom prst="rect">
            <a:avLst/>
          </a:prstGeom>
          <a:noFill/>
        </p:spPr>
        <p:txBody>
          <a:bodyPr wrap="square">
            <a:spAutoFit/>
          </a:bodyPr>
          <a:lstStyle/>
          <a:p>
            <a:pPr algn="ctr"/>
            <a:r>
              <a:rPr sz="1100" b="1" i="0">
                <a:solidFill>
                  <a:srgbClr val="FFFFFF"/>
                </a:solidFill>
                <a:latin typeface="Calibri"/>
              </a:rPr>
              <a:t>Theory</a:t>
            </a:r>
          </a:p>
        </p:txBody>
      </p:sp>
      <p:sp>
        <p:nvSpPr>
          <p:cNvPr id="10" name="Rectangle 9"/>
          <p:cNvSpPr/>
          <p:nvPr/>
        </p:nvSpPr>
        <p:spPr>
          <a:xfrm>
            <a:off x="1417320" y="1417320"/>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36192" y="1581912"/>
            <a:ext cx="4297680" cy="457200"/>
          </a:xfrm>
          <a:prstGeom prst="rect">
            <a:avLst/>
          </a:prstGeom>
          <a:noFill/>
        </p:spPr>
        <p:txBody>
          <a:bodyPr wrap="square">
            <a:spAutoFit/>
          </a:bodyPr>
          <a:lstStyle/>
          <a:p>
            <a:pPr algn="l"/>
            <a:r>
              <a:rPr sz="1200" b="0" i="0" dirty="0">
                <a:solidFill>
                  <a:srgbClr val="1A1A2E"/>
                </a:solidFill>
                <a:latin typeface="Calibri"/>
              </a:rPr>
              <a:t>✓  Extended Maggiori (2017) with stablecoin supply S, treasury exposure </a:t>
            </a:r>
            <a:r>
              <a:rPr sz="1200" b="0" i="0" dirty="0" err="1">
                <a:solidFill>
                  <a:srgbClr val="1A1A2E"/>
                </a:solidFill>
                <a:latin typeface="Calibri"/>
              </a:rPr>
              <a:t>θ</a:t>
            </a:r>
            <a:r>
              <a:rPr sz="1200" b="0" i="0" dirty="0">
                <a:solidFill>
                  <a:srgbClr val="1A1A2E"/>
                </a:solidFill>
                <a:latin typeface="Calibri"/>
              </a:rPr>
              <a:t>, and liquid buffer L</a:t>
            </a:r>
          </a:p>
        </p:txBody>
      </p:sp>
      <p:sp>
        <p:nvSpPr>
          <p:cNvPr id="12" name="Rectangle 11"/>
          <p:cNvSpPr/>
          <p:nvPr/>
        </p:nvSpPr>
        <p:spPr>
          <a:xfrm>
            <a:off x="320040" y="2176272"/>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2359152"/>
            <a:ext cx="1042415" cy="347472"/>
          </a:xfrm>
          <a:prstGeom prst="rect">
            <a:avLst/>
          </a:prstGeom>
          <a:noFill/>
        </p:spPr>
        <p:txBody>
          <a:bodyPr wrap="square">
            <a:spAutoFit/>
          </a:bodyPr>
          <a:lstStyle/>
          <a:p>
            <a:pPr algn="ctr"/>
            <a:r>
              <a:rPr sz="1100" b="1" i="0">
                <a:solidFill>
                  <a:srgbClr val="FFFFFF"/>
                </a:solidFill>
                <a:latin typeface="Calibri"/>
              </a:rPr>
              <a:t>Regression</a:t>
            </a:r>
          </a:p>
        </p:txBody>
      </p:sp>
      <p:sp>
        <p:nvSpPr>
          <p:cNvPr id="14" name="Rectangle 13"/>
          <p:cNvSpPr/>
          <p:nvPr/>
        </p:nvSpPr>
        <p:spPr>
          <a:xfrm>
            <a:off x="1417320" y="2176272"/>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36192" y="2340864"/>
            <a:ext cx="4297680" cy="457200"/>
          </a:xfrm>
          <a:prstGeom prst="rect">
            <a:avLst/>
          </a:prstGeom>
          <a:noFill/>
        </p:spPr>
        <p:txBody>
          <a:bodyPr wrap="square">
            <a:spAutoFit/>
          </a:bodyPr>
          <a:lstStyle/>
          <a:p>
            <a:pPr algn="l"/>
            <a:r>
              <a:rPr sz="1200" b="0" i="0" dirty="0">
                <a:solidFill>
                  <a:srgbClr val="1A1A2E"/>
                </a:solidFill>
                <a:latin typeface="Calibri"/>
              </a:rPr>
              <a:t>✓  β₁ = −6.02** — stablecoin growth compresses OIS–Treasury spreads (privilege amplification)</a:t>
            </a:r>
          </a:p>
        </p:txBody>
      </p:sp>
      <p:sp>
        <p:nvSpPr>
          <p:cNvPr id="16" name="Rectangle 15"/>
          <p:cNvSpPr/>
          <p:nvPr/>
        </p:nvSpPr>
        <p:spPr>
          <a:xfrm>
            <a:off x="320040" y="2935224"/>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3118104"/>
            <a:ext cx="1042415" cy="347472"/>
          </a:xfrm>
          <a:prstGeom prst="rect">
            <a:avLst/>
          </a:prstGeom>
          <a:noFill/>
        </p:spPr>
        <p:txBody>
          <a:bodyPr wrap="square">
            <a:spAutoFit/>
          </a:bodyPr>
          <a:lstStyle/>
          <a:p>
            <a:pPr algn="ctr"/>
            <a:r>
              <a:rPr sz="1100" b="1" i="0">
                <a:solidFill>
                  <a:srgbClr val="FFFFFF"/>
                </a:solidFill>
                <a:latin typeface="Calibri"/>
              </a:rPr>
              <a:t>Threshold</a:t>
            </a:r>
          </a:p>
        </p:txBody>
      </p:sp>
      <p:sp>
        <p:nvSpPr>
          <p:cNvPr id="18" name="Rectangle 17"/>
          <p:cNvSpPr/>
          <p:nvPr/>
        </p:nvSpPr>
        <p:spPr>
          <a:xfrm>
            <a:off x="1417320" y="2935224"/>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36192" y="3099816"/>
            <a:ext cx="4297680" cy="457200"/>
          </a:xfrm>
          <a:prstGeom prst="rect">
            <a:avLst/>
          </a:prstGeom>
          <a:noFill/>
        </p:spPr>
        <p:txBody>
          <a:bodyPr wrap="square">
            <a:spAutoFit/>
          </a:bodyPr>
          <a:lstStyle/>
          <a:p>
            <a:pPr algn="l"/>
            <a:r>
              <a:rPr sz="1200" b="0" i="0" dirty="0">
                <a:solidFill>
                  <a:srgbClr val="1A1A2E"/>
                </a:solidFill>
                <a:latin typeface="Calibri"/>
              </a:rPr>
              <a:t>✓  Hansen (2000) threshold at q* = 13% liquid cash — separates safe from fragile regime</a:t>
            </a:r>
          </a:p>
        </p:txBody>
      </p:sp>
      <p:sp>
        <p:nvSpPr>
          <p:cNvPr id="20" name="Rectangle 19"/>
          <p:cNvSpPr/>
          <p:nvPr/>
        </p:nvSpPr>
        <p:spPr>
          <a:xfrm>
            <a:off x="320040" y="3694176"/>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7472" y="3877056"/>
            <a:ext cx="1042415" cy="347472"/>
          </a:xfrm>
          <a:prstGeom prst="rect">
            <a:avLst/>
          </a:prstGeom>
          <a:noFill/>
        </p:spPr>
        <p:txBody>
          <a:bodyPr wrap="square">
            <a:spAutoFit/>
          </a:bodyPr>
          <a:lstStyle/>
          <a:p>
            <a:pPr algn="ctr"/>
            <a:r>
              <a:rPr sz="1100" b="1" i="0">
                <a:solidFill>
                  <a:srgbClr val="FFFFFF"/>
                </a:solidFill>
                <a:latin typeface="Calibri"/>
              </a:rPr>
              <a:t>Event Study</a:t>
            </a:r>
          </a:p>
        </p:txBody>
      </p:sp>
      <p:sp>
        <p:nvSpPr>
          <p:cNvPr id="22" name="Rectangle 21"/>
          <p:cNvSpPr/>
          <p:nvPr/>
        </p:nvSpPr>
        <p:spPr>
          <a:xfrm>
            <a:off x="1417320" y="3694176"/>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36192" y="3858768"/>
            <a:ext cx="4297680" cy="457200"/>
          </a:xfrm>
          <a:prstGeom prst="rect">
            <a:avLst/>
          </a:prstGeom>
          <a:noFill/>
        </p:spPr>
        <p:txBody>
          <a:bodyPr wrap="square">
            <a:spAutoFit/>
          </a:bodyPr>
          <a:lstStyle/>
          <a:p>
            <a:pPr algn="l"/>
            <a:r>
              <a:rPr sz="1200" b="0" i="0" dirty="0">
                <a:solidFill>
                  <a:srgbClr val="1A1A2E"/>
                </a:solidFill>
                <a:latin typeface="Calibri"/>
              </a:rPr>
              <a:t>✓  3 stress episodes (LUNA, USDT </a:t>
            </a:r>
            <a:r>
              <a:rPr sz="1200" b="0" i="0" dirty="0" err="1">
                <a:solidFill>
                  <a:srgbClr val="1A1A2E"/>
                </a:solidFill>
                <a:latin typeface="Calibri"/>
              </a:rPr>
              <a:t>depeg</a:t>
            </a:r>
            <a:r>
              <a:rPr sz="1200" b="0" i="0" dirty="0">
                <a:solidFill>
                  <a:srgbClr val="1A1A2E"/>
                </a:solidFill>
                <a:latin typeface="Calibri"/>
              </a:rPr>
              <a:t>, SVB) — 27 pp CAR swing between low/high buffer regimes</a:t>
            </a:r>
          </a:p>
        </p:txBody>
      </p:sp>
      <p:sp>
        <p:nvSpPr>
          <p:cNvPr id="24" name="Rectangle 23"/>
          <p:cNvSpPr/>
          <p:nvPr/>
        </p:nvSpPr>
        <p:spPr>
          <a:xfrm>
            <a:off x="320040" y="4453128"/>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7472" y="4636008"/>
            <a:ext cx="1042415" cy="347472"/>
          </a:xfrm>
          <a:prstGeom prst="rect">
            <a:avLst/>
          </a:prstGeom>
          <a:noFill/>
        </p:spPr>
        <p:txBody>
          <a:bodyPr wrap="square">
            <a:spAutoFit/>
          </a:bodyPr>
          <a:lstStyle/>
          <a:p>
            <a:pPr algn="ctr"/>
            <a:r>
              <a:rPr sz="1100" b="1" i="0">
                <a:solidFill>
                  <a:srgbClr val="FFFFFF"/>
                </a:solidFill>
                <a:latin typeface="Calibri"/>
              </a:rPr>
              <a:t>Robustness</a:t>
            </a:r>
          </a:p>
        </p:txBody>
      </p:sp>
      <p:sp>
        <p:nvSpPr>
          <p:cNvPr id="26" name="Rectangle 25"/>
          <p:cNvSpPr/>
          <p:nvPr/>
        </p:nvSpPr>
        <p:spPr>
          <a:xfrm>
            <a:off x="1417320" y="4453128"/>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36192" y="4617720"/>
            <a:ext cx="4297680" cy="457200"/>
          </a:xfrm>
          <a:prstGeom prst="rect">
            <a:avLst/>
          </a:prstGeom>
          <a:noFill/>
        </p:spPr>
        <p:txBody>
          <a:bodyPr wrap="square">
            <a:spAutoFit/>
          </a:bodyPr>
          <a:lstStyle/>
          <a:p>
            <a:pPr algn="l"/>
            <a:r>
              <a:rPr sz="1200" b="0" i="0" dirty="0">
                <a:solidFill>
                  <a:srgbClr val="1A1A2E"/>
                </a:solidFill>
                <a:latin typeface="Calibri"/>
              </a:rPr>
              <a:t>✓  Mean-centering (VIF), Engle-Granger cointegration, first-differenced spec, post-2023 subsample</a:t>
            </a:r>
          </a:p>
        </p:txBody>
      </p:sp>
      <p:sp>
        <p:nvSpPr>
          <p:cNvPr id="28" name="Rectangle 27"/>
          <p:cNvSpPr/>
          <p:nvPr/>
        </p:nvSpPr>
        <p:spPr>
          <a:xfrm>
            <a:off x="320040" y="5212080"/>
            <a:ext cx="1097280" cy="694944"/>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7472" y="5394960"/>
            <a:ext cx="1042415" cy="347472"/>
          </a:xfrm>
          <a:prstGeom prst="rect">
            <a:avLst/>
          </a:prstGeom>
          <a:noFill/>
        </p:spPr>
        <p:txBody>
          <a:bodyPr wrap="square">
            <a:spAutoFit/>
          </a:bodyPr>
          <a:lstStyle/>
          <a:p>
            <a:pPr algn="ctr"/>
            <a:r>
              <a:rPr sz="1100" b="1" i="0" dirty="0">
                <a:solidFill>
                  <a:srgbClr val="FFFFFF"/>
                </a:solidFill>
                <a:latin typeface="Calibri"/>
              </a:rPr>
              <a:t>This deck</a:t>
            </a:r>
          </a:p>
        </p:txBody>
      </p:sp>
      <p:sp>
        <p:nvSpPr>
          <p:cNvPr id="30" name="Rectangle 29"/>
          <p:cNvSpPr/>
          <p:nvPr/>
        </p:nvSpPr>
        <p:spPr>
          <a:xfrm>
            <a:off x="1417320" y="5212080"/>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536192" y="5376672"/>
            <a:ext cx="4297680" cy="457200"/>
          </a:xfrm>
          <a:prstGeom prst="rect">
            <a:avLst/>
          </a:prstGeom>
          <a:noFill/>
        </p:spPr>
        <p:txBody>
          <a:bodyPr wrap="square">
            <a:spAutoFit/>
          </a:bodyPr>
          <a:lstStyle/>
          <a:p>
            <a:pPr algn="l"/>
            <a:r>
              <a:rPr sz="1200" b="0" i="0" dirty="0">
                <a:solidFill>
                  <a:srgbClr val="1A1A2E"/>
                </a:solidFill>
                <a:latin typeface="Calibri"/>
              </a:rPr>
              <a:t>✓  Clarified: why OIS spread, what the buffer condition means, how to read CAR, what each event was</a:t>
            </a:r>
          </a:p>
        </p:txBody>
      </p:sp>
      <p:sp>
        <p:nvSpPr>
          <p:cNvPr id="36" name="TextBox 35"/>
          <p:cNvSpPr txBox="1"/>
          <p:nvPr/>
        </p:nvSpPr>
        <p:spPr>
          <a:xfrm>
            <a:off x="10064750" y="320040"/>
            <a:ext cx="1776730" cy="321945"/>
          </a:xfrm>
          <a:prstGeom prst="rect">
            <a:avLst/>
          </a:prstGeom>
          <a:noFill/>
        </p:spPr>
        <p:txBody>
          <a:bodyPr wrap="square">
            <a:spAutoFit/>
          </a:bodyPr>
          <a:lstStyle/>
          <a:p>
            <a:pPr algn="l"/>
            <a:r>
              <a:rPr lang="en-US" sz="1500" b="1" i="0" dirty="0">
                <a:solidFill>
                  <a:srgbClr val="FFFFFF"/>
                </a:solidFill>
                <a:latin typeface="Calibri"/>
              </a:rPr>
              <a:t>Baptiste– Page 2</a:t>
            </a:r>
            <a:endParaRPr sz="1500" b="1" i="0" dirty="0">
              <a:solidFill>
                <a:srgbClr val="FFFFFF"/>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Why OIS–Treasury Spread, Not Raw Yields?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p>
        </p:txBody>
      </p:sp>
      <p:sp>
        <p:nvSpPr>
          <p:cNvPr id="6" name="Rectangle 5"/>
          <p:cNvSpPr/>
          <p:nvPr/>
        </p:nvSpPr>
        <p:spPr>
          <a:xfrm>
            <a:off x="320040" y="960120"/>
            <a:ext cx="11521440" cy="4572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24128"/>
            <a:ext cx="11064240" cy="347472"/>
          </a:xfrm>
          <a:prstGeom prst="rect">
            <a:avLst/>
          </a:prstGeom>
          <a:noFill/>
        </p:spPr>
        <p:txBody>
          <a:bodyPr wrap="square">
            <a:spAutoFit/>
          </a:bodyPr>
          <a:lstStyle/>
          <a:p>
            <a:pPr algn="l"/>
            <a:r>
              <a:rPr sz="1400" b="0" i="1">
                <a:solidFill>
                  <a:srgbClr val="1B3A72"/>
                </a:solidFill>
                <a:latin typeface="Calibri"/>
              </a:rPr>
              <a:t>A T-bill yield moves for two reasons simultaneously. We need to separate them.</a:t>
            </a:r>
          </a:p>
        </p:txBody>
      </p:sp>
      <p:sp>
        <p:nvSpPr>
          <p:cNvPr id="8" name="Rectangle 7"/>
          <p:cNvSpPr/>
          <p:nvPr/>
        </p:nvSpPr>
        <p:spPr>
          <a:xfrm>
            <a:off x="320040" y="1508760"/>
            <a:ext cx="3749039" cy="4572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3192" y="1536192"/>
            <a:ext cx="3611880" cy="237744"/>
          </a:xfrm>
          <a:prstGeom prst="rect">
            <a:avLst/>
          </a:prstGeom>
          <a:noFill/>
        </p:spPr>
        <p:txBody>
          <a:bodyPr wrap="square">
            <a:spAutoFit/>
          </a:bodyPr>
          <a:lstStyle/>
          <a:p>
            <a:pPr algn="l"/>
            <a:r>
              <a:rPr sz="1300" b="1" i="0">
                <a:solidFill>
                  <a:srgbClr val="FFFFFF"/>
                </a:solidFill>
                <a:latin typeface="Calibri"/>
              </a:rPr>
              <a:t>Raw T-bill Yield</a:t>
            </a:r>
          </a:p>
        </p:txBody>
      </p:sp>
      <p:sp>
        <p:nvSpPr>
          <p:cNvPr id="10" name="TextBox 9"/>
          <p:cNvSpPr txBox="1"/>
          <p:nvPr/>
        </p:nvSpPr>
        <p:spPr>
          <a:xfrm>
            <a:off x="1581912" y="1559200"/>
            <a:ext cx="3611880" cy="201168"/>
          </a:xfrm>
          <a:prstGeom prst="rect">
            <a:avLst/>
          </a:prstGeom>
          <a:noFill/>
        </p:spPr>
        <p:txBody>
          <a:bodyPr wrap="square">
            <a:spAutoFit/>
          </a:bodyPr>
          <a:lstStyle/>
          <a:p>
            <a:pPr algn="l"/>
            <a:r>
              <a:rPr sz="1100" b="0" i="1" dirty="0">
                <a:solidFill>
                  <a:srgbClr val="FFFFFF"/>
                </a:solidFill>
                <a:latin typeface="Calibri"/>
              </a:rPr>
              <a:t>(what we did NOT use)</a:t>
            </a:r>
          </a:p>
        </p:txBody>
      </p:sp>
      <p:sp>
        <p:nvSpPr>
          <p:cNvPr id="11" name="Rectangle 10"/>
          <p:cNvSpPr/>
          <p:nvPr/>
        </p:nvSpPr>
        <p:spPr>
          <a:xfrm>
            <a:off x="320040" y="1965960"/>
            <a:ext cx="3749039" cy="21031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9768" y="2029968"/>
            <a:ext cx="3547872" cy="19659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Driven by Fed rate expectations</a:t>
            </a:r>
          </a:p>
          <a:p>
            <a:pPr algn="l">
              <a:spcBef>
                <a:spcPts val="700"/>
              </a:spcBef>
            </a:pPr>
            <a:r>
              <a:rPr sz="1300" b="0" i="0" dirty="0">
                <a:solidFill>
                  <a:srgbClr val="1A1A2E"/>
                </a:solidFill>
                <a:latin typeface="Calibri"/>
              </a:rPr>
              <a:t>•  Driven by inflation expectations</a:t>
            </a:r>
          </a:p>
          <a:p>
            <a:pPr algn="l">
              <a:spcBef>
                <a:spcPts val="700"/>
              </a:spcBef>
            </a:pPr>
            <a:r>
              <a:rPr sz="1300" b="0" i="0" dirty="0">
                <a:solidFill>
                  <a:srgbClr val="1A1A2E"/>
                </a:solidFill>
                <a:latin typeface="Calibri"/>
              </a:rPr>
              <a:t>•  Driven by safe-asset demand</a:t>
            </a:r>
          </a:p>
          <a:p>
            <a:pPr algn="l">
              <a:spcBef>
                <a:spcPts val="700"/>
              </a:spcBef>
            </a:pPr>
            <a:r>
              <a:rPr sz="1300" b="0" i="0" dirty="0">
                <a:solidFill>
                  <a:srgbClr val="1A1A2E"/>
                </a:solidFill>
                <a:latin typeface="Calibri"/>
              </a:rPr>
              <a:t>•  Cannot distinguish these three forces</a:t>
            </a:r>
          </a:p>
        </p:txBody>
      </p:sp>
      <p:sp>
        <p:nvSpPr>
          <p:cNvPr id="13" name="Rectangle 12"/>
          <p:cNvSpPr/>
          <p:nvPr/>
        </p:nvSpPr>
        <p:spPr>
          <a:xfrm>
            <a:off x="4251960" y="1508760"/>
            <a:ext cx="3749039" cy="4572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25112" y="1536192"/>
            <a:ext cx="3611880" cy="237744"/>
          </a:xfrm>
          <a:prstGeom prst="rect">
            <a:avLst/>
          </a:prstGeom>
          <a:noFill/>
        </p:spPr>
        <p:txBody>
          <a:bodyPr wrap="square">
            <a:spAutoFit/>
          </a:bodyPr>
          <a:lstStyle/>
          <a:p>
            <a:pPr algn="l"/>
            <a:r>
              <a:rPr sz="1300" b="1" i="0">
                <a:solidFill>
                  <a:srgbClr val="FFFFFF"/>
                </a:solidFill>
                <a:latin typeface="Calibri"/>
              </a:rPr>
              <a:t>OIS Rate</a:t>
            </a:r>
          </a:p>
        </p:txBody>
      </p:sp>
      <p:sp>
        <p:nvSpPr>
          <p:cNvPr id="15" name="TextBox 14"/>
          <p:cNvSpPr txBox="1"/>
          <p:nvPr/>
        </p:nvSpPr>
        <p:spPr>
          <a:xfrm>
            <a:off x="5193792" y="1543861"/>
            <a:ext cx="3611880" cy="201168"/>
          </a:xfrm>
          <a:prstGeom prst="rect">
            <a:avLst/>
          </a:prstGeom>
          <a:noFill/>
        </p:spPr>
        <p:txBody>
          <a:bodyPr wrap="square">
            <a:spAutoFit/>
          </a:bodyPr>
          <a:lstStyle/>
          <a:p>
            <a:pPr algn="l"/>
            <a:r>
              <a:rPr sz="1100" b="0" i="1" dirty="0">
                <a:solidFill>
                  <a:srgbClr val="FFFFFF"/>
                </a:solidFill>
                <a:latin typeface="Calibri"/>
              </a:rPr>
              <a:t>(the subtracted benchmark)</a:t>
            </a:r>
          </a:p>
        </p:txBody>
      </p:sp>
      <p:sp>
        <p:nvSpPr>
          <p:cNvPr id="16" name="Rectangle 15"/>
          <p:cNvSpPr/>
          <p:nvPr/>
        </p:nvSpPr>
        <p:spPr>
          <a:xfrm>
            <a:off x="4251960" y="1965960"/>
            <a:ext cx="3749039" cy="21031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1688" y="2029968"/>
            <a:ext cx="3547872" cy="19659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Reflects expected Fed Funds path</a:t>
            </a:r>
          </a:p>
          <a:p>
            <a:pPr algn="l">
              <a:spcBef>
                <a:spcPts val="700"/>
              </a:spcBef>
            </a:pPr>
            <a:r>
              <a:rPr sz="1300" b="0" i="0" dirty="0">
                <a:solidFill>
                  <a:srgbClr val="1A1A2E"/>
                </a:solidFill>
                <a:latin typeface="Calibri"/>
              </a:rPr>
              <a:t>•  Pure monetary policy expectations</a:t>
            </a:r>
          </a:p>
          <a:p>
            <a:pPr algn="l">
              <a:spcBef>
                <a:spcPts val="700"/>
              </a:spcBef>
            </a:pPr>
            <a:r>
              <a:rPr sz="1300" b="0" i="0" dirty="0">
                <a:solidFill>
                  <a:srgbClr val="1A1A2E"/>
                </a:solidFill>
                <a:latin typeface="Calibri"/>
              </a:rPr>
              <a:t>•  No T-bill specific demand embedded</a:t>
            </a:r>
          </a:p>
          <a:p>
            <a:pPr algn="l">
              <a:spcBef>
                <a:spcPts val="700"/>
              </a:spcBef>
            </a:pPr>
            <a:r>
              <a:rPr sz="1300" b="0" i="0" dirty="0">
                <a:solidFill>
                  <a:srgbClr val="1A1A2E"/>
                </a:solidFill>
                <a:latin typeface="Calibri"/>
              </a:rPr>
              <a:t>•  Moves with macro, not stablecoin flows</a:t>
            </a:r>
          </a:p>
        </p:txBody>
      </p:sp>
      <p:sp>
        <p:nvSpPr>
          <p:cNvPr id="18" name="Rectangle 17"/>
          <p:cNvSpPr/>
          <p:nvPr/>
        </p:nvSpPr>
        <p:spPr>
          <a:xfrm>
            <a:off x="8183880" y="1508760"/>
            <a:ext cx="3749039" cy="457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57032" y="1536192"/>
            <a:ext cx="3611880" cy="237744"/>
          </a:xfrm>
          <a:prstGeom prst="rect">
            <a:avLst/>
          </a:prstGeom>
          <a:noFill/>
        </p:spPr>
        <p:txBody>
          <a:bodyPr wrap="square">
            <a:spAutoFit/>
          </a:bodyPr>
          <a:lstStyle/>
          <a:p>
            <a:pPr algn="l"/>
            <a:r>
              <a:rPr sz="1300" b="1" i="0">
                <a:solidFill>
                  <a:srgbClr val="FFFFFF"/>
                </a:solidFill>
                <a:latin typeface="Calibri"/>
              </a:rPr>
              <a:t>OIS–Treasury Spread</a:t>
            </a:r>
          </a:p>
        </p:txBody>
      </p:sp>
      <p:sp>
        <p:nvSpPr>
          <p:cNvPr id="20" name="TextBox 19"/>
          <p:cNvSpPr txBox="1"/>
          <p:nvPr/>
        </p:nvSpPr>
        <p:spPr>
          <a:xfrm>
            <a:off x="9761220" y="1555070"/>
            <a:ext cx="3611880" cy="201168"/>
          </a:xfrm>
          <a:prstGeom prst="rect">
            <a:avLst/>
          </a:prstGeom>
          <a:noFill/>
        </p:spPr>
        <p:txBody>
          <a:bodyPr wrap="square">
            <a:spAutoFit/>
          </a:bodyPr>
          <a:lstStyle/>
          <a:p>
            <a:pPr algn="l"/>
            <a:r>
              <a:rPr sz="1100" b="0" i="1" dirty="0">
                <a:solidFill>
                  <a:srgbClr val="FFFFFF"/>
                </a:solidFill>
                <a:latin typeface="Calibri"/>
              </a:rPr>
              <a:t>(our dependent variable)</a:t>
            </a:r>
          </a:p>
        </p:txBody>
      </p:sp>
      <p:sp>
        <p:nvSpPr>
          <p:cNvPr id="21" name="Rectangle 20"/>
          <p:cNvSpPr/>
          <p:nvPr/>
        </p:nvSpPr>
        <p:spPr>
          <a:xfrm>
            <a:off x="8183880" y="1965960"/>
            <a:ext cx="3749039" cy="21031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93608" y="2029968"/>
            <a:ext cx="3547872" cy="19659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 T-bill yield  −  OIS rate</a:t>
            </a:r>
          </a:p>
          <a:p>
            <a:pPr algn="l">
              <a:spcBef>
                <a:spcPts val="700"/>
              </a:spcBef>
            </a:pPr>
            <a:r>
              <a:rPr sz="1300" b="0" i="0" dirty="0">
                <a:solidFill>
                  <a:srgbClr val="1A1A2E"/>
                </a:solidFill>
                <a:latin typeface="Calibri"/>
              </a:rPr>
              <a:t>❖  Cancels out monetary policy</a:t>
            </a:r>
          </a:p>
          <a:p>
            <a:pPr algn="l">
              <a:spcBef>
                <a:spcPts val="700"/>
              </a:spcBef>
            </a:pPr>
            <a:r>
              <a:rPr sz="1300" b="0" i="0" dirty="0">
                <a:solidFill>
                  <a:srgbClr val="1A1A2E"/>
                </a:solidFill>
                <a:latin typeface="Calibri"/>
              </a:rPr>
              <a:t>❖  Isolates convenience / safety premium</a:t>
            </a:r>
          </a:p>
          <a:p>
            <a:pPr algn="l">
              <a:spcBef>
                <a:spcPts val="700"/>
              </a:spcBef>
            </a:pPr>
            <a:r>
              <a:rPr sz="1300" b="0" i="0" dirty="0">
                <a:solidFill>
                  <a:srgbClr val="1A1A2E"/>
                </a:solidFill>
                <a:latin typeface="Calibri"/>
              </a:rPr>
              <a:t>❖  Only moves when T-bill demand shifts</a:t>
            </a:r>
          </a:p>
        </p:txBody>
      </p:sp>
      <p:sp>
        <p:nvSpPr>
          <p:cNvPr id="23" name="Rectangle 22"/>
          <p:cNvSpPr/>
          <p:nvPr/>
        </p:nvSpPr>
        <p:spPr>
          <a:xfrm>
            <a:off x="320039" y="4187952"/>
            <a:ext cx="11612879" cy="32004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4187952"/>
            <a:ext cx="11064240" cy="274320"/>
          </a:xfrm>
          <a:prstGeom prst="rect">
            <a:avLst/>
          </a:prstGeom>
          <a:noFill/>
        </p:spPr>
        <p:txBody>
          <a:bodyPr wrap="square">
            <a:spAutoFit/>
          </a:bodyPr>
          <a:lstStyle/>
          <a:p>
            <a:pPr algn="l"/>
            <a:r>
              <a:rPr sz="1300" b="1" i="0">
                <a:solidFill>
                  <a:srgbClr val="FFFFFF"/>
                </a:solidFill>
                <a:latin typeface="Calibri"/>
              </a:rPr>
              <a:t>Literature precedent for using this spread as the convenience yield:</a:t>
            </a:r>
          </a:p>
        </p:txBody>
      </p:sp>
      <p:sp>
        <p:nvSpPr>
          <p:cNvPr id="25" name="Rectangle 24"/>
          <p:cNvSpPr/>
          <p:nvPr/>
        </p:nvSpPr>
        <p:spPr>
          <a:xfrm>
            <a:off x="320040" y="4507992"/>
            <a:ext cx="3749039"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9768" y="4572000"/>
            <a:ext cx="3547872" cy="411480"/>
          </a:xfrm>
          <a:prstGeom prst="rect">
            <a:avLst/>
          </a:prstGeom>
          <a:noFill/>
        </p:spPr>
        <p:txBody>
          <a:bodyPr wrap="square">
            <a:spAutoFit/>
          </a:bodyPr>
          <a:lstStyle/>
          <a:p>
            <a:pPr algn="l"/>
            <a:r>
              <a:rPr sz="1200" b="1" i="0">
                <a:solidFill>
                  <a:srgbClr val="1B3A72"/>
                </a:solidFill>
                <a:latin typeface="Calibri"/>
              </a:rPr>
              <a:t>Krishnamurthy &amp;
Vissing-Jorgensen (2012)</a:t>
            </a:r>
          </a:p>
        </p:txBody>
      </p:sp>
      <p:sp>
        <p:nvSpPr>
          <p:cNvPr id="27" name="TextBox 26"/>
          <p:cNvSpPr txBox="1"/>
          <p:nvPr/>
        </p:nvSpPr>
        <p:spPr>
          <a:xfrm>
            <a:off x="429768" y="5010912"/>
            <a:ext cx="3547872" cy="430887"/>
          </a:xfrm>
          <a:prstGeom prst="rect">
            <a:avLst/>
          </a:prstGeom>
          <a:noFill/>
        </p:spPr>
        <p:txBody>
          <a:bodyPr wrap="square">
            <a:spAutoFit/>
          </a:bodyPr>
          <a:lstStyle/>
          <a:p>
            <a:pPr algn="l"/>
            <a:r>
              <a:rPr sz="1100" b="0" i="0" dirty="0">
                <a:solidFill>
                  <a:srgbClr val="1A1A2E"/>
                </a:solidFill>
                <a:latin typeface="Calibri"/>
              </a:rPr>
              <a:t>JF — use T-bill spread to measure how much investors pay for Treasuries' </a:t>
            </a:r>
            <a:r>
              <a:rPr sz="1100" b="1" i="0" dirty="0">
                <a:solidFill>
                  <a:srgbClr val="1A1A2E"/>
                </a:solidFill>
                <a:latin typeface="Calibri"/>
              </a:rPr>
              <a:t>safety and liquidity</a:t>
            </a:r>
          </a:p>
        </p:txBody>
      </p:sp>
      <p:sp>
        <p:nvSpPr>
          <p:cNvPr id="28" name="Rectangle 27"/>
          <p:cNvSpPr/>
          <p:nvPr/>
        </p:nvSpPr>
        <p:spPr>
          <a:xfrm>
            <a:off x="4251960" y="4507992"/>
            <a:ext cx="3749039"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61688" y="4572000"/>
            <a:ext cx="3547872" cy="411480"/>
          </a:xfrm>
          <a:prstGeom prst="rect">
            <a:avLst/>
          </a:prstGeom>
          <a:noFill/>
        </p:spPr>
        <p:txBody>
          <a:bodyPr wrap="square">
            <a:spAutoFit/>
          </a:bodyPr>
          <a:lstStyle/>
          <a:p>
            <a:pPr algn="l"/>
            <a:r>
              <a:rPr sz="1200" b="1" i="0">
                <a:solidFill>
                  <a:srgbClr val="1B3A72"/>
                </a:solidFill>
                <a:latin typeface="Calibri"/>
              </a:rPr>
              <a:t>Nagel (2016)</a:t>
            </a:r>
          </a:p>
        </p:txBody>
      </p:sp>
      <p:sp>
        <p:nvSpPr>
          <p:cNvPr id="30" name="TextBox 29"/>
          <p:cNvSpPr txBox="1"/>
          <p:nvPr/>
        </p:nvSpPr>
        <p:spPr>
          <a:xfrm>
            <a:off x="4361688" y="5010912"/>
            <a:ext cx="3547872" cy="430887"/>
          </a:xfrm>
          <a:prstGeom prst="rect">
            <a:avLst/>
          </a:prstGeom>
          <a:noFill/>
        </p:spPr>
        <p:txBody>
          <a:bodyPr wrap="square">
            <a:spAutoFit/>
          </a:bodyPr>
          <a:lstStyle/>
          <a:p>
            <a:pPr algn="l"/>
            <a:r>
              <a:rPr sz="1100" b="0" i="0" dirty="0">
                <a:solidFill>
                  <a:srgbClr val="1A1A2E"/>
                </a:solidFill>
                <a:latin typeface="Calibri"/>
              </a:rPr>
              <a:t>RFS — defines OIS–T-bill spread as the </a:t>
            </a:r>
            <a:r>
              <a:rPr sz="1100" b="1" i="0" dirty="0">
                <a:solidFill>
                  <a:srgbClr val="1A1A2E"/>
                </a:solidFill>
                <a:latin typeface="Calibri"/>
              </a:rPr>
              <a:t>'convenience yield' </a:t>
            </a:r>
            <a:r>
              <a:rPr sz="1100" b="0" i="0" dirty="0">
                <a:solidFill>
                  <a:srgbClr val="1A1A2E"/>
                </a:solidFill>
                <a:latin typeface="Calibri"/>
              </a:rPr>
              <a:t>of near-money assets</a:t>
            </a:r>
          </a:p>
        </p:txBody>
      </p:sp>
      <p:sp>
        <p:nvSpPr>
          <p:cNvPr id="31" name="Rectangle 30"/>
          <p:cNvSpPr/>
          <p:nvPr/>
        </p:nvSpPr>
        <p:spPr>
          <a:xfrm>
            <a:off x="8183880" y="4507992"/>
            <a:ext cx="3749039" cy="1417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93608" y="4572000"/>
            <a:ext cx="3547872" cy="411480"/>
          </a:xfrm>
          <a:prstGeom prst="rect">
            <a:avLst/>
          </a:prstGeom>
          <a:noFill/>
        </p:spPr>
        <p:txBody>
          <a:bodyPr wrap="square">
            <a:spAutoFit/>
          </a:bodyPr>
          <a:lstStyle/>
          <a:p>
            <a:pPr algn="l"/>
            <a:r>
              <a:rPr sz="1200" b="1" i="0">
                <a:solidFill>
                  <a:srgbClr val="1B3A72"/>
                </a:solidFill>
                <a:latin typeface="Calibri"/>
              </a:rPr>
              <a:t>Greenwood, Hanson
&amp; Stein (2015)</a:t>
            </a:r>
          </a:p>
        </p:txBody>
      </p:sp>
      <p:sp>
        <p:nvSpPr>
          <p:cNvPr id="33" name="TextBox 32"/>
          <p:cNvSpPr txBox="1"/>
          <p:nvPr/>
        </p:nvSpPr>
        <p:spPr>
          <a:xfrm>
            <a:off x="8293608" y="5010912"/>
            <a:ext cx="3547872" cy="430887"/>
          </a:xfrm>
          <a:prstGeom prst="rect">
            <a:avLst/>
          </a:prstGeom>
          <a:noFill/>
        </p:spPr>
        <p:txBody>
          <a:bodyPr wrap="square">
            <a:spAutoFit/>
          </a:bodyPr>
          <a:lstStyle/>
          <a:p>
            <a:pPr algn="l"/>
            <a:r>
              <a:rPr sz="1100" b="0" i="0" dirty="0">
                <a:solidFill>
                  <a:srgbClr val="1A1A2E"/>
                </a:solidFill>
                <a:latin typeface="Calibri"/>
              </a:rPr>
              <a:t>QJE — show T-bill spread captures special demand that is </a:t>
            </a:r>
            <a:r>
              <a:rPr sz="1100" b="1" i="0" dirty="0">
                <a:solidFill>
                  <a:srgbClr val="1A1A2E"/>
                </a:solidFill>
                <a:latin typeface="Calibri"/>
              </a:rPr>
              <a:t>insensitive to monetary policy</a:t>
            </a:r>
          </a:p>
        </p:txBody>
      </p:sp>
      <p:sp>
        <p:nvSpPr>
          <p:cNvPr id="34" name="Rectangle 33"/>
          <p:cNvSpPr/>
          <p:nvPr/>
        </p:nvSpPr>
        <p:spPr>
          <a:xfrm>
            <a:off x="0" y="5843016"/>
            <a:ext cx="12188952" cy="850392"/>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6007608"/>
            <a:ext cx="11274552" cy="804672"/>
          </a:xfrm>
          <a:prstGeom prst="rect">
            <a:avLst/>
          </a:prstGeom>
          <a:noFill/>
        </p:spPr>
        <p:txBody>
          <a:bodyPr wrap="square">
            <a:spAutoFit/>
          </a:bodyPr>
          <a:lstStyle/>
          <a:p>
            <a:pPr algn="ctr"/>
            <a:r>
              <a:rPr sz="1700" b="1" i="0">
                <a:solidFill>
                  <a:srgbClr val="FFFFFF"/>
                </a:solidFill>
                <a:latin typeface="Calibri"/>
              </a:rPr>
              <a:t>When stablecoin issuers buy T-bills, T-bill yields fall but OIS does not move. Only the spread captures this demand shock. Raw yields would conflate it with Fed policy.</a:t>
            </a:r>
          </a:p>
        </p:txBody>
      </p:sp>
      <p:sp>
        <p:nvSpPr>
          <p:cNvPr id="36" name="TextBox 35"/>
          <p:cNvSpPr txBox="1"/>
          <p:nvPr/>
        </p:nvSpPr>
        <p:spPr>
          <a:xfrm>
            <a:off x="10265434" y="320040"/>
            <a:ext cx="1576046" cy="323165"/>
          </a:xfrm>
          <a:prstGeom prst="rect">
            <a:avLst/>
          </a:prstGeom>
          <a:noFill/>
        </p:spPr>
        <p:txBody>
          <a:bodyPr wrap="square">
            <a:spAutoFit/>
          </a:bodyPr>
          <a:lstStyle/>
          <a:p>
            <a:pPr algn="l"/>
            <a:r>
              <a:rPr lang="en-US" sz="1500" b="1" i="0" dirty="0">
                <a:solidFill>
                  <a:srgbClr val="FFFFFF"/>
                </a:solidFill>
                <a:latin typeface="Calibri"/>
              </a:rPr>
              <a:t>Sara – Page 3</a:t>
            </a:r>
            <a:endParaRPr sz="1500" b="1" i="0" dirty="0">
              <a:solidFill>
                <a:srgbClr val="FFFFFF"/>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is the Buffer Condition?</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p>
        </p:txBody>
      </p:sp>
      <p:sp>
        <p:nvSpPr>
          <p:cNvPr id="6" name="Rectangle 5"/>
          <p:cNvSpPr/>
          <p:nvPr/>
        </p:nvSpPr>
        <p:spPr>
          <a:xfrm>
            <a:off x="320040" y="960120"/>
            <a:ext cx="11521440" cy="13716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05840"/>
            <a:ext cx="11064240" cy="320040"/>
          </a:xfrm>
          <a:prstGeom prst="rect">
            <a:avLst/>
          </a:prstGeom>
          <a:noFill/>
        </p:spPr>
        <p:txBody>
          <a:bodyPr wrap="square">
            <a:spAutoFit/>
          </a:bodyPr>
          <a:lstStyle/>
          <a:p>
            <a:pPr algn="l"/>
            <a:r>
              <a:rPr sz="1400" b="1" i="0">
                <a:solidFill>
                  <a:srgbClr val="AAC4E8"/>
                </a:solidFill>
                <a:latin typeface="Calibri"/>
              </a:rPr>
              <a:t>Definition:</a:t>
            </a:r>
          </a:p>
        </p:txBody>
      </p:sp>
      <p:sp>
        <p:nvSpPr>
          <p:cNvPr id="8" name="TextBox 7"/>
          <p:cNvSpPr txBox="1"/>
          <p:nvPr/>
        </p:nvSpPr>
        <p:spPr>
          <a:xfrm>
            <a:off x="502920" y="1325880"/>
            <a:ext cx="11064240" cy="369332"/>
          </a:xfrm>
          <a:prstGeom prst="rect">
            <a:avLst/>
          </a:prstGeom>
          <a:noFill/>
        </p:spPr>
        <p:txBody>
          <a:bodyPr wrap="square">
            <a:spAutoFit/>
          </a:bodyPr>
          <a:lstStyle/>
          <a:p>
            <a:pPr algn="ctr"/>
            <a:r>
              <a:rPr sz="1800" b="1" i="0" dirty="0">
                <a:solidFill>
                  <a:srgbClr val="FFFFFF"/>
                </a:solidFill>
                <a:latin typeface="AppleGothic" pitchFamily="2" charset="-127"/>
                <a:ea typeface="AppleGothic" pitchFamily="2" charset="-127"/>
              </a:rPr>
              <a:t>L  =  Liquid Buffer  =  Cash </a:t>
            </a:r>
            <a:r>
              <a:rPr lang="en-US" sz="1800" b="1" i="0" dirty="0">
                <a:solidFill>
                  <a:srgbClr val="FFFFFF"/>
                </a:solidFill>
                <a:latin typeface="AppleGothic" pitchFamily="2" charset="-127"/>
                <a:ea typeface="AppleGothic" pitchFamily="2" charset="-127"/>
              </a:rPr>
              <a:t>&amp;</a:t>
            </a:r>
            <a:r>
              <a:rPr sz="1800" b="1" i="0" dirty="0">
                <a:solidFill>
                  <a:srgbClr val="FFFFFF"/>
                </a:solidFill>
                <a:latin typeface="AppleGothic" pitchFamily="2" charset="-127"/>
                <a:ea typeface="AppleGothic" pitchFamily="2" charset="-127"/>
              </a:rPr>
              <a:t> Cash-Equivalent Reserves  ÷  Total Stablecoin Supply</a:t>
            </a:r>
          </a:p>
        </p:txBody>
      </p:sp>
      <p:sp>
        <p:nvSpPr>
          <p:cNvPr id="9" name="TextBox 8"/>
          <p:cNvSpPr txBox="1"/>
          <p:nvPr/>
        </p:nvSpPr>
        <p:spPr>
          <a:xfrm>
            <a:off x="502920" y="1860804"/>
            <a:ext cx="11064240" cy="292388"/>
          </a:xfrm>
          <a:prstGeom prst="rect">
            <a:avLst/>
          </a:prstGeom>
          <a:noFill/>
        </p:spPr>
        <p:txBody>
          <a:bodyPr wrap="square">
            <a:spAutoFit/>
          </a:bodyPr>
          <a:lstStyle/>
          <a:p>
            <a:pPr algn="ctr"/>
            <a:r>
              <a:rPr sz="1300" b="0" i="1" dirty="0">
                <a:solidFill>
                  <a:srgbClr val="AAC4E8"/>
                </a:solidFill>
                <a:latin typeface="Calibri"/>
              </a:rPr>
              <a:t>Estimated from Hansen (2000) threshold regression:   L*  =  13%  of supply</a:t>
            </a:r>
          </a:p>
        </p:txBody>
      </p:sp>
      <p:sp>
        <p:nvSpPr>
          <p:cNvPr id="10" name="Rectangle 9"/>
          <p:cNvSpPr/>
          <p:nvPr/>
        </p:nvSpPr>
        <p:spPr>
          <a:xfrm>
            <a:off x="320040" y="2423160"/>
            <a:ext cx="557784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2450592"/>
            <a:ext cx="5394960" cy="347472"/>
          </a:xfrm>
          <a:prstGeom prst="rect">
            <a:avLst/>
          </a:prstGeom>
          <a:noFill/>
        </p:spPr>
        <p:txBody>
          <a:bodyPr wrap="square">
            <a:spAutoFit/>
          </a:bodyPr>
          <a:lstStyle/>
          <a:p>
            <a:pPr algn="ctr"/>
            <a:r>
              <a:rPr sz="1400" b="1" i="0">
                <a:solidFill>
                  <a:srgbClr val="FFFFFF"/>
                </a:solidFill>
                <a:latin typeface="Calibri"/>
              </a:rPr>
              <a:t>LOW BUFFER  (L &lt; 13%)</a:t>
            </a:r>
          </a:p>
        </p:txBody>
      </p:sp>
      <p:sp>
        <p:nvSpPr>
          <p:cNvPr id="12" name="TextBox 11"/>
          <p:cNvSpPr txBox="1"/>
          <p:nvPr/>
        </p:nvSpPr>
        <p:spPr>
          <a:xfrm>
            <a:off x="411480" y="2862072"/>
            <a:ext cx="5394960" cy="256032"/>
          </a:xfrm>
          <a:prstGeom prst="rect">
            <a:avLst/>
          </a:prstGeom>
          <a:noFill/>
        </p:spPr>
        <p:txBody>
          <a:bodyPr wrap="square">
            <a:spAutoFit/>
          </a:bodyPr>
          <a:lstStyle/>
          <a:p>
            <a:pPr algn="ctr"/>
            <a:r>
              <a:rPr sz="1100" b="0" i="1" dirty="0">
                <a:solidFill>
                  <a:srgbClr val="555566"/>
                </a:solidFill>
                <a:latin typeface="Calibri"/>
              </a:rPr>
              <a:t>e.g. Tether in May 2022: ~5–8% cash</a:t>
            </a:r>
          </a:p>
        </p:txBody>
      </p:sp>
      <p:sp>
        <p:nvSpPr>
          <p:cNvPr id="13" name="Rectangle 12"/>
          <p:cNvSpPr/>
          <p:nvPr/>
        </p:nvSpPr>
        <p:spPr>
          <a:xfrm>
            <a:off x="320040" y="3118104"/>
            <a:ext cx="5577840" cy="233172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182112"/>
            <a:ext cx="5321808" cy="21945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Issuer holds mostly T-bills, very little cash</a:t>
            </a:r>
          </a:p>
          <a:p>
            <a:pPr algn="l">
              <a:spcBef>
                <a:spcPts val="600"/>
              </a:spcBef>
            </a:pPr>
            <a:r>
              <a:rPr sz="1300" b="0" i="0" dirty="0">
                <a:solidFill>
                  <a:srgbClr val="1A1A2E"/>
                </a:solidFill>
                <a:latin typeface="Calibri"/>
              </a:rPr>
              <a:t>→  When investors redeem stablecoins for dollars...</a:t>
            </a:r>
          </a:p>
          <a:p>
            <a:pPr algn="l">
              <a:spcBef>
                <a:spcPts val="600"/>
              </a:spcBef>
            </a:pPr>
            <a:r>
              <a:rPr sz="1300" b="0" i="0" dirty="0">
                <a:solidFill>
                  <a:srgbClr val="1A1A2E"/>
                </a:solidFill>
                <a:latin typeface="Calibri"/>
              </a:rPr>
              <a:t>→  Issuer MUST sell T-bills to raise the cash</a:t>
            </a:r>
          </a:p>
          <a:p>
            <a:pPr algn="l">
              <a:spcBef>
                <a:spcPts val="600"/>
              </a:spcBef>
            </a:pPr>
            <a:r>
              <a:rPr sz="1300" b="0" i="0" dirty="0">
                <a:solidFill>
                  <a:srgbClr val="1A1A2E"/>
                </a:solidFill>
                <a:latin typeface="Calibri"/>
              </a:rPr>
              <a:t>→  This selling pushes T-bill yields UP</a:t>
            </a:r>
          </a:p>
          <a:p>
            <a:pPr algn="l">
              <a:spcBef>
                <a:spcPts val="600"/>
              </a:spcBef>
            </a:pPr>
            <a:r>
              <a:rPr sz="1300" b="0" i="0" dirty="0">
                <a:solidFill>
                  <a:srgbClr val="1A1A2E"/>
                </a:solidFill>
                <a:latin typeface="Calibri"/>
              </a:rPr>
              <a:t>→  OIS-Treasury spread SPIKES (CAR is positive)</a:t>
            </a:r>
          </a:p>
        </p:txBody>
      </p:sp>
      <p:sp>
        <p:nvSpPr>
          <p:cNvPr id="15" name="Rectangle 14"/>
          <p:cNvSpPr/>
          <p:nvPr/>
        </p:nvSpPr>
        <p:spPr>
          <a:xfrm>
            <a:off x="320040" y="5449824"/>
            <a:ext cx="557784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5477256"/>
            <a:ext cx="5376672" cy="320040"/>
          </a:xfrm>
          <a:prstGeom prst="rect">
            <a:avLst/>
          </a:prstGeom>
          <a:noFill/>
        </p:spPr>
        <p:txBody>
          <a:bodyPr wrap="square">
            <a:spAutoFit/>
          </a:bodyPr>
          <a:lstStyle/>
          <a:p>
            <a:pPr algn="ctr"/>
            <a:r>
              <a:rPr sz="1200" b="1" i="0">
                <a:solidFill>
                  <a:srgbClr val="FFFFFF"/>
                </a:solidFill>
                <a:latin typeface="Calibri"/>
              </a:rPr>
              <a:t>The issuer becomes a forced seller into an already-stressed market.</a:t>
            </a:r>
          </a:p>
        </p:txBody>
      </p:sp>
      <p:sp>
        <p:nvSpPr>
          <p:cNvPr id="17" name="Rectangle 16"/>
          <p:cNvSpPr/>
          <p:nvPr/>
        </p:nvSpPr>
        <p:spPr>
          <a:xfrm>
            <a:off x="6217920" y="2423160"/>
            <a:ext cx="5577840" cy="4114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2450592"/>
            <a:ext cx="5394960" cy="347472"/>
          </a:xfrm>
          <a:prstGeom prst="rect">
            <a:avLst/>
          </a:prstGeom>
          <a:noFill/>
        </p:spPr>
        <p:txBody>
          <a:bodyPr wrap="square">
            <a:spAutoFit/>
          </a:bodyPr>
          <a:lstStyle/>
          <a:p>
            <a:pPr algn="ctr"/>
            <a:r>
              <a:rPr sz="1400" b="1" i="0">
                <a:solidFill>
                  <a:srgbClr val="FFFFFF"/>
                </a:solidFill>
                <a:latin typeface="Calibri"/>
              </a:rPr>
              <a:t>HIGH BUFFER  (L ≥ 13%)</a:t>
            </a:r>
          </a:p>
        </p:txBody>
      </p:sp>
      <p:sp>
        <p:nvSpPr>
          <p:cNvPr id="19" name="TextBox 18"/>
          <p:cNvSpPr txBox="1"/>
          <p:nvPr/>
        </p:nvSpPr>
        <p:spPr>
          <a:xfrm>
            <a:off x="6309360" y="2862072"/>
            <a:ext cx="5394960" cy="256032"/>
          </a:xfrm>
          <a:prstGeom prst="rect">
            <a:avLst/>
          </a:prstGeom>
          <a:noFill/>
        </p:spPr>
        <p:txBody>
          <a:bodyPr wrap="square">
            <a:spAutoFit/>
          </a:bodyPr>
          <a:lstStyle/>
          <a:p>
            <a:pPr algn="ctr"/>
            <a:r>
              <a:rPr sz="1100" b="0" i="1">
                <a:solidFill>
                  <a:srgbClr val="555566"/>
                </a:solidFill>
                <a:latin typeface="Calibri"/>
              </a:rPr>
              <a:t>e.g. Circle in March 2023: ~18–22% cash</a:t>
            </a:r>
          </a:p>
        </p:txBody>
      </p:sp>
      <p:sp>
        <p:nvSpPr>
          <p:cNvPr id="20" name="Rectangle 19"/>
          <p:cNvSpPr/>
          <p:nvPr/>
        </p:nvSpPr>
        <p:spPr>
          <a:xfrm>
            <a:off x="6217920" y="3118104"/>
            <a:ext cx="5577840" cy="23317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3182112"/>
            <a:ext cx="5321808" cy="2194560"/>
          </a:xfrm>
          <a:prstGeom prst="rect">
            <a:avLst/>
          </a:prstGeom>
          <a:noFill/>
        </p:spPr>
        <p:txBody>
          <a:bodyPr wrap="square">
            <a:spAutoFit/>
          </a:bodyPr>
          <a:lstStyle/>
          <a:p>
            <a:pPr>
              <a:spcBef>
                <a:spcPts val="0"/>
              </a:spcBef>
            </a:pPr>
            <a:endParaRPr dirty="0"/>
          </a:p>
          <a:p>
            <a:pPr algn="l">
              <a:spcBef>
                <a:spcPts val="200"/>
              </a:spcBef>
            </a:pPr>
            <a:r>
              <a:rPr sz="1300" b="0" i="0" dirty="0">
                <a:solidFill>
                  <a:srgbClr val="1A1A2E"/>
                </a:solidFill>
                <a:latin typeface="Calibri"/>
              </a:rPr>
              <a:t>❖  Issuer holds substantial cash reserves</a:t>
            </a:r>
          </a:p>
          <a:p>
            <a:pPr algn="l">
              <a:spcBef>
                <a:spcPts val="600"/>
              </a:spcBef>
            </a:pPr>
            <a:r>
              <a:rPr sz="1300" b="0" i="0" dirty="0">
                <a:solidFill>
                  <a:srgbClr val="1A1A2E"/>
                </a:solidFill>
                <a:latin typeface="Calibri"/>
              </a:rPr>
              <a:t>→  When investors redeem stablecoins for dollars...</a:t>
            </a:r>
          </a:p>
          <a:p>
            <a:pPr algn="l">
              <a:spcBef>
                <a:spcPts val="600"/>
              </a:spcBef>
            </a:pPr>
            <a:r>
              <a:rPr sz="1300" b="0" i="0" dirty="0">
                <a:solidFill>
                  <a:srgbClr val="1A1A2E"/>
                </a:solidFill>
                <a:latin typeface="Calibri"/>
              </a:rPr>
              <a:t>→  Issuer pays out from cash — T-bills untouched</a:t>
            </a:r>
          </a:p>
          <a:p>
            <a:pPr algn="l">
              <a:spcBef>
                <a:spcPts val="600"/>
              </a:spcBef>
            </a:pPr>
            <a:r>
              <a:rPr sz="1300" b="0" i="0" dirty="0">
                <a:solidFill>
                  <a:srgbClr val="1A1A2E"/>
                </a:solidFill>
                <a:latin typeface="Calibri"/>
              </a:rPr>
              <a:t>→  No forced selling, no T-bill yield pressure</a:t>
            </a:r>
          </a:p>
          <a:p>
            <a:pPr algn="l">
              <a:spcBef>
                <a:spcPts val="600"/>
              </a:spcBef>
            </a:pPr>
            <a:r>
              <a:rPr sz="1300" b="0" i="0" dirty="0">
                <a:solidFill>
                  <a:srgbClr val="1A1A2E"/>
                </a:solidFill>
                <a:latin typeface="Calibri"/>
              </a:rPr>
              <a:t>→  Spread does NOT spike from issuer behavior</a:t>
            </a:r>
          </a:p>
        </p:txBody>
      </p:sp>
      <p:sp>
        <p:nvSpPr>
          <p:cNvPr id="22" name="Rectangle 21"/>
          <p:cNvSpPr/>
          <p:nvPr/>
        </p:nvSpPr>
        <p:spPr>
          <a:xfrm>
            <a:off x="6217920" y="5449824"/>
            <a:ext cx="5577840" cy="3840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27648" y="5477256"/>
            <a:ext cx="5376672" cy="320040"/>
          </a:xfrm>
          <a:prstGeom prst="rect">
            <a:avLst/>
          </a:prstGeom>
          <a:noFill/>
        </p:spPr>
        <p:txBody>
          <a:bodyPr wrap="square">
            <a:spAutoFit/>
          </a:bodyPr>
          <a:lstStyle/>
          <a:p>
            <a:pPr algn="ctr"/>
            <a:r>
              <a:rPr sz="1200" b="1" i="0">
                <a:solidFill>
                  <a:srgbClr val="FFFFFF"/>
                </a:solidFill>
                <a:latin typeface="Calibri"/>
              </a:rPr>
              <a:t>The cash buffer absorbs the redemption shock. T-bill market is insulated.</a:t>
            </a:r>
          </a:p>
        </p:txBody>
      </p:sp>
      <p:sp>
        <p:nvSpPr>
          <p:cNvPr id="24" name="Rectangle 23"/>
          <p:cNvSpPr/>
          <p:nvPr/>
        </p:nvSpPr>
        <p:spPr>
          <a:xfrm>
            <a:off x="0" y="5907024"/>
            <a:ext cx="12188952" cy="786384"/>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7220" y="6099048"/>
            <a:ext cx="11274552" cy="804672"/>
          </a:xfrm>
          <a:prstGeom prst="rect">
            <a:avLst/>
          </a:prstGeom>
          <a:noFill/>
        </p:spPr>
        <p:txBody>
          <a:bodyPr wrap="square">
            <a:spAutoFit/>
          </a:bodyPr>
          <a:lstStyle/>
          <a:p>
            <a:pPr algn="ctr"/>
            <a:r>
              <a:rPr sz="1700" b="1" i="0" dirty="0">
                <a:solidFill>
                  <a:srgbClr val="FFFFFF"/>
                </a:solidFill>
                <a:latin typeface="Calibri"/>
              </a:rPr>
              <a:t>The buffer condition is what separates a stablecoin issuer that </a:t>
            </a:r>
            <a:r>
              <a:rPr sz="1700" b="1" i="0" dirty="0" err="1">
                <a:solidFill>
                  <a:srgbClr val="FFFFFF"/>
                </a:solidFill>
                <a:latin typeface="Calibri"/>
              </a:rPr>
              <a:t>stabilises</a:t>
            </a:r>
            <a:r>
              <a:rPr sz="1700" b="1" i="0" dirty="0">
                <a:solidFill>
                  <a:srgbClr val="FFFFFF"/>
                </a:solidFill>
                <a:latin typeface="Calibri"/>
              </a:rPr>
              <a:t> Treasury markets from one that disrupts them.</a:t>
            </a:r>
          </a:p>
        </p:txBody>
      </p:sp>
      <p:sp>
        <p:nvSpPr>
          <p:cNvPr id="26" name="TextBox 25"/>
          <p:cNvSpPr txBox="1"/>
          <p:nvPr/>
        </p:nvSpPr>
        <p:spPr>
          <a:xfrm>
            <a:off x="10265434" y="320040"/>
            <a:ext cx="1576046" cy="323165"/>
          </a:xfrm>
          <a:prstGeom prst="rect">
            <a:avLst/>
          </a:prstGeom>
          <a:noFill/>
        </p:spPr>
        <p:txBody>
          <a:bodyPr wrap="square">
            <a:spAutoFit/>
          </a:bodyPr>
          <a:lstStyle/>
          <a:p>
            <a:pPr algn="l"/>
            <a:r>
              <a:rPr lang="en-US" sz="1500" b="1" i="0" dirty="0">
                <a:solidFill>
                  <a:srgbClr val="FFFFFF"/>
                </a:solidFill>
                <a:latin typeface="Calibri"/>
              </a:rPr>
              <a:t>Sara – Page 4</a:t>
            </a:r>
            <a:endParaRPr sz="1500" b="1" i="0" dirty="0">
              <a:solidFill>
                <a:srgbClr val="FFFFFF"/>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2400" dirty="0">
                <a:solidFill>
                  <a:srgbClr val="FFFFFF"/>
                </a:solidFill>
                <a:latin typeface="Calibri"/>
                <a:sym typeface="+mn-ea"/>
              </a:rPr>
              <a:t>CAR</a:t>
            </a:r>
            <a:r>
              <a:rPr lang="en-US" sz="2400" dirty="0">
                <a:solidFill>
                  <a:srgbClr val="FFFFFF"/>
                </a:solidFill>
                <a:latin typeface="Calibri"/>
                <a:sym typeface="+mn-ea"/>
              </a:rPr>
              <a:t> and Conditioned Event Study</a:t>
            </a:r>
          </a:p>
        </p:txBody>
      </p:sp>
      <p:sp>
        <p:nvSpPr>
          <p:cNvPr id="6" name="Rectangle 5"/>
          <p:cNvSpPr/>
          <p:nvPr/>
        </p:nvSpPr>
        <p:spPr>
          <a:xfrm>
            <a:off x="85725" y="960120"/>
            <a:ext cx="5603875" cy="71247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latin typeface="Calibri"/>
                <a:sym typeface="+mn-ea"/>
              </a:rPr>
              <a:t>CAR = Cumulative Abnormal Return on the OIS–Treasury Spread</a:t>
            </a:r>
          </a:p>
        </p:txBody>
      </p:sp>
      <p:sp>
        <p:nvSpPr>
          <p:cNvPr id="10" name="Rectangle 9"/>
          <p:cNvSpPr/>
          <p:nvPr/>
        </p:nvSpPr>
        <p:spPr>
          <a:xfrm>
            <a:off x="85725" y="1672590"/>
            <a:ext cx="5603240" cy="51206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b="1">
                <a:solidFill>
                  <a:srgbClr val="1B3A72"/>
                </a:solidFill>
                <a:latin typeface="Calibri"/>
                <a:sym typeface="+mn-ea"/>
              </a:rPr>
              <a:t>Step 1 — Build a Normal Model</a:t>
            </a:r>
            <a:endParaRPr b="1" i="0">
              <a:solidFill>
                <a:srgbClr val="1B3A72"/>
              </a:solidFill>
              <a:latin typeface="Calibri"/>
            </a:endParaRPr>
          </a:p>
          <a:p>
            <a:pPr algn="l"/>
            <a:r>
              <a:rPr lang="en-US" altLang="en-US" dirty="0">
                <a:solidFill>
                  <a:srgbClr val="1A1A2E"/>
                </a:solidFill>
                <a:latin typeface="Calibri"/>
                <a:sym typeface="+mn-ea"/>
              </a:rPr>
              <a:t>120 to 6 days before event → regression using VIX and global equity returns → predicts what the spread should be.</a:t>
            </a:r>
            <a:br>
              <a:rPr lang="en-US" altLang="en-US" dirty="0">
                <a:solidFill>
                  <a:srgbClr val="1A1A2E"/>
                </a:solidFill>
                <a:latin typeface="Calibri"/>
                <a:sym typeface="+mn-ea"/>
              </a:rPr>
            </a:br>
            <a:r>
              <a:rPr dirty="0">
                <a:solidFill>
                  <a:srgbClr val="1A1A2E"/>
                </a:solidFill>
                <a:latin typeface="Calibri"/>
                <a:sym typeface="+mn-ea"/>
              </a:rPr>
              <a:t>Spread = f(VIX, </a:t>
            </a:r>
            <a:r>
              <a:rPr dirty="0" err="1">
                <a:solidFill>
                  <a:srgbClr val="1A1A2E"/>
                </a:solidFill>
                <a:latin typeface="Calibri"/>
                <a:sym typeface="+mn-ea"/>
              </a:rPr>
              <a:t>ΔlnN</a:t>
            </a:r>
            <a:r>
              <a:rPr dirty="0">
                <a:solidFill>
                  <a:srgbClr val="1A1A2E"/>
                </a:solidFill>
                <a:latin typeface="Calibri"/>
                <a:sym typeface="+mn-ea"/>
              </a:rPr>
              <a:t>*)   →   this captures how the spread normally responds to market conditions.</a:t>
            </a:r>
            <a:br>
              <a:rPr dirty="0">
                <a:solidFill>
                  <a:srgbClr val="1A1A2E"/>
                </a:solidFill>
                <a:latin typeface="Calibri"/>
                <a:sym typeface="+mn-ea"/>
              </a:rPr>
            </a:br>
            <a:r>
              <a:rPr b="1">
                <a:solidFill>
                  <a:srgbClr val="1B3A72"/>
                </a:solidFill>
                <a:latin typeface="Calibri"/>
                <a:sym typeface="+mn-ea"/>
              </a:rPr>
              <a:t>Step 2 — Compute the Abnormal Spread</a:t>
            </a:r>
            <a:endParaRPr b="1" i="0">
              <a:solidFill>
                <a:srgbClr val="1B3A72"/>
              </a:solidFill>
              <a:latin typeface="Calibri"/>
            </a:endParaRPr>
          </a:p>
          <a:p>
            <a:pPr algn="l"/>
            <a:r>
              <a:rPr>
                <a:solidFill>
                  <a:srgbClr val="1A1A2E"/>
                </a:solidFill>
                <a:latin typeface="Calibri"/>
                <a:sym typeface="+mn-ea"/>
              </a:rPr>
              <a:t>For each day in the event window (5 days before to 20 days after the event):</a:t>
            </a:r>
            <a:br>
              <a:rPr>
                <a:solidFill>
                  <a:srgbClr val="1A1A2E"/>
                </a:solidFill>
                <a:latin typeface="Calibri"/>
                <a:sym typeface="+mn-ea"/>
              </a:rPr>
            </a:br>
            <a:r>
              <a:rPr>
                <a:solidFill>
                  <a:srgbClr val="1A1A2E"/>
                </a:solidFill>
                <a:latin typeface="Calibri"/>
                <a:sym typeface="+mn-ea"/>
              </a:rPr>
              <a:t>Abnormal Spread = Actual Spread  −  Predicted Spread</a:t>
            </a:r>
            <a:br>
              <a:rPr>
                <a:solidFill>
                  <a:srgbClr val="1A1A2E"/>
                </a:solidFill>
                <a:latin typeface="Calibri"/>
                <a:sym typeface="+mn-ea"/>
              </a:rPr>
            </a:br>
            <a:r>
              <a:rPr b="1">
                <a:solidFill>
                  <a:srgbClr val="1B3A72"/>
                </a:solidFill>
                <a:latin typeface="Calibri"/>
                <a:sym typeface="+mn-ea"/>
              </a:rPr>
              <a:t>Step 3 — Cumulate into CAR</a:t>
            </a:r>
            <a:endParaRPr b="1" i="0">
              <a:solidFill>
                <a:srgbClr val="1B3A72"/>
              </a:solidFill>
              <a:latin typeface="Calibri"/>
            </a:endParaRPr>
          </a:p>
          <a:p>
            <a:pPr algn="l"/>
            <a:r>
              <a:rPr>
                <a:solidFill>
                  <a:srgbClr val="1A1A2E"/>
                </a:solidFill>
                <a:latin typeface="Calibri"/>
                <a:sym typeface="+mn-ea"/>
              </a:rPr>
              <a:t>CAR on day τ = sum of all abnormal spreads from day −5 to day τ</a:t>
            </a:r>
            <a:br>
              <a:rPr>
                <a:solidFill>
                  <a:srgbClr val="1A1A2E"/>
                </a:solidFill>
                <a:latin typeface="Calibri"/>
                <a:sym typeface="+mn-ea"/>
              </a:rPr>
            </a:br>
            <a:r>
              <a:rPr lang="en-US" altLang="en-US">
                <a:solidFill>
                  <a:srgbClr val="1A1A2E"/>
                </a:solidFill>
                <a:latin typeface="Calibri"/>
                <a:sym typeface="+mn-ea"/>
              </a:rPr>
              <a:t>X-axis: trading days relative to event (day 0 = crisis date)</a:t>
            </a:r>
          </a:p>
          <a:p>
            <a:pPr algn="l"/>
            <a:r>
              <a:rPr>
                <a:solidFill>
                  <a:srgbClr val="1A1A2E"/>
                </a:solidFill>
                <a:latin typeface="Calibri"/>
                <a:sym typeface="+mn-ea"/>
              </a:rPr>
              <a:t>Y-axis unit: percentage points (pp) of spread deviation accumulated since 5 days before the event.</a:t>
            </a:r>
            <a:endParaRPr lang="en-US" dirty="0">
              <a:solidFill>
                <a:srgbClr val="1A1A2E"/>
              </a:solidFill>
              <a:latin typeface="Calibri"/>
              <a:sym typeface="+mn-ea"/>
            </a:endParaRPr>
          </a:p>
        </p:txBody>
      </p:sp>
      <p:sp>
        <p:nvSpPr>
          <p:cNvPr id="34" name="TextBox 33"/>
          <p:cNvSpPr txBox="1"/>
          <p:nvPr/>
        </p:nvSpPr>
        <p:spPr>
          <a:xfrm>
            <a:off x="10150475" y="320040"/>
            <a:ext cx="1691005" cy="321945"/>
          </a:xfrm>
          <a:prstGeom prst="rect">
            <a:avLst/>
          </a:prstGeom>
          <a:noFill/>
        </p:spPr>
        <p:txBody>
          <a:bodyPr wrap="square">
            <a:spAutoFit/>
          </a:bodyPr>
          <a:lstStyle/>
          <a:p>
            <a:pPr algn="l"/>
            <a:r>
              <a:rPr lang="en-US" sz="1500" b="1" dirty="0">
                <a:solidFill>
                  <a:srgbClr val="FFFFFF"/>
                </a:solidFill>
                <a:latin typeface="Calibri"/>
              </a:rPr>
              <a:t>Oybek</a:t>
            </a:r>
            <a:r>
              <a:rPr lang="en-US" sz="1500" b="1" i="0" dirty="0">
                <a:solidFill>
                  <a:srgbClr val="FFFFFF"/>
                </a:solidFill>
                <a:latin typeface="Calibri"/>
              </a:rPr>
              <a:t> – Page </a:t>
            </a:r>
            <a:r>
              <a:rPr lang="en-US" sz="1500" b="1" dirty="0">
                <a:solidFill>
                  <a:srgbClr val="FFFFFF"/>
                </a:solidFill>
                <a:latin typeface="Calibri"/>
              </a:rPr>
              <a:t>5</a:t>
            </a:r>
            <a:endParaRPr sz="1500" b="1" i="0" dirty="0">
              <a:solidFill>
                <a:srgbClr val="FFFFFF"/>
              </a:solidFill>
              <a:latin typeface="Calibri"/>
            </a:endParaRPr>
          </a:p>
        </p:txBody>
      </p:sp>
      <p:sp>
        <p:nvSpPr>
          <p:cNvPr id="38" name="Rectangle 37"/>
          <p:cNvSpPr/>
          <p:nvPr/>
        </p:nvSpPr>
        <p:spPr>
          <a:xfrm>
            <a:off x="6082030" y="960120"/>
            <a:ext cx="5603875" cy="71247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rgbClr val="FFFFFF"/>
                </a:solidFill>
                <a:latin typeface="Calibri"/>
                <a:sym typeface="+mn-ea"/>
              </a:rPr>
              <a:t>Buffer-Conditioned </a:t>
            </a:r>
            <a:r>
              <a:rPr b="1">
                <a:solidFill>
                  <a:srgbClr val="FFFFFF"/>
                </a:solidFill>
                <a:latin typeface="Calibri"/>
                <a:sym typeface="+mn-ea"/>
              </a:rPr>
              <a:t>Cumulative Abnormal OIS–Treasury Spread</a:t>
            </a:r>
          </a:p>
        </p:txBody>
      </p:sp>
      <p:sp>
        <p:nvSpPr>
          <p:cNvPr id="39" name="Rectangle 38"/>
          <p:cNvSpPr/>
          <p:nvPr/>
        </p:nvSpPr>
        <p:spPr>
          <a:xfrm>
            <a:off x="6186170" y="5503545"/>
            <a:ext cx="5382895" cy="125349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400"/>
              <a:t>Event 2: USDT partial depeg — May 12, 2022 (3 days later) | Buffer: LOW (~5–8%) | CAR = +8.85 pp*** | Unlike UST (algorithmic, no real reserves), USDT was fiat-backed — a direct confidence run on real reserves. Same buffer. Same CAR. Different trigger. Same outcome.</a:t>
            </a:r>
          </a:p>
        </p:txBody>
      </p:sp>
      <p:pic>
        <p:nvPicPr>
          <p:cNvPr id="41" name="Picture 40"/>
          <p:cNvPicPr>
            <a:picLocks noChangeAspect="1"/>
          </p:cNvPicPr>
          <p:nvPr/>
        </p:nvPicPr>
        <p:blipFill>
          <a:blip r:embed="rId3"/>
          <a:stretch>
            <a:fillRect/>
          </a:stretch>
        </p:blipFill>
        <p:spPr>
          <a:xfrm>
            <a:off x="6082030" y="1672590"/>
            <a:ext cx="5603240" cy="37357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6" grpId="0" animBg="1"/>
      <p:bldP spid="6" grpId="1" animBg="1"/>
      <p:bldP spid="10" grpId="0" animBg="1"/>
      <p:bldP spid="10" grpId="1" animBg="1"/>
      <p:bldP spid="38" grpId="0" animBg="1"/>
      <p:bldP spid="38" grpId="1" animBg="1"/>
      <p:bldP spid="39" grpId="0" animBg="1"/>
      <p:bldP spid="3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7335"/>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492443"/>
          </a:xfrm>
          <a:prstGeom prst="rect">
            <a:avLst/>
          </a:prstGeom>
          <a:noFill/>
        </p:spPr>
        <p:txBody>
          <a:bodyPr wrap="square">
            <a:spAutoFit/>
          </a:bodyPr>
          <a:lstStyle/>
          <a:p>
            <a:pPr algn="l"/>
            <a:r>
              <a:rPr sz="2600" b="0" i="0" dirty="0">
                <a:solidFill>
                  <a:srgbClr val="FFFFFF"/>
                </a:solidFill>
                <a:latin typeface="Calibri"/>
              </a:rPr>
              <a:t>Event 3: USDC / S</a:t>
            </a:r>
            <a:r>
              <a:rPr lang="en-US" sz="2600" b="0" i="0" dirty="0">
                <a:solidFill>
                  <a:srgbClr val="FFFFFF"/>
                </a:solidFill>
                <a:latin typeface="Calibri"/>
              </a:rPr>
              <a:t>ilicon Valley Bank</a:t>
            </a:r>
            <a:r>
              <a:rPr sz="2600" b="0" i="0" dirty="0">
                <a:solidFill>
                  <a:srgbClr val="FFFFFF"/>
                </a:solidFill>
                <a:latin typeface="Calibri"/>
              </a:rPr>
              <a:t> Failure — March 1</a:t>
            </a:r>
            <a:r>
              <a:rPr lang="en-US" sz="2600" b="0" i="0" dirty="0">
                <a:solidFill>
                  <a:srgbClr val="FFFFFF"/>
                </a:solidFill>
                <a:latin typeface="Calibri"/>
              </a:rPr>
              <a:t>0</a:t>
            </a:r>
            <a:r>
              <a:rPr sz="2600" b="0" i="0" dirty="0">
                <a:solidFill>
                  <a:srgbClr val="FFFFFF"/>
                </a:solidFill>
                <a:latin typeface="Calibri"/>
              </a:rPr>
              <a:t>, 2023</a:t>
            </a:r>
          </a:p>
        </p:txBody>
      </p:sp>
      <p:sp>
        <p:nvSpPr>
          <p:cNvPr id="6" name="Rectangle 5"/>
          <p:cNvSpPr/>
          <p:nvPr/>
        </p:nvSpPr>
        <p:spPr>
          <a:xfrm>
            <a:off x="320040" y="960120"/>
            <a:ext cx="11521440" cy="3840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987552"/>
            <a:ext cx="11064240" cy="310896"/>
          </a:xfrm>
          <a:prstGeom prst="rect">
            <a:avLst/>
          </a:prstGeom>
          <a:noFill/>
        </p:spPr>
        <p:txBody>
          <a:bodyPr wrap="square">
            <a:spAutoFit/>
          </a:bodyPr>
          <a:lstStyle/>
          <a:p>
            <a:pPr algn="ctr"/>
            <a:r>
              <a:rPr sz="1300" b="1" i="0">
                <a:solidFill>
                  <a:srgbClr val="FFFFFF"/>
                </a:solidFill>
                <a:latin typeface="Calibri"/>
              </a:rPr>
              <a:t>Buffer Condition: HIGH   |   L ≈ 18–22% cash   |   CAR = −18.01 pp***   |   t-stat &gt; 30</a:t>
            </a:r>
          </a:p>
        </p:txBody>
      </p:sp>
      <p:sp>
        <p:nvSpPr>
          <p:cNvPr id="8" name="Rectangle 7"/>
          <p:cNvSpPr/>
          <p:nvPr/>
        </p:nvSpPr>
        <p:spPr>
          <a:xfrm>
            <a:off x="320040" y="1417320"/>
            <a:ext cx="11522075" cy="149987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81328"/>
            <a:ext cx="5212080" cy="274320"/>
          </a:xfrm>
          <a:prstGeom prst="rect">
            <a:avLst/>
          </a:prstGeom>
          <a:noFill/>
        </p:spPr>
        <p:txBody>
          <a:bodyPr wrap="square">
            <a:spAutoFit/>
          </a:bodyPr>
          <a:lstStyle/>
          <a:p>
            <a:pPr algn="l"/>
            <a:r>
              <a:rPr sz="1400" b="1" i="0">
                <a:solidFill>
                  <a:srgbClr val="1B3A72"/>
                </a:solidFill>
                <a:latin typeface="Calibri"/>
              </a:rPr>
              <a:t>What happened</a:t>
            </a:r>
          </a:p>
        </p:txBody>
      </p:sp>
      <p:sp>
        <p:nvSpPr>
          <p:cNvPr id="10" name="TextBox 9"/>
          <p:cNvSpPr txBox="1"/>
          <p:nvPr/>
        </p:nvSpPr>
        <p:spPr>
          <a:xfrm>
            <a:off x="457200" y="1810385"/>
            <a:ext cx="11370310" cy="1060450"/>
          </a:xfrm>
          <a:prstGeom prst="rect">
            <a:avLst/>
          </a:prstGeom>
          <a:noFill/>
        </p:spPr>
        <p:txBody>
          <a:bodyPr wrap="square">
            <a:spAutoFit/>
          </a:bodyPr>
          <a:lstStyle/>
          <a:p>
            <a:pPr>
              <a:spcBef>
                <a:spcPts val="0"/>
              </a:spcBef>
            </a:pPr>
            <a:r>
              <a:rPr sz="1200" b="0" i="0" dirty="0">
                <a:solidFill>
                  <a:srgbClr val="1A1A2E"/>
                </a:solidFill>
                <a:latin typeface="Calibri"/>
              </a:rPr>
              <a:t>❖  SVB failed on March 10, 2023 — the second-largest US bank failure in history</a:t>
            </a:r>
          </a:p>
          <a:p>
            <a:pPr algn="l">
              <a:spcBef>
                <a:spcPts val="600"/>
              </a:spcBef>
            </a:pPr>
            <a:r>
              <a:rPr sz="1200" b="0" i="0" dirty="0">
                <a:solidFill>
                  <a:srgbClr val="1A1A2E"/>
                </a:solidFill>
                <a:latin typeface="Calibri"/>
              </a:rPr>
              <a:t>❖  Circle disclosed: $3.3 billion of USDC reserves were held at SVB — temporarily inaccessible</a:t>
            </a:r>
          </a:p>
          <a:p>
            <a:pPr algn="l">
              <a:spcBef>
                <a:spcPts val="600"/>
              </a:spcBef>
            </a:pPr>
            <a:r>
              <a:rPr sz="1200" b="0" i="0" dirty="0">
                <a:solidFill>
                  <a:srgbClr val="1A1A2E"/>
                </a:solidFill>
                <a:latin typeface="Calibri"/>
              </a:rPr>
              <a:t>❖  USDC </a:t>
            </a:r>
            <a:r>
              <a:rPr sz="1200" b="0" i="0" dirty="0" err="1">
                <a:solidFill>
                  <a:srgbClr val="1A1A2E"/>
                </a:solidFill>
                <a:latin typeface="Calibri"/>
              </a:rPr>
              <a:t>depegged</a:t>
            </a:r>
            <a:r>
              <a:rPr sz="1200" b="0" i="0" dirty="0">
                <a:solidFill>
                  <a:srgbClr val="1A1A2E"/>
                </a:solidFill>
                <a:latin typeface="Calibri"/>
              </a:rPr>
              <a:t> to ~$0.87 on March 11 — a larger nominal </a:t>
            </a:r>
            <a:r>
              <a:rPr sz="1200" b="0" i="0" dirty="0" err="1">
                <a:solidFill>
                  <a:srgbClr val="1A1A2E"/>
                </a:solidFill>
                <a:latin typeface="Calibri"/>
              </a:rPr>
              <a:t>depeg</a:t>
            </a:r>
            <a:r>
              <a:rPr sz="1200" b="0" i="0" dirty="0">
                <a:solidFill>
                  <a:srgbClr val="1A1A2E"/>
                </a:solidFill>
                <a:latin typeface="Calibri"/>
              </a:rPr>
              <a:t> than USDT in 2022</a:t>
            </a:r>
          </a:p>
          <a:p>
            <a:pPr algn="l">
              <a:spcBef>
                <a:spcPts val="600"/>
              </a:spcBef>
            </a:pPr>
            <a:r>
              <a:rPr sz="1200" b="0" i="0" dirty="0">
                <a:solidFill>
                  <a:srgbClr val="1A1A2E"/>
                </a:solidFill>
                <a:latin typeface="Calibri"/>
              </a:rPr>
              <a:t>❖  But by March 13, after the US government guaranteed SVB deposits, USDC returned to $1.00</a:t>
            </a:r>
          </a:p>
        </p:txBody>
      </p:sp>
      <p:sp>
        <p:nvSpPr>
          <p:cNvPr id="14" name="Rectangle 13"/>
          <p:cNvSpPr/>
          <p:nvPr/>
        </p:nvSpPr>
        <p:spPr>
          <a:xfrm>
            <a:off x="4168140" y="3188335"/>
            <a:ext cx="7673975" cy="713105"/>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Bef>
                <a:spcPts val="0"/>
              </a:spcBef>
            </a:pPr>
            <a:r>
              <a:rPr sz="1000">
                <a:solidFill>
                  <a:srgbClr val="1A1A2E"/>
                </a:solidFill>
                <a:latin typeface="Calibri"/>
                <a:sym typeface="+mn-ea"/>
              </a:rPr>
              <a:t>Circle used its large cash buffer to meet redemptions</a:t>
            </a:r>
            <a:r>
              <a:rPr lang="en-US" sz="1000">
                <a:solidFill>
                  <a:srgbClr val="1A1A2E"/>
                </a:solidFill>
                <a:latin typeface="Calibri"/>
                <a:sym typeface="+mn-ea"/>
              </a:rPr>
              <a:t>. </a:t>
            </a:r>
            <a:r>
              <a:rPr sz="1000">
                <a:solidFill>
                  <a:srgbClr val="1A1A2E"/>
                </a:solidFill>
                <a:latin typeface="Calibri"/>
                <a:sym typeface="+mn-ea"/>
              </a:rPr>
              <a:t>Did NOT need to sell T-bills</a:t>
            </a:r>
            <a:endParaRPr sz="1000" b="0" i="0">
              <a:solidFill>
                <a:srgbClr val="1A1A2E"/>
              </a:solidFill>
              <a:latin typeface="Calibri"/>
            </a:endParaRPr>
          </a:p>
          <a:p>
            <a:pPr algn="l">
              <a:spcBef>
                <a:spcPts val="500"/>
              </a:spcBef>
            </a:pPr>
            <a:r>
              <a:rPr sz="1000">
                <a:solidFill>
                  <a:srgbClr val="1A1A2E"/>
                </a:solidFill>
                <a:latin typeface="Calibri"/>
                <a:sym typeface="+mn-ea"/>
              </a:rPr>
              <a:t>No forced selling pressure from the issuer side</a:t>
            </a:r>
            <a:r>
              <a:rPr lang="en-US" sz="1000">
                <a:solidFill>
                  <a:srgbClr val="1A1A2E"/>
                </a:solidFill>
                <a:latin typeface="Calibri"/>
                <a:sym typeface="+mn-ea"/>
              </a:rPr>
              <a:t>. </a:t>
            </a:r>
            <a:r>
              <a:rPr sz="1000" b="1">
                <a:solidFill>
                  <a:srgbClr val="1A7A4A"/>
                </a:solidFill>
                <a:latin typeface="Calibri"/>
                <a:sym typeface="+mn-ea"/>
              </a:rPr>
              <a:t>→ This is what a flat CAR would look like IF nothing else happened</a:t>
            </a:r>
          </a:p>
        </p:txBody>
      </p:sp>
      <p:sp>
        <p:nvSpPr>
          <p:cNvPr id="15" name="Rectangle 14"/>
          <p:cNvSpPr/>
          <p:nvPr/>
        </p:nvSpPr>
        <p:spPr>
          <a:xfrm>
            <a:off x="4168140" y="2938145"/>
            <a:ext cx="7673975" cy="263525"/>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sym typeface="+mn-ea"/>
              </a:rPr>
              <a:t>Force A: Circle's behavior (HIGH BUFFER)</a:t>
            </a:r>
            <a:endParaRPr sz="1000"/>
          </a:p>
        </p:txBody>
      </p:sp>
      <p:sp>
        <p:nvSpPr>
          <p:cNvPr id="18" name="Rectangle 17"/>
          <p:cNvSpPr/>
          <p:nvPr/>
        </p:nvSpPr>
        <p:spPr>
          <a:xfrm>
            <a:off x="4168140" y="4268470"/>
            <a:ext cx="7673975" cy="789305"/>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spcBef>
                <a:spcPts val="200"/>
              </a:spcBef>
            </a:pPr>
            <a:r>
              <a:rPr sz="1000">
                <a:solidFill>
                  <a:srgbClr val="1A1A2E"/>
                </a:solidFill>
                <a:latin typeface="Calibri"/>
                <a:sym typeface="+mn-ea"/>
              </a:rPr>
              <a:t>SVB's failure caused widespread panic — investors fled to safety</a:t>
            </a:r>
            <a:r>
              <a:rPr lang="en-US" sz="1000">
                <a:solidFill>
                  <a:srgbClr val="1A1A2E"/>
                </a:solidFill>
                <a:latin typeface="Calibri"/>
                <a:sym typeface="+mn-ea"/>
              </a:rPr>
              <a:t>. </a:t>
            </a:r>
            <a:r>
              <a:rPr sz="1000">
                <a:solidFill>
                  <a:srgbClr val="1A1A2E"/>
                </a:solidFill>
                <a:latin typeface="Calibri"/>
                <a:sym typeface="+mn-ea"/>
              </a:rPr>
              <a:t>Massive buying of U.S. T-bills (the safest short-term asset)</a:t>
            </a:r>
            <a:endParaRPr sz="1000" b="0" i="0">
              <a:solidFill>
                <a:srgbClr val="1A1A2E"/>
              </a:solidFill>
              <a:latin typeface="Calibri"/>
            </a:endParaRPr>
          </a:p>
          <a:p>
            <a:pPr algn="l">
              <a:spcBef>
                <a:spcPts val="500"/>
              </a:spcBef>
            </a:pPr>
            <a:r>
              <a:rPr sz="1000">
                <a:solidFill>
                  <a:srgbClr val="1A1A2E"/>
                </a:solidFill>
                <a:latin typeface="Calibri"/>
                <a:sym typeface="+mn-ea"/>
              </a:rPr>
              <a:t>This BUYING pushed T-bill yields DOWN relative to OIS</a:t>
            </a:r>
            <a:r>
              <a:rPr lang="en-US" sz="1000">
                <a:solidFill>
                  <a:srgbClr val="1A1A2E"/>
                </a:solidFill>
                <a:latin typeface="Calibri"/>
                <a:sym typeface="+mn-ea"/>
              </a:rPr>
              <a:t>. </a:t>
            </a:r>
            <a:r>
              <a:rPr sz="1000" b="1">
                <a:solidFill>
                  <a:srgbClr val="C0392B"/>
                </a:solidFill>
                <a:latin typeface="Calibri"/>
                <a:sym typeface="+mn-ea"/>
              </a:rPr>
              <a:t>→ Spread compressed far BELOW what the normal model predicted</a:t>
            </a:r>
            <a:endParaRPr sz="1000"/>
          </a:p>
        </p:txBody>
      </p:sp>
      <p:sp>
        <p:nvSpPr>
          <p:cNvPr id="19" name="Rectangle 18"/>
          <p:cNvSpPr/>
          <p:nvPr/>
        </p:nvSpPr>
        <p:spPr>
          <a:xfrm>
            <a:off x="4168140" y="3958590"/>
            <a:ext cx="7673975" cy="2921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sym typeface="+mn-ea"/>
              </a:rPr>
              <a:t>Force B: Market-wide flight to safety</a:t>
            </a:r>
            <a:endParaRPr sz="1000"/>
          </a:p>
        </p:txBody>
      </p:sp>
      <p:sp>
        <p:nvSpPr>
          <p:cNvPr id="22" name="Rectangle 21"/>
          <p:cNvSpPr/>
          <p:nvPr/>
        </p:nvSpPr>
        <p:spPr>
          <a:xfrm>
            <a:off x="4168775" y="5166360"/>
            <a:ext cx="7718425" cy="6400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sym typeface="+mn-ea"/>
              </a:rPr>
              <a:t>Net effect: Force A (no selling) + Force B (active buying) = CAR of −18 pp
The graph is NEGATIVE, not flat, because of pure market flight-to-safety — not issuer behavior.</a:t>
            </a:r>
            <a:endParaRPr sz="1000"/>
          </a:p>
        </p:txBody>
      </p:sp>
      <p:sp>
        <p:nvSpPr>
          <p:cNvPr id="26" name="TextBox 25"/>
          <p:cNvSpPr txBox="1"/>
          <p:nvPr/>
        </p:nvSpPr>
        <p:spPr>
          <a:xfrm>
            <a:off x="10265434" y="320040"/>
            <a:ext cx="1576046" cy="321945"/>
          </a:xfrm>
          <a:prstGeom prst="rect">
            <a:avLst/>
          </a:prstGeom>
          <a:noFill/>
        </p:spPr>
        <p:txBody>
          <a:bodyPr wrap="square">
            <a:spAutoFit/>
          </a:bodyPr>
          <a:lstStyle/>
          <a:p>
            <a:pPr algn="l"/>
            <a:r>
              <a:rPr lang="en-US" sz="1500" b="1" i="0" dirty="0">
                <a:solidFill>
                  <a:srgbClr val="FFFFFF"/>
                </a:solidFill>
                <a:latin typeface="Calibri"/>
              </a:rPr>
              <a:t>Mimi – Page 6</a:t>
            </a:r>
            <a:endParaRPr sz="1500" b="1" i="0" dirty="0">
              <a:solidFill>
                <a:srgbClr val="FFFFFF"/>
              </a:solidFill>
              <a:latin typeface="Calibri"/>
            </a:endParaRPr>
          </a:p>
        </p:txBody>
      </p:sp>
      <p:pic>
        <p:nvPicPr>
          <p:cNvPr id="27" name="Picture 26" descr="event_study_cars.png"/>
          <p:cNvPicPr>
            <a:picLocks noChangeAspect="1"/>
          </p:cNvPicPr>
          <p:nvPr/>
        </p:nvPicPr>
        <p:blipFill>
          <a:blip r:embed="rId3"/>
          <a:srcRect l="65879"/>
          <a:stretch>
            <a:fillRect/>
          </a:stretch>
        </p:blipFill>
        <p:spPr>
          <a:xfrm>
            <a:off x="320040" y="2990215"/>
            <a:ext cx="3399790" cy="2645410"/>
          </a:xfrm>
          <a:prstGeom prst="rect">
            <a:avLst/>
          </a:prstGeom>
        </p:spPr>
      </p:pic>
      <p:sp>
        <p:nvSpPr>
          <p:cNvPr id="29" name="Rectangle 28"/>
          <p:cNvSpPr/>
          <p:nvPr/>
        </p:nvSpPr>
        <p:spPr>
          <a:xfrm>
            <a:off x="-10160" y="5915025"/>
            <a:ext cx="12198985" cy="1113155"/>
          </a:xfrm>
          <a:prstGeom prst="rect">
            <a:avLst/>
          </a:prstGeom>
          <a:solidFill>
            <a:schemeClr val="bg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lang="en-US" b="1" dirty="0">
                <a:solidFill>
                  <a:schemeClr val="tx1"/>
                </a:solidFill>
                <a:latin typeface="Calibri"/>
                <a:sym typeface="+mn-ea"/>
              </a:rPr>
              <a:t>T</a:t>
            </a:r>
            <a:r>
              <a:rPr b="1" dirty="0">
                <a:solidFill>
                  <a:schemeClr val="tx1"/>
                </a:solidFill>
                <a:latin typeface="Calibri"/>
                <a:sym typeface="+mn-ea"/>
              </a:rPr>
              <a:t>he 27 pp swing</a:t>
            </a:r>
            <a:br>
              <a:rPr b="1" dirty="0">
                <a:solidFill>
                  <a:schemeClr val="tx1"/>
                </a:solidFill>
                <a:latin typeface="Calibri"/>
                <a:sym typeface="+mn-ea"/>
              </a:rPr>
            </a:br>
            <a:r>
              <a:rPr lang="en-US" altLang="en-US" b="1" i="0" dirty="0">
                <a:solidFill>
                  <a:schemeClr val="tx1"/>
                </a:solidFill>
                <a:latin typeface="Calibri"/>
              </a:rPr>
              <a:t>2022- Low buffer (LUNA + USDT avg): +8.9 pp | 2023High buffer (SVB): −18.0 pp | Swing: 26.9 pp | </a:t>
            </a:r>
            <a:br>
              <a:rPr lang="en-US" altLang="en-US" b="1" i="0" dirty="0">
                <a:solidFill>
                  <a:schemeClr val="tx1"/>
                </a:solidFill>
                <a:latin typeface="Calibri"/>
              </a:rPr>
            </a:br>
            <a:r>
              <a:rPr lang="en-US" altLang="en-US" b="1" i="0" dirty="0">
                <a:solidFill>
                  <a:schemeClr val="tx1"/>
                </a:solidFill>
                <a:latin typeface="Calibri"/>
              </a:rPr>
              <a:t>Welch t = 15.22*** | p &lt; 0.001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7006374" cy="492443"/>
          </a:xfrm>
          <a:prstGeom prst="rect">
            <a:avLst/>
          </a:prstGeom>
          <a:noFill/>
        </p:spPr>
        <p:txBody>
          <a:bodyPr wrap="square">
            <a:spAutoFit/>
          </a:bodyPr>
          <a:lstStyle/>
          <a:p>
            <a:pPr algn="l"/>
            <a:r>
              <a:rPr sz="2600" b="0" i="0" dirty="0">
                <a:solidFill>
                  <a:srgbClr val="FFFFFF"/>
                </a:solidFill>
                <a:latin typeface="Calibri"/>
              </a:rPr>
              <a:t>Roadmap</a:t>
            </a:r>
          </a:p>
        </p:txBody>
      </p:sp>
      <p:sp>
        <p:nvSpPr>
          <p:cNvPr id="6" name="Rectangle 5"/>
          <p:cNvSpPr/>
          <p:nvPr/>
        </p:nvSpPr>
        <p:spPr>
          <a:xfrm>
            <a:off x="320040" y="960120"/>
            <a:ext cx="5577840" cy="38404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87552"/>
            <a:ext cx="5394960" cy="310896"/>
          </a:xfrm>
          <a:prstGeom prst="rect">
            <a:avLst/>
          </a:prstGeom>
          <a:noFill/>
        </p:spPr>
        <p:txBody>
          <a:bodyPr wrap="square">
            <a:spAutoFit/>
          </a:bodyPr>
          <a:lstStyle/>
          <a:p>
            <a:pPr algn="l"/>
            <a:r>
              <a:rPr sz="1500" b="1" i="0">
                <a:solidFill>
                  <a:srgbClr val="FFFFFF"/>
                </a:solidFill>
                <a:latin typeface="Calibri"/>
              </a:rPr>
              <a:t>What we have done</a:t>
            </a:r>
          </a:p>
        </p:txBody>
      </p:sp>
      <p:sp>
        <p:nvSpPr>
          <p:cNvPr id="8" name="Rectangle 7"/>
          <p:cNvSpPr/>
          <p:nvPr/>
        </p:nvSpPr>
        <p:spPr>
          <a:xfrm>
            <a:off x="320040" y="1417320"/>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1600200"/>
            <a:ext cx="1042415" cy="347472"/>
          </a:xfrm>
          <a:prstGeom prst="rect">
            <a:avLst/>
          </a:prstGeom>
          <a:noFill/>
        </p:spPr>
        <p:txBody>
          <a:bodyPr wrap="square">
            <a:spAutoFit/>
          </a:bodyPr>
          <a:lstStyle/>
          <a:p>
            <a:pPr algn="ctr"/>
            <a:r>
              <a:rPr sz="1100" b="1" i="0">
                <a:solidFill>
                  <a:srgbClr val="FFFFFF"/>
                </a:solidFill>
                <a:latin typeface="Calibri"/>
              </a:rPr>
              <a:t>Theory</a:t>
            </a:r>
          </a:p>
        </p:txBody>
      </p:sp>
      <p:sp>
        <p:nvSpPr>
          <p:cNvPr id="10" name="Rectangle 9"/>
          <p:cNvSpPr/>
          <p:nvPr/>
        </p:nvSpPr>
        <p:spPr>
          <a:xfrm>
            <a:off x="1417320" y="1417320"/>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36192" y="1581912"/>
            <a:ext cx="4297680" cy="457200"/>
          </a:xfrm>
          <a:prstGeom prst="rect">
            <a:avLst/>
          </a:prstGeom>
          <a:noFill/>
        </p:spPr>
        <p:txBody>
          <a:bodyPr wrap="square">
            <a:spAutoFit/>
          </a:bodyPr>
          <a:lstStyle/>
          <a:p>
            <a:pPr algn="l"/>
            <a:r>
              <a:rPr sz="1200" b="0" i="0" dirty="0">
                <a:solidFill>
                  <a:srgbClr val="1A1A2E"/>
                </a:solidFill>
                <a:latin typeface="Calibri"/>
              </a:rPr>
              <a:t>✓  Extended Maggiori (2017) with stablecoin supply S, treasury exposure </a:t>
            </a:r>
            <a:r>
              <a:rPr sz="1200" b="0" i="0" dirty="0" err="1">
                <a:solidFill>
                  <a:srgbClr val="1A1A2E"/>
                </a:solidFill>
                <a:latin typeface="Calibri"/>
              </a:rPr>
              <a:t>θ</a:t>
            </a:r>
            <a:r>
              <a:rPr sz="1200" b="0" i="0" dirty="0">
                <a:solidFill>
                  <a:srgbClr val="1A1A2E"/>
                </a:solidFill>
                <a:latin typeface="Calibri"/>
              </a:rPr>
              <a:t>, and liquid buffer L</a:t>
            </a:r>
          </a:p>
        </p:txBody>
      </p:sp>
      <p:sp>
        <p:nvSpPr>
          <p:cNvPr id="12" name="Rectangle 11"/>
          <p:cNvSpPr/>
          <p:nvPr/>
        </p:nvSpPr>
        <p:spPr>
          <a:xfrm>
            <a:off x="320040" y="2176272"/>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2359152"/>
            <a:ext cx="1042415" cy="347472"/>
          </a:xfrm>
          <a:prstGeom prst="rect">
            <a:avLst/>
          </a:prstGeom>
          <a:noFill/>
        </p:spPr>
        <p:txBody>
          <a:bodyPr wrap="square">
            <a:spAutoFit/>
          </a:bodyPr>
          <a:lstStyle/>
          <a:p>
            <a:pPr algn="ctr"/>
            <a:r>
              <a:rPr sz="1100" b="1" i="0">
                <a:solidFill>
                  <a:srgbClr val="FFFFFF"/>
                </a:solidFill>
                <a:latin typeface="Calibri"/>
              </a:rPr>
              <a:t>Regression</a:t>
            </a:r>
          </a:p>
        </p:txBody>
      </p:sp>
      <p:sp>
        <p:nvSpPr>
          <p:cNvPr id="14" name="Rectangle 13"/>
          <p:cNvSpPr/>
          <p:nvPr/>
        </p:nvSpPr>
        <p:spPr>
          <a:xfrm>
            <a:off x="1417320" y="2176272"/>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36192" y="2340864"/>
            <a:ext cx="4297680" cy="457200"/>
          </a:xfrm>
          <a:prstGeom prst="rect">
            <a:avLst/>
          </a:prstGeom>
          <a:noFill/>
        </p:spPr>
        <p:txBody>
          <a:bodyPr wrap="square">
            <a:spAutoFit/>
          </a:bodyPr>
          <a:lstStyle/>
          <a:p>
            <a:pPr algn="l"/>
            <a:r>
              <a:rPr sz="1200" b="0" i="0" dirty="0">
                <a:solidFill>
                  <a:srgbClr val="1A1A2E"/>
                </a:solidFill>
                <a:latin typeface="Calibri"/>
              </a:rPr>
              <a:t>✓  β₁ = −6.02** — stablecoin growth compresses OIS–Treasury spreads (privilege amplification)</a:t>
            </a:r>
          </a:p>
        </p:txBody>
      </p:sp>
      <p:sp>
        <p:nvSpPr>
          <p:cNvPr id="16" name="Rectangle 15"/>
          <p:cNvSpPr/>
          <p:nvPr/>
        </p:nvSpPr>
        <p:spPr>
          <a:xfrm>
            <a:off x="320040" y="2935224"/>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3118104"/>
            <a:ext cx="1042415" cy="347472"/>
          </a:xfrm>
          <a:prstGeom prst="rect">
            <a:avLst/>
          </a:prstGeom>
          <a:noFill/>
        </p:spPr>
        <p:txBody>
          <a:bodyPr wrap="square">
            <a:spAutoFit/>
          </a:bodyPr>
          <a:lstStyle/>
          <a:p>
            <a:pPr algn="ctr"/>
            <a:r>
              <a:rPr sz="1100" b="1" i="0">
                <a:solidFill>
                  <a:srgbClr val="FFFFFF"/>
                </a:solidFill>
                <a:latin typeface="Calibri"/>
              </a:rPr>
              <a:t>Threshold</a:t>
            </a:r>
          </a:p>
        </p:txBody>
      </p:sp>
      <p:sp>
        <p:nvSpPr>
          <p:cNvPr id="18" name="Rectangle 17"/>
          <p:cNvSpPr/>
          <p:nvPr/>
        </p:nvSpPr>
        <p:spPr>
          <a:xfrm>
            <a:off x="1417320" y="2935224"/>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36192" y="3099816"/>
            <a:ext cx="4297680" cy="457200"/>
          </a:xfrm>
          <a:prstGeom prst="rect">
            <a:avLst/>
          </a:prstGeom>
          <a:noFill/>
        </p:spPr>
        <p:txBody>
          <a:bodyPr wrap="square">
            <a:spAutoFit/>
          </a:bodyPr>
          <a:lstStyle/>
          <a:p>
            <a:pPr algn="l"/>
            <a:r>
              <a:rPr sz="1200" b="0" i="0" dirty="0">
                <a:solidFill>
                  <a:srgbClr val="1A1A2E"/>
                </a:solidFill>
                <a:latin typeface="Calibri"/>
              </a:rPr>
              <a:t>✓  Hansen (2000) threshold at q* = 13% liquid cash — separates safe from fragile regime</a:t>
            </a:r>
          </a:p>
        </p:txBody>
      </p:sp>
      <p:sp>
        <p:nvSpPr>
          <p:cNvPr id="20" name="Rectangle 19"/>
          <p:cNvSpPr/>
          <p:nvPr/>
        </p:nvSpPr>
        <p:spPr>
          <a:xfrm>
            <a:off x="320040" y="3694176"/>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7472" y="3877056"/>
            <a:ext cx="1042415" cy="347472"/>
          </a:xfrm>
          <a:prstGeom prst="rect">
            <a:avLst/>
          </a:prstGeom>
          <a:noFill/>
        </p:spPr>
        <p:txBody>
          <a:bodyPr wrap="square">
            <a:spAutoFit/>
          </a:bodyPr>
          <a:lstStyle/>
          <a:p>
            <a:pPr algn="ctr"/>
            <a:r>
              <a:rPr sz="1100" b="1" i="0">
                <a:solidFill>
                  <a:srgbClr val="FFFFFF"/>
                </a:solidFill>
                <a:latin typeface="Calibri"/>
              </a:rPr>
              <a:t>Event Study</a:t>
            </a:r>
          </a:p>
        </p:txBody>
      </p:sp>
      <p:sp>
        <p:nvSpPr>
          <p:cNvPr id="22" name="Rectangle 21"/>
          <p:cNvSpPr/>
          <p:nvPr/>
        </p:nvSpPr>
        <p:spPr>
          <a:xfrm>
            <a:off x="1417320" y="3694176"/>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36192" y="3858768"/>
            <a:ext cx="4297680" cy="457200"/>
          </a:xfrm>
          <a:prstGeom prst="rect">
            <a:avLst/>
          </a:prstGeom>
          <a:noFill/>
        </p:spPr>
        <p:txBody>
          <a:bodyPr wrap="square">
            <a:spAutoFit/>
          </a:bodyPr>
          <a:lstStyle/>
          <a:p>
            <a:pPr algn="l"/>
            <a:r>
              <a:rPr sz="1200" b="0" i="0" dirty="0">
                <a:solidFill>
                  <a:srgbClr val="1A1A2E"/>
                </a:solidFill>
                <a:latin typeface="Calibri"/>
              </a:rPr>
              <a:t>✓  3 stress episodes (LUNA, USDT </a:t>
            </a:r>
            <a:r>
              <a:rPr sz="1200" b="0" i="0" dirty="0" err="1">
                <a:solidFill>
                  <a:srgbClr val="1A1A2E"/>
                </a:solidFill>
                <a:latin typeface="Calibri"/>
              </a:rPr>
              <a:t>depeg</a:t>
            </a:r>
            <a:r>
              <a:rPr sz="1200" b="0" i="0" dirty="0">
                <a:solidFill>
                  <a:srgbClr val="1A1A2E"/>
                </a:solidFill>
                <a:latin typeface="Calibri"/>
              </a:rPr>
              <a:t>, SVB) — 27 pp CAR swing between low/high buffer regimes</a:t>
            </a:r>
          </a:p>
        </p:txBody>
      </p:sp>
      <p:sp>
        <p:nvSpPr>
          <p:cNvPr id="24" name="Rectangle 23"/>
          <p:cNvSpPr/>
          <p:nvPr/>
        </p:nvSpPr>
        <p:spPr>
          <a:xfrm>
            <a:off x="320040" y="4453128"/>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7472" y="4636008"/>
            <a:ext cx="1042415" cy="347472"/>
          </a:xfrm>
          <a:prstGeom prst="rect">
            <a:avLst/>
          </a:prstGeom>
          <a:noFill/>
        </p:spPr>
        <p:txBody>
          <a:bodyPr wrap="square">
            <a:spAutoFit/>
          </a:bodyPr>
          <a:lstStyle/>
          <a:p>
            <a:pPr algn="ctr"/>
            <a:r>
              <a:rPr sz="1100" b="1" i="0">
                <a:solidFill>
                  <a:srgbClr val="FFFFFF"/>
                </a:solidFill>
                <a:latin typeface="Calibri"/>
              </a:rPr>
              <a:t>Robustness</a:t>
            </a:r>
          </a:p>
        </p:txBody>
      </p:sp>
      <p:sp>
        <p:nvSpPr>
          <p:cNvPr id="26" name="Rectangle 25"/>
          <p:cNvSpPr/>
          <p:nvPr/>
        </p:nvSpPr>
        <p:spPr>
          <a:xfrm>
            <a:off x="1417320" y="4453128"/>
            <a:ext cx="4480560" cy="6949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36192" y="4617720"/>
            <a:ext cx="4297680" cy="457200"/>
          </a:xfrm>
          <a:prstGeom prst="rect">
            <a:avLst/>
          </a:prstGeom>
          <a:noFill/>
        </p:spPr>
        <p:txBody>
          <a:bodyPr wrap="square">
            <a:spAutoFit/>
          </a:bodyPr>
          <a:lstStyle/>
          <a:p>
            <a:pPr algn="l"/>
            <a:r>
              <a:rPr sz="1200" b="0" i="0">
                <a:solidFill>
                  <a:srgbClr val="1A1A2E"/>
                </a:solidFill>
                <a:latin typeface="Calibri"/>
              </a:rPr>
              <a:t>✓  Mean-centering (VIF), Engle-Granger cointegration, first-differenced spec, post-2023 subsample</a:t>
            </a:r>
          </a:p>
        </p:txBody>
      </p:sp>
      <p:sp>
        <p:nvSpPr>
          <p:cNvPr id="28" name="Rectangle 27"/>
          <p:cNvSpPr/>
          <p:nvPr/>
        </p:nvSpPr>
        <p:spPr>
          <a:xfrm>
            <a:off x="320040" y="5212080"/>
            <a:ext cx="1097280" cy="69494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7472" y="5394960"/>
            <a:ext cx="1042415" cy="347472"/>
          </a:xfrm>
          <a:prstGeom prst="rect">
            <a:avLst/>
          </a:prstGeom>
          <a:noFill/>
        </p:spPr>
        <p:txBody>
          <a:bodyPr wrap="square">
            <a:spAutoFit/>
          </a:bodyPr>
          <a:lstStyle/>
          <a:p>
            <a:pPr algn="ctr"/>
            <a:r>
              <a:rPr sz="1100" b="1" i="0">
                <a:solidFill>
                  <a:srgbClr val="FFFFFF"/>
                </a:solidFill>
                <a:latin typeface="Calibri"/>
              </a:rPr>
              <a:t>This deck</a:t>
            </a:r>
          </a:p>
        </p:txBody>
      </p:sp>
      <p:sp>
        <p:nvSpPr>
          <p:cNvPr id="30" name="Rectangle 29"/>
          <p:cNvSpPr/>
          <p:nvPr/>
        </p:nvSpPr>
        <p:spPr>
          <a:xfrm>
            <a:off x="1417320" y="5212080"/>
            <a:ext cx="4480560"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536192" y="5376672"/>
            <a:ext cx="4297680" cy="457200"/>
          </a:xfrm>
          <a:prstGeom prst="rect">
            <a:avLst/>
          </a:prstGeom>
          <a:noFill/>
        </p:spPr>
        <p:txBody>
          <a:bodyPr wrap="square">
            <a:spAutoFit/>
          </a:bodyPr>
          <a:lstStyle/>
          <a:p>
            <a:pPr algn="l"/>
            <a:r>
              <a:rPr sz="1200" b="0" i="0">
                <a:solidFill>
                  <a:srgbClr val="1A1A2E"/>
                </a:solidFill>
                <a:latin typeface="Calibri"/>
              </a:rPr>
              <a:t>✓  Clarified: why OIS spread, what the buffer condition means, how to read CAR, what each event was</a:t>
            </a:r>
          </a:p>
        </p:txBody>
      </p:sp>
      <p:sp>
        <p:nvSpPr>
          <p:cNvPr id="32" name="Rectangle 31"/>
          <p:cNvSpPr/>
          <p:nvPr/>
        </p:nvSpPr>
        <p:spPr>
          <a:xfrm>
            <a:off x="6217920" y="960120"/>
            <a:ext cx="5623560" cy="384048"/>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55080" y="987552"/>
            <a:ext cx="5440680" cy="310896"/>
          </a:xfrm>
          <a:prstGeom prst="rect">
            <a:avLst/>
          </a:prstGeom>
          <a:noFill/>
        </p:spPr>
        <p:txBody>
          <a:bodyPr wrap="square">
            <a:spAutoFit/>
          </a:bodyPr>
          <a:lstStyle/>
          <a:p>
            <a:pPr algn="l"/>
            <a:r>
              <a:rPr sz="1500" b="1" i="0" dirty="0">
                <a:solidFill>
                  <a:srgbClr val="FFFFFF"/>
                </a:solidFill>
                <a:latin typeface="Calibri"/>
              </a:rPr>
              <a:t>Planned for next week</a:t>
            </a:r>
          </a:p>
        </p:txBody>
      </p:sp>
      <p:sp>
        <p:nvSpPr>
          <p:cNvPr id="34" name="Rectangle 33"/>
          <p:cNvSpPr/>
          <p:nvPr/>
        </p:nvSpPr>
        <p:spPr>
          <a:xfrm>
            <a:off x="6217920" y="1417320"/>
            <a:ext cx="5623560" cy="5212080"/>
          </a:xfrm>
          <a:prstGeom prst="rect">
            <a:avLst/>
          </a:prstGeom>
          <a:solidFill>
            <a:srgbClr val="FF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1508760"/>
            <a:ext cx="5303520" cy="5029200"/>
          </a:xfrm>
          <a:prstGeom prst="rect">
            <a:avLst/>
          </a:prstGeom>
          <a:noFill/>
        </p:spPr>
        <p:txBody>
          <a:bodyPr wrap="square">
            <a:spAutoFit/>
          </a:bodyPr>
          <a:lstStyle/>
          <a:p>
            <a:pPr>
              <a:spcBef>
                <a:spcPts val="0"/>
              </a:spcBef>
            </a:pPr>
            <a:endParaRPr dirty="0"/>
          </a:p>
          <a:p>
            <a:pPr algn="l">
              <a:spcBef>
                <a:spcPts val="400"/>
              </a:spcBef>
            </a:pPr>
            <a:r>
              <a:rPr sz="1600" b="1" i="0" dirty="0">
                <a:solidFill>
                  <a:srgbClr val="D4632A"/>
                </a:solidFill>
                <a:latin typeface="Calibri"/>
              </a:rPr>
              <a:t>Placebo Test</a:t>
            </a:r>
          </a:p>
          <a:p>
            <a:pPr algn="l">
              <a:spcBef>
                <a:spcPts val="800"/>
              </a:spcBef>
            </a:pPr>
            <a:r>
              <a:rPr sz="1300" b="0" i="0" dirty="0">
                <a:solidFill>
                  <a:srgbClr val="1A1A2E"/>
                </a:solidFill>
                <a:latin typeface="Calibri"/>
              </a:rPr>
              <a:t>Run the same event study methodology on 3 ordinary days with no known stablecoin stress event:</a:t>
            </a:r>
          </a:p>
          <a:p>
            <a:pPr algn="l">
              <a:spcBef>
                <a:spcPts val="700"/>
              </a:spcBef>
            </a:pPr>
            <a:r>
              <a:rPr sz="1200" b="0" i="0" dirty="0">
                <a:solidFill>
                  <a:srgbClr val="1A1A2E"/>
                </a:solidFill>
                <a:latin typeface="Calibri"/>
              </a:rPr>
              <a:t>❖  Jun 15, 2021  (Low buffer)  —  Quiet summer — no redemption pressure</a:t>
            </a:r>
          </a:p>
          <a:p>
            <a:pPr algn="l">
              <a:spcBef>
                <a:spcPts val="700"/>
              </a:spcBef>
            </a:pPr>
            <a:r>
              <a:rPr sz="1200" b="0" i="0" dirty="0">
                <a:solidFill>
                  <a:srgbClr val="1A1A2E"/>
                </a:solidFill>
                <a:latin typeface="Calibri"/>
              </a:rPr>
              <a:t>❖  Oct 12, 2021  (Low buffer)  —  Pre-LUNA, no crypto-specific stress</a:t>
            </a:r>
          </a:p>
          <a:p>
            <a:pPr algn="l">
              <a:spcBef>
                <a:spcPts val="700"/>
              </a:spcBef>
            </a:pPr>
            <a:r>
              <a:rPr sz="1200" b="0" i="0" dirty="0">
                <a:solidFill>
                  <a:srgbClr val="1A1A2E"/>
                </a:solidFill>
                <a:latin typeface="Calibri"/>
              </a:rPr>
              <a:t>❖  Jul 15, 2025  (High buffer)  —  Post-SVB recovery, stable spread period</a:t>
            </a:r>
          </a:p>
          <a:p>
            <a:pPr algn="l">
              <a:spcBef>
                <a:spcPts val="200"/>
              </a:spcBef>
            </a:pPr>
            <a:r>
              <a:rPr sz="600" b="0" i="0" dirty="0">
                <a:solidFill>
                  <a:srgbClr val="1A1A2E"/>
                </a:solidFill>
                <a:latin typeface="Calibri"/>
              </a:rPr>
              <a:t> </a:t>
            </a:r>
          </a:p>
          <a:p>
            <a:pPr algn="l">
              <a:spcBef>
                <a:spcPts val="400"/>
              </a:spcBef>
            </a:pPr>
            <a:r>
              <a:rPr sz="1400" b="1" i="0" dirty="0">
                <a:solidFill>
                  <a:srgbClr val="1B3A72"/>
                </a:solidFill>
                <a:latin typeface="Calibri"/>
              </a:rPr>
              <a:t>What we expect to show:</a:t>
            </a:r>
          </a:p>
          <a:p>
            <a:pPr algn="l">
              <a:spcBef>
                <a:spcPts val="600"/>
              </a:spcBef>
            </a:pPr>
            <a:r>
              <a:rPr sz="1300" b="0" i="0" dirty="0">
                <a:solidFill>
                  <a:srgbClr val="1A1A2E"/>
                </a:solidFill>
                <a:latin typeface="Calibri"/>
              </a:rPr>
              <a:t>CARs on placebo days should be near 0 pp — confirming that the 9–18 pp swings in actual events are caused by the crisis itself, not by random market drift.</a:t>
            </a:r>
          </a:p>
          <a:p>
            <a:pPr algn="l">
              <a:spcBef>
                <a:spcPts val="200"/>
              </a:spcBef>
            </a:pPr>
            <a:r>
              <a:rPr sz="600" b="0" i="0" dirty="0">
                <a:solidFill>
                  <a:srgbClr val="1A1A2E"/>
                </a:solidFill>
                <a:latin typeface="Calibri"/>
              </a:rPr>
              <a:t> </a:t>
            </a:r>
          </a:p>
          <a:p>
            <a:pPr algn="l">
              <a:spcBef>
                <a:spcPts val="400"/>
              </a:spcBef>
            </a:pPr>
            <a:r>
              <a:rPr sz="1200" b="1" i="1" dirty="0">
                <a:solidFill>
                  <a:srgbClr val="D4632A"/>
                </a:solidFill>
                <a:latin typeface="Calibri"/>
              </a:rPr>
              <a:t>Preliminary result: placebo mean |CAR| = 0.55 pp vs. actual mean |CAR| = 11.92 pp  →  21.7× difference</a:t>
            </a:r>
          </a:p>
        </p:txBody>
      </p:sp>
      <p:sp>
        <p:nvSpPr>
          <p:cNvPr id="36" name="TextBox 35"/>
          <p:cNvSpPr txBox="1"/>
          <p:nvPr/>
        </p:nvSpPr>
        <p:spPr>
          <a:xfrm>
            <a:off x="10265434" y="320040"/>
            <a:ext cx="1576046" cy="323165"/>
          </a:xfrm>
          <a:prstGeom prst="rect">
            <a:avLst/>
          </a:prstGeom>
          <a:noFill/>
        </p:spPr>
        <p:txBody>
          <a:bodyPr wrap="square">
            <a:spAutoFit/>
          </a:bodyPr>
          <a:lstStyle/>
          <a:p>
            <a:pPr algn="l"/>
            <a:r>
              <a:rPr lang="en-US" sz="1500" b="1" i="0" dirty="0">
                <a:solidFill>
                  <a:srgbClr val="FFFFFF"/>
                </a:solidFill>
                <a:latin typeface="Calibri"/>
              </a:rPr>
              <a:t>Mimi – Page 7</a:t>
            </a:r>
            <a:endParaRPr sz="1500" b="1" i="0" dirty="0">
              <a:solidFill>
                <a:srgbClr val="FFFFFF"/>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그림 2"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Thank You</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094095" y="5560060"/>
            <a:ext cx="5842635" cy="1198880"/>
          </a:xfrm>
          <a:prstGeom prst="rect">
            <a:avLst/>
          </a:prstGeom>
          <a:noFill/>
        </p:spPr>
        <p:txBody>
          <a:bodyPr wrap="squar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br>
              <a:rPr lang="en-US" altLang="ko-KR" b="1" dirty="0">
                <a:solidFill>
                  <a:srgbClr val="FFFFFF"/>
                </a:solidFill>
              </a:rPr>
            </a:br>
            <a:r>
              <a:rPr lang="en-US" altLang="ko-KR" b="1" dirty="0">
                <a:solidFill>
                  <a:srgbClr val="FFFFFF"/>
                </a:solidFill>
              </a:rPr>
              <a:t>· Jade Zhu · Alexandre Godefroy · Baptiste Degand</a:t>
            </a:r>
            <a:endParaRPr lang="en-US" altLang="ko-KR" sz="1800" b="1" dirty="0">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3478</Words>
  <Application>Microsoft Macintosh PowerPoint</Application>
  <PresentationFormat>사용자 지정</PresentationFormat>
  <Paragraphs>182</Paragraphs>
  <Slides>8</Slides>
  <Notes>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8</vt:i4>
      </vt:variant>
    </vt:vector>
  </HeadingPairs>
  <TitlesOfParts>
    <vt:vector size="13" baseType="lpstr">
      <vt:lpstr>AppleGothic</vt:lpstr>
      <vt:lpstr>Hiragino Kaku Gothic Std W8</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김미르</cp:lastModifiedBy>
  <cp:revision>9</cp:revision>
  <dcterms:created xsi:type="dcterms:W3CDTF">2026-05-25T14:31:54Z</dcterms:created>
  <dcterms:modified xsi:type="dcterms:W3CDTF">2026-05-26T00:58:23Z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B8C17093AFBACDE4544E146A93F2AF0B_42</vt:lpwstr>
  </property>
</Properties>
</file>