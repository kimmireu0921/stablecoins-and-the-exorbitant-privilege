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66" r:id="rId2"/>
    <p:sldId id="257" r:id="rId3"/>
    <p:sldId id="258" r:id="rId4"/>
    <p:sldId id="259" r:id="rId5"/>
    <p:sldId id="260" r:id="rId6"/>
    <p:sldId id="261" r:id="rId7"/>
    <p:sldId id="262" r:id="rId8"/>
    <p:sldId id="263" r:id="rId9"/>
    <p:sldId id="264" r:id="rId10"/>
    <p:sldId id="268" r:id="rId11"/>
    <p:sldId id="267" r:id="rId12"/>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452"/>
    <p:restoredTop sz="57659"/>
  </p:normalViewPr>
  <p:slideViewPr>
    <p:cSldViewPr snapToGrid="0" snapToObjects="1">
      <p:cViewPr>
        <p:scale>
          <a:sx n="71" d="100"/>
          <a:sy n="71" d="100"/>
        </p:scale>
        <p:origin x="816" y="1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0061650"/>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Good afternoon, everyone. We will be talking about Stablecoins and the Exorbitant Privilege. The central argument is that large stablecoin issuers like Tether and Circle have become significant buyers of U.S. Treasury bills — which amplifies America's safe-asset privilege in normal times, but can sharply reverse that benefit during a run if their cash reserves are too thin. Today we want to address some of the methodological questions that came up last time and walk you through our three key findings clearly.</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Let me quickly walk you through what we have done and what is coming. On the left, you can see everything we have completed: the theoretical framework, the main regression, the threshold test, the event study across three crises, and several robustness checks. This deck specifically addresses the clarification questions from last session — why we use the OIS spread, what the buffer condition is, and how to read the event study graphs. </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 question came up about why we use the OIS-Treasury spread instead of just Treasury yields. Here is the intuition. A raw T-bill yield</a:t>
            </a:r>
            <a:r>
              <a:rPr lang="en-US" dirty="0"/>
              <a:t> (red)</a:t>
            </a:r>
            <a:r>
              <a:rPr dirty="0"/>
              <a:t> moves for two completely different reasons at the same time: one is the Fed raising or cutting </a:t>
            </a:r>
            <a:r>
              <a:rPr lang="en-US" dirty="0"/>
              <a:t>the </a:t>
            </a:r>
            <a:r>
              <a:rPr dirty="0"/>
              <a:t>interest rates, and the other is investors specifically wanting to hold safe U.S. Treasury bills. </a:t>
            </a:r>
            <a:r>
              <a:rPr b="1" dirty="0"/>
              <a:t>We only care about the second one — the safe-asset demand. </a:t>
            </a:r>
            <a:endParaRPr lang="en-US" b="1" dirty="0"/>
          </a:p>
          <a:p>
            <a:endParaRPr lang="en-US" b="1" dirty="0"/>
          </a:p>
          <a:p>
            <a:r>
              <a:rPr dirty="0"/>
              <a:t>The OIS rate</a:t>
            </a:r>
            <a:r>
              <a:rPr lang="en-US" dirty="0"/>
              <a:t> (blue)</a:t>
            </a:r>
            <a:r>
              <a:rPr dirty="0"/>
              <a:t>, which stands for Overnight Index Swap, tracks market expectations of the Fed Funds rate. So when we subtract it from the T-bill yield, we cancel out the monetary policy part and are left with just the premium that investors pay to hold Treasuries specifically. That premium is exactly what stablecoin issuers affect when they buy T-bills. </a:t>
            </a:r>
            <a:endParaRPr lang="en-US" dirty="0"/>
          </a:p>
          <a:p>
            <a:endParaRPr lang="en-US" dirty="0"/>
          </a:p>
          <a:p>
            <a:r>
              <a:rPr dirty="0"/>
              <a:t>This approach is standard in the literature — Krishnamurthy and Vissing-Jorgensen in 2012, and Nagel in 2016, both use this same spread as their measure of safe-asset convenience yield. The practical implication: </a:t>
            </a:r>
            <a:r>
              <a:rPr b="1" dirty="0"/>
              <a:t>if we had used raw yields, a Fed rate cut and a Tether buying surge would look identical in our data. </a:t>
            </a:r>
            <a:r>
              <a:rPr dirty="0"/>
              <a:t>The spread separates them cleanly.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buffer condition is the central variable in our paper, so let me explain it precisely. L is the liquid buffer — it is the share of an issuer's reserves held in cash or cash equivalents, divided by the total stablecoin supply outstanding. Our Hansen threshold regression estimates a critical cutoff of 13 percent. Here is why it matters. When investors want to redeem their stablecoins for dollars, the issuer has to pay them back. If the issuer holds enough cash — above 13 percent — they simply pay from that cash and their Treasury bill holdings are untouched. The T-bill market does not feel anything. But if the cash buffer is below 13 percent, the issuer cannot cover redemptions from cash alone. They have to sell Treasury bills quickly to raise the dollars. That sudden selling pushes T-bill yields up relative to OIS — the spread spikes. So the buffer condition is essentially asking: does this issuer have enough cash to absorb a redemption shock without being forced to liquidate their T-bill portfolio? In May 2022, the answer </a:t>
            </a:r>
            <a:r>
              <a:rPr lang="en-US" dirty="0"/>
              <a:t>to holding enough cash </a:t>
            </a:r>
            <a:r>
              <a:rPr dirty="0"/>
              <a:t>was no. In March 2023, the answer was yes.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CAR stands for Cumulative Abnormal Return — but in our context it is the cumulative abnormal spread, not a stock return. Let me explain what that means in plain terms. Before each crisis event, we estimate how the OIS-Treasury spread normally behaves using data from about six months prior. We build a simple model that says: </a:t>
            </a:r>
            <a:r>
              <a:rPr b="1" dirty="0"/>
              <a:t>given today's VIX</a:t>
            </a:r>
            <a:r>
              <a:rPr lang="en-US" b="1" dirty="0"/>
              <a:t> (Volatility index)</a:t>
            </a:r>
            <a:r>
              <a:rPr b="1" dirty="0"/>
              <a:t> level and global equity returns, what would we expect the spread to be? </a:t>
            </a:r>
            <a:endParaRPr lang="en-US" b="1" dirty="0"/>
          </a:p>
          <a:p>
            <a:endParaRPr lang="en-US" b="1" dirty="0"/>
          </a:p>
          <a:p>
            <a:r>
              <a:rPr dirty="0"/>
              <a:t>The abnormal spread on any given day is just the actual spread minus that prediction. If nothing unusual is happening, this should be close to zero. CAR is simply the running total of those daily abnormal spreads from five days before the event through twenty days after. </a:t>
            </a:r>
            <a:r>
              <a:rPr b="1" dirty="0"/>
              <a:t>So the y-axis is in percentage points of spread deviation accumulated over time. </a:t>
            </a:r>
            <a:endParaRPr lang="en-US" b="1" dirty="0"/>
          </a:p>
          <a:p>
            <a:endParaRPr lang="en-US" dirty="0"/>
          </a:p>
          <a:p>
            <a:r>
              <a:rPr dirty="0"/>
              <a:t>A CAR of plus 8.9 means that by day twenty, </a:t>
            </a:r>
            <a:r>
              <a:rPr b="1" dirty="0"/>
              <a:t>the spread had built up 8.9 percentage points more than we would normally expect — that is a large and persistent deviation.</a:t>
            </a:r>
            <a:r>
              <a:rPr dirty="0"/>
              <a:t> A CAR of minus 18 means the spread was 18 percentage points below normal — which happened because investors were rushing into T-bills for safety, compressing yields. A flat line at zero would mean the event had no measurable effect on Treasury markets.</a:t>
            </a:r>
            <a:endParaRPr lang="en-US" dirty="0"/>
          </a:p>
          <a:p>
            <a:endParaRPr lang="en-US" dirty="0"/>
          </a:p>
          <a:p>
            <a:r>
              <a:rPr lang="en-US" dirty="0"/>
              <a:t>We will go through each event. </a:t>
            </a:r>
          </a:p>
          <a:p>
            <a:endParaRPr lang="en-US" dirty="0"/>
          </a:p>
          <a:p>
            <a:r>
              <a:rPr lang="en-US" dirty="0"/>
              <a:t>Note: </a:t>
            </a:r>
            <a:r>
              <a:rPr lang="ko-KR" altLang="ko-KR" sz="1200" b="0" i="0" kern="1200" dirty="0">
                <a:solidFill>
                  <a:schemeClr val="tx1"/>
                </a:solidFill>
                <a:effectLst/>
                <a:latin typeface="+mn-lt"/>
                <a:ea typeface="+mn-ea"/>
                <a:cs typeface="+mn-cs"/>
              </a:rPr>
              <a:t>VIX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control</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variable</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absorbs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general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market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fear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would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affect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Treasury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spreads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regardless</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stablecoins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During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any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crisis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investors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flee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safety</a:t>
            </a:r>
            <a:r>
              <a:rPr lang="ko-KR" altLang="ko-KR" sz="1200" b="0" i="0" kern="1200" dirty="0">
                <a:solidFill>
                  <a:schemeClr val="tx1"/>
                </a:solidFill>
                <a:effectLst/>
                <a:latin typeface="+mn-lt"/>
                <a:ea typeface="+mn-ea"/>
                <a:cs typeface="+mn-cs"/>
              </a:rPr>
              <a:t> and </a:t>
            </a:r>
            <a:r>
              <a:rPr lang="ko-KR" altLang="ko-KR" sz="1200" b="0" i="0" kern="1200" dirty="0" err="1">
                <a:solidFill>
                  <a:schemeClr val="tx1"/>
                </a:solidFill>
                <a:effectLst/>
                <a:latin typeface="+mn-lt"/>
                <a:ea typeface="+mn-ea"/>
                <a:cs typeface="+mn-cs"/>
              </a:rPr>
              <a:t>buy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T-bills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which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compresses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spread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Without</a:t>
            </a:r>
            <a:r>
              <a:rPr lang="ko-KR" altLang="ko-KR" sz="1200" b="0" i="0" kern="1200" dirty="0">
                <a:solidFill>
                  <a:schemeClr val="tx1"/>
                </a:solidFill>
                <a:effectLst/>
                <a:latin typeface="+mn-lt"/>
                <a:ea typeface="+mn-ea"/>
                <a:cs typeface="+mn-cs"/>
              </a:rPr>
              <a:t> VIX </a:t>
            </a:r>
            <a:r>
              <a:rPr lang="ko-KR" altLang="ko-KR" sz="1200" b="0" i="0" kern="1200" dirty="0" err="1">
                <a:solidFill>
                  <a:schemeClr val="tx1"/>
                </a:solidFill>
                <a:effectLst/>
                <a:latin typeface="+mn-lt"/>
                <a:ea typeface="+mn-ea"/>
                <a:cs typeface="+mn-cs"/>
              </a:rPr>
              <a:t>in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model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regression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might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incorrectly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attribute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flight-to-safety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stablecoin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behavior</a:t>
            </a:r>
            <a:r>
              <a:rPr lang="ko-KR" altLang="ko-KR" sz="1200" b="0" i="0" kern="1200" dirty="0">
                <a:solidFill>
                  <a:schemeClr val="tx1"/>
                </a:solidFill>
                <a:effectLst/>
                <a:latin typeface="+mn-lt"/>
                <a:ea typeface="+mn-ea"/>
                <a:cs typeface="+mn-cs"/>
              </a:rPr>
              <a:t>.</a:t>
            </a:r>
          </a:p>
          <a:p>
            <a:r>
              <a:rPr lang="ko-KR" altLang="ko-KR" sz="1200" b="0" i="0" kern="1200" dirty="0" err="1">
                <a:solidFill>
                  <a:schemeClr val="tx1"/>
                </a:solidFill>
                <a:effectLst/>
                <a:latin typeface="+mn-lt"/>
                <a:ea typeface="+mn-ea"/>
                <a:cs typeface="+mn-cs"/>
              </a:rPr>
              <a:t>In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plain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terms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telling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regression</a:t>
            </a:r>
            <a:r>
              <a:rPr lang="ko-KR" altLang="ko-KR" sz="1200" b="0" i="0" kern="1200" dirty="0">
                <a:solidFill>
                  <a:schemeClr val="tx1"/>
                </a:solidFill>
                <a:effectLst/>
                <a:latin typeface="+mn-lt"/>
                <a:ea typeface="+mn-ea"/>
                <a:cs typeface="+mn-cs"/>
              </a:rPr>
              <a:t> </a:t>
            </a:r>
            <a:r>
              <a:rPr lang="ko-KR" altLang="ko-KR" sz="1200" b="0" i="1" kern="1200" dirty="0">
                <a:solidFill>
                  <a:schemeClr val="tx1"/>
                </a:solidFill>
                <a:effectLst/>
                <a:latin typeface="+mn-lt"/>
                <a:ea typeface="+mn-ea"/>
                <a:cs typeface="+mn-cs"/>
              </a:rPr>
              <a:t>"</a:t>
            </a:r>
            <a:r>
              <a:rPr lang="ko-KR" altLang="ko-KR" sz="1200" b="0" i="1" kern="1200" dirty="0" err="1">
                <a:solidFill>
                  <a:schemeClr val="tx1"/>
                </a:solidFill>
                <a:effectLst/>
                <a:latin typeface="+mn-lt"/>
                <a:ea typeface="+mn-ea"/>
                <a:cs typeface="+mn-cs"/>
              </a:rPr>
              <a:t>account</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for</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how</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scared</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the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market</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already</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is</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before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crediting</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anything</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to</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stablecoin</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supply</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changes</a:t>
            </a:r>
            <a:r>
              <a:rPr lang="ko-KR" altLang="ko-KR" sz="1200" b="0" i="1"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br>
              <a:rPr lang="ko-KR" altLang="ko-KR" dirty="0"/>
            </a:b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Our first event is the LUNA and UST collapse in May 2022. To understand why this affected Tether and Circle, you first need to understand what Terra was. UST was an algorithmic stablecoin — it did not hold real dollars or Treasury bills. Instead, its one-dollar peg was maintained by a mathematical relationship with its sister token, LUNA. When a large coordinated sell-off drained UST's liquidity on May 7th, the peg broke, a death spiral began, and roughly 40 billion dollars in market value was destroyed within days. </a:t>
            </a:r>
            <a:endParaRPr lang="en-US" dirty="0"/>
          </a:p>
          <a:p>
            <a:endParaRPr lang="en-US" dirty="0"/>
          </a:p>
          <a:p>
            <a:r>
              <a:rPr dirty="0"/>
              <a:t>Now, Tether and Circle had nothing to do with Terra. Their reserves are real assets. But markets panicked — investors began asking: what if all stablecoins are fragile? This caused a wave of redemptions across the industry, hitting Tether especially hard. Here is where our buffer condition becomes decisive. At the time, Tether held only about 5 to 8 percent of its reserves in liquid cash. The rest was in Treasury bills. So when redemptions came in, Tether had to sell T-bills to pay out. That forced selling pushed Treasury yields above OIS, and the spread spiked. </a:t>
            </a:r>
            <a:endParaRPr lang="en-US" dirty="0"/>
          </a:p>
          <a:p>
            <a:endParaRPr lang="en-US" dirty="0"/>
          </a:p>
          <a:p>
            <a:r>
              <a:rPr b="1" dirty="0"/>
              <a:t>Our event study shows a CAR of plus 8.9 percentage points over the following 20 days — a large, sustained, and statistically highly significant increase in the spread.</a:t>
            </a:r>
            <a:endParaRPr lang="en-US" b="1" dirty="0"/>
          </a:p>
          <a:p>
            <a:endParaRPr lang="en-US" dirty="0"/>
          </a:p>
          <a:p>
            <a:r>
              <a:rPr lang="en-US" dirty="0"/>
              <a:t>Note: </a:t>
            </a:r>
            <a:r>
              <a:rPr lang="ko-KR" altLang="ko-KR" sz="1200" b="1" i="0" kern="1200" dirty="0">
                <a:solidFill>
                  <a:schemeClr val="tx1"/>
                </a:solidFill>
                <a:effectLst/>
                <a:latin typeface="+mn-lt"/>
                <a:ea typeface="+mn-ea"/>
                <a:cs typeface="+mn-cs"/>
              </a:rPr>
              <a:t>UST (</a:t>
            </a:r>
            <a:r>
              <a:rPr lang="ko-KR" altLang="ko-KR" sz="1200" b="1" i="0" kern="1200" dirty="0" err="1">
                <a:solidFill>
                  <a:schemeClr val="tx1"/>
                </a:solidFill>
                <a:effectLst/>
                <a:latin typeface="+mn-lt"/>
                <a:ea typeface="+mn-ea"/>
                <a:cs typeface="+mn-cs"/>
              </a:rPr>
              <a:t>TerraUSD</a:t>
            </a:r>
            <a:r>
              <a:rPr lang="ko-KR" altLang="ko-KR" sz="1200" b="1" i="0" kern="1200" dirty="0">
                <a:solidFill>
                  <a:schemeClr val="tx1"/>
                </a:solidFill>
                <a:effectLst/>
                <a:latin typeface="+mn-lt"/>
                <a:ea typeface="+mn-ea"/>
                <a:cs typeface="+mn-cs"/>
              </a:rPr>
              <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Unlike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traditional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stablecoins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backed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fiat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reserves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as</a:t>
            </a:r>
            <a:r>
              <a:rPr lang="ko-KR" altLang="ko-KR" sz="1200" b="0" i="0" kern="1200" dirty="0">
                <a:solidFill>
                  <a:schemeClr val="tx1"/>
                </a:solidFill>
                <a:effectLst/>
                <a:latin typeface="+mn-lt"/>
                <a:ea typeface="+mn-ea"/>
                <a:cs typeface="+mn-cs"/>
              </a:rPr>
              <a:t> USDC), UST </a:t>
            </a:r>
            <a:r>
              <a:rPr lang="ko-KR" altLang="ko-KR" sz="1200" b="0" i="0" kern="1200" dirty="0" err="1">
                <a:solidFill>
                  <a:schemeClr val="tx1"/>
                </a:solidFill>
                <a:effectLst/>
                <a:latin typeface="+mn-lt"/>
                <a:ea typeface="+mn-ea"/>
                <a:cs typeface="+mn-cs"/>
              </a:rPr>
              <a:t>was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unbacked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peg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relied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entirely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smart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contract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mint</a:t>
            </a:r>
            <a:r>
              <a:rPr lang="ko-KR" altLang="ko-KR" sz="1200" b="0" i="0" kern="1200" dirty="0">
                <a:solidFill>
                  <a:schemeClr val="tx1"/>
                </a:solidFill>
                <a:effectLst/>
                <a:latin typeface="+mn-lt"/>
                <a:ea typeface="+mn-ea"/>
                <a:cs typeface="+mn-cs"/>
              </a:rPr>
              <a:t>-and-</a:t>
            </a:r>
            <a:r>
              <a:rPr lang="ko-KR" altLang="ko-KR" sz="1200" b="0" i="0" kern="1200" dirty="0" err="1">
                <a:solidFill>
                  <a:schemeClr val="tx1"/>
                </a:solidFill>
                <a:effectLst/>
                <a:latin typeface="+mn-lt"/>
                <a:ea typeface="+mn-ea"/>
                <a:cs typeface="+mn-cs"/>
              </a:rPr>
              <a:t>burn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mechanism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tied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LUNA.</a:t>
            </a:r>
          </a:p>
          <a:p>
            <a:r>
              <a:rPr lang="ko-KR" altLang="ko-KR" sz="1200" b="1" i="0" kern="1200" dirty="0">
                <a:solidFill>
                  <a:schemeClr val="tx1"/>
                </a:solidFill>
                <a:effectLst/>
                <a:latin typeface="+mn-lt"/>
                <a:ea typeface="+mn-ea"/>
                <a:cs typeface="+mn-cs"/>
              </a:rPr>
              <a:t>LUNA: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price</a:t>
            </a:r>
            <a:r>
              <a:rPr lang="ko-KR" altLang="ko-KR" sz="1200" b="0" i="0" kern="1200" dirty="0">
                <a:solidFill>
                  <a:schemeClr val="tx1"/>
                </a:solidFill>
                <a:effectLst/>
                <a:latin typeface="+mn-lt"/>
                <a:ea typeface="+mn-ea"/>
                <a:cs typeface="+mn-cs"/>
              </a:rPr>
              <a:t> of UST </a:t>
            </a:r>
            <a:r>
              <a:rPr lang="ko-KR" altLang="ko-KR" sz="1200" b="0" i="0" kern="1200" dirty="0" err="1">
                <a:solidFill>
                  <a:schemeClr val="tx1"/>
                </a:solidFill>
                <a:effectLst/>
                <a:latin typeface="+mn-lt"/>
                <a:ea typeface="+mn-ea"/>
                <a:cs typeface="+mn-cs"/>
              </a:rPr>
              <a:t>rose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above</a:t>
            </a:r>
            <a:r>
              <a:rPr lang="ko-KR" altLang="ko-KR" sz="1200" b="0" i="0" kern="1200" dirty="0">
                <a:solidFill>
                  <a:schemeClr val="tx1"/>
                </a:solidFill>
                <a:effectLst/>
                <a:latin typeface="+mn-lt"/>
                <a:ea typeface="+mn-ea"/>
                <a:cs typeface="+mn-cs"/>
              </a:rPr>
              <a:t> $1, </a:t>
            </a:r>
            <a:r>
              <a:rPr lang="ko-KR" altLang="ko-KR" sz="1200" b="0" i="0" kern="1200" dirty="0" err="1">
                <a:solidFill>
                  <a:schemeClr val="tx1"/>
                </a:solidFill>
                <a:effectLst/>
                <a:latin typeface="+mn-lt"/>
                <a:ea typeface="+mn-ea"/>
                <a:cs typeface="+mn-cs"/>
              </a:rPr>
              <a:t>users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could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burn</a:t>
            </a:r>
            <a:r>
              <a:rPr lang="ko-KR" altLang="ko-KR" sz="1200" b="0" i="0" kern="1200" dirty="0">
                <a:solidFill>
                  <a:schemeClr val="tx1"/>
                </a:solidFill>
                <a:effectLst/>
                <a:latin typeface="+mn-lt"/>
                <a:ea typeface="+mn-ea"/>
                <a:cs typeface="+mn-cs"/>
              </a:rPr>
              <a:t> $1 of LUNA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mint</a:t>
            </a:r>
            <a:r>
              <a:rPr lang="ko-KR" altLang="ko-KR" sz="1200" b="0" i="0" kern="1200" dirty="0">
                <a:solidFill>
                  <a:schemeClr val="tx1"/>
                </a:solidFill>
                <a:effectLst/>
                <a:latin typeface="+mn-lt"/>
                <a:ea typeface="+mn-ea"/>
                <a:cs typeface="+mn-cs"/>
              </a:rPr>
              <a:t> 1 </a:t>
            </a:r>
            <a:r>
              <a:rPr lang="ko-KR" altLang="ko-KR" sz="1200" b="0" i="0" kern="1200" dirty="0" err="1">
                <a:solidFill>
                  <a:schemeClr val="tx1"/>
                </a:solidFill>
                <a:effectLst/>
                <a:latin typeface="+mn-lt"/>
                <a:ea typeface="+mn-ea"/>
                <a:cs typeface="+mn-cs"/>
              </a:rPr>
              <a:t>new</a:t>
            </a:r>
            <a:r>
              <a:rPr lang="ko-KR" altLang="ko-KR" sz="1200" b="0" i="0" kern="1200" dirty="0">
                <a:solidFill>
                  <a:schemeClr val="tx1"/>
                </a:solidFill>
                <a:effectLst/>
                <a:latin typeface="+mn-lt"/>
                <a:ea typeface="+mn-ea"/>
                <a:cs typeface="+mn-cs"/>
              </a:rPr>
              <a:t> UST (</a:t>
            </a:r>
            <a:r>
              <a:rPr lang="ko-KR" altLang="ko-KR" sz="1200" b="0" i="0" kern="1200" dirty="0" err="1">
                <a:solidFill>
                  <a:schemeClr val="tx1"/>
                </a:solidFill>
                <a:effectLst/>
                <a:latin typeface="+mn-lt"/>
                <a:ea typeface="+mn-ea"/>
                <a:cs typeface="+mn-cs"/>
              </a:rPr>
              <a:t>increasing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supply</a:t>
            </a:r>
            <a:r>
              <a:rPr lang="ko-KR" altLang="ko-KR" sz="1200" b="0" i="0" kern="1200" dirty="0">
                <a:solidFill>
                  <a:schemeClr val="tx1"/>
                </a:solidFill>
                <a:effectLst/>
                <a:latin typeface="+mn-lt"/>
                <a:ea typeface="+mn-ea"/>
                <a:cs typeface="+mn-cs"/>
              </a:rPr>
              <a:t> and </a:t>
            </a:r>
            <a:r>
              <a:rPr lang="ko-KR" altLang="ko-KR" sz="1200" b="0" i="0" kern="1200" dirty="0" err="1">
                <a:solidFill>
                  <a:schemeClr val="tx1"/>
                </a:solidFill>
                <a:effectLst/>
                <a:latin typeface="+mn-lt"/>
                <a:ea typeface="+mn-ea"/>
                <a:cs typeface="+mn-cs"/>
              </a:rPr>
              <a:t>bringing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price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back</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down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When</a:t>
            </a:r>
            <a:r>
              <a:rPr lang="ko-KR" altLang="ko-KR" sz="1200" b="0" i="0" kern="1200" dirty="0">
                <a:solidFill>
                  <a:schemeClr val="tx1"/>
                </a:solidFill>
                <a:effectLst/>
                <a:latin typeface="+mn-lt"/>
                <a:ea typeface="+mn-ea"/>
                <a:cs typeface="+mn-cs"/>
              </a:rPr>
              <a:t> UST </a:t>
            </a:r>
            <a:r>
              <a:rPr lang="ko-KR" altLang="ko-KR" sz="1200" b="0" i="0" kern="1200" dirty="0" err="1">
                <a:solidFill>
                  <a:schemeClr val="tx1"/>
                </a:solidFill>
                <a:effectLst/>
                <a:latin typeface="+mn-lt"/>
                <a:ea typeface="+mn-ea"/>
                <a:cs typeface="+mn-cs"/>
              </a:rPr>
              <a:t>dropped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below</a:t>
            </a:r>
            <a:r>
              <a:rPr lang="ko-KR" altLang="ko-KR" sz="1200" b="0" i="0" kern="1200" dirty="0">
                <a:solidFill>
                  <a:schemeClr val="tx1"/>
                </a:solidFill>
                <a:effectLst/>
                <a:latin typeface="+mn-lt"/>
                <a:ea typeface="+mn-ea"/>
                <a:cs typeface="+mn-cs"/>
              </a:rPr>
              <a:t> $1, </a:t>
            </a:r>
            <a:r>
              <a:rPr lang="ko-KR" altLang="ko-KR" sz="1200" b="0" i="0" kern="1200" dirty="0" err="1">
                <a:solidFill>
                  <a:schemeClr val="tx1"/>
                </a:solidFill>
                <a:effectLst/>
                <a:latin typeface="+mn-lt"/>
                <a:ea typeface="+mn-ea"/>
                <a:cs typeface="+mn-cs"/>
              </a:rPr>
              <a:t>users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could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burn</a:t>
            </a:r>
            <a:r>
              <a:rPr lang="ko-KR" altLang="ko-KR" sz="1200" b="0" i="0" kern="1200" dirty="0">
                <a:solidFill>
                  <a:schemeClr val="tx1"/>
                </a:solidFill>
                <a:effectLst/>
                <a:latin typeface="+mn-lt"/>
                <a:ea typeface="+mn-ea"/>
                <a:cs typeface="+mn-cs"/>
              </a:rPr>
              <a:t> 1 UST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receive</a:t>
            </a:r>
            <a:r>
              <a:rPr lang="ko-KR" altLang="ko-KR" sz="1200" b="0" i="0" kern="1200" dirty="0">
                <a:solidFill>
                  <a:schemeClr val="tx1"/>
                </a:solidFill>
                <a:effectLst/>
                <a:latin typeface="+mn-lt"/>
                <a:ea typeface="+mn-ea"/>
                <a:cs typeface="+mn-cs"/>
              </a:rPr>
              <a:t> $1 </a:t>
            </a:r>
            <a:r>
              <a:rPr lang="ko-KR" altLang="ko-KR" sz="1200" b="0" i="0" kern="1200" dirty="0" err="1">
                <a:solidFill>
                  <a:schemeClr val="tx1"/>
                </a:solidFill>
                <a:effectLst/>
                <a:latin typeface="+mn-lt"/>
                <a:ea typeface="+mn-ea"/>
                <a:cs typeface="+mn-cs"/>
              </a:rPr>
              <a:t>worth</a:t>
            </a:r>
            <a:r>
              <a:rPr lang="ko-KR" altLang="ko-KR" sz="1200" b="0" i="0" kern="1200" dirty="0">
                <a:solidFill>
                  <a:schemeClr val="tx1"/>
                </a:solidFill>
                <a:effectLst/>
                <a:latin typeface="+mn-lt"/>
                <a:ea typeface="+mn-ea"/>
                <a:cs typeface="+mn-cs"/>
              </a:rPr>
              <a:t> of LUNA (</a:t>
            </a:r>
            <a:r>
              <a:rPr lang="ko-KR" altLang="ko-KR" sz="1200" b="0" i="0" kern="1200" dirty="0" err="1">
                <a:solidFill>
                  <a:schemeClr val="tx1"/>
                </a:solidFill>
                <a:effectLst/>
                <a:latin typeface="+mn-lt"/>
                <a:ea typeface="+mn-ea"/>
                <a:cs typeface="+mn-cs"/>
              </a:rPr>
              <a:t>reducing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supply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drive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price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back</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up</a:t>
            </a:r>
            <a:r>
              <a:rPr lang="ko-KR" altLang="ko-KR" sz="1200" b="0" i="0" kern="1200" dirty="0">
                <a:solidFill>
                  <a:schemeClr val="tx1"/>
                </a:solidFill>
                <a:effectLst/>
                <a:latin typeface="+mn-lt"/>
                <a:ea typeface="+mn-ea"/>
                <a:cs typeface="+mn-cs"/>
              </a:rPr>
              <a:t>).</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Three days after the LUNA collapse, markets turned their attention directly to Tether itself. On May 12th, USDT briefly fell to 95 cents — a 5 percent </a:t>
            </a:r>
            <a:r>
              <a:rPr dirty="0" err="1"/>
              <a:t>depeg</a:t>
            </a:r>
            <a:r>
              <a:rPr dirty="0"/>
              <a:t> — on major exchanges. This was not contagion from an unrelated token. This was a direct bank-run-style attack on Tether's credibility. Investors were essentially asking: does Tether actually have the reserves it claims? In a single day, over 7 billion dollars of USDT was redeemed — the largest single-day redemption in Tether's history. </a:t>
            </a:r>
            <a:endParaRPr lang="en-US" dirty="0"/>
          </a:p>
          <a:p>
            <a:r>
              <a:rPr lang="en-US" dirty="0"/>
              <a:t>		</a:t>
            </a:r>
          </a:p>
          <a:p>
            <a:r>
              <a:rPr b="1" dirty="0"/>
              <a:t>Tether managed to maintain the peg and return to one dollar within days, which actually validated their reserves. But during those days of uncertainty, the forced selling mechanism activated again: same low buffer of around 5 to 8 percent, same constraint, same outcome. </a:t>
            </a:r>
            <a:r>
              <a:rPr dirty="0"/>
              <a:t>The CAR came in at plus 8.85 percentage points — essentially identical to the LUNA event three days earlier. We want to highlight that this </a:t>
            </a:r>
            <a:r>
              <a:rPr b="1" dirty="0"/>
              <a:t>near-identical magnitude is not a coincidence. It tells us that what drove the market impact was not the specific trigger — LUNA contagion versus direct Tether run — but rather the underlying constraint: </a:t>
            </a:r>
            <a:endParaRPr lang="en-US" b="1" dirty="0"/>
          </a:p>
          <a:p>
            <a:endParaRPr lang="en-US" dirty="0"/>
          </a:p>
          <a:p>
            <a:r>
              <a:rPr dirty="0"/>
              <a:t>Tether did not have enough cash to absorb redemptions without selling T-bills. The buffer level determined the outcome, not the nature of the shock.</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Our third event is the Silicon Valley Bank failure in March 2023, and this one needs careful explanation because the graph </a:t>
            </a:r>
            <a:r>
              <a:rPr b="1" dirty="0"/>
              <a:t>looks counterintuitive</a:t>
            </a:r>
            <a:r>
              <a:rPr dirty="0"/>
              <a:t>. SVB collapsed on March 10th — the second largest U.S. bank failure in history. Circle, which issues USDC, disclosed that 3.3 billion dollars of its reserves were held at SVB and temporarily inaccessible. </a:t>
            </a:r>
            <a:endParaRPr lang="en-US" dirty="0"/>
          </a:p>
          <a:p>
            <a:endParaRPr lang="en-US" dirty="0"/>
          </a:p>
          <a:p>
            <a:r>
              <a:rPr dirty="0"/>
              <a:t>USDC </a:t>
            </a:r>
            <a:r>
              <a:rPr dirty="0" err="1"/>
              <a:t>depegged</a:t>
            </a:r>
            <a:r>
              <a:rPr dirty="0"/>
              <a:t> to around 87 cents — actually a larger nominal </a:t>
            </a:r>
            <a:r>
              <a:rPr dirty="0" err="1"/>
              <a:t>depeg</a:t>
            </a:r>
            <a:r>
              <a:rPr dirty="0"/>
              <a:t> than Tether in 2022. So why does the CAR go to minus 18 instead of spiking upward like the 2022 events? </a:t>
            </a:r>
            <a:r>
              <a:rPr b="1" dirty="0"/>
              <a:t>The answer is the buffer condition. By early 2023, Circle had rebuilt its cash reserves to around 18 to 22 percent — well above our 13 percent threshold. When redemptions came in, Circle paid from cash. It did not need to sell a single Treasury bill. So there was no forced selling pressure on the T-bill market from Circle's side. </a:t>
            </a:r>
            <a:endParaRPr lang="en-US" b="1" dirty="0"/>
          </a:p>
          <a:p>
            <a:endParaRPr lang="en-US" dirty="0"/>
          </a:p>
          <a:p>
            <a:r>
              <a:rPr dirty="0"/>
              <a:t>But here is what actually happened: SVB's collapse triggered a massive market-wide flight to safety. </a:t>
            </a:r>
            <a:r>
              <a:rPr b="1" dirty="0"/>
              <a:t>Investors across the entire financial system rushed to buy U.S. Treasury bills — the safest short-term asset available. </a:t>
            </a:r>
            <a:r>
              <a:rPr dirty="0"/>
              <a:t>That buying pressure pushed T-bill yields sharply below OIS, compressing the spread far below what our normal model would predict. That is why the CAR is minus 18 and not flat. </a:t>
            </a:r>
            <a:r>
              <a:rPr b="1" dirty="0"/>
              <a:t>The high buffer prevented the forced-selling story. But it could not prevent the flight-to-safety buying story. </a:t>
            </a:r>
            <a:r>
              <a:rPr dirty="0"/>
              <a:t>What we observe in the SVB event is the pure flight-to-safety effect, completely uncontaminated by any issuer-side selling pressure.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slide brings all three events together and shows why we call this a natural experiment. Look at what is the same across all three events: stablecoin issuers, U.S. Treasury bills, a sudden confidence shock, and mass redemptions. </a:t>
            </a:r>
            <a:r>
              <a:rPr b="1" dirty="0"/>
              <a:t>The only systematic difference is the liquid buffer level.</a:t>
            </a:r>
            <a:r>
              <a:rPr dirty="0"/>
              <a:t> In 2022, the buffer was low — around 5 to 8 percent — and both events produced a CAR of about plus 9 percentage points. </a:t>
            </a:r>
            <a:endParaRPr lang="en-US" dirty="0"/>
          </a:p>
          <a:p>
            <a:endParaRPr lang="en-US" dirty="0"/>
          </a:p>
          <a:p>
            <a:r>
              <a:rPr dirty="0"/>
              <a:t>In 2023, the buffer was high — around 18 to 22 percent — and the event produced a CAR of minus 18 percentage points. That is a swing of 27 percentage points driven entirely by the buffer condition. The Welch t-statistic comparing the two groups is 15.22 with a p-value below 0.001, meaning this difference is not remotely explained by chance. </a:t>
            </a:r>
            <a:endParaRPr lang="en-US" dirty="0"/>
          </a:p>
          <a:p>
            <a:endParaRPr lang="en-US" dirty="0"/>
          </a:p>
          <a:p>
            <a:r>
              <a:rPr dirty="0"/>
              <a:t>This is the core empirical finding of our paper: the liquid cash buffer is what determines whether a stablecoin issuer amplifies or absorbs a shock to the Treasury market. And next week, the placebo test will confirm that these large CARs only appear on real crisis days — not on ordinary days with the same buffer conditions.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49F8E-9BBD-27AA-BEEF-D089808BB2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FE41A2-D3E5-F478-5AA3-F6236697C3E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5D42733-54B7-9A03-EA7F-F155A45FCA96}"/>
              </a:ext>
            </a:extLst>
          </p:cNvPr>
          <p:cNvSpPr>
            <a:spLocks noGrp="1"/>
          </p:cNvSpPr>
          <p:nvPr>
            <p:ph type="body" sz="quarter" idx="3"/>
          </p:nvPr>
        </p:nvSpPr>
        <p:spPr/>
        <p:txBody>
          <a:bodyPr/>
          <a:lstStyle/>
          <a:p>
            <a:r>
              <a:rPr dirty="0"/>
              <a:t>On the right is what we are planning for next week. We are running a placebo test — </a:t>
            </a:r>
            <a:r>
              <a:rPr b="1" dirty="0"/>
              <a:t>we take three ordinary, uneventful days with the same buffer conditions as our real events, run the exact same methodology</a:t>
            </a:r>
            <a:r>
              <a:rPr lang="en-US" b="1" dirty="0"/>
              <a:t>.</a:t>
            </a:r>
            <a:r>
              <a:rPr b="1" dirty="0"/>
              <a:t>. </a:t>
            </a:r>
            <a:r>
              <a:rPr dirty="0"/>
              <a:t>Our preliminary result already shows the placebo CARs are less than one basis point, compared to nine to eighteen basis points in the actual events. That is a 22 times difference, which strongly supports that our results are real and not just </a:t>
            </a:r>
            <a:r>
              <a:t>noise.</a:t>
            </a:r>
            <a:endParaRPr dirty="0"/>
          </a:p>
        </p:txBody>
      </p:sp>
      <p:sp>
        <p:nvSpPr>
          <p:cNvPr id="4" name="Slide Number Placeholder 3">
            <a:extLst>
              <a:ext uri="{FF2B5EF4-FFF2-40B4-BE49-F238E27FC236}">
                <a16:creationId xmlns:a16="http://schemas.microsoft.com/office/drawing/2014/main" id="{F21A83D7-45A9-A24F-0E49-7C44D4017AD0}"/>
              </a:ext>
            </a:extLst>
          </p:cNvPr>
          <p:cNvSpPr>
            <a:spLocks noGrp="1"/>
          </p:cNvSpPr>
          <p:nvPr>
            <p:ph type="sldNum" sz="quarter" idx="5"/>
          </p:nvPr>
        </p:nvSpPr>
        <p:spPr/>
      </p:sp>
    </p:spTree>
    <p:extLst>
      <p:ext uri="{BB962C8B-B14F-4D97-AF65-F5344CB8AC3E}">
        <p14:creationId xmlns:p14="http://schemas.microsoft.com/office/powerpoint/2010/main" val="10702387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3E962-FE61-40F8-949A-B79364915F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4360AD-CF05-9FBC-0124-9FB96201F76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CF4EEC3-A46E-0919-F520-1EA644A9328D}"/>
              </a:ext>
            </a:extLst>
          </p:cNvPr>
          <p:cNvSpPr>
            <a:spLocks noGrp="1"/>
          </p:cNvSpPr>
          <p:nvPr>
            <p:ph type="body" sz="quarter" idx="3"/>
          </p:nvPr>
        </p:nvSpPr>
        <p:spPr/>
        <p:txBody>
          <a:bodyPr/>
          <a:lstStyle/>
          <a:p>
            <a:r>
              <a:rPr lang="en-US" altLang="ko-KR" dirty="0"/>
              <a:t>Thank you for listening. To summarize in two sentences: stablecoin issuers have become structurally important buyers of U.S. Treasury bills, which deepens America's safe-asset privilege in normal times. But when their liquid cash buffers fall below roughly 13 percent of supply, a run forces them to liquidate T-bills — turning a privilege amplifier into a systemic disruptor. We are happy to take any questions.</a:t>
            </a:r>
          </a:p>
          <a:p>
            <a:endParaRPr dirty="0"/>
          </a:p>
        </p:txBody>
      </p:sp>
      <p:sp>
        <p:nvSpPr>
          <p:cNvPr id="4" name="Slide Number Placeholder 3">
            <a:extLst>
              <a:ext uri="{FF2B5EF4-FFF2-40B4-BE49-F238E27FC236}">
                <a16:creationId xmlns:a16="http://schemas.microsoft.com/office/drawing/2014/main" id="{4CE7C664-7571-7EEC-474D-143DA8E58CF4}"/>
              </a:ext>
            </a:extLst>
          </p:cNvPr>
          <p:cNvSpPr>
            <a:spLocks noGrp="1"/>
          </p:cNvSpPr>
          <p:nvPr>
            <p:ph type="sldNum" sz="quarter" idx="5"/>
          </p:nvPr>
        </p:nvSpPr>
        <p:spPr/>
      </p:sp>
    </p:spTree>
    <p:extLst>
      <p:ext uri="{BB962C8B-B14F-4D97-AF65-F5344CB8AC3E}">
        <p14:creationId xmlns:p14="http://schemas.microsoft.com/office/powerpoint/2010/main" val="21332773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그림 2" descr="원, 그래픽, 스크린샷, 그래픽 디자인이(가) 표시된 사진&#10;&#10;자동 생성된 설명"/>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STABLECOINS AND THE EXORBITANT PRIVILEGE</a:t>
            </a: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094095" y="5560060"/>
            <a:ext cx="5842635" cy="1198880"/>
          </a:xfrm>
          <a:prstGeom prst="rect">
            <a:avLst/>
          </a:prstGeom>
          <a:noFill/>
        </p:spPr>
        <p:txBody>
          <a:bodyPr wrap="square" rtlCol="0">
            <a:spAutoFit/>
          </a:bodyPr>
          <a:lstStyle/>
          <a:p>
            <a:r>
              <a:rPr lang="en-US" altLang="ko-KR" sz="1800" b="1" dirty="0">
                <a:solidFill>
                  <a:schemeClr val="bg1"/>
                </a:solidFill>
              </a:rPr>
              <a:t>Yonsei GSIS 2026-1 </a:t>
            </a: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br>
              <a:rPr lang="en-US" altLang="ko-KR" b="1" dirty="0">
                <a:solidFill>
                  <a:srgbClr val="FFFFFF"/>
                </a:solidFill>
              </a:rPr>
            </a:br>
            <a:r>
              <a:rPr lang="en-US" altLang="ko-KR" b="1" dirty="0">
                <a:solidFill>
                  <a:srgbClr val="FFFFFF"/>
                </a:solidFill>
              </a:rPr>
              <a:t>· Jade Zhu · Alexandre Godefroy · Baptiste Degand</a:t>
            </a:r>
            <a:endParaRPr lang="en-US" altLang="ko-KR" sz="1800" b="1" dirty="0">
              <a:solidFill>
                <a:srgbClr val="FFFFFF"/>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7006374" cy="492443"/>
          </a:xfrm>
          <a:prstGeom prst="rect">
            <a:avLst/>
          </a:prstGeom>
          <a:noFill/>
        </p:spPr>
        <p:txBody>
          <a:bodyPr wrap="square">
            <a:spAutoFit/>
          </a:bodyPr>
          <a:lstStyle/>
          <a:p>
            <a:pPr algn="l"/>
            <a:r>
              <a:rPr sz="2600" b="0" i="0" dirty="0">
                <a:solidFill>
                  <a:srgbClr val="FFFFFF"/>
                </a:solidFill>
                <a:latin typeface="Calibri"/>
              </a:rPr>
              <a:t>Roadmap</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2</a:t>
            </a:r>
          </a:p>
        </p:txBody>
      </p:sp>
      <p:sp>
        <p:nvSpPr>
          <p:cNvPr id="6" name="Rectangle 5"/>
          <p:cNvSpPr/>
          <p:nvPr/>
        </p:nvSpPr>
        <p:spPr>
          <a:xfrm>
            <a:off x="320040" y="960120"/>
            <a:ext cx="557784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987552"/>
            <a:ext cx="5394960" cy="310896"/>
          </a:xfrm>
          <a:prstGeom prst="rect">
            <a:avLst/>
          </a:prstGeom>
          <a:noFill/>
        </p:spPr>
        <p:txBody>
          <a:bodyPr wrap="square">
            <a:spAutoFit/>
          </a:bodyPr>
          <a:lstStyle/>
          <a:p>
            <a:pPr algn="l"/>
            <a:r>
              <a:rPr sz="1500" b="1" i="0">
                <a:solidFill>
                  <a:srgbClr val="FFFFFF"/>
                </a:solidFill>
                <a:latin typeface="Calibri"/>
              </a:rPr>
              <a:t>What we have done</a:t>
            </a:r>
          </a:p>
        </p:txBody>
      </p:sp>
      <p:sp>
        <p:nvSpPr>
          <p:cNvPr id="8" name="Rectangle 7"/>
          <p:cNvSpPr/>
          <p:nvPr/>
        </p:nvSpPr>
        <p:spPr>
          <a:xfrm>
            <a:off x="320040" y="1417320"/>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47472" y="1600200"/>
            <a:ext cx="1042415" cy="347472"/>
          </a:xfrm>
          <a:prstGeom prst="rect">
            <a:avLst/>
          </a:prstGeom>
          <a:noFill/>
        </p:spPr>
        <p:txBody>
          <a:bodyPr wrap="square">
            <a:spAutoFit/>
          </a:bodyPr>
          <a:lstStyle/>
          <a:p>
            <a:pPr algn="ctr"/>
            <a:r>
              <a:rPr sz="1100" b="1" i="0">
                <a:solidFill>
                  <a:srgbClr val="FFFFFF"/>
                </a:solidFill>
                <a:latin typeface="Calibri"/>
              </a:rPr>
              <a:t>Theory</a:t>
            </a:r>
          </a:p>
        </p:txBody>
      </p:sp>
      <p:sp>
        <p:nvSpPr>
          <p:cNvPr id="10" name="Rectangle 9"/>
          <p:cNvSpPr/>
          <p:nvPr/>
        </p:nvSpPr>
        <p:spPr>
          <a:xfrm>
            <a:off x="1417320" y="1417320"/>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536192" y="1581912"/>
            <a:ext cx="4297680" cy="457200"/>
          </a:xfrm>
          <a:prstGeom prst="rect">
            <a:avLst/>
          </a:prstGeom>
          <a:noFill/>
        </p:spPr>
        <p:txBody>
          <a:bodyPr wrap="square">
            <a:spAutoFit/>
          </a:bodyPr>
          <a:lstStyle/>
          <a:p>
            <a:pPr algn="l"/>
            <a:r>
              <a:rPr sz="1200" b="0" i="0" dirty="0">
                <a:solidFill>
                  <a:srgbClr val="1A1A2E"/>
                </a:solidFill>
                <a:latin typeface="Calibri"/>
              </a:rPr>
              <a:t>✓  Extended Maggiori (2017) with stablecoin supply S, treasury exposure </a:t>
            </a:r>
            <a:r>
              <a:rPr sz="1200" b="0" i="0" dirty="0" err="1">
                <a:solidFill>
                  <a:srgbClr val="1A1A2E"/>
                </a:solidFill>
                <a:latin typeface="Calibri"/>
              </a:rPr>
              <a:t>θ</a:t>
            </a:r>
            <a:r>
              <a:rPr sz="1200" b="0" i="0" dirty="0">
                <a:solidFill>
                  <a:srgbClr val="1A1A2E"/>
                </a:solidFill>
                <a:latin typeface="Calibri"/>
              </a:rPr>
              <a:t>, and liquid buffer L</a:t>
            </a:r>
          </a:p>
        </p:txBody>
      </p:sp>
      <p:sp>
        <p:nvSpPr>
          <p:cNvPr id="12" name="Rectangle 11"/>
          <p:cNvSpPr/>
          <p:nvPr/>
        </p:nvSpPr>
        <p:spPr>
          <a:xfrm>
            <a:off x="320040" y="2176272"/>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7472" y="2359152"/>
            <a:ext cx="1042415" cy="347472"/>
          </a:xfrm>
          <a:prstGeom prst="rect">
            <a:avLst/>
          </a:prstGeom>
          <a:noFill/>
        </p:spPr>
        <p:txBody>
          <a:bodyPr wrap="square">
            <a:spAutoFit/>
          </a:bodyPr>
          <a:lstStyle/>
          <a:p>
            <a:pPr algn="ctr"/>
            <a:r>
              <a:rPr sz="1100" b="1" i="0">
                <a:solidFill>
                  <a:srgbClr val="FFFFFF"/>
                </a:solidFill>
                <a:latin typeface="Calibri"/>
              </a:rPr>
              <a:t>Regression</a:t>
            </a:r>
          </a:p>
        </p:txBody>
      </p:sp>
      <p:sp>
        <p:nvSpPr>
          <p:cNvPr id="14" name="Rectangle 13"/>
          <p:cNvSpPr/>
          <p:nvPr/>
        </p:nvSpPr>
        <p:spPr>
          <a:xfrm>
            <a:off x="1417320" y="2176272"/>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536192" y="2340864"/>
            <a:ext cx="4297680" cy="457200"/>
          </a:xfrm>
          <a:prstGeom prst="rect">
            <a:avLst/>
          </a:prstGeom>
          <a:noFill/>
        </p:spPr>
        <p:txBody>
          <a:bodyPr wrap="square">
            <a:spAutoFit/>
          </a:bodyPr>
          <a:lstStyle/>
          <a:p>
            <a:pPr algn="l"/>
            <a:r>
              <a:rPr sz="1200" b="0" i="0" dirty="0">
                <a:solidFill>
                  <a:srgbClr val="1A1A2E"/>
                </a:solidFill>
                <a:latin typeface="Calibri"/>
              </a:rPr>
              <a:t>✓  β₁ = −6.02** — stablecoin growth compresses OIS–Treasury spreads (privilege amplification)</a:t>
            </a:r>
          </a:p>
        </p:txBody>
      </p:sp>
      <p:sp>
        <p:nvSpPr>
          <p:cNvPr id="16" name="Rectangle 15"/>
          <p:cNvSpPr/>
          <p:nvPr/>
        </p:nvSpPr>
        <p:spPr>
          <a:xfrm>
            <a:off x="320040" y="2935224"/>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47472" y="3118104"/>
            <a:ext cx="1042415" cy="347472"/>
          </a:xfrm>
          <a:prstGeom prst="rect">
            <a:avLst/>
          </a:prstGeom>
          <a:noFill/>
        </p:spPr>
        <p:txBody>
          <a:bodyPr wrap="square">
            <a:spAutoFit/>
          </a:bodyPr>
          <a:lstStyle/>
          <a:p>
            <a:pPr algn="ctr"/>
            <a:r>
              <a:rPr sz="1100" b="1" i="0">
                <a:solidFill>
                  <a:srgbClr val="FFFFFF"/>
                </a:solidFill>
                <a:latin typeface="Calibri"/>
              </a:rPr>
              <a:t>Threshold</a:t>
            </a:r>
          </a:p>
        </p:txBody>
      </p:sp>
      <p:sp>
        <p:nvSpPr>
          <p:cNvPr id="18" name="Rectangle 17"/>
          <p:cNvSpPr/>
          <p:nvPr/>
        </p:nvSpPr>
        <p:spPr>
          <a:xfrm>
            <a:off x="1417320" y="2935224"/>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536192" y="3099816"/>
            <a:ext cx="4297680" cy="457200"/>
          </a:xfrm>
          <a:prstGeom prst="rect">
            <a:avLst/>
          </a:prstGeom>
          <a:noFill/>
        </p:spPr>
        <p:txBody>
          <a:bodyPr wrap="square">
            <a:spAutoFit/>
          </a:bodyPr>
          <a:lstStyle/>
          <a:p>
            <a:pPr algn="l"/>
            <a:r>
              <a:rPr sz="1200" b="0" i="0" dirty="0">
                <a:solidFill>
                  <a:srgbClr val="1A1A2E"/>
                </a:solidFill>
                <a:latin typeface="Calibri"/>
              </a:rPr>
              <a:t>✓  Hansen (2000) threshold at q* = 13% liquid cash — separates safe from fragile regime</a:t>
            </a:r>
          </a:p>
        </p:txBody>
      </p:sp>
      <p:sp>
        <p:nvSpPr>
          <p:cNvPr id="20" name="Rectangle 19"/>
          <p:cNvSpPr/>
          <p:nvPr/>
        </p:nvSpPr>
        <p:spPr>
          <a:xfrm>
            <a:off x="320040" y="3694176"/>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47472" y="3877056"/>
            <a:ext cx="1042415" cy="347472"/>
          </a:xfrm>
          <a:prstGeom prst="rect">
            <a:avLst/>
          </a:prstGeom>
          <a:noFill/>
        </p:spPr>
        <p:txBody>
          <a:bodyPr wrap="square">
            <a:spAutoFit/>
          </a:bodyPr>
          <a:lstStyle/>
          <a:p>
            <a:pPr algn="ctr"/>
            <a:r>
              <a:rPr sz="1100" b="1" i="0">
                <a:solidFill>
                  <a:srgbClr val="FFFFFF"/>
                </a:solidFill>
                <a:latin typeface="Calibri"/>
              </a:rPr>
              <a:t>Event Study</a:t>
            </a:r>
          </a:p>
        </p:txBody>
      </p:sp>
      <p:sp>
        <p:nvSpPr>
          <p:cNvPr id="22" name="Rectangle 21"/>
          <p:cNvSpPr/>
          <p:nvPr/>
        </p:nvSpPr>
        <p:spPr>
          <a:xfrm>
            <a:off x="1417320" y="3694176"/>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536192" y="3858768"/>
            <a:ext cx="4297680" cy="457200"/>
          </a:xfrm>
          <a:prstGeom prst="rect">
            <a:avLst/>
          </a:prstGeom>
          <a:noFill/>
        </p:spPr>
        <p:txBody>
          <a:bodyPr wrap="square">
            <a:spAutoFit/>
          </a:bodyPr>
          <a:lstStyle/>
          <a:p>
            <a:pPr algn="l"/>
            <a:r>
              <a:rPr sz="1200" b="0" i="0" dirty="0">
                <a:solidFill>
                  <a:srgbClr val="1A1A2E"/>
                </a:solidFill>
                <a:latin typeface="Calibri"/>
              </a:rPr>
              <a:t>✓  3 stress episodes (LUNA, USDT </a:t>
            </a:r>
            <a:r>
              <a:rPr sz="1200" b="0" i="0" dirty="0" err="1">
                <a:solidFill>
                  <a:srgbClr val="1A1A2E"/>
                </a:solidFill>
                <a:latin typeface="Calibri"/>
              </a:rPr>
              <a:t>depeg</a:t>
            </a:r>
            <a:r>
              <a:rPr sz="1200" b="0" i="0" dirty="0">
                <a:solidFill>
                  <a:srgbClr val="1A1A2E"/>
                </a:solidFill>
                <a:latin typeface="Calibri"/>
              </a:rPr>
              <a:t>, SVB) — 27 pp CAR swing between low/high buffer regimes</a:t>
            </a:r>
          </a:p>
        </p:txBody>
      </p:sp>
      <p:sp>
        <p:nvSpPr>
          <p:cNvPr id="24" name="Rectangle 23"/>
          <p:cNvSpPr/>
          <p:nvPr/>
        </p:nvSpPr>
        <p:spPr>
          <a:xfrm>
            <a:off x="320040" y="4453128"/>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47472" y="4636008"/>
            <a:ext cx="1042415" cy="347472"/>
          </a:xfrm>
          <a:prstGeom prst="rect">
            <a:avLst/>
          </a:prstGeom>
          <a:noFill/>
        </p:spPr>
        <p:txBody>
          <a:bodyPr wrap="square">
            <a:spAutoFit/>
          </a:bodyPr>
          <a:lstStyle/>
          <a:p>
            <a:pPr algn="ctr"/>
            <a:r>
              <a:rPr sz="1100" b="1" i="0">
                <a:solidFill>
                  <a:srgbClr val="FFFFFF"/>
                </a:solidFill>
                <a:latin typeface="Calibri"/>
              </a:rPr>
              <a:t>Robustness</a:t>
            </a:r>
          </a:p>
        </p:txBody>
      </p:sp>
      <p:sp>
        <p:nvSpPr>
          <p:cNvPr id="26" name="Rectangle 25"/>
          <p:cNvSpPr/>
          <p:nvPr/>
        </p:nvSpPr>
        <p:spPr>
          <a:xfrm>
            <a:off x="1417320" y="4453128"/>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536192" y="4617720"/>
            <a:ext cx="4297680" cy="457200"/>
          </a:xfrm>
          <a:prstGeom prst="rect">
            <a:avLst/>
          </a:prstGeom>
          <a:noFill/>
        </p:spPr>
        <p:txBody>
          <a:bodyPr wrap="square">
            <a:spAutoFit/>
          </a:bodyPr>
          <a:lstStyle/>
          <a:p>
            <a:pPr algn="l"/>
            <a:r>
              <a:rPr sz="1200" b="0" i="0" dirty="0">
                <a:solidFill>
                  <a:srgbClr val="1A1A2E"/>
                </a:solidFill>
                <a:latin typeface="Calibri"/>
              </a:rPr>
              <a:t>✓  Mean-centering (VIF), Engle-Granger cointegration, first-differenced spec, post-2023 subsample</a:t>
            </a:r>
          </a:p>
        </p:txBody>
      </p:sp>
      <p:sp>
        <p:nvSpPr>
          <p:cNvPr id="28" name="Rectangle 27"/>
          <p:cNvSpPr/>
          <p:nvPr/>
        </p:nvSpPr>
        <p:spPr>
          <a:xfrm>
            <a:off x="320040" y="5212080"/>
            <a:ext cx="1097280" cy="694944"/>
          </a:xfrm>
          <a:prstGeom prst="rect">
            <a:avLst/>
          </a:prstGeom>
          <a:solidFill>
            <a:schemeClr val="accent3">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47472" y="5394960"/>
            <a:ext cx="1042415" cy="347472"/>
          </a:xfrm>
          <a:prstGeom prst="rect">
            <a:avLst/>
          </a:prstGeom>
          <a:noFill/>
        </p:spPr>
        <p:txBody>
          <a:bodyPr wrap="square">
            <a:spAutoFit/>
          </a:bodyPr>
          <a:lstStyle/>
          <a:p>
            <a:pPr algn="ctr"/>
            <a:r>
              <a:rPr sz="1100" b="1" i="0" dirty="0">
                <a:solidFill>
                  <a:srgbClr val="FFFFFF"/>
                </a:solidFill>
                <a:latin typeface="Calibri"/>
              </a:rPr>
              <a:t>This deck</a:t>
            </a:r>
          </a:p>
        </p:txBody>
      </p:sp>
      <p:sp>
        <p:nvSpPr>
          <p:cNvPr id="30" name="Rectangle 29"/>
          <p:cNvSpPr/>
          <p:nvPr/>
        </p:nvSpPr>
        <p:spPr>
          <a:xfrm>
            <a:off x="1417320" y="5212080"/>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536192" y="5376672"/>
            <a:ext cx="4297680" cy="457200"/>
          </a:xfrm>
          <a:prstGeom prst="rect">
            <a:avLst/>
          </a:prstGeom>
          <a:noFill/>
        </p:spPr>
        <p:txBody>
          <a:bodyPr wrap="square">
            <a:spAutoFit/>
          </a:bodyPr>
          <a:lstStyle/>
          <a:p>
            <a:pPr algn="l"/>
            <a:r>
              <a:rPr sz="1200" b="0" i="0" dirty="0">
                <a:solidFill>
                  <a:srgbClr val="1A1A2E"/>
                </a:solidFill>
                <a:latin typeface="Calibri"/>
              </a:rPr>
              <a:t>✓  Clarified: why OIS spread, what the buffer condition means, how to read CAR, what each event was</a:t>
            </a:r>
          </a:p>
        </p:txBody>
      </p:sp>
      <p:sp>
        <p:nvSpPr>
          <p:cNvPr id="36" name="TextBox 35">
            <a:extLst>
              <a:ext uri="{FF2B5EF4-FFF2-40B4-BE49-F238E27FC236}">
                <a16:creationId xmlns:a16="http://schemas.microsoft.com/office/drawing/2014/main" id="{852AE728-87E7-E37C-DFB0-EA501EEBFB43}"/>
              </a:ext>
            </a:extLst>
          </p:cNvPr>
          <p:cNvSpPr txBox="1"/>
          <p:nvPr/>
        </p:nvSpPr>
        <p:spPr>
          <a:xfrm>
            <a:off x="10265434" y="320040"/>
            <a:ext cx="1576046" cy="323165"/>
          </a:xfrm>
          <a:prstGeom prst="rect">
            <a:avLst/>
          </a:prstGeom>
          <a:noFill/>
        </p:spPr>
        <p:txBody>
          <a:bodyPr wrap="square">
            <a:spAutoFit/>
          </a:bodyPr>
          <a:lstStyle/>
          <a:p>
            <a:pPr algn="l"/>
            <a:r>
              <a:rPr lang="en-US" sz="1500" b="1" i="0" dirty="0">
                <a:solidFill>
                  <a:srgbClr val="FFFFFF"/>
                </a:solidFill>
                <a:latin typeface="Calibri"/>
              </a:rPr>
              <a:t>Baptiste– Page 2</a:t>
            </a:r>
            <a:endParaRPr sz="1500" b="1" i="0" dirty="0">
              <a:solidFill>
                <a:srgbClr val="FFFFFF"/>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Why OIS–Treasury Spread, Not Raw Yields?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3</a:t>
            </a:r>
          </a:p>
        </p:txBody>
      </p:sp>
      <p:sp>
        <p:nvSpPr>
          <p:cNvPr id="6" name="Rectangle 5"/>
          <p:cNvSpPr/>
          <p:nvPr/>
        </p:nvSpPr>
        <p:spPr>
          <a:xfrm>
            <a:off x="320040" y="960120"/>
            <a:ext cx="11521440" cy="4572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24128"/>
            <a:ext cx="11064240" cy="347472"/>
          </a:xfrm>
          <a:prstGeom prst="rect">
            <a:avLst/>
          </a:prstGeom>
          <a:noFill/>
        </p:spPr>
        <p:txBody>
          <a:bodyPr wrap="square">
            <a:spAutoFit/>
          </a:bodyPr>
          <a:lstStyle/>
          <a:p>
            <a:pPr algn="l"/>
            <a:r>
              <a:rPr sz="1400" b="0" i="1">
                <a:solidFill>
                  <a:srgbClr val="1B3A72"/>
                </a:solidFill>
                <a:latin typeface="Calibri"/>
              </a:rPr>
              <a:t>A T-bill yield moves for two reasons simultaneously. We need to separate them.</a:t>
            </a:r>
          </a:p>
        </p:txBody>
      </p:sp>
      <p:sp>
        <p:nvSpPr>
          <p:cNvPr id="8" name="Rectangle 7"/>
          <p:cNvSpPr/>
          <p:nvPr/>
        </p:nvSpPr>
        <p:spPr>
          <a:xfrm>
            <a:off x="320040" y="1508760"/>
            <a:ext cx="3749039"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93192" y="1536192"/>
            <a:ext cx="3611880" cy="237744"/>
          </a:xfrm>
          <a:prstGeom prst="rect">
            <a:avLst/>
          </a:prstGeom>
          <a:noFill/>
        </p:spPr>
        <p:txBody>
          <a:bodyPr wrap="square">
            <a:spAutoFit/>
          </a:bodyPr>
          <a:lstStyle/>
          <a:p>
            <a:pPr algn="l"/>
            <a:r>
              <a:rPr sz="1300" b="1" i="0">
                <a:solidFill>
                  <a:srgbClr val="FFFFFF"/>
                </a:solidFill>
                <a:latin typeface="Calibri"/>
              </a:rPr>
              <a:t>Raw T-bill Yield</a:t>
            </a:r>
          </a:p>
        </p:txBody>
      </p:sp>
      <p:sp>
        <p:nvSpPr>
          <p:cNvPr id="10" name="TextBox 9"/>
          <p:cNvSpPr txBox="1"/>
          <p:nvPr/>
        </p:nvSpPr>
        <p:spPr>
          <a:xfrm>
            <a:off x="1581912" y="1559200"/>
            <a:ext cx="3611880" cy="201168"/>
          </a:xfrm>
          <a:prstGeom prst="rect">
            <a:avLst/>
          </a:prstGeom>
          <a:noFill/>
        </p:spPr>
        <p:txBody>
          <a:bodyPr wrap="square">
            <a:spAutoFit/>
          </a:bodyPr>
          <a:lstStyle/>
          <a:p>
            <a:pPr algn="l"/>
            <a:r>
              <a:rPr sz="1100" b="0" i="1" dirty="0">
                <a:solidFill>
                  <a:srgbClr val="FFFFFF"/>
                </a:solidFill>
                <a:latin typeface="Calibri"/>
              </a:rPr>
              <a:t>(what we did NOT use)</a:t>
            </a:r>
          </a:p>
        </p:txBody>
      </p:sp>
      <p:sp>
        <p:nvSpPr>
          <p:cNvPr id="11" name="Rectangle 10"/>
          <p:cNvSpPr/>
          <p:nvPr/>
        </p:nvSpPr>
        <p:spPr>
          <a:xfrm>
            <a:off x="320040" y="1965960"/>
            <a:ext cx="3749039" cy="21031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29768" y="2029968"/>
            <a:ext cx="3547872" cy="19659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Driven by Fed rate expectations</a:t>
            </a:r>
          </a:p>
          <a:p>
            <a:pPr algn="l">
              <a:spcBef>
                <a:spcPts val="700"/>
              </a:spcBef>
            </a:pPr>
            <a:r>
              <a:rPr sz="1300" b="0" i="0" dirty="0">
                <a:solidFill>
                  <a:srgbClr val="1A1A2E"/>
                </a:solidFill>
                <a:latin typeface="Calibri"/>
              </a:rPr>
              <a:t>•  Driven by inflation expectations</a:t>
            </a:r>
          </a:p>
          <a:p>
            <a:pPr algn="l">
              <a:spcBef>
                <a:spcPts val="700"/>
              </a:spcBef>
            </a:pPr>
            <a:r>
              <a:rPr sz="1300" b="0" i="0" dirty="0">
                <a:solidFill>
                  <a:srgbClr val="1A1A2E"/>
                </a:solidFill>
                <a:latin typeface="Calibri"/>
              </a:rPr>
              <a:t>•  Driven by safe-asset demand</a:t>
            </a:r>
          </a:p>
          <a:p>
            <a:pPr algn="l">
              <a:spcBef>
                <a:spcPts val="700"/>
              </a:spcBef>
            </a:pPr>
            <a:r>
              <a:rPr sz="1300" b="0" i="0" dirty="0">
                <a:solidFill>
                  <a:srgbClr val="1A1A2E"/>
                </a:solidFill>
                <a:latin typeface="Calibri"/>
              </a:rPr>
              <a:t>•  Cannot distinguish these three forces</a:t>
            </a:r>
          </a:p>
        </p:txBody>
      </p:sp>
      <p:sp>
        <p:nvSpPr>
          <p:cNvPr id="13" name="Rectangle 12"/>
          <p:cNvSpPr/>
          <p:nvPr/>
        </p:nvSpPr>
        <p:spPr>
          <a:xfrm>
            <a:off x="4251960" y="1508760"/>
            <a:ext cx="3749039" cy="4572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25112" y="1536192"/>
            <a:ext cx="3611880" cy="237744"/>
          </a:xfrm>
          <a:prstGeom prst="rect">
            <a:avLst/>
          </a:prstGeom>
          <a:noFill/>
        </p:spPr>
        <p:txBody>
          <a:bodyPr wrap="square">
            <a:spAutoFit/>
          </a:bodyPr>
          <a:lstStyle/>
          <a:p>
            <a:pPr algn="l"/>
            <a:r>
              <a:rPr sz="1300" b="1" i="0">
                <a:solidFill>
                  <a:srgbClr val="FFFFFF"/>
                </a:solidFill>
                <a:latin typeface="Calibri"/>
              </a:rPr>
              <a:t>OIS Rate</a:t>
            </a:r>
          </a:p>
        </p:txBody>
      </p:sp>
      <p:sp>
        <p:nvSpPr>
          <p:cNvPr id="15" name="TextBox 14"/>
          <p:cNvSpPr txBox="1"/>
          <p:nvPr/>
        </p:nvSpPr>
        <p:spPr>
          <a:xfrm>
            <a:off x="5193792" y="1543861"/>
            <a:ext cx="3611880" cy="201168"/>
          </a:xfrm>
          <a:prstGeom prst="rect">
            <a:avLst/>
          </a:prstGeom>
          <a:noFill/>
        </p:spPr>
        <p:txBody>
          <a:bodyPr wrap="square">
            <a:spAutoFit/>
          </a:bodyPr>
          <a:lstStyle/>
          <a:p>
            <a:pPr algn="l"/>
            <a:r>
              <a:rPr sz="1100" b="0" i="1" dirty="0">
                <a:solidFill>
                  <a:srgbClr val="FFFFFF"/>
                </a:solidFill>
                <a:latin typeface="Calibri"/>
              </a:rPr>
              <a:t>(the subtracted benchmark)</a:t>
            </a:r>
          </a:p>
        </p:txBody>
      </p:sp>
      <p:sp>
        <p:nvSpPr>
          <p:cNvPr id="16" name="Rectangle 15"/>
          <p:cNvSpPr/>
          <p:nvPr/>
        </p:nvSpPr>
        <p:spPr>
          <a:xfrm>
            <a:off x="4251960" y="1965960"/>
            <a:ext cx="3749039" cy="21031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361688" y="2029968"/>
            <a:ext cx="3547872" cy="19659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Reflects expected Fed Funds path</a:t>
            </a:r>
          </a:p>
          <a:p>
            <a:pPr algn="l">
              <a:spcBef>
                <a:spcPts val="700"/>
              </a:spcBef>
            </a:pPr>
            <a:r>
              <a:rPr sz="1300" b="0" i="0" dirty="0">
                <a:solidFill>
                  <a:srgbClr val="1A1A2E"/>
                </a:solidFill>
                <a:latin typeface="Calibri"/>
              </a:rPr>
              <a:t>•  Pure monetary policy expectations</a:t>
            </a:r>
          </a:p>
          <a:p>
            <a:pPr algn="l">
              <a:spcBef>
                <a:spcPts val="700"/>
              </a:spcBef>
            </a:pPr>
            <a:r>
              <a:rPr sz="1300" b="0" i="0" dirty="0">
                <a:solidFill>
                  <a:srgbClr val="1A1A2E"/>
                </a:solidFill>
                <a:latin typeface="Calibri"/>
              </a:rPr>
              <a:t>•  No T-bill specific demand embedded</a:t>
            </a:r>
          </a:p>
          <a:p>
            <a:pPr algn="l">
              <a:spcBef>
                <a:spcPts val="700"/>
              </a:spcBef>
            </a:pPr>
            <a:r>
              <a:rPr sz="1300" b="0" i="0" dirty="0">
                <a:solidFill>
                  <a:srgbClr val="1A1A2E"/>
                </a:solidFill>
                <a:latin typeface="Calibri"/>
              </a:rPr>
              <a:t>•  Moves with macro, not stablecoin flows</a:t>
            </a:r>
          </a:p>
        </p:txBody>
      </p:sp>
      <p:sp>
        <p:nvSpPr>
          <p:cNvPr id="18" name="Rectangle 17"/>
          <p:cNvSpPr/>
          <p:nvPr/>
        </p:nvSpPr>
        <p:spPr>
          <a:xfrm>
            <a:off x="8183880" y="1508760"/>
            <a:ext cx="3749039" cy="457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57032" y="1536192"/>
            <a:ext cx="3611880" cy="237744"/>
          </a:xfrm>
          <a:prstGeom prst="rect">
            <a:avLst/>
          </a:prstGeom>
          <a:noFill/>
        </p:spPr>
        <p:txBody>
          <a:bodyPr wrap="square">
            <a:spAutoFit/>
          </a:bodyPr>
          <a:lstStyle/>
          <a:p>
            <a:pPr algn="l"/>
            <a:r>
              <a:rPr sz="1300" b="1" i="0">
                <a:solidFill>
                  <a:srgbClr val="FFFFFF"/>
                </a:solidFill>
                <a:latin typeface="Calibri"/>
              </a:rPr>
              <a:t>OIS–Treasury Spread</a:t>
            </a:r>
          </a:p>
        </p:txBody>
      </p:sp>
      <p:sp>
        <p:nvSpPr>
          <p:cNvPr id="20" name="TextBox 19"/>
          <p:cNvSpPr txBox="1"/>
          <p:nvPr/>
        </p:nvSpPr>
        <p:spPr>
          <a:xfrm>
            <a:off x="9761220" y="1555070"/>
            <a:ext cx="3611880" cy="201168"/>
          </a:xfrm>
          <a:prstGeom prst="rect">
            <a:avLst/>
          </a:prstGeom>
          <a:noFill/>
        </p:spPr>
        <p:txBody>
          <a:bodyPr wrap="square">
            <a:spAutoFit/>
          </a:bodyPr>
          <a:lstStyle/>
          <a:p>
            <a:pPr algn="l"/>
            <a:r>
              <a:rPr sz="1100" b="0" i="1" dirty="0">
                <a:solidFill>
                  <a:srgbClr val="FFFFFF"/>
                </a:solidFill>
                <a:latin typeface="Calibri"/>
              </a:rPr>
              <a:t>(our dependent variable)</a:t>
            </a:r>
          </a:p>
        </p:txBody>
      </p:sp>
      <p:sp>
        <p:nvSpPr>
          <p:cNvPr id="21" name="Rectangle 20"/>
          <p:cNvSpPr/>
          <p:nvPr/>
        </p:nvSpPr>
        <p:spPr>
          <a:xfrm>
            <a:off x="8183880" y="1965960"/>
            <a:ext cx="3749039" cy="21031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293608" y="2029968"/>
            <a:ext cx="3547872" cy="19659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 T-bill yield  −  OIS rate</a:t>
            </a:r>
          </a:p>
          <a:p>
            <a:pPr algn="l">
              <a:spcBef>
                <a:spcPts val="700"/>
              </a:spcBef>
            </a:pPr>
            <a:r>
              <a:rPr sz="1300" b="0" i="0" dirty="0">
                <a:solidFill>
                  <a:srgbClr val="1A1A2E"/>
                </a:solidFill>
                <a:latin typeface="Calibri"/>
              </a:rPr>
              <a:t>❖  Cancels out monetary policy</a:t>
            </a:r>
          </a:p>
          <a:p>
            <a:pPr algn="l">
              <a:spcBef>
                <a:spcPts val="700"/>
              </a:spcBef>
            </a:pPr>
            <a:r>
              <a:rPr sz="1300" b="0" i="0" dirty="0">
                <a:solidFill>
                  <a:srgbClr val="1A1A2E"/>
                </a:solidFill>
                <a:latin typeface="Calibri"/>
              </a:rPr>
              <a:t>❖  Isolates convenience / safety premium</a:t>
            </a:r>
          </a:p>
          <a:p>
            <a:pPr algn="l">
              <a:spcBef>
                <a:spcPts val="700"/>
              </a:spcBef>
            </a:pPr>
            <a:r>
              <a:rPr sz="1300" b="0" i="0" dirty="0">
                <a:solidFill>
                  <a:srgbClr val="1A1A2E"/>
                </a:solidFill>
                <a:latin typeface="Calibri"/>
              </a:rPr>
              <a:t>❖  Only moves when T-bill demand shifts</a:t>
            </a:r>
          </a:p>
        </p:txBody>
      </p:sp>
      <p:sp>
        <p:nvSpPr>
          <p:cNvPr id="23" name="Rectangle 22"/>
          <p:cNvSpPr/>
          <p:nvPr/>
        </p:nvSpPr>
        <p:spPr>
          <a:xfrm>
            <a:off x="320039" y="4187952"/>
            <a:ext cx="11612879" cy="32004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02920" y="4187952"/>
            <a:ext cx="11064240" cy="274320"/>
          </a:xfrm>
          <a:prstGeom prst="rect">
            <a:avLst/>
          </a:prstGeom>
          <a:noFill/>
        </p:spPr>
        <p:txBody>
          <a:bodyPr wrap="square">
            <a:spAutoFit/>
          </a:bodyPr>
          <a:lstStyle/>
          <a:p>
            <a:pPr algn="l"/>
            <a:r>
              <a:rPr sz="1300" b="1" i="0">
                <a:solidFill>
                  <a:srgbClr val="FFFFFF"/>
                </a:solidFill>
                <a:latin typeface="Calibri"/>
              </a:rPr>
              <a:t>Literature precedent for using this spread as the convenience yield:</a:t>
            </a:r>
          </a:p>
        </p:txBody>
      </p:sp>
      <p:sp>
        <p:nvSpPr>
          <p:cNvPr id="25" name="Rectangle 24"/>
          <p:cNvSpPr/>
          <p:nvPr/>
        </p:nvSpPr>
        <p:spPr>
          <a:xfrm>
            <a:off x="320040" y="4507992"/>
            <a:ext cx="3749039"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29768" y="4572000"/>
            <a:ext cx="3547872" cy="411480"/>
          </a:xfrm>
          <a:prstGeom prst="rect">
            <a:avLst/>
          </a:prstGeom>
          <a:noFill/>
        </p:spPr>
        <p:txBody>
          <a:bodyPr wrap="square">
            <a:spAutoFit/>
          </a:bodyPr>
          <a:lstStyle/>
          <a:p>
            <a:pPr algn="l"/>
            <a:r>
              <a:rPr sz="1200" b="1" i="0">
                <a:solidFill>
                  <a:srgbClr val="1B3A72"/>
                </a:solidFill>
                <a:latin typeface="Calibri"/>
              </a:rPr>
              <a:t>Krishnamurthy &amp;
Vissing-Jorgensen (2012)</a:t>
            </a:r>
          </a:p>
        </p:txBody>
      </p:sp>
      <p:sp>
        <p:nvSpPr>
          <p:cNvPr id="27" name="TextBox 26"/>
          <p:cNvSpPr txBox="1"/>
          <p:nvPr/>
        </p:nvSpPr>
        <p:spPr>
          <a:xfrm>
            <a:off x="429768" y="5010912"/>
            <a:ext cx="3547872" cy="430887"/>
          </a:xfrm>
          <a:prstGeom prst="rect">
            <a:avLst/>
          </a:prstGeom>
          <a:noFill/>
        </p:spPr>
        <p:txBody>
          <a:bodyPr wrap="square">
            <a:spAutoFit/>
          </a:bodyPr>
          <a:lstStyle/>
          <a:p>
            <a:pPr algn="l"/>
            <a:r>
              <a:rPr sz="1100" b="0" i="0" dirty="0">
                <a:solidFill>
                  <a:srgbClr val="1A1A2E"/>
                </a:solidFill>
                <a:latin typeface="Calibri"/>
              </a:rPr>
              <a:t>JF — use T-bill spread to measure how much investors pay for Treasuries' </a:t>
            </a:r>
            <a:r>
              <a:rPr sz="1100" b="1" i="0" dirty="0">
                <a:solidFill>
                  <a:srgbClr val="1A1A2E"/>
                </a:solidFill>
                <a:latin typeface="Calibri"/>
              </a:rPr>
              <a:t>safety and liquidity</a:t>
            </a:r>
          </a:p>
        </p:txBody>
      </p:sp>
      <p:sp>
        <p:nvSpPr>
          <p:cNvPr id="28" name="Rectangle 27"/>
          <p:cNvSpPr/>
          <p:nvPr/>
        </p:nvSpPr>
        <p:spPr>
          <a:xfrm>
            <a:off x="4251960" y="4507992"/>
            <a:ext cx="3749039"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361688" y="4572000"/>
            <a:ext cx="3547872" cy="411480"/>
          </a:xfrm>
          <a:prstGeom prst="rect">
            <a:avLst/>
          </a:prstGeom>
          <a:noFill/>
        </p:spPr>
        <p:txBody>
          <a:bodyPr wrap="square">
            <a:spAutoFit/>
          </a:bodyPr>
          <a:lstStyle/>
          <a:p>
            <a:pPr algn="l"/>
            <a:r>
              <a:rPr sz="1200" b="1" i="0">
                <a:solidFill>
                  <a:srgbClr val="1B3A72"/>
                </a:solidFill>
                <a:latin typeface="Calibri"/>
              </a:rPr>
              <a:t>Nagel (2016)</a:t>
            </a:r>
          </a:p>
        </p:txBody>
      </p:sp>
      <p:sp>
        <p:nvSpPr>
          <p:cNvPr id="30" name="TextBox 29"/>
          <p:cNvSpPr txBox="1"/>
          <p:nvPr/>
        </p:nvSpPr>
        <p:spPr>
          <a:xfrm>
            <a:off x="4361688" y="5010912"/>
            <a:ext cx="3547872" cy="430887"/>
          </a:xfrm>
          <a:prstGeom prst="rect">
            <a:avLst/>
          </a:prstGeom>
          <a:noFill/>
        </p:spPr>
        <p:txBody>
          <a:bodyPr wrap="square">
            <a:spAutoFit/>
          </a:bodyPr>
          <a:lstStyle/>
          <a:p>
            <a:pPr algn="l"/>
            <a:r>
              <a:rPr sz="1100" b="0" i="0" dirty="0">
                <a:solidFill>
                  <a:srgbClr val="1A1A2E"/>
                </a:solidFill>
                <a:latin typeface="Calibri"/>
              </a:rPr>
              <a:t>RFS — defines OIS–T-bill spread as the </a:t>
            </a:r>
            <a:r>
              <a:rPr sz="1100" b="1" i="0" dirty="0">
                <a:solidFill>
                  <a:srgbClr val="1A1A2E"/>
                </a:solidFill>
                <a:latin typeface="Calibri"/>
              </a:rPr>
              <a:t>'convenience yield' </a:t>
            </a:r>
            <a:r>
              <a:rPr sz="1100" b="0" i="0" dirty="0">
                <a:solidFill>
                  <a:srgbClr val="1A1A2E"/>
                </a:solidFill>
                <a:latin typeface="Calibri"/>
              </a:rPr>
              <a:t>of near-money assets</a:t>
            </a:r>
          </a:p>
        </p:txBody>
      </p:sp>
      <p:sp>
        <p:nvSpPr>
          <p:cNvPr id="31" name="Rectangle 30"/>
          <p:cNvSpPr/>
          <p:nvPr/>
        </p:nvSpPr>
        <p:spPr>
          <a:xfrm>
            <a:off x="8183880" y="4507992"/>
            <a:ext cx="3749039"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93608" y="4572000"/>
            <a:ext cx="3547872" cy="411480"/>
          </a:xfrm>
          <a:prstGeom prst="rect">
            <a:avLst/>
          </a:prstGeom>
          <a:noFill/>
        </p:spPr>
        <p:txBody>
          <a:bodyPr wrap="square">
            <a:spAutoFit/>
          </a:bodyPr>
          <a:lstStyle/>
          <a:p>
            <a:pPr algn="l"/>
            <a:r>
              <a:rPr sz="1200" b="1" i="0">
                <a:solidFill>
                  <a:srgbClr val="1B3A72"/>
                </a:solidFill>
                <a:latin typeface="Calibri"/>
              </a:rPr>
              <a:t>Greenwood, Hanson
&amp; Stein (2015)</a:t>
            </a:r>
          </a:p>
        </p:txBody>
      </p:sp>
      <p:sp>
        <p:nvSpPr>
          <p:cNvPr id="33" name="TextBox 32"/>
          <p:cNvSpPr txBox="1"/>
          <p:nvPr/>
        </p:nvSpPr>
        <p:spPr>
          <a:xfrm>
            <a:off x="8293608" y="5010912"/>
            <a:ext cx="3547872" cy="430887"/>
          </a:xfrm>
          <a:prstGeom prst="rect">
            <a:avLst/>
          </a:prstGeom>
          <a:noFill/>
        </p:spPr>
        <p:txBody>
          <a:bodyPr wrap="square">
            <a:spAutoFit/>
          </a:bodyPr>
          <a:lstStyle/>
          <a:p>
            <a:pPr algn="l"/>
            <a:r>
              <a:rPr sz="1100" b="0" i="0" dirty="0">
                <a:solidFill>
                  <a:srgbClr val="1A1A2E"/>
                </a:solidFill>
                <a:latin typeface="Calibri"/>
              </a:rPr>
              <a:t>QJE — show T-bill spread captures special demand that is </a:t>
            </a:r>
            <a:r>
              <a:rPr sz="1100" b="1" i="0" dirty="0">
                <a:solidFill>
                  <a:srgbClr val="1A1A2E"/>
                </a:solidFill>
                <a:latin typeface="Calibri"/>
              </a:rPr>
              <a:t>insensitive to monetary policy</a:t>
            </a:r>
          </a:p>
        </p:txBody>
      </p:sp>
      <p:sp>
        <p:nvSpPr>
          <p:cNvPr id="34" name="Rectangle 33"/>
          <p:cNvSpPr/>
          <p:nvPr/>
        </p:nvSpPr>
        <p:spPr>
          <a:xfrm>
            <a:off x="0" y="5843016"/>
            <a:ext cx="12188952" cy="850392"/>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66928" y="6007608"/>
            <a:ext cx="11274552" cy="804672"/>
          </a:xfrm>
          <a:prstGeom prst="rect">
            <a:avLst/>
          </a:prstGeom>
          <a:noFill/>
        </p:spPr>
        <p:txBody>
          <a:bodyPr wrap="square">
            <a:spAutoFit/>
          </a:bodyPr>
          <a:lstStyle/>
          <a:p>
            <a:pPr algn="ctr"/>
            <a:r>
              <a:rPr sz="1700" b="1" i="0">
                <a:solidFill>
                  <a:srgbClr val="FFFFFF"/>
                </a:solidFill>
                <a:latin typeface="Calibri"/>
              </a:rPr>
              <a:t>When stablecoin issuers buy T-bills, T-bill yields fall but OIS does not move. Only the spread captures this demand shock. Raw yields would conflate it with Fed policy.</a:t>
            </a:r>
          </a:p>
        </p:txBody>
      </p:sp>
      <p:sp>
        <p:nvSpPr>
          <p:cNvPr id="36" name="TextBox 35">
            <a:extLst>
              <a:ext uri="{FF2B5EF4-FFF2-40B4-BE49-F238E27FC236}">
                <a16:creationId xmlns:a16="http://schemas.microsoft.com/office/drawing/2014/main" id="{3DD24CF3-D03E-C15E-83E5-938335DB5079}"/>
              </a:ext>
            </a:extLst>
          </p:cNvPr>
          <p:cNvSpPr txBox="1"/>
          <p:nvPr/>
        </p:nvSpPr>
        <p:spPr>
          <a:xfrm>
            <a:off x="10265434" y="320040"/>
            <a:ext cx="1576046" cy="323165"/>
          </a:xfrm>
          <a:prstGeom prst="rect">
            <a:avLst/>
          </a:prstGeom>
          <a:noFill/>
        </p:spPr>
        <p:txBody>
          <a:bodyPr wrap="square">
            <a:spAutoFit/>
          </a:bodyPr>
          <a:lstStyle/>
          <a:p>
            <a:pPr algn="l"/>
            <a:r>
              <a:rPr lang="en-US" sz="1500" b="1" i="0" dirty="0">
                <a:solidFill>
                  <a:srgbClr val="FFFFFF"/>
                </a:solidFill>
                <a:latin typeface="Calibri"/>
              </a:rPr>
              <a:t>Sara – Page 3</a:t>
            </a:r>
            <a:endParaRPr sz="1500" b="1" i="0" dirty="0">
              <a:solidFill>
                <a:srgbClr val="FFFFFF"/>
              </a:solidFill>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is the Buffer Condition?</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4</a:t>
            </a:r>
          </a:p>
        </p:txBody>
      </p:sp>
      <p:sp>
        <p:nvSpPr>
          <p:cNvPr id="6" name="Rectangle 5"/>
          <p:cNvSpPr/>
          <p:nvPr/>
        </p:nvSpPr>
        <p:spPr>
          <a:xfrm>
            <a:off x="320040" y="960120"/>
            <a:ext cx="11521440" cy="13716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05840"/>
            <a:ext cx="11064240" cy="320040"/>
          </a:xfrm>
          <a:prstGeom prst="rect">
            <a:avLst/>
          </a:prstGeom>
          <a:noFill/>
        </p:spPr>
        <p:txBody>
          <a:bodyPr wrap="square">
            <a:spAutoFit/>
          </a:bodyPr>
          <a:lstStyle/>
          <a:p>
            <a:pPr algn="l"/>
            <a:r>
              <a:rPr sz="1400" b="1" i="0">
                <a:solidFill>
                  <a:srgbClr val="AAC4E8"/>
                </a:solidFill>
                <a:latin typeface="Calibri"/>
              </a:rPr>
              <a:t>Definition:</a:t>
            </a:r>
          </a:p>
        </p:txBody>
      </p:sp>
      <p:sp>
        <p:nvSpPr>
          <p:cNvPr id="8" name="TextBox 7"/>
          <p:cNvSpPr txBox="1"/>
          <p:nvPr/>
        </p:nvSpPr>
        <p:spPr>
          <a:xfrm>
            <a:off x="502920" y="1325880"/>
            <a:ext cx="11064240" cy="369332"/>
          </a:xfrm>
          <a:prstGeom prst="rect">
            <a:avLst/>
          </a:prstGeom>
          <a:noFill/>
        </p:spPr>
        <p:txBody>
          <a:bodyPr wrap="square">
            <a:spAutoFit/>
          </a:bodyPr>
          <a:lstStyle/>
          <a:p>
            <a:pPr algn="ctr"/>
            <a:r>
              <a:rPr sz="1800" b="1" i="0" dirty="0">
                <a:solidFill>
                  <a:srgbClr val="FFFFFF"/>
                </a:solidFill>
                <a:latin typeface="AppleGothic" pitchFamily="2" charset="-127"/>
                <a:ea typeface="AppleGothic" pitchFamily="2" charset="-127"/>
              </a:rPr>
              <a:t>L  =  Liquid Buffer  =  Cash </a:t>
            </a:r>
            <a:r>
              <a:rPr lang="en-US" sz="1800" b="1" i="0" dirty="0">
                <a:solidFill>
                  <a:srgbClr val="FFFFFF"/>
                </a:solidFill>
                <a:latin typeface="AppleGothic" pitchFamily="2" charset="-127"/>
                <a:ea typeface="AppleGothic" pitchFamily="2" charset="-127"/>
              </a:rPr>
              <a:t>&amp;</a:t>
            </a:r>
            <a:r>
              <a:rPr sz="1800" b="1" i="0" dirty="0">
                <a:solidFill>
                  <a:srgbClr val="FFFFFF"/>
                </a:solidFill>
                <a:latin typeface="AppleGothic" pitchFamily="2" charset="-127"/>
                <a:ea typeface="AppleGothic" pitchFamily="2" charset="-127"/>
              </a:rPr>
              <a:t> Cash-Equivalent Reserves  ÷  Total Stablecoin Supply</a:t>
            </a:r>
          </a:p>
        </p:txBody>
      </p:sp>
      <p:sp>
        <p:nvSpPr>
          <p:cNvPr id="9" name="TextBox 8"/>
          <p:cNvSpPr txBox="1"/>
          <p:nvPr/>
        </p:nvSpPr>
        <p:spPr>
          <a:xfrm>
            <a:off x="502920" y="1860804"/>
            <a:ext cx="11064240" cy="292388"/>
          </a:xfrm>
          <a:prstGeom prst="rect">
            <a:avLst/>
          </a:prstGeom>
          <a:noFill/>
        </p:spPr>
        <p:txBody>
          <a:bodyPr wrap="square">
            <a:spAutoFit/>
          </a:bodyPr>
          <a:lstStyle/>
          <a:p>
            <a:pPr algn="ctr"/>
            <a:r>
              <a:rPr sz="1300" b="0" i="1" dirty="0">
                <a:solidFill>
                  <a:srgbClr val="AAC4E8"/>
                </a:solidFill>
                <a:latin typeface="Calibri"/>
              </a:rPr>
              <a:t>Estimated from Hansen (2000) threshold regression:   L*  =  13%  of supply</a:t>
            </a:r>
          </a:p>
        </p:txBody>
      </p:sp>
      <p:sp>
        <p:nvSpPr>
          <p:cNvPr id="10" name="Rectangle 9"/>
          <p:cNvSpPr/>
          <p:nvPr/>
        </p:nvSpPr>
        <p:spPr>
          <a:xfrm>
            <a:off x="320040" y="2423160"/>
            <a:ext cx="557784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11480" y="2450592"/>
            <a:ext cx="5394960" cy="347472"/>
          </a:xfrm>
          <a:prstGeom prst="rect">
            <a:avLst/>
          </a:prstGeom>
          <a:noFill/>
        </p:spPr>
        <p:txBody>
          <a:bodyPr wrap="square">
            <a:spAutoFit/>
          </a:bodyPr>
          <a:lstStyle/>
          <a:p>
            <a:pPr algn="ctr"/>
            <a:r>
              <a:rPr sz="1400" b="1" i="0">
                <a:solidFill>
                  <a:srgbClr val="FFFFFF"/>
                </a:solidFill>
                <a:latin typeface="Calibri"/>
              </a:rPr>
              <a:t>LOW BUFFER  (L &lt; 13%)</a:t>
            </a:r>
          </a:p>
        </p:txBody>
      </p:sp>
      <p:sp>
        <p:nvSpPr>
          <p:cNvPr id="12" name="TextBox 11"/>
          <p:cNvSpPr txBox="1"/>
          <p:nvPr/>
        </p:nvSpPr>
        <p:spPr>
          <a:xfrm>
            <a:off x="411480" y="2862072"/>
            <a:ext cx="5394960" cy="256032"/>
          </a:xfrm>
          <a:prstGeom prst="rect">
            <a:avLst/>
          </a:prstGeom>
          <a:noFill/>
        </p:spPr>
        <p:txBody>
          <a:bodyPr wrap="square">
            <a:spAutoFit/>
          </a:bodyPr>
          <a:lstStyle/>
          <a:p>
            <a:pPr algn="ctr"/>
            <a:r>
              <a:rPr sz="1100" b="0" i="1" dirty="0">
                <a:solidFill>
                  <a:srgbClr val="555566"/>
                </a:solidFill>
                <a:latin typeface="Calibri"/>
              </a:rPr>
              <a:t>e.g. Tether in May 2022: ~5–8% cash</a:t>
            </a:r>
          </a:p>
        </p:txBody>
      </p:sp>
      <p:sp>
        <p:nvSpPr>
          <p:cNvPr id="13" name="Rectangle 12"/>
          <p:cNvSpPr/>
          <p:nvPr/>
        </p:nvSpPr>
        <p:spPr>
          <a:xfrm>
            <a:off x="320040" y="3118104"/>
            <a:ext cx="5577840" cy="23317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182112"/>
            <a:ext cx="5321808" cy="21945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Issuer holds mostly T-bills, very little cash</a:t>
            </a:r>
          </a:p>
          <a:p>
            <a:pPr algn="l">
              <a:spcBef>
                <a:spcPts val="600"/>
              </a:spcBef>
            </a:pPr>
            <a:r>
              <a:rPr sz="1300" b="0" i="0" dirty="0">
                <a:solidFill>
                  <a:srgbClr val="1A1A2E"/>
                </a:solidFill>
                <a:latin typeface="Calibri"/>
              </a:rPr>
              <a:t>→  When investors redeem stablecoins for dollars...</a:t>
            </a:r>
          </a:p>
          <a:p>
            <a:pPr algn="l">
              <a:spcBef>
                <a:spcPts val="600"/>
              </a:spcBef>
            </a:pPr>
            <a:r>
              <a:rPr sz="1300" b="0" i="0" dirty="0">
                <a:solidFill>
                  <a:srgbClr val="1A1A2E"/>
                </a:solidFill>
                <a:latin typeface="Calibri"/>
              </a:rPr>
              <a:t>→  Issuer MUST sell T-bills to raise the cash</a:t>
            </a:r>
          </a:p>
          <a:p>
            <a:pPr algn="l">
              <a:spcBef>
                <a:spcPts val="600"/>
              </a:spcBef>
            </a:pPr>
            <a:r>
              <a:rPr sz="1300" b="0" i="0" dirty="0">
                <a:solidFill>
                  <a:srgbClr val="1A1A2E"/>
                </a:solidFill>
                <a:latin typeface="Calibri"/>
              </a:rPr>
              <a:t>→  This selling pushes T-bill yields UP</a:t>
            </a:r>
          </a:p>
          <a:p>
            <a:pPr algn="l">
              <a:spcBef>
                <a:spcPts val="600"/>
              </a:spcBef>
            </a:pPr>
            <a:r>
              <a:rPr sz="1300" b="0" i="0" dirty="0">
                <a:solidFill>
                  <a:srgbClr val="1A1A2E"/>
                </a:solidFill>
                <a:latin typeface="Calibri"/>
              </a:rPr>
              <a:t>→  OIS-Treasury spread SPIKES (CAR is positive)</a:t>
            </a:r>
          </a:p>
        </p:txBody>
      </p:sp>
      <p:sp>
        <p:nvSpPr>
          <p:cNvPr id="15" name="Rectangle 14"/>
          <p:cNvSpPr/>
          <p:nvPr/>
        </p:nvSpPr>
        <p:spPr>
          <a:xfrm>
            <a:off x="320040" y="5449824"/>
            <a:ext cx="557784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29768" y="5477256"/>
            <a:ext cx="5376672" cy="320040"/>
          </a:xfrm>
          <a:prstGeom prst="rect">
            <a:avLst/>
          </a:prstGeom>
          <a:noFill/>
        </p:spPr>
        <p:txBody>
          <a:bodyPr wrap="square">
            <a:spAutoFit/>
          </a:bodyPr>
          <a:lstStyle/>
          <a:p>
            <a:pPr algn="ctr"/>
            <a:r>
              <a:rPr sz="1200" b="1" i="0">
                <a:solidFill>
                  <a:srgbClr val="FFFFFF"/>
                </a:solidFill>
                <a:latin typeface="Calibri"/>
              </a:rPr>
              <a:t>The issuer becomes a forced seller into an already-stressed market.</a:t>
            </a:r>
          </a:p>
        </p:txBody>
      </p:sp>
      <p:sp>
        <p:nvSpPr>
          <p:cNvPr id="17" name="Rectangle 16"/>
          <p:cNvSpPr/>
          <p:nvPr/>
        </p:nvSpPr>
        <p:spPr>
          <a:xfrm>
            <a:off x="6217920" y="2423160"/>
            <a:ext cx="5577840" cy="4114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09360" y="2450592"/>
            <a:ext cx="5394960" cy="347472"/>
          </a:xfrm>
          <a:prstGeom prst="rect">
            <a:avLst/>
          </a:prstGeom>
          <a:noFill/>
        </p:spPr>
        <p:txBody>
          <a:bodyPr wrap="square">
            <a:spAutoFit/>
          </a:bodyPr>
          <a:lstStyle/>
          <a:p>
            <a:pPr algn="ctr"/>
            <a:r>
              <a:rPr sz="1400" b="1" i="0">
                <a:solidFill>
                  <a:srgbClr val="FFFFFF"/>
                </a:solidFill>
                <a:latin typeface="Calibri"/>
              </a:rPr>
              <a:t>HIGH BUFFER  (L ≥ 13%)</a:t>
            </a:r>
          </a:p>
        </p:txBody>
      </p:sp>
      <p:sp>
        <p:nvSpPr>
          <p:cNvPr id="19" name="TextBox 18"/>
          <p:cNvSpPr txBox="1"/>
          <p:nvPr/>
        </p:nvSpPr>
        <p:spPr>
          <a:xfrm>
            <a:off x="6309360" y="2862072"/>
            <a:ext cx="5394960" cy="256032"/>
          </a:xfrm>
          <a:prstGeom prst="rect">
            <a:avLst/>
          </a:prstGeom>
          <a:noFill/>
        </p:spPr>
        <p:txBody>
          <a:bodyPr wrap="square">
            <a:spAutoFit/>
          </a:bodyPr>
          <a:lstStyle/>
          <a:p>
            <a:pPr algn="ctr"/>
            <a:r>
              <a:rPr sz="1100" b="0" i="1">
                <a:solidFill>
                  <a:srgbClr val="555566"/>
                </a:solidFill>
                <a:latin typeface="Calibri"/>
              </a:rPr>
              <a:t>e.g. Circle in March 2023: ~18–22% cash</a:t>
            </a:r>
          </a:p>
        </p:txBody>
      </p:sp>
      <p:sp>
        <p:nvSpPr>
          <p:cNvPr id="20" name="Rectangle 19"/>
          <p:cNvSpPr/>
          <p:nvPr/>
        </p:nvSpPr>
        <p:spPr>
          <a:xfrm>
            <a:off x="6217920" y="3118104"/>
            <a:ext cx="5577840" cy="23317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355080" y="3182112"/>
            <a:ext cx="5321808" cy="21945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Issuer holds substantial cash reserves</a:t>
            </a:r>
          </a:p>
          <a:p>
            <a:pPr algn="l">
              <a:spcBef>
                <a:spcPts val="600"/>
              </a:spcBef>
            </a:pPr>
            <a:r>
              <a:rPr sz="1300" b="0" i="0" dirty="0">
                <a:solidFill>
                  <a:srgbClr val="1A1A2E"/>
                </a:solidFill>
                <a:latin typeface="Calibri"/>
              </a:rPr>
              <a:t>→  When investors redeem stablecoins for dollars...</a:t>
            </a:r>
          </a:p>
          <a:p>
            <a:pPr algn="l">
              <a:spcBef>
                <a:spcPts val="600"/>
              </a:spcBef>
            </a:pPr>
            <a:r>
              <a:rPr sz="1300" b="0" i="0" dirty="0">
                <a:solidFill>
                  <a:srgbClr val="1A1A2E"/>
                </a:solidFill>
                <a:latin typeface="Calibri"/>
              </a:rPr>
              <a:t>→  Issuer pays out from cash — T-bills untouched</a:t>
            </a:r>
          </a:p>
          <a:p>
            <a:pPr algn="l">
              <a:spcBef>
                <a:spcPts val="600"/>
              </a:spcBef>
            </a:pPr>
            <a:r>
              <a:rPr sz="1300" b="0" i="0" dirty="0">
                <a:solidFill>
                  <a:srgbClr val="1A1A2E"/>
                </a:solidFill>
                <a:latin typeface="Calibri"/>
              </a:rPr>
              <a:t>→  No forced selling, no T-bill yield pressure</a:t>
            </a:r>
          </a:p>
          <a:p>
            <a:pPr algn="l">
              <a:spcBef>
                <a:spcPts val="600"/>
              </a:spcBef>
            </a:pPr>
            <a:r>
              <a:rPr sz="1300" b="0" i="0" dirty="0">
                <a:solidFill>
                  <a:srgbClr val="1A1A2E"/>
                </a:solidFill>
                <a:latin typeface="Calibri"/>
              </a:rPr>
              <a:t>→  Spread does NOT spike from issuer behavior</a:t>
            </a:r>
          </a:p>
        </p:txBody>
      </p:sp>
      <p:sp>
        <p:nvSpPr>
          <p:cNvPr id="22" name="Rectangle 21"/>
          <p:cNvSpPr/>
          <p:nvPr/>
        </p:nvSpPr>
        <p:spPr>
          <a:xfrm>
            <a:off x="6217920" y="5449824"/>
            <a:ext cx="5577840" cy="38404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27648" y="5477256"/>
            <a:ext cx="5376672" cy="320040"/>
          </a:xfrm>
          <a:prstGeom prst="rect">
            <a:avLst/>
          </a:prstGeom>
          <a:noFill/>
        </p:spPr>
        <p:txBody>
          <a:bodyPr wrap="square">
            <a:spAutoFit/>
          </a:bodyPr>
          <a:lstStyle/>
          <a:p>
            <a:pPr algn="ctr"/>
            <a:r>
              <a:rPr sz="1200" b="1" i="0">
                <a:solidFill>
                  <a:srgbClr val="FFFFFF"/>
                </a:solidFill>
                <a:latin typeface="Calibri"/>
              </a:rPr>
              <a:t>The cash buffer absorbs the redemption shock. T-bill market is insulated.</a:t>
            </a:r>
          </a:p>
        </p:txBody>
      </p:sp>
      <p:sp>
        <p:nvSpPr>
          <p:cNvPr id="24" name="Rectangle 23"/>
          <p:cNvSpPr/>
          <p:nvPr/>
        </p:nvSpPr>
        <p:spPr>
          <a:xfrm>
            <a:off x="0" y="5907024"/>
            <a:ext cx="12188952" cy="786384"/>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17220" y="6099048"/>
            <a:ext cx="11274552" cy="804672"/>
          </a:xfrm>
          <a:prstGeom prst="rect">
            <a:avLst/>
          </a:prstGeom>
          <a:noFill/>
        </p:spPr>
        <p:txBody>
          <a:bodyPr wrap="square">
            <a:spAutoFit/>
          </a:bodyPr>
          <a:lstStyle/>
          <a:p>
            <a:pPr algn="ctr"/>
            <a:r>
              <a:rPr sz="1700" b="1" i="0" dirty="0">
                <a:solidFill>
                  <a:srgbClr val="FFFFFF"/>
                </a:solidFill>
                <a:latin typeface="Calibri"/>
              </a:rPr>
              <a:t>The buffer condition is what separates a stablecoin issuer that </a:t>
            </a:r>
            <a:r>
              <a:rPr sz="1700" b="1" i="0" dirty="0" err="1">
                <a:solidFill>
                  <a:srgbClr val="FFFFFF"/>
                </a:solidFill>
                <a:latin typeface="Calibri"/>
              </a:rPr>
              <a:t>stabilises</a:t>
            </a:r>
            <a:r>
              <a:rPr sz="1700" b="1" i="0" dirty="0">
                <a:solidFill>
                  <a:srgbClr val="FFFFFF"/>
                </a:solidFill>
                <a:latin typeface="Calibri"/>
              </a:rPr>
              <a:t> Treasury markets from one that disrupts them.</a:t>
            </a:r>
          </a:p>
        </p:txBody>
      </p:sp>
      <p:sp>
        <p:nvSpPr>
          <p:cNvPr id="26" name="TextBox 25">
            <a:extLst>
              <a:ext uri="{FF2B5EF4-FFF2-40B4-BE49-F238E27FC236}">
                <a16:creationId xmlns:a16="http://schemas.microsoft.com/office/drawing/2014/main" id="{86242C36-8506-8BD3-9376-FFBAC7A88AE0}"/>
              </a:ext>
            </a:extLst>
          </p:cNvPr>
          <p:cNvSpPr txBox="1"/>
          <p:nvPr/>
        </p:nvSpPr>
        <p:spPr>
          <a:xfrm>
            <a:off x="10265434" y="320040"/>
            <a:ext cx="1576046" cy="323165"/>
          </a:xfrm>
          <a:prstGeom prst="rect">
            <a:avLst/>
          </a:prstGeom>
          <a:noFill/>
        </p:spPr>
        <p:txBody>
          <a:bodyPr wrap="square">
            <a:spAutoFit/>
          </a:bodyPr>
          <a:lstStyle/>
          <a:p>
            <a:pPr algn="l"/>
            <a:r>
              <a:rPr lang="en-US" sz="1500" b="1" i="0" dirty="0">
                <a:solidFill>
                  <a:srgbClr val="FFFFFF"/>
                </a:solidFill>
                <a:latin typeface="Calibri"/>
              </a:rPr>
              <a:t>Sara – Page 4</a:t>
            </a:r>
            <a:endParaRPr sz="1500" b="1" i="0" dirty="0">
              <a:solidFill>
                <a:srgbClr val="FFFFFF"/>
              </a:solidFill>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dirty="0">
                <a:solidFill>
                  <a:srgbClr val="FFFFFF"/>
                </a:solidFill>
                <a:latin typeface="Calibri"/>
              </a:rPr>
              <a:t>What is CAR? Reading the Y-Axis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5</a:t>
            </a:r>
          </a:p>
        </p:txBody>
      </p:sp>
      <p:sp>
        <p:nvSpPr>
          <p:cNvPr id="6" name="Rectangle 5"/>
          <p:cNvSpPr/>
          <p:nvPr/>
        </p:nvSpPr>
        <p:spPr>
          <a:xfrm>
            <a:off x="320040" y="960120"/>
            <a:ext cx="11521440" cy="347472"/>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987552"/>
            <a:ext cx="11064240" cy="274320"/>
          </a:xfrm>
          <a:prstGeom prst="rect">
            <a:avLst/>
          </a:prstGeom>
          <a:noFill/>
        </p:spPr>
        <p:txBody>
          <a:bodyPr wrap="square">
            <a:spAutoFit/>
          </a:bodyPr>
          <a:lstStyle/>
          <a:p>
            <a:pPr algn="l"/>
            <a:r>
              <a:rPr sz="1500" b="1" i="0">
                <a:solidFill>
                  <a:srgbClr val="FFFFFF"/>
                </a:solidFill>
                <a:latin typeface="Calibri"/>
              </a:rPr>
              <a:t>CAR = Cumulative Abnormal Return on the OIS–Treasury Spread</a:t>
            </a:r>
          </a:p>
        </p:txBody>
      </p:sp>
      <p:sp>
        <p:nvSpPr>
          <p:cNvPr id="8" name="Rectangle 7"/>
          <p:cNvSpPr/>
          <p:nvPr/>
        </p:nvSpPr>
        <p:spPr>
          <a:xfrm>
            <a:off x="320040" y="1417320"/>
            <a:ext cx="100584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20040" y="1691640"/>
            <a:ext cx="1005840" cy="548640"/>
          </a:xfrm>
          <a:prstGeom prst="rect">
            <a:avLst/>
          </a:prstGeom>
          <a:noFill/>
        </p:spPr>
        <p:txBody>
          <a:bodyPr wrap="square">
            <a:spAutoFit/>
          </a:bodyPr>
          <a:lstStyle/>
          <a:p>
            <a:pPr algn="ctr"/>
            <a:r>
              <a:rPr sz="2800" b="1" i="0">
                <a:solidFill>
                  <a:srgbClr val="FFFFFF"/>
                </a:solidFill>
                <a:latin typeface="Calibri"/>
              </a:rPr>
              <a:t>1</a:t>
            </a:r>
          </a:p>
        </p:txBody>
      </p:sp>
      <p:sp>
        <p:nvSpPr>
          <p:cNvPr id="10" name="Rectangle 9"/>
          <p:cNvSpPr/>
          <p:nvPr/>
        </p:nvSpPr>
        <p:spPr>
          <a:xfrm>
            <a:off x="1371600" y="1417320"/>
            <a:ext cx="10469880" cy="10972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508760" y="1490472"/>
            <a:ext cx="10149840" cy="274320"/>
          </a:xfrm>
          <a:prstGeom prst="rect">
            <a:avLst/>
          </a:prstGeom>
          <a:noFill/>
        </p:spPr>
        <p:txBody>
          <a:bodyPr wrap="square">
            <a:spAutoFit/>
          </a:bodyPr>
          <a:lstStyle/>
          <a:p>
            <a:pPr algn="l"/>
            <a:r>
              <a:rPr sz="1400" b="1" i="0">
                <a:solidFill>
                  <a:srgbClr val="1B3A72"/>
                </a:solidFill>
                <a:latin typeface="Calibri"/>
              </a:rPr>
              <a:t>Step 1 — Build a Normal Model</a:t>
            </a:r>
          </a:p>
        </p:txBody>
      </p:sp>
      <p:sp>
        <p:nvSpPr>
          <p:cNvPr id="12" name="TextBox 11"/>
          <p:cNvSpPr txBox="1"/>
          <p:nvPr/>
        </p:nvSpPr>
        <p:spPr>
          <a:xfrm>
            <a:off x="1508760" y="1801368"/>
            <a:ext cx="10149840" cy="621792"/>
          </a:xfrm>
          <a:prstGeom prst="rect">
            <a:avLst/>
          </a:prstGeom>
          <a:noFill/>
        </p:spPr>
        <p:txBody>
          <a:bodyPr wrap="square">
            <a:spAutoFit/>
          </a:bodyPr>
          <a:lstStyle/>
          <a:p>
            <a:pPr algn="l"/>
            <a:r>
              <a:rPr sz="1200" b="0" i="0" dirty="0">
                <a:solidFill>
                  <a:srgbClr val="1A1A2E"/>
                </a:solidFill>
                <a:latin typeface="Calibri"/>
              </a:rPr>
              <a:t>Using data from 120 to 6 trading days BEFORE the event, we run a regression:
Spread = f(VIX, </a:t>
            </a:r>
            <a:r>
              <a:rPr sz="1200" b="0" i="0" dirty="0" err="1">
                <a:solidFill>
                  <a:srgbClr val="1A1A2E"/>
                </a:solidFill>
                <a:latin typeface="Calibri"/>
              </a:rPr>
              <a:t>ΔlnN</a:t>
            </a:r>
            <a:r>
              <a:rPr sz="1200" b="0" i="0" dirty="0">
                <a:solidFill>
                  <a:srgbClr val="1A1A2E"/>
                </a:solidFill>
                <a:latin typeface="Calibri"/>
              </a:rPr>
              <a:t>*)   →   this captures how the spread normally responds to market conditions.</a:t>
            </a:r>
          </a:p>
        </p:txBody>
      </p:sp>
      <p:sp>
        <p:nvSpPr>
          <p:cNvPr id="13" name="Rectangle 12"/>
          <p:cNvSpPr/>
          <p:nvPr/>
        </p:nvSpPr>
        <p:spPr>
          <a:xfrm>
            <a:off x="320040" y="2606040"/>
            <a:ext cx="1005840" cy="1097280"/>
          </a:xfrm>
          <a:prstGeom prst="rect">
            <a:avLst/>
          </a:prstGeom>
          <a:solidFill>
            <a:srgbClr val="555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20040" y="2880360"/>
            <a:ext cx="1005840" cy="548640"/>
          </a:xfrm>
          <a:prstGeom prst="rect">
            <a:avLst/>
          </a:prstGeom>
          <a:noFill/>
        </p:spPr>
        <p:txBody>
          <a:bodyPr wrap="square">
            <a:spAutoFit/>
          </a:bodyPr>
          <a:lstStyle/>
          <a:p>
            <a:pPr algn="ctr"/>
            <a:r>
              <a:rPr sz="2800" b="1" i="0">
                <a:solidFill>
                  <a:srgbClr val="FFFFFF"/>
                </a:solidFill>
                <a:latin typeface="Calibri"/>
              </a:rPr>
              <a:t>2</a:t>
            </a:r>
          </a:p>
        </p:txBody>
      </p:sp>
      <p:sp>
        <p:nvSpPr>
          <p:cNvPr id="15" name="Rectangle 14"/>
          <p:cNvSpPr/>
          <p:nvPr/>
        </p:nvSpPr>
        <p:spPr>
          <a:xfrm>
            <a:off x="1371600" y="2606040"/>
            <a:ext cx="10469880" cy="1097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508760" y="2679192"/>
            <a:ext cx="10149840" cy="274320"/>
          </a:xfrm>
          <a:prstGeom prst="rect">
            <a:avLst/>
          </a:prstGeom>
          <a:noFill/>
        </p:spPr>
        <p:txBody>
          <a:bodyPr wrap="square">
            <a:spAutoFit/>
          </a:bodyPr>
          <a:lstStyle/>
          <a:p>
            <a:pPr algn="l"/>
            <a:r>
              <a:rPr sz="1400" b="1" i="0">
                <a:solidFill>
                  <a:srgbClr val="1B3A72"/>
                </a:solidFill>
                <a:latin typeface="Calibri"/>
              </a:rPr>
              <a:t>Step 2 — Compute the Abnormal Spread</a:t>
            </a:r>
          </a:p>
        </p:txBody>
      </p:sp>
      <p:sp>
        <p:nvSpPr>
          <p:cNvPr id="17" name="TextBox 16"/>
          <p:cNvSpPr txBox="1"/>
          <p:nvPr/>
        </p:nvSpPr>
        <p:spPr>
          <a:xfrm>
            <a:off x="1508760" y="2990088"/>
            <a:ext cx="10149840" cy="621792"/>
          </a:xfrm>
          <a:prstGeom prst="rect">
            <a:avLst/>
          </a:prstGeom>
          <a:noFill/>
        </p:spPr>
        <p:txBody>
          <a:bodyPr wrap="square">
            <a:spAutoFit/>
          </a:bodyPr>
          <a:lstStyle/>
          <a:p>
            <a:pPr algn="l"/>
            <a:r>
              <a:rPr sz="1200" b="0" i="0">
                <a:solidFill>
                  <a:srgbClr val="1A1A2E"/>
                </a:solidFill>
                <a:latin typeface="Calibri"/>
              </a:rPr>
              <a:t>For each day in the event window (5 days before to 20 days after the event):
Abnormal Spread = Actual Spread  −  Predicted Spread
A positive value means the spread was HIGHER than normal market conditions would predict.</a:t>
            </a:r>
          </a:p>
        </p:txBody>
      </p:sp>
      <p:sp>
        <p:nvSpPr>
          <p:cNvPr id="18" name="Rectangle 17"/>
          <p:cNvSpPr/>
          <p:nvPr/>
        </p:nvSpPr>
        <p:spPr>
          <a:xfrm>
            <a:off x="320040" y="3794760"/>
            <a:ext cx="1005840" cy="10972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20040" y="4069080"/>
            <a:ext cx="1005840" cy="548640"/>
          </a:xfrm>
          <a:prstGeom prst="rect">
            <a:avLst/>
          </a:prstGeom>
          <a:noFill/>
        </p:spPr>
        <p:txBody>
          <a:bodyPr wrap="square">
            <a:spAutoFit/>
          </a:bodyPr>
          <a:lstStyle/>
          <a:p>
            <a:pPr algn="ctr"/>
            <a:r>
              <a:rPr sz="2800" b="1" i="0">
                <a:solidFill>
                  <a:srgbClr val="FFFFFF"/>
                </a:solidFill>
                <a:latin typeface="Calibri"/>
              </a:rPr>
              <a:t>3</a:t>
            </a:r>
          </a:p>
        </p:txBody>
      </p:sp>
      <p:sp>
        <p:nvSpPr>
          <p:cNvPr id="20" name="Rectangle 19"/>
          <p:cNvSpPr/>
          <p:nvPr/>
        </p:nvSpPr>
        <p:spPr>
          <a:xfrm>
            <a:off x="1371600" y="3794760"/>
            <a:ext cx="10469880" cy="10972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508760" y="3867912"/>
            <a:ext cx="10149840" cy="274320"/>
          </a:xfrm>
          <a:prstGeom prst="rect">
            <a:avLst/>
          </a:prstGeom>
          <a:noFill/>
        </p:spPr>
        <p:txBody>
          <a:bodyPr wrap="square">
            <a:spAutoFit/>
          </a:bodyPr>
          <a:lstStyle/>
          <a:p>
            <a:pPr algn="l"/>
            <a:r>
              <a:rPr sz="1400" b="1" i="0">
                <a:solidFill>
                  <a:srgbClr val="1B3A72"/>
                </a:solidFill>
                <a:latin typeface="Calibri"/>
              </a:rPr>
              <a:t>Step 3 — Cumulate into CAR</a:t>
            </a:r>
          </a:p>
        </p:txBody>
      </p:sp>
      <p:sp>
        <p:nvSpPr>
          <p:cNvPr id="22" name="TextBox 21"/>
          <p:cNvSpPr txBox="1"/>
          <p:nvPr/>
        </p:nvSpPr>
        <p:spPr>
          <a:xfrm>
            <a:off x="1508760" y="4178808"/>
            <a:ext cx="10149840" cy="621792"/>
          </a:xfrm>
          <a:prstGeom prst="rect">
            <a:avLst/>
          </a:prstGeom>
          <a:noFill/>
        </p:spPr>
        <p:txBody>
          <a:bodyPr wrap="square">
            <a:spAutoFit/>
          </a:bodyPr>
          <a:lstStyle/>
          <a:p>
            <a:pPr algn="l"/>
            <a:r>
              <a:rPr sz="1200" b="0" i="0">
                <a:solidFill>
                  <a:srgbClr val="1A1A2E"/>
                </a:solidFill>
                <a:latin typeface="Calibri"/>
              </a:rPr>
              <a:t>CAR on day τ = sum of all abnormal spreads from day −5 to day τ
Y-axis unit: percentage points (pp) of spread deviation accumulated since 5 days before the event.</a:t>
            </a:r>
          </a:p>
        </p:txBody>
      </p:sp>
      <p:sp>
        <p:nvSpPr>
          <p:cNvPr id="23" name="Rectangle 22"/>
          <p:cNvSpPr/>
          <p:nvPr/>
        </p:nvSpPr>
        <p:spPr>
          <a:xfrm>
            <a:off x="320040" y="5074920"/>
            <a:ext cx="11521440" cy="347472"/>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02920" y="5102352"/>
            <a:ext cx="11064240" cy="274320"/>
          </a:xfrm>
          <a:prstGeom prst="rect">
            <a:avLst/>
          </a:prstGeom>
          <a:noFill/>
        </p:spPr>
        <p:txBody>
          <a:bodyPr wrap="square">
            <a:spAutoFit/>
          </a:bodyPr>
          <a:lstStyle/>
          <a:p>
            <a:pPr algn="l"/>
            <a:r>
              <a:rPr sz="1300" b="1" i="0">
                <a:solidFill>
                  <a:srgbClr val="FFFFFF"/>
                </a:solidFill>
                <a:latin typeface="Calibri"/>
              </a:rPr>
              <a:t>How to read the graph:</a:t>
            </a:r>
          </a:p>
        </p:txBody>
      </p:sp>
      <p:sp>
        <p:nvSpPr>
          <p:cNvPr id="25" name="Rectangle 24"/>
          <p:cNvSpPr/>
          <p:nvPr/>
        </p:nvSpPr>
        <p:spPr>
          <a:xfrm>
            <a:off x="320040" y="5422392"/>
            <a:ext cx="3749039" cy="12344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11480" y="5486400"/>
            <a:ext cx="3566160" cy="274320"/>
          </a:xfrm>
          <a:prstGeom prst="rect">
            <a:avLst/>
          </a:prstGeom>
          <a:noFill/>
        </p:spPr>
        <p:txBody>
          <a:bodyPr wrap="square">
            <a:spAutoFit/>
          </a:bodyPr>
          <a:lstStyle/>
          <a:p>
            <a:pPr algn="l"/>
            <a:r>
              <a:rPr sz="1200" b="1" i="0">
                <a:solidFill>
                  <a:srgbClr val="1B3A72"/>
                </a:solidFill>
                <a:latin typeface="Calibri"/>
              </a:rPr>
              <a:t>CAR = +8.9 pp (LUNA event)</a:t>
            </a:r>
          </a:p>
        </p:txBody>
      </p:sp>
      <p:sp>
        <p:nvSpPr>
          <p:cNvPr id="27" name="TextBox 26"/>
          <p:cNvSpPr txBox="1"/>
          <p:nvPr/>
        </p:nvSpPr>
        <p:spPr>
          <a:xfrm>
            <a:off x="411480" y="5788152"/>
            <a:ext cx="3566160" cy="804672"/>
          </a:xfrm>
          <a:prstGeom prst="rect">
            <a:avLst/>
          </a:prstGeom>
          <a:noFill/>
        </p:spPr>
        <p:txBody>
          <a:bodyPr wrap="square">
            <a:spAutoFit/>
          </a:bodyPr>
          <a:lstStyle/>
          <a:p>
            <a:pPr algn="l"/>
            <a:r>
              <a:rPr sz="1100" b="0" i="0">
                <a:solidFill>
                  <a:srgbClr val="1A1A2E"/>
                </a:solidFill>
                <a:latin typeface="Calibri"/>
              </a:rPr>
              <a:t>By day +20, the spread had accumulated 8.9 pp MORE than expected — sustained T-bill selling pressure</a:t>
            </a:r>
          </a:p>
        </p:txBody>
      </p:sp>
      <p:sp>
        <p:nvSpPr>
          <p:cNvPr id="28" name="Rectangle 27"/>
          <p:cNvSpPr/>
          <p:nvPr/>
        </p:nvSpPr>
        <p:spPr>
          <a:xfrm>
            <a:off x="4251960" y="5422392"/>
            <a:ext cx="3749039" cy="12344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343400" y="5486400"/>
            <a:ext cx="3566160" cy="274320"/>
          </a:xfrm>
          <a:prstGeom prst="rect">
            <a:avLst/>
          </a:prstGeom>
          <a:noFill/>
        </p:spPr>
        <p:txBody>
          <a:bodyPr wrap="square">
            <a:spAutoFit/>
          </a:bodyPr>
          <a:lstStyle/>
          <a:p>
            <a:pPr algn="l"/>
            <a:r>
              <a:rPr sz="1200" b="1" i="0">
                <a:solidFill>
                  <a:srgbClr val="1B3A72"/>
                </a:solidFill>
                <a:latin typeface="Calibri"/>
              </a:rPr>
              <a:t>CAR = −18.0 pp (SVB event)</a:t>
            </a:r>
          </a:p>
        </p:txBody>
      </p:sp>
      <p:sp>
        <p:nvSpPr>
          <p:cNvPr id="30" name="TextBox 29"/>
          <p:cNvSpPr txBox="1"/>
          <p:nvPr/>
        </p:nvSpPr>
        <p:spPr>
          <a:xfrm>
            <a:off x="4343400" y="5788152"/>
            <a:ext cx="3566160" cy="804672"/>
          </a:xfrm>
          <a:prstGeom prst="rect">
            <a:avLst/>
          </a:prstGeom>
          <a:noFill/>
        </p:spPr>
        <p:txBody>
          <a:bodyPr wrap="square">
            <a:spAutoFit/>
          </a:bodyPr>
          <a:lstStyle/>
          <a:p>
            <a:pPr algn="l"/>
            <a:r>
              <a:rPr sz="1100" b="0" i="0">
                <a:solidFill>
                  <a:srgbClr val="1A1A2E"/>
                </a:solidFill>
                <a:latin typeface="Calibri"/>
              </a:rPr>
              <a:t>By day +20, the spread had accumulated 18 pp LESS than expected — flight-to-safety buying compressed spreads</a:t>
            </a:r>
          </a:p>
        </p:txBody>
      </p:sp>
      <p:sp>
        <p:nvSpPr>
          <p:cNvPr id="31" name="Rectangle 30"/>
          <p:cNvSpPr/>
          <p:nvPr/>
        </p:nvSpPr>
        <p:spPr>
          <a:xfrm>
            <a:off x="8183880" y="5422392"/>
            <a:ext cx="3749039" cy="12344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75320" y="5486400"/>
            <a:ext cx="3566160" cy="274320"/>
          </a:xfrm>
          <a:prstGeom prst="rect">
            <a:avLst/>
          </a:prstGeom>
          <a:noFill/>
        </p:spPr>
        <p:txBody>
          <a:bodyPr wrap="square">
            <a:spAutoFit/>
          </a:bodyPr>
          <a:lstStyle/>
          <a:p>
            <a:pPr algn="l"/>
            <a:r>
              <a:rPr sz="1200" b="1" i="0">
                <a:solidFill>
                  <a:srgbClr val="1B3A72"/>
                </a:solidFill>
                <a:latin typeface="Calibri"/>
              </a:rPr>
              <a:t>CAR = 0 (flat line)</a:t>
            </a:r>
          </a:p>
        </p:txBody>
      </p:sp>
      <p:sp>
        <p:nvSpPr>
          <p:cNvPr id="33" name="TextBox 32"/>
          <p:cNvSpPr txBox="1"/>
          <p:nvPr/>
        </p:nvSpPr>
        <p:spPr>
          <a:xfrm>
            <a:off x="8275320" y="5788152"/>
            <a:ext cx="3566160" cy="804672"/>
          </a:xfrm>
          <a:prstGeom prst="rect">
            <a:avLst/>
          </a:prstGeom>
          <a:noFill/>
        </p:spPr>
        <p:txBody>
          <a:bodyPr wrap="square">
            <a:spAutoFit/>
          </a:bodyPr>
          <a:lstStyle/>
          <a:p>
            <a:pPr algn="l"/>
            <a:r>
              <a:rPr sz="1100" b="0" i="0">
                <a:solidFill>
                  <a:srgbClr val="1A1A2E"/>
                </a:solidFill>
                <a:latin typeface="Calibri"/>
              </a:rPr>
              <a:t>Would mean the event had no effect — spread behaved exactly as the normal model predicted</a:t>
            </a:r>
          </a:p>
        </p:txBody>
      </p:sp>
      <p:sp>
        <p:nvSpPr>
          <p:cNvPr id="34" name="TextBox 33">
            <a:extLst>
              <a:ext uri="{FF2B5EF4-FFF2-40B4-BE49-F238E27FC236}">
                <a16:creationId xmlns:a16="http://schemas.microsoft.com/office/drawing/2014/main" id="{4C8B6CFF-A31E-98B4-36BE-D0B969B98427}"/>
              </a:ext>
            </a:extLst>
          </p:cNvPr>
          <p:cNvSpPr txBox="1"/>
          <p:nvPr/>
        </p:nvSpPr>
        <p:spPr>
          <a:xfrm>
            <a:off x="10265434" y="320040"/>
            <a:ext cx="1576046" cy="323165"/>
          </a:xfrm>
          <a:prstGeom prst="rect">
            <a:avLst/>
          </a:prstGeom>
          <a:noFill/>
        </p:spPr>
        <p:txBody>
          <a:bodyPr wrap="square">
            <a:spAutoFit/>
          </a:bodyPr>
          <a:lstStyle/>
          <a:p>
            <a:pPr algn="l"/>
            <a:r>
              <a:rPr lang="en-US" sz="1500" b="1" dirty="0">
                <a:solidFill>
                  <a:srgbClr val="FFFFFF"/>
                </a:solidFill>
                <a:latin typeface="Calibri"/>
              </a:rPr>
              <a:t>Oybek</a:t>
            </a:r>
            <a:r>
              <a:rPr lang="en-US" sz="1500" b="1" i="0" dirty="0">
                <a:solidFill>
                  <a:srgbClr val="FFFFFF"/>
                </a:solidFill>
                <a:latin typeface="Calibri"/>
              </a:rPr>
              <a:t> – Page </a:t>
            </a:r>
            <a:r>
              <a:rPr lang="en-US" sz="1500" b="1" dirty="0">
                <a:solidFill>
                  <a:srgbClr val="FFFFFF"/>
                </a:solidFill>
                <a:latin typeface="Calibri"/>
              </a:rPr>
              <a:t>5</a:t>
            </a:r>
            <a:endParaRPr sz="1500" b="1" i="0" dirty="0">
              <a:solidFill>
                <a:srgbClr val="FFFFFF"/>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Event 1: LUNA / UST Collapse — May 9, 2022</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6</a:t>
            </a:r>
          </a:p>
        </p:txBody>
      </p:sp>
      <p:sp>
        <p:nvSpPr>
          <p:cNvPr id="6" name="Rectangle 5"/>
          <p:cNvSpPr/>
          <p:nvPr/>
        </p:nvSpPr>
        <p:spPr>
          <a:xfrm>
            <a:off x="320040" y="960120"/>
            <a:ext cx="1152144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987552"/>
            <a:ext cx="11064240" cy="310896"/>
          </a:xfrm>
          <a:prstGeom prst="rect">
            <a:avLst/>
          </a:prstGeom>
          <a:noFill/>
        </p:spPr>
        <p:txBody>
          <a:bodyPr wrap="square">
            <a:spAutoFit/>
          </a:bodyPr>
          <a:lstStyle/>
          <a:p>
            <a:pPr algn="ctr"/>
            <a:r>
              <a:rPr sz="1300" b="1" i="0">
                <a:solidFill>
                  <a:srgbClr val="FFFFFF"/>
                </a:solidFill>
                <a:latin typeface="Calibri"/>
              </a:rPr>
              <a:t>Buffer Condition: LOW   |   L ≈ 5–8% cash   |   CAR = +8.91 pp***   |   t-stat &gt; 30</a:t>
            </a:r>
          </a:p>
        </p:txBody>
      </p:sp>
      <p:sp>
        <p:nvSpPr>
          <p:cNvPr id="8" name="Rectangle 7"/>
          <p:cNvSpPr/>
          <p:nvPr/>
        </p:nvSpPr>
        <p:spPr>
          <a:xfrm>
            <a:off x="320040" y="1417320"/>
            <a:ext cx="6492240" cy="3749039"/>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81328"/>
            <a:ext cx="6309360" cy="320040"/>
          </a:xfrm>
          <a:prstGeom prst="rect">
            <a:avLst/>
          </a:prstGeom>
          <a:noFill/>
        </p:spPr>
        <p:txBody>
          <a:bodyPr wrap="square">
            <a:spAutoFit/>
          </a:bodyPr>
          <a:lstStyle/>
          <a:p>
            <a:pPr algn="l"/>
            <a:r>
              <a:rPr sz="1500" b="1" i="0">
                <a:solidFill>
                  <a:srgbClr val="1B3A72"/>
                </a:solidFill>
                <a:latin typeface="Calibri"/>
              </a:rPr>
              <a:t>What happened</a:t>
            </a:r>
          </a:p>
        </p:txBody>
      </p:sp>
      <p:sp>
        <p:nvSpPr>
          <p:cNvPr id="10" name="TextBox 9"/>
          <p:cNvSpPr txBox="1"/>
          <p:nvPr/>
        </p:nvSpPr>
        <p:spPr>
          <a:xfrm>
            <a:off x="457200" y="1874519"/>
            <a:ext cx="6309360" cy="3200400"/>
          </a:xfrm>
          <a:prstGeom prst="rect">
            <a:avLst/>
          </a:prstGeom>
          <a:noFill/>
        </p:spPr>
        <p:txBody>
          <a:bodyPr wrap="square">
            <a:spAutoFit/>
          </a:bodyPr>
          <a:lstStyle/>
          <a:p>
            <a:pPr>
              <a:spcBef>
                <a:spcPts val="0"/>
              </a:spcBef>
            </a:pPr>
            <a:endParaRPr dirty="0"/>
          </a:p>
          <a:p>
            <a:pPr algn="l">
              <a:spcBef>
                <a:spcPts val="200"/>
              </a:spcBef>
            </a:pPr>
            <a:r>
              <a:rPr sz="1200" b="0" i="0" dirty="0">
                <a:solidFill>
                  <a:srgbClr val="1A1A2E"/>
                </a:solidFill>
                <a:latin typeface="Calibri"/>
              </a:rPr>
              <a:t>❖  Terra's UST was an algorithmic stablecoin — its $1 peg was maintained by minting/burning LUNA, not by holding real dollars</a:t>
            </a:r>
          </a:p>
          <a:p>
            <a:pPr algn="l">
              <a:spcBef>
                <a:spcPts val="700"/>
              </a:spcBef>
            </a:pPr>
            <a:r>
              <a:rPr sz="1200" b="0" i="0" dirty="0">
                <a:solidFill>
                  <a:srgbClr val="1A1A2E"/>
                </a:solidFill>
                <a:latin typeface="Calibri"/>
              </a:rPr>
              <a:t>❖  On May 7–9, a large coordinated sell-off drained UST's liquidity pool on Anchor Protocol</a:t>
            </a:r>
          </a:p>
          <a:p>
            <a:pPr algn="l">
              <a:spcBef>
                <a:spcPts val="700"/>
              </a:spcBef>
            </a:pPr>
            <a:r>
              <a:rPr sz="1200" b="0" i="0" dirty="0">
                <a:solidFill>
                  <a:srgbClr val="1A1A2E"/>
                </a:solidFill>
                <a:latin typeface="Calibri"/>
              </a:rPr>
              <a:t>❖  UST lost its peg → panic triggered mass redemptions → LUNA was minted in huge quantities → LUNA price collapsed</a:t>
            </a:r>
          </a:p>
          <a:p>
            <a:pPr algn="l">
              <a:spcBef>
                <a:spcPts val="700"/>
              </a:spcBef>
            </a:pPr>
            <a:r>
              <a:rPr sz="1200" b="0" i="0" dirty="0">
                <a:solidFill>
                  <a:srgbClr val="1A1A2E"/>
                </a:solidFill>
                <a:latin typeface="Calibri"/>
              </a:rPr>
              <a:t>❖  Within 72 hours: ~$40 billion in combined USDT+LUNA market cap was wiped out</a:t>
            </a:r>
          </a:p>
          <a:p>
            <a:pPr algn="l">
              <a:spcBef>
                <a:spcPts val="700"/>
              </a:spcBef>
            </a:pPr>
            <a:r>
              <a:rPr sz="1200" b="0" i="0" dirty="0">
                <a:solidFill>
                  <a:srgbClr val="1A1A2E"/>
                </a:solidFill>
                <a:latin typeface="Calibri"/>
              </a:rPr>
              <a:t>❖  Contagion: even though USDT and USDC were NOT algorithmic, markets feared all stablecoins might fail</a:t>
            </a:r>
          </a:p>
          <a:p>
            <a:pPr algn="l">
              <a:spcBef>
                <a:spcPts val="700"/>
              </a:spcBef>
            </a:pPr>
            <a:r>
              <a:rPr sz="1200" b="0" i="0" dirty="0">
                <a:solidFill>
                  <a:srgbClr val="1A1A2E"/>
                </a:solidFill>
                <a:latin typeface="Calibri"/>
              </a:rPr>
              <a:t>❖  Massive redemption pressure hit Tether (USDT) — and Tether had very little cash to pay back</a:t>
            </a:r>
          </a:p>
        </p:txBody>
      </p:sp>
      <p:sp>
        <p:nvSpPr>
          <p:cNvPr id="11" name="Rectangle 10"/>
          <p:cNvSpPr/>
          <p:nvPr/>
        </p:nvSpPr>
        <p:spPr>
          <a:xfrm>
            <a:off x="6949440" y="1417320"/>
            <a:ext cx="4663440" cy="3749039"/>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086600" y="1481328"/>
            <a:ext cx="4480560" cy="320040"/>
          </a:xfrm>
          <a:prstGeom prst="rect">
            <a:avLst/>
          </a:prstGeom>
          <a:noFill/>
        </p:spPr>
        <p:txBody>
          <a:bodyPr wrap="square">
            <a:spAutoFit/>
          </a:bodyPr>
          <a:lstStyle/>
          <a:p>
            <a:pPr algn="l"/>
            <a:r>
              <a:rPr sz="1500" b="1" i="0">
                <a:solidFill>
                  <a:srgbClr val="FFFFFF"/>
                </a:solidFill>
                <a:latin typeface="Calibri"/>
              </a:rPr>
              <a:t>Why the spread spiked</a:t>
            </a:r>
          </a:p>
        </p:txBody>
      </p:sp>
      <p:sp>
        <p:nvSpPr>
          <p:cNvPr id="13" name="TextBox 12"/>
          <p:cNvSpPr txBox="1"/>
          <p:nvPr/>
        </p:nvSpPr>
        <p:spPr>
          <a:xfrm>
            <a:off x="7086600" y="1874519"/>
            <a:ext cx="4480560" cy="3200400"/>
          </a:xfrm>
          <a:prstGeom prst="rect">
            <a:avLst/>
          </a:prstGeom>
          <a:noFill/>
        </p:spPr>
        <p:txBody>
          <a:bodyPr wrap="square">
            <a:spAutoFit/>
          </a:bodyPr>
          <a:lstStyle/>
          <a:p>
            <a:pPr>
              <a:spcBef>
                <a:spcPts val="0"/>
              </a:spcBef>
            </a:pPr>
            <a:endParaRPr dirty="0"/>
          </a:p>
          <a:p>
            <a:pPr algn="l">
              <a:spcBef>
                <a:spcPts val="200"/>
              </a:spcBef>
            </a:pPr>
            <a:r>
              <a:rPr sz="1200" b="0" i="0" dirty="0">
                <a:solidFill>
                  <a:srgbClr val="AAC4E8"/>
                </a:solidFill>
                <a:latin typeface="Calibri"/>
              </a:rPr>
              <a:t>❖  Tether's buffer was LOW (~5–8% cash)</a:t>
            </a:r>
          </a:p>
          <a:p>
            <a:pPr algn="l">
              <a:spcBef>
                <a:spcPts val="700"/>
              </a:spcBef>
            </a:pPr>
            <a:r>
              <a:rPr sz="1200" b="0" i="0" dirty="0">
                <a:solidFill>
                  <a:srgbClr val="AAC4E8"/>
                </a:solidFill>
                <a:latin typeface="Calibri"/>
              </a:rPr>
              <a:t>❖  Redemption demand: investors wanted dollars, not T-bills</a:t>
            </a:r>
          </a:p>
          <a:p>
            <a:pPr algn="l">
              <a:spcBef>
                <a:spcPts val="700"/>
              </a:spcBef>
            </a:pPr>
            <a:r>
              <a:rPr sz="1200" b="0" i="0" dirty="0">
                <a:solidFill>
                  <a:srgbClr val="AAC4E8"/>
                </a:solidFill>
                <a:latin typeface="Calibri"/>
              </a:rPr>
              <a:t>❖  Tether had to SELL T-bills rapidly to raise cash</a:t>
            </a:r>
          </a:p>
          <a:p>
            <a:pPr algn="l">
              <a:spcBef>
                <a:spcPts val="700"/>
              </a:spcBef>
            </a:pPr>
            <a:r>
              <a:rPr sz="1200" b="0" i="0" dirty="0">
                <a:solidFill>
                  <a:srgbClr val="FFD700"/>
                </a:solidFill>
                <a:latin typeface="Calibri"/>
              </a:rPr>
              <a:t>→  Sudden T-bill supply → T-bill yields rose above OIS</a:t>
            </a:r>
          </a:p>
          <a:p>
            <a:pPr algn="l">
              <a:spcBef>
                <a:spcPts val="700"/>
              </a:spcBef>
            </a:pPr>
            <a:r>
              <a:rPr sz="1200" b="0" i="0" dirty="0">
                <a:solidFill>
                  <a:srgbClr val="FFD700"/>
                </a:solidFill>
                <a:latin typeface="Calibri"/>
              </a:rPr>
              <a:t>→  Spread spiked — exactly our theory predicts</a:t>
            </a:r>
          </a:p>
          <a:p>
            <a:pPr algn="l">
              <a:spcBef>
                <a:spcPts val="700"/>
              </a:spcBef>
            </a:pPr>
            <a:r>
              <a:rPr sz="1200" b="0" i="0" dirty="0">
                <a:solidFill>
                  <a:srgbClr val="FFD700"/>
                </a:solidFill>
                <a:latin typeface="Calibri"/>
              </a:rPr>
              <a:t>→  CAR accumulated to +8.91 pp over 20 trading days</a:t>
            </a:r>
          </a:p>
        </p:txBody>
      </p:sp>
      <p:sp>
        <p:nvSpPr>
          <p:cNvPr id="14" name="Rectangle 13"/>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48640" y="5760720"/>
            <a:ext cx="11274552" cy="804672"/>
          </a:xfrm>
          <a:prstGeom prst="rect">
            <a:avLst/>
          </a:prstGeom>
          <a:noFill/>
        </p:spPr>
        <p:txBody>
          <a:bodyPr wrap="square">
            <a:spAutoFit/>
          </a:bodyPr>
          <a:lstStyle/>
          <a:p>
            <a:pPr algn="ctr"/>
            <a:r>
              <a:rPr sz="1700" b="1" i="0">
                <a:solidFill>
                  <a:srgbClr val="FFFFFF"/>
                </a:solidFill>
                <a:latin typeface="Calibri"/>
              </a:rPr>
              <a:t>This event confirms the forced-selling channel: Low buffer + redemption pressure = T-bill liquidation = spread spike.</a:t>
            </a:r>
          </a:p>
        </p:txBody>
      </p:sp>
      <p:sp>
        <p:nvSpPr>
          <p:cNvPr id="16" name="TextBox 15">
            <a:extLst>
              <a:ext uri="{FF2B5EF4-FFF2-40B4-BE49-F238E27FC236}">
                <a16:creationId xmlns:a16="http://schemas.microsoft.com/office/drawing/2014/main" id="{B567729D-E6F6-59E5-374F-621FEDB0AD1E}"/>
              </a:ext>
            </a:extLst>
          </p:cNvPr>
          <p:cNvSpPr txBox="1"/>
          <p:nvPr/>
        </p:nvSpPr>
        <p:spPr>
          <a:xfrm>
            <a:off x="10265434" y="320040"/>
            <a:ext cx="1576046" cy="323165"/>
          </a:xfrm>
          <a:prstGeom prst="rect">
            <a:avLst/>
          </a:prstGeom>
          <a:noFill/>
        </p:spPr>
        <p:txBody>
          <a:bodyPr wrap="square">
            <a:spAutoFit/>
          </a:bodyPr>
          <a:lstStyle/>
          <a:p>
            <a:pPr algn="l"/>
            <a:r>
              <a:rPr lang="en-US" sz="1500" b="1" i="0" dirty="0">
                <a:solidFill>
                  <a:srgbClr val="FFFFFF"/>
                </a:solidFill>
                <a:latin typeface="Calibri"/>
              </a:rPr>
              <a:t>Oybek – Page 6</a:t>
            </a:r>
            <a:endParaRPr sz="1500" b="1" i="0" dirty="0">
              <a:solidFill>
                <a:srgbClr val="FFFFFF"/>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Event 2: USDT Partial Depeg — May 12, 2022</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7</a:t>
            </a:r>
          </a:p>
        </p:txBody>
      </p:sp>
      <p:sp>
        <p:nvSpPr>
          <p:cNvPr id="6" name="Rectangle 5"/>
          <p:cNvSpPr/>
          <p:nvPr/>
        </p:nvSpPr>
        <p:spPr>
          <a:xfrm>
            <a:off x="320040" y="960120"/>
            <a:ext cx="1152144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987552"/>
            <a:ext cx="11064240" cy="310896"/>
          </a:xfrm>
          <a:prstGeom prst="rect">
            <a:avLst/>
          </a:prstGeom>
          <a:noFill/>
        </p:spPr>
        <p:txBody>
          <a:bodyPr wrap="square">
            <a:spAutoFit/>
          </a:bodyPr>
          <a:lstStyle/>
          <a:p>
            <a:pPr algn="ctr"/>
            <a:r>
              <a:rPr sz="1300" b="1" i="0">
                <a:solidFill>
                  <a:srgbClr val="FFFFFF"/>
                </a:solidFill>
                <a:latin typeface="Calibri"/>
              </a:rPr>
              <a:t>Buffer Condition: LOW   |   L ≈ 5–8% cash   |   CAR = +8.85 pp***   |   t-stat &gt; 30</a:t>
            </a:r>
          </a:p>
        </p:txBody>
      </p:sp>
      <p:sp>
        <p:nvSpPr>
          <p:cNvPr id="8" name="Rectangle 7"/>
          <p:cNvSpPr/>
          <p:nvPr/>
        </p:nvSpPr>
        <p:spPr>
          <a:xfrm>
            <a:off x="320040" y="1417320"/>
            <a:ext cx="6492240" cy="3749039"/>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81328"/>
            <a:ext cx="6309360" cy="320040"/>
          </a:xfrm>
          <a:prstGeom prst="rect">
            <a:avLst/>
          </a:prstGeom>
          <a:noFill/>
        </p:spPr>
        <p:txBody>
          <a:bodyPr wrap="square">
            <a:spAutoFit/>
          </a:bodyPr>
          <a:lstStyle/>
          <a:p>
            <a:pPr algn="l"/>
            <a:r>
              <a:rPr sz="1500" b="1" i="0">
                <a:solidFill>
                  <a:srgbClr val="1B3A72"/>
                </a:solidFill>
                <a:latin typeface="Calibri"/>
              </a:rPr>
              <a:t>What happened</a:t>
            </a:r>
          </a:p>
        </p:txBody>
      </p:sp>
      <p:sp>
        <p:nvSpPr>
          <p:cNvPr id="10" name="TextBox 9"/>
          <p:cNvSpPr txBox="1"/>
          <p:nvPr/>
        </p:nvSpPr>
        <p:spPr>
          <a:xfrm>
            <a:off x="457200" y="1874519"/>
            <a:ext cx="6309360" cy="3200400"/>
          </a:xfrm>
          <a:prstGeom prst="rect">
            <a:avLst/>
          </a:prstGeom>
          <a:noFill/>
        </p:spPr>
        <p:txBody>
          <a:bodyPr wrap="square">
            <a:spAutoFit/>
          </a:bodyPr>
          <a:lstStyle/>
          <a:p>
            <a:pPr>
              <a:spcBef>
                <a:spcPts val="0"/>
              </a:spcBef>
            </a:pPr>
            <a:endParaRPr/>
          </a:p>
          <a:p>
            <a:pPr algn="l">
              <a:spcBef>
                <a:spcPts val="200"/>
              </a:spcBef>
            </a:pPr>
            <a:r>
              <a:rPr sz="1200" b="0" i="0">
                <a:solidFill>
                  <a:srgbClr val="1A1A2E"/>
                </a:solidFill>
                <a:latin typeface="Calibri"/>
              </a:rPr>
              <a:t>❖  Three days after the LUNA collapse, markets turned their attention to USDT itself</a:t>
            </a:r>
          </a:p>
          <a:p>
            <a:pPr algn="l">
              <a:spcBef>
                <a:spcPts val="700"/>
              </a:spcBef>
            </a:pPr>
            <a:r>
              <a:rPr sz="1200" b="0" i="0">
                <a:solidFill>
                  <a:srgbClr val="1A1A2E"/>
                </a:solidFill>
                <a:latin typeface="Calibri"/>
              </a:rPr>
              <a:t>❖  On May 12, Tether (USDT) briefly fell to $0.95 — a 5% depeg — on major exchanges</a:t>
            </a:r>
          </a:p>
          <a:p>
            <a:pPr algn="l">
              <a:spcBef>
                <a:spcPts val="700"/>
              </a:spcBef>
            </a:pPr>
            <a:r>
              <a:rPr sz="1200" b="0" i="0">
                <a:solidFill>
                  <a:srgbClr val="1A1A2E"/>
                </a:solidFill>
                <a:latin typeface="Calibri"/>
              </a:rPr>
              <a:t>❖  This was the direct test: 'Does Tether actually have the reserves it claims?'</a:t>
            </a:r>
          </a:p>
          <a:p>
            <a:pPr algn="l">
              <a:spcBef>
                <a:spcPts val="700"/>
              </a:spcBef>
            </a:pPr>
            <a:r>
              <a:rPr sz="1200" b="0" i="0">
                <a:solidFill>
                  <a:srgbClr val="1A1A2E"/>
                </a:solidFill>
                <a:latin typeface="Calibri"/>
              </a:rPr>
              <a:t>❖  Over 7 billion USDT was redeemed in a single day — the largest single-day redemption in Tether history</a:t>
            </a:r>
          </a:p>
          <a:p>
            <a:pPr algn="l">
              <a:spcBef>
                <a:spcPts val="700"/>
              </a:spcBef>
            </a:pPr>
            <a:r>
              <a:rPr sz="1200" b="0" i="0">
                <a:solidFill>
                  <a:srgbClr val="1A1A2E"/>
                </a:solidFill>
                <a:latin typeface="Calibri"/>
              </a:rPr>
              <a:t>❖  Unlike LUNA/UST, this was NOT algorithmic — it was a bank-run-style confidence crisis on Tether</a:t>
            </a:r>
          </a:p>
          <a:p>
            <a:pPr algn="l">
              <a:spcBef>
                <a:spcPts val="700"/>
              </a:spcBef>
            </a:pPr>
            <a:r>
              <a:rPr sz="1200" b="0" i="0">
                <a:solidFill>
                  <a:srgbClr val="1A1A2E"/>
                </a:solidFill>
                <a:latin typeface="Calibri"/>
              </a:rPr>
              <a:t>❖  Tether successfully maintained the peg and returned to $1.00 within days</a:t>
            </a:r>
          </a:p>
        </p:txBody>
      </p:sp>
      <p:sp>
        <p:nvSpPr>
          <p:cNvPr id="11" name="Rectangle 10"/>
          <p:cNvSpPr/>
          <p:nvPr/>
        </p:nvSpPr>
        <p:spPr>
          <a:xfrm>
            <a:off x="6949440" y="1417320"/>
            <a:ext cx="4663440" cy="3749039"/>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086600" y="1481328"/>
            <a:ext cx="4480560" cy="320040"/>
          </a:xfrm>
          <a:prstGeom prst="rect">
            <a:avLst/>
          </a:prstGeom>
          <a:noFill/>
        </p:spPr>
        <p:txBody>
          <a:bodyPr wrap="square">
            <a:spAutoFit/>
          </a:bodyPr>
          <a:lstStyle/>
          <a:p>
            <a:pPr algn="l"/>
            <a:r>
              <a:rPr sz="1300" b="1" i="0">
                <a:solidFill>
                  <a:srgbClr val="FFFFFF"/>
                </a:solidFill>
                <a:latin typeface="Calibri"/>
              </a:rPr>
              <a:t>Why CAR ≈ +8.85 pp (same as Event 1)</a:t>
            </a:r>
          </a:p>
        </p:txBody>
      </p:sp>
      <p:sp>
        <p:nvSpPr>
          <p:cNvPr id="13" name="TextBox 12"/>
          <p:cNvSpPr txBox="1"/>
          <p:nvPr/>
        </p:nvSpPr>
        <p:spPr>
          <a:xfrm>
            <a:off x="7086600" y="1874519"/>
            <a:ext cx="4480560" cy="3200400"/>
          </a:xfrm>
          <a:prstGeom prst="rect">
            <a:avLst/>
          </a:prstGeom>
          <a:noFill/>
        </p:spPr>
        <p:txBody>
          <a:bodyPr wrap="square">
            <a:spAutoFit/>
          </a:bodyPr>
          <a:lstStyle/>
          <a:p>
            <a:pPr>
              <a:spcBef>
                <a:spcPts val="0"/>
              </a:spcBef>
            </a:pPr>
            <a:endParaRPr/>
          </a:p>
          <a:p>
            <a:pPr algn="l">
              <a:spcBef>
                <a:spcPts val="200"/>
              </a:spcBef>
            </a:pPr>
            <a:r>
              <a:rPr sz="1200" b="0" i="0">
                <a:solidFill>
                  <a:srgbClr val="AAC4E8"/>
                </a:solidFill>
                <a:latin typeface="Calibri"/>
              </a:rPr>
              <a:t>❖  Same mechanism, different trigger: direct run on USDT</a:t>
            </a:r>
          </a:p>
          <a:p>
            <a:pPr algn="l">
              <a:spcBef>
                <a:spcPts val="700"/>
              </a:spcBef>
            </a:pPr>
            <a:r>
              <a:rPr sz="1200" b="0" i="0">
                <a:solidFill>
                  <a:srgbClr val="AAC4E8"/>
                </a:solidFill>
                <a:latin typeface="Calibri"/>
              </a:rPr>
              <a:t>❖  Same low buffer (~5–8% cash) — same constraint</a:t>
            </a:r>
          </a:p>
          <a:p>
            <a:pPr algn="l">
              <a:spcBef>
                <a:spcPts val="700"/>
              </a:spcBef>
            </a:pPr>
            <a:r>
              <a:rPr sz="1200" b="0" i="0">
                <a:solidFill>
                  <a:srgbClr val="AAC4E8"/>
                </a:solidFill>
                <a:latin typeface="Calibri"/>
              </a:rPr>
              <a:t>❖  Same forced T-bill selling to meet $7bn in redemptions</a:t>
            </a:r>
          </a:p>
          <a:p>
            <a:pPr algn="l">
              <a:spcBef>
                <a:spcPts val="700"/>
              </a:spcBef>
            </a:pPr>
            <a:r>
              <a:rPr sz="1200" b="0" i="0">
                <a:solidFill>
                  <a:srgbClr val="FFD700"/>
                </a:solidFill>
                <a:latin typeface="Calibri"/>
              </a:rPr>
              <a:t>  Near-identical CAR (+8.85 vs +8.91) is not coincidence:</a:t>
            </a:r>
          </a:p>
          <a:p>
            <a:pPr algn="l">
              <a:spcBef>
                <a:spcPts val="700"/>
              </a:spcBef>
            </a:pPr>
            <a:r>
              <a:rPr sz="1200" b="0" i="0">
                <a:solidFill>
                  <a:srgbClr val="FFD700"/>
                </a:solidFill>
                <a:latin typeface="Calibri"/>
              </a:rPr>
              <a:t>  → It reflects the SAME mechanical constraint</a:t>
            </a:r>
          </a:p>
          <a:p>
            <a:pPr algn="l">
              <a:spcBef>
                <a:spcPts val="700"/>
              </a:spcBef>
            </a:pPr>
            <a:r>
              <a:rPr sz="1200" b="0" i="0">
                <a:solidFill>
                  <a:srgbClr val="FFD700"/>
                </a:solidFill>
                <a:latin typeface="Calibri"/>
              </a:rPr>
              <a:t>  → The buffer level determined the market impact, not the specific trigger</a:t>
            </a:r>
          </a:p>
        </p:txBody>
      </p:sp>
      <p:sp>
        <p:nvSpPr>
          <p:cNvPr id="14" name="Rectangle 13"/>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48640" y="5760720"/>
            <a:ext cx="11274552" cy="804672"/>
          </a:xfrm>
          <a:prstGeom prst="rect">
            <a:avLst/>
          </a:prstGeom>
          <a:noFill/>
        </p:spPr>
        <p:txBody>
          <a:bodyPr wrap="square">
            <a:spAutoFit/>
          </a:bodyPr>
          <a:lstStyle/>
          <a:p>
            <a:pPr algn="ctr"/>
            <a:r>
              <a:rPr sz="1700" b="1" i="0">
                <a:solidFill>
                  <a:srgbClr val="FFFFFF"/>
                </a:solidFill>
                <a:latin typeface="Calibri"/>
              </a:rPr>
              <a:t>Two separate events, same buffer level, same CAR magnitude. The buffer is the key variable — not the nature of the shock.</a:t>
            </a:r>
          </a:p>
        </p:txBody>
      </p:sp>
      <p:sp>
        <p:nvSpPr>
          <p:cNvPr id="16" name="TextBox 15">
            <a:extLst>
              <a:ext uri="{FF2B5EF4-FFF2-40B4-BE49-F238E27FC236}">
                <a16:creationId xmlns:a16="http://schemas.microsoft.com/office/drawing/2014/main" id="{7B1ED7BB-9D7B-A034-3539-C10A5562B5D4}"/>
              </a:ext>
            </a:extLst>
          </p:cNvPr>
          <p:cNvSpPr txBox="1"/>
          <p:nvPr/>
        </p:nvSpPr>
        <p:spPr>
          <a:xfrm>
            <a:off x="10265434" y="320040"/>
            <a:ext cx="1576046" cy="323165"/>
          </a:xfrm>
          <a:prstGeom prst="rect">
            <a:avLst/>
          </a:prstGeom>
          <a:noFill/>
        </p:spPr>
        <p:txBody>
          <a:bodyPr wrap="square">
            <a:spAutoFit/>
          </a:bodyPr>
          <a:lstStyle/>
          <a:p>
            <a:pPr algn="l"/>
            <a:r>
              <a:rPr lang="en-US" sz="1500" b="1" dirty="0">
                <a:solidFill>
                  <a:srgbClr val="FFFFFF"/>
                </a:solidFill>
                <a:latin typeface="Calibri"/>
              </a:rPr>
              <a:t>Mimi</a:t>
            </a:r>
            <a:r>
              <a:rPr lang="en-US" sz="1500" b="1" i="0" dirty="0">
                <a:solidFill>
                  <a:srgbClr val="FFFFFF"/>
                </a:solidFill>
                <a:latin typeface="Calibri"/>
              </a:rPr>
              <a:t> – Page 7</a:t>
            </a:r>
            <a:endParaRPr sz="1500" b="1" i="0" dirty="0">
              <a:solidFill>
                <a:srgbClr val="FFFFFF"/>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Event 3: USDC / SVB Failure — March 11, 2023</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8</a:t>
            </a:r>
          </a:p>
        </p:txBody>
      </p:sp>
      <p:sp>
        <p:nvSpPr>
          <p:cNvPr id="6" name="Rectangle 5"/>
          <p:cNvSpPr/>
          <p:nvPr/>
        </p:nvSpPr>
        <p:spPr>
          <a:xfrm>
            <a:off x="320040" y="960120"/>
            <a:ext cx="11521440" cy="38404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987552"/>
            <a:ext cx="11064240" cy="310896"/>
          </a:xfrm>
          <a:prstGeom prst="rect">
            <a:avLst/>
          </a:prstGeom>
          <a:noFill/>
        </p:spPr>
        <p:txBody>
          <a:bodyPr wrap="square">
            <a:spAutoFit/>
          </a:bodyPr>
          <a:lstStyle/>
          <a:p>
            <a:pPr algn="ctr"/>
            <a:r>
              <a:rPr sz="1300" b="1" i="0">
                <a:solidFill>
                  <a:srgbClr val="FFFFFF"/>
                </a:solidFill>
                <a:latin typeface="Calibri"/>
              </a:rPr>
              <a:t>Buffer Condition: HIGH   |   L ≈ 18–22% cash   |   CAR = −18.01 pp***   |   t-stat &gt; 30</a:t>
            </a:r>
          </a:p>
        </p:txBody>
      </p:sp>
      <p:sp>
        <p:nvSpPr>
          <p:cNvPr id="8" name="Rectangle 7"/>
          <p:cNvSpPr/>
          <p:nvPr/>
        </p:nvSpPr>
        <p:spPr>
          <a:xfrm>
            <a:off x="320040" y="1417320"/>
            <a:ext cx="5394960" cy="2286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81328"/>
            <a:ext cx="5212080" cy="274320"/>
          </a:xfrm>
          <a:prstGeom prst="rect">
            <a:avLst/>
          </a:prstGeom>
          <a:noFill/>
        </p:spPr>
        <p:txBody>
          <a:bodyPr wrap="square">
            <a:spAutoFit/>
          </a:bodyPr>
          <a:lstStyle/>
          <a:p>
            <a:pPr algn="l"/>
            <a:r>
              <a:rPr sz="1400" b="1" i="0">
                <a:solidFill>
                  <a:srgbClr val="1B3A72"/>
                </a:solidFill>
                <a:latin typeface="Calibri"/>
              </a:rPr>
              <a:t>What happened</a:t>
            </a:r>
          </a:p>
        </p:txBody>
      </p:sp>
      <p:sp>
        <p:nvSpPr>
          <p:cNvPr id="10" name="TextBox 9"/>
          <p:cNvSpPr txBox="1"/>
          <p:nvPr/>
        </p:nvSpPr>
        <p:spPr>
          <a:xfrm>
            <a:off x="457200" y="1810512"/>
            <a:ext cx="5212080" cy="1828800"/>
          </a:xfrm>
          <a:prstGeom prst="rect">
            <a:avLst/>
          </a:prstGeom>
          <a:noFill/>
        </p:spPr>
        <p:txBody>
          <a:bodyPr wrap="square">
            <a:spAutoFit/>
          </a:bodyPr>
          <a:lstStyle/>
          <a:p>
            <a:pPr>
              <a:spcBef>
                <a:spcPts val="0"/>
              </a:spcBef>
            </a:pPr>
            <a:endParaRPr/>
          </a:p>
          <a:p>
            <a:pPr algn="l">
              <a:spcBef>
                <a:spcPts val="200"/>
              </a:spcBef>
            </a:pPr>
            <a:r>
              <a:rPr sz="1200" b="0" i="0">
                <a:solidFill>
                  <a:srgbClr val="1A1A2E"/>
                </a:solidFill>
                <a:latin typeface="Calibri"/>
              </a:rPr>
              <a:t>❖  SVB failed on March 10, 2023 — the second-largest US bank failure in history</a:t>
            </a:r>
          </a:p>
          <a:p>
            <a:pPr algn="l">
              <a:spcBef>
                <a:spcPts val="600"/>
              </a:spcBef>
            </a:pPr>
            <a:r>
              <a:rPr sz="1200" b="0" i="0">
                <a:solidFill>
                  <a:srgbClr val="1A1A2E"/>
                </a:solidFill>
                <a:latin typeface="Calibri"/>
              </a:rPr>
              <a:t>❖  Circle disclosed: $3.3 billion of USDC reserves were held at SVB — temporarily inaccessible</a:t>
            </a:r>
          </a:p>
          <a:p>
            <a:pPr algn="l">
              <a:spcBef>
                <a:spcPts val="600"/>
              </a:spcBef>
            </a:pPr>
            <a:r>
              <a:rPr sz="1200" b="0" i="0">
                <a:solidFill>
                  <a:srgbClr val="1A1A2E"/>
                </a:solidFill>
                <a:latin typeface="Calibri"/>
              </a:rPr>
              <a:t>❖  USDC depegged to ~$0.87 on March 11 — a larger nominal depeg than USDT in 2022</a:t>
            </a:r>
          </a:p>
          <a:p>
            <a:pPr algn="l">
              <a:spcBef>
                <a:spcPts val="600"/>
              </a:spcBef>
            </a:pPr>
            <a:r>
              <a:rPr sz="1200" b="0" i="0">
                <a:solidFill>
                  <a:srgbClr val="1A1A2E"/>
                </a:solidFill>
                <a:latin typeface="Calibri"/>
              </a:rPr>
              <a:t>❖  But by March 13, after the US government guaranteed SVB deposits, USDC returned to $1.00</a:t>
            </a:r>
          </a:p>
        </p:txBody>
      </p:sp>
      <p:sp>
        <p:nvSpPr>
          <p:cNvPr id="11" name="Rectangle 10"/>
          <p:cNvSpPr/>
          <p:nvPr/>
        </p:nvSpPr>
        <p:spPr>
          <a:xfrm>
            <a:off x="320040" y="3794760"/>
            <a:ext cx="5394960" cy="13258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3858768"/>
            <a:ext cx="5212080" cy="502920"/>
          </a:xfrm>
          <a:prstGeom prst="rect">
            <a:avLst/>
          </a:prstGeom>
          <a:noFill/>
        </p:spPr>
        <p:txBody>
          <a:bodyPr wrap="square">
            <a:spAutoFit/>
          </a:bodyPr>
          <a:lstStyle/>
          <a:p>
            <a:pPr algn="l"/>
            <a:r>
              <a:rPr sz="1300" b="1" i="0">
                <a:solidFill>
                  <a:srgbClr val="FFD700"/>
                </a:solidFill>
                <a:latin typeface="Calibri"/>
              </a:rPr>
              <a:t>Professor's question: if Circle had enough reserves, why isn't the CAR flat?</a:t>
            </a:r>
          </a:p>
        </p:txBody>
      </p:sp>
      <p:sp>
        <p:nvSpPr>
          <p:cNvPr id="13" name="TextBox 12"/>
          <p:cNvSpPr txBox="1"/>
          <p:nvPr/>
        </p:nvSpPr>
        <p:spPr>
          <a:xfrm>
            <a:off x="457200" y="4389120"/>
            <a:ext cx="5212080" cy="594360"/>
          </a:xfrm>
          <a:prstGeom prst="rect">
            <a:avLst/>
          </a:prstGeom>
          <a:noFill/>
        </p:spPr>
        <p:txBody>
          <a:bodyPr wrap="square">
            <a:spAutoFit/>
          </a:bodyPr>
          <a:lstStyle/>
          <a:p>
            <a:pPr algn="l"/>
            <a:r>
              <a:rPr sz="1200" b="0" i="1" dirty="0">
                <a:solidFill>
                  <a:srgbClr val="FFFFFF"/>
                </a:solidFill>
                <a:latin typeface="Calibri"/>
              </a:rPr>
              <a:t>Because the buffer condition tells us what Circle does. It does NOT tell us what OTHER investors do.</a:t>
            </a:r>
          </a:p>
        </p:txBody>
      </p:sp>
      <p:sp>
        <p:nvSpPr>
          <p:cNvPr id="14" name="Rectangle 13"/>
          <p:cNvSpPr/>
          <p:nvPr/>
        </p:nvSpPr>
        <p:spPr>
          <a:xfrm>
            <a:off x="5943600" y="1417320"/>
            <a:ext cx="5943600" cy="1719072"/>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943600" y="1417320"/>
            <a:ext cx="5943600" cy="347472"/>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080760" y="1444752"/>
            <a:ext cx="5669280" cy="274320"/>
          </a:xfrm>
          <a:prstGeom prst="rect">
            <a:avLst/>
          </a:prstGeom>
          <a:noFill/>
        </p:spPr>
        <p:txBody>
          <a:bodyPr wrap="square">
            <a:spAutoFit/>
          </a:bodyPr>
          <a:lstStyle/>
          <a:p>
            <a:pPr algn="l"/>
            <a:r>
              <a:rPr sz="1300" b="1" i="0">
                <a:solidFill>
                  <a:srgbClr val="FFFFFF"/>
                </a:solidFill>
                <a:latin typeface="Calibri"/>
              </a:rPr>
              <a:t>Force A: Circle's behavior (HIGH BUFFER)</a:t>
            </a:r>
          </a:p>
        </p:txBody>
      </p:sp>
      <p:sp>
        <p:nvSpPr>
          <p:cNvPr id="17" name="TextBox 16"/>
          <p:cNvSpPr txBox="1"/>
          <p:nvPr/>
        </p:nvSpPr>
        <p:spPr>
          <a:xfrm>
            <a:off x="6080760" y="1828800"/>
            <a:ext cx="5669280" cy="1188720"/>
          </a:xfrm>
          <a:prstGeom prst="rect">
            <a:avLst/>
          </a:prstGeom>
          <a:noFill/>
        </p:spPr>
        <p:txBody>
          <a:bodyPr wrap="square">
            <a:spAutoFit/>
          </a:bodyPr>
          <a:lstStyle/>
          <a:p>
            <a:pPr>
              <a:spcBef>
                <a:spcPts val="0"/>
              </a:spcBef>
            </a:pPr>
            <a:endParaRPr/>
          </a:p>
          <a:p>
            <a:pPr algn="l">
              <a:spcBef>
                <a:spcPts val="200"/>
              </a:spcBef>
            </a:pPr>
            <a:r>
              <a:rPr sz="1200" b="0" i="0">
                <a:solidFill>
                  <a:srgbClr val="1A1A2E"/>
                </a:solidFill>
                <a:latin typeface="Calibri"/>
              </a:rPr>
              <a:t>Circle used its large cash buffer to meet redemptions</a:t>
            </a:r>
          </a:p>
          <a:p>
            <a:pPr algn="l">
              <a:spcBef>
                <a:spcPts val="500"/>
              </a:spcBef>
            </a:pPr>
            <a:r>
              <a:rPr sz="1200" b="0" i="0">
                <a:solidFill>
                  <a:srgbClr val="1A1A2E"/>
                </a:solidFill>
                <a:latin typeface="Calibri"/>
              </a:rPr>
              <a:t>Did NOT need to sell T-bills</a:t>
            </a:r>
          </a:p>
          <a:p>
            <a:pPr algn="l">
              <a:spcBef>
                <a:spcPts val="500"/>
              </a:spcBef>
            </a:pPr>
            <a:r>
              <a:rPr sz="1200" b="0" i="0">
                <a:solidFill>
                  <a:srgbClr val="1A1A2E"/>
                </a:solidFill>
                <a:latin typeface="Calibri"/>
              </a:rPr>
              <a:t>No forced selling pressure from the issuer side</a:t>
            </a:r>
          </a:p>
          <a:p>
            <a:pPr algn="l">
              <a:spcBef>
                <a:spcPts val="500"/>
              </a:spcBef>
            </a:pPr>
            <a:r>
              <a:rPr sz="1200" b="1" i="0">
                <a:solidFill>
                  <a:srgbClr val="1A7A4A"/>
                </a:solidFill>
                <a:latin typeface="Calibri"/>
              </a:rPr>
              <a:t>→ This is what a flat CAR would look like IF nothing else happened</a:t>
            </a:r>
          </a:p>
        </p:txBody>
      </p:sp>
      <p:sp>
        <p:nvSpPr>
          <p:cNvPr id="18" name="Rectangle 17"/>
          <p:cNvSpPr/>
          <p:nvPr/>
        </p:nvSpPr>
        <p:spPr>
          <a:xfrm>
            <a:off x="5943600" y="3218688"/>
            <a:ext cx="5943600" cy="1874519"/>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943600" y="3218688"/>
            <a:ext cx="5943600" cy="347472"/>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080760" y="3246120"/>
            <a:ext cx="5669280" cy="274320"/>
          </a:xfrm>
          <a:prstGeom prst="rect">
            <a:avLst/>
          </a:prstGeom>
          <a:noFill/>
        </p:spPr>
        <p:txBody>
          <a:bodyPr wrap="square">
            <a:spAutoFit/>
          </a:bodyPr>
          <a:lstStyle/>
          <a:p>
            <a:pPr algn="l"/>
            <a:r>
              <a:rPr sz="1300" b="1" i="0">
                <a:solidFill>
                  <a:srgbClr val="FFFFFF"/>
                </a:solidFill>
                <a:latin typeface="Calibri"/>
              </a:rPr>
              <a:t>Force B: Market-wide flight to safety</a:t>
            </a:r>
          </a:p>
        </p:txBody>
      </p:sp>
      <p:sp>
        <p:nvSpPr>
          <p:cNvPr id="21" name="TextBox 20"/>
          <p:cNvSpPr txBox="1"/>
          <p:nvPr/>
        </p:nvSpPr>
        <p:spPr>
          <a:xfrm>
            <a:off x="6080760" y="3630168"/>
            <a:ext cx="5669280" cy="1371600"/>
          </a:xfrm>
          <a:prstGeom prst="rect">
            <a:avLst/>
          </a:prstGeom>
          <a:noFill/>
        </p:spPr>
        <p:txBody>
          <a:bodyPr wrap="square">
            <a:spAutoFit/>
          </a:bodyPr>
          <a:lstStyle/>
          <a:p>
            <a:pPr>
              <a:spcBef>
                <a:spcPts val="0"/>
              </a:spcBef>
            </a:pPr>
            <a:endParaRPr/>
          </a:p>
          <a:p>
            <a:pPr algn="l">
              <a:spcBef>
                <a:spcPts val="200"/>
              </a:spcBef>
            </a:pPr>
            <a:r>
              <a:rPr sz="1200" b="0" i="0">
                <a:solidFill>
                  <a:srgbClr val="1A1A2E"/>
                </a:solidFill>
                <a:latin typeface="Calibri"/>
              </a:rPr>
              <a:t>SVB's failure caused widespread panic — investors fled to safety</a:t>
            </a:r>
          </a:p>
          <a:p>
            <a:pPr algn="l">
              <a:spcBef>
                <a:spcPts val="500"/>
              </a:spcBef>
            </a:pPr>
            <a:r>
              <a:rPr sz="1200" b="0" i="0">
                <a:solidFill>
                  <a:srgbClr val="1A1A2E"/>
                </a:solidFill>
                <a:latin typeface="Calibri"/>
              </a:rPr>
              <a:t>Massive buying of U.S. T-bills (the safest short-term asset)</a:t>
            </a:r>
          </a:p>
          <a:p>
            <a:pPr algn="l">
              <a:spcBef>
                <a:spcPts val="500"/>
              </a:spcBef>
            </a:pPr>
            <a:r>
              <a:rPr sz="1200" b="0" i="0">
                <a:solidFill>
                  <a:srgbClr val="1A1A2E"/>
                </a:solidFill>
                <a:latin typeface="Calibri"/>
              </a:rPr>
              <a:t>This BUYING pushed T-bill yields DOWN relative to OIS</a:t>
            </a:r>
          </a:p>
          <a:p>
            <a:pPr algn="l">
              <a:spcBef>
                <a:spcPts val="500"/>
              </a:spcBef>
            </a:pPr>
            <a:r>
              <a:rPr sz="1200" b="1" i="0">
                <a:solidFill>
                  <a:srgbClr val="C0392B"/>
                </a:solidFill>
                <a:latin typeface="Calibri"/>
              </a:rPr>
              <a:t>→ Spread compressed far BELOW what the normal model predicted</a:t>
            </a:r>
          </a:p>
        </p:txBody>
      </p:sp>
      <p:sp>
        <p:nvSpPr>
          <p:cNvPr id="22" name="Rectangle 21"/>
          <p:cNvSpPr/>
          <p:nvPr/>
        </p:nvSpPr>
        <p:spPr>
          <a:xfrm>
            <a:off x="5943600" y="5166360"/>
            <a:ext cx="5943600" cy="640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080760" y="5212080"/>
            <a:ext cx="5669280" cy="548640"/>
          </a:xfrm>
          <a:prstGeom prst="rect">
            <a:avLst/>
          </a:prstGeom>
          <a:noFill/>
        </p:spPr>
        <p:txBody>
          <a:bodyPr wrap="square">
            <a:spAutoFit/>
          </a:bodyPr>
          <a:lstStyle/>
          <a:p>
            <a:pPr algn="l"/>
            <a:r>
              <a:rPr sz="1100" b="1" i="0">
                <a:solidFill>
                  <a:srgbClr val="FFFFFF"/>
                </a:solidFill>
                <a:latin typeface="Calibri"/>
              </a:rPr>
              <a:t>Net effect: Force A (no selling) + Force B (active buying) = CAR of −18 pp
The graph is NEGATIVE, not flat, because of pure market flight-to-safety — not issuer behavior.</a:t>
            </a:r>
          </a:p>
        </p:txBody>
      </p:sp>
      <p:sp>
        <p:nvSpPr>
          <p:cNvPr id="24" name="Rectangle 23"/>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48640" y="5760720"/>
            <a:ext cx="11274552" cy="804672"/>
          </a:xfrm>
          <a:prstGeom prst="rect">
            <a:avLst/>
          </a:prstGeom>
          <a:noFill/>
        </p:spPr>
        <p:txBody>
          <a:bodyPr wrap="square">
            <a:spAutoFit/>
          </a:bodyPr>
          <a:lstStyle/>
          <a:p>
            <a:pPr algn="ctr"/>
            <a:r>
              <a:rPr sz="1700" b="1" i="0">
                <a:solidFill>
                  <a:srgbClr val="FFFFFF"/>
                </a:solidFill>
                <a:latin typeface="Calibri"/>
              </a:rPr>
              <a:t>High buffer → no forced selling → the flight-to-safety buying dominates → CAR goes deeply negative. This is the OPPOSITE of a crisis, not the absence of one.</a:t>
            </a:r>
          </a:p>
        </p:txBody>
      </p:sp>
      <p:sp>
        <p:nvSpPr>
          <p:cNvPr id="26" name="TextBox 25">
            <a:extLst>
              <a:ext uri="{FF2B5EF4-FFF2-40B4-BE49-F238E27FC236}">
                <a16:creationId xmlns:a16="http://schemas.microsoft.com/office/drawing/2014/main" id="{8F1F35D9-667B-2077-D49B-68F8FA649CF8}"/>
              </a:ext>
            </a:extLst>
          </p:cNvPr>
          <p:cNvSpPr txBox="1"/>
          <p:nvPr/>
        </p:nvSpPr>
        <p:spPr>
          <a:xfrm>
            <a:off x="10265434" y="320040"/>
            <a:ext cx="1576046" cy="323165"/>
          </a:xfrm>
          <a:prstGeom prst="rect">
            <a:avLst/>
          </a:prstGeom>
          <a:noFill/>
        </p:spPr>
        <p:txBody>
          <a:bodyPr wrap="square">
            <a:spAutoFit/>
          </a:bodyPr>
          <a:lstStyle/>
          <a:p>
            <a:pPr algn="l"/>
            <a:r>
              <a:rPr lang="en-US" sz="1500" b="1" i="0" dirty="0">
                <a:solidFill>
                  <a:srgbClr val="FFFFFF"/>
                </a:solidFill>
                <a:latin typeface="Calibri"/>
              </a:rPr>
              <a:t>Mimi – Page 8</a:t>
            </a:r>
            <a:endParaRPr sz="1500" b="1" i="0" dirty="0">
              <a:solidFill>
                <a:srgbClr val="FFFFFF"/>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The Natural Experiment: Buffer Regime Determines the Outcome</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9</a:t>
            </a:r>
          </a:p>
        </p:txBody>
      </p:sp>
      <p:sp>
        <p:nvSpPr>
          <p:cNvPr id="6" name="TextBox 5"/>
          <p:cNvSpPr txBox="1"/>
          <p:nvPr/>
        </p:nvSpPr>
        <p:spPr>
          <a:xfrm>
            <a:off x="320040" y="960120"/>
            <a:ext cx="11521440" cy="347472"/>
          </a:xfrm>
          <a:prstGeom prst="rect">
            <a:avLst/>
          </a:prstGeom>
          <a:noFill/>
        </p:spPr>
        <p:txBody>
          <a:bodyPr wrap="square">
            <a:spAutoFit/>
          </a:bodyPr>
          <a:lstStyle/>
          <a:p>
            <a:pPr algn="l"/>
            <a:r>
              <a:rPr sz="1300" b="0" i="1">
                <a:solidFill>
                  <a:srgbClr val="555566"/>
                </a:solidFill>
                <a:latin typeface="Calibri"/>
              </a:rPr>
              <a:t>Three major stablecoin crises. Similar scale of shock. Opposite outcomes. The only systematic difference: the liquid buffer level.</a:t>
            </a:r>
          </a:p>
        </p:txBody>
      </p:sp>
      <p:sp>
        <p:nvSpPr>
          <p:cNvPr id="7" name="Rectangle 6"/>
          <p:cNvSpPr/>
          <p:nvPr/>
        </p:nvSpPr>
        <p:spPr>
          <a:xfrm>
            <a:off x="320040" y="1417320"/>
            <a:ext cx="3749039"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93192" y="1444752"/>
            <a:ext cx="3611880" cy="320040"/>
          </a:xfrm>
          <a:prstGeom prst="rect">
            <a:avLst/>
          </a:prstGeom>
          <a:noFill/>
        </p:spPr>
        <p:txBody>
          <a:bodyPr wrap="square">
            <a:spAutoFit/>
          </a:bodyPr>
          <a:lstStyle/>
          <a:p>
            <a:pPr algn="ctr"/>
            <a:r>
              <a:rPr sz="1300" b="1" i="0">
                <a:solidFill>
                  <a:srgbClr val="FFFFFF"/>
                </a:solidFill>
                <a:latin typeface="Calibri"/>
              </a:rPr>
              <a:t>LUNA / UST Collapse</a:t>
            </a:r>
          </a:p>
        </p:txBody>
      </p:sp>
      <p:sp>
        <p:nvSpPr>
          <p:cNvPr id="9" name="Rectangle 8"/>
          <p:cNvSpPr/>
          <p:nvPr/>
        </p:nvSpPr>
        <p:spPr>
          <a:xfrm>
            <a:off x="320040" y="1828800"/>
            <a:ext cx="3749039" cy="320040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11480" y="1901952"/>
            <a:ext cx="3566160" cy="256032"/>
          </a:xfrm>
          <a:prstGeom prst="rect">
            <a:avLst/>
          </a:prstGeom>
          <a:noFill/>
        </p:spPr>
        <p:txBody>
          <a:bodyPr wrap="square">
            <a:spAutoFit/>
          </a:bodyPr>
          <a:lstStyle/>
          <a:p>
            <a:pPr algn="ctr"/>
            <a:r>
              <a:rPr sz="1200" b="0" i="1">
                <a:solidFill>
                  <a:srgbClr val="555566"/>
                </a:solidFill>
                <a:latin typeface="Calibri"/>
              </a:rPr>
              <a:t>May 9, 2022</a:t>
            </a:r>
          </a:p>
        </p:txBody>
      </p:sp>
      <p:sp>
        <p:nvSpPr>
          <p:cNvPr id="11" name="TextBox 10"/>
          <p:cNvSpPr txBox="1"/>
          <p:nvPr/>
        </p:nvSpPr>
        <p:spPr>
          <a:xfrm>
            <a:off x="411480" y="2212848"/>
            <a:ext cx="3566160" cy="274320"/>
          </a:xfrm>
          <a:prstGeom prst="rect">
            <a:avLst/>
          </a:prstGeom>
          <a:noFill/>
        </p:spPr>
        <p:txBody>
          <a:bodyPr wrap="square">
            <a:spAutoFit/>
          </a:bodyPr>
          <a:lstStyle/>
          <a:p>
            <a:pPr algn="ctr"/>
            <a:r>
              <a:rPr sz="1200" b="1" i="0">
                <a:solidFill>
                  <a:srgbClr val="C0392B"/>
                </a:solidFill>
                <a:latin typeface="Calibri"/>
              </a:rPr>
              <a:t>Buffer: LOW  (~5–8%)</a:t>
            </a:r>
          </a:p>
        </p:txBody>
      </p:sp>
      <p:sp>
        <p:nvSpPr>
          <p:cNvPr id="12" name="TextBox 11"/>
          <p:cNvSpPr txBox="1"/>
          <p:nvPr/>
        </p:nvSpPr>
        <p:spPr>
          <a:xfrm>
            <a:off x="411480" y="2542032"/>
            <a:ext cx="3566160" cy="594360"/>
          </a:xfrm>
          <a:prstGeom prst="rect">
            <a:avLst/>
          </a:prstGeom>
          <a:noFill/>
        </p:spPr>
        <p:txBody>
          <a:bodyPr wrap="square">
            <a:spAutoFit/>
          </a:bodyPr>
          <a:lstStyle/>
          <a:p>
            <a:pPr algn="ctr"/>
            <a:r>
              <a:rPr sz="2600" b="1" i="0">
                <a:solidFill>
                  <a:srgbClr val="C0392B"/>
                </a:solidFill>
                <a:latin typeface="Calibri"/>
              </a:rPr>
              <a:t>CAR = +8.91 pp</a:t>
            </a:r>
          </a:p>
        </p:txBody>
      </p:sp>
      <p:sp>
        <p:nvSpPr>
          <p:cNvPr id="13" name="TextBox 12"/>
          <p:cNvSpPr txBox="1"/>
          <p:nvPr/>
        </p:nvSpPr>
        <p:spPr>
          <a:xfrm>
            <a:off x="411480" y="3007620"/>
            <a:ext cx="3566160" cy="658368"/>
          </a:xfrm>
          <a:prstGeom prst="rect">
            <a:avLst/>
          </a:prstGeom>
          <a:noFill/>
        </p:spPr>
        <p:txBody>
          <a:bodyPr wrap="square">
            <a:spAutoFit/>
          </a:bodyPr>
          <a:lstStyle/>
          <a:p>
            <a:pPr algn="ctr"/>
            <a:r>
              <a:rPr sz="1200" b="0" i="0" dirty="0">
                <a:solidFill>
                  <a:srgbClr val="1A1A2E"/>
                </a:solidFill>
                <a:latin typeface="Calibri"/>
              </a:rPr>
              <a:t>T-bill forced selling
Spread spiked sharply</a:t>
            </a:r>
          </a:p>
        </p:txBody>
      </p:sp>
      <p:sp>
        <p:nvSpPr>
          <p:cNvPr id="14" name="Rectangle 13"/>
          <p:cNvSpPr/>
          <p:nvPr/>
        </p:nvSpPr>
        <p:spPr>
          <a:xfrm>
            <a:off x="4251960" y="1417320"/>
            <a:ext cx="3749039"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325112" y="1444752"/>
            <a:ext cx="3611880" cy="320040"/>
          </a:xfrm>
          <a:prstGeom prst="rect">
            <a:avLst/>
          </a:prstGeom>
          <a:noFill/>
        </p:spPr>
        <p:txBody>
          <a:bodyPr wrap="square">
            <a:spAutoFit/>
          </a:bodyPr>
          <a:lstStyle/>
          <a:p>
            <a:pPr algn="ctr"/>
            <a:r>
              <a:rPr sz="1300" b="1" i="0">
                <a:solidFill>
                  <a:srgbClr val="FFFFFF"/>
                </a:solidFill>
                <a:latin typeface="Calibri"/>
              </a:rPr>
              <a:t>USDT Partial Depeg</a:t>
            </a:r>
          </a:p>
        </p:txBody>
      </p:sp>
      <p:sp>
        <p:nvSpPr>
          <p:cNvPr id="16" name="Rectangle 15"/>
          <p:cNvSpPr/>
          <p:nvPr/>
        </p:nvSpPr>
        <p:spPr>
          <a:xfrm>
            <a:off x="4251960" y="1828800"/>
            <a:ext cx="3749039" cy="320040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343400" y="1901952"/>
            <a:ext cx="3566160" cy="256032"/>
          </a:xfrm>
          <a:prstGeom prst="rect">
            <a:avLst/>
          </a:prstGeom>
          <a:noFill/>
        </p:spPr>
        <p:txBody>
          <a:bodyPr wrap="square">
            <a:spAutoFit/>
          </a:bodyPr>
          <a:lstStyle/>
          <a:p>
            <a:pPr algn="ctr"/>
            <a:r>
              <a:rPr sz="1200" b="0" i="1">
                <a:solidFill>
                  <a:srgbClr val="555566"/>
                </a:solidFill>
                <a:latin typeface="Calibri"/>
              </a:rPr>
              <a:t>May 12, 2022</a:t>
            </a:r>
          </a:p>
        </p:txBody>
      </p:sp>
      <p:sp>
        <p:nvSpPr>
          <p:cNvPr id="18" name="TextBox 17"/>
          <p:cNvSpPr txBox="1"/>
          <p:nvPr/>
        </p:nvSpPr>
        <p:spPr>
          <a:xfrm>
            <a:off x="4343400" y="2212848"/>
            <a:ext cx="3566160" cy="274320"/>
          </a:xfrm>
          <a:prstGeom prst="rect">
            <a:avLst/>
          </a:prstGeom>
          <a:noFill/>
        </p:spPr>
        <p:txBody>
          <a:bodyPr wrap="square">
            <a:spAutoFit/>
          </a:bodyPr>
          <a:lstStyle/>
          <a:p>
            <a:pPr algn="ctr"/>
            <a:r>
              <a:rPr sz="1200" b="1" i="0">
                <a:solidFill>
                  <a:srgbClr val="C0392B"/>
                </a:solidFill>
                <a:latin typeface="Calibri"/>
              </a:rPr>
              <a:t>Buffer: LOW  (~5–8%)</a:t>
            </a:r>
          </a:p>
        </p:txBody>
      </p:sp>
      <p:sp>
        <p:nvSpPr>
          <p:cNvPr id="19" name="TextBox 18"/>
          <p:cNvSpPr txBox="1"/>
          <p:nvPr/>
        </p:nvSpPr>
        <p:spPr>
          <a:xfrm>
            <a:off x="4343400" y="2542032"/>
            <a:ext cx="3566160" cy="594360"/>
          </a:xfrm>
          <a:prstGeom prst="rect">
            <a:avLst/>
          </a:prstGeom>
          <a:noFill/>
        </p:spPr>
        <p:txBody>
          <a:bodyPr wrap="square">
            <a:spAutoFit/>
          </a:bodyPr>
          <a:lstStyle/>
          <a:p>
            <a:pPr algn="ctr"/>
            <a:r>
              <a:rPr sz="2600" b="1" i="0">
                <a:solidFill>
                  <a:srgbClr val="C0392B"/>
                </a:solidFill>
                <a:latin typeface="Calibri"/>
              </a:rPr>
              <a:t>CAR = +8.85 pp</a:t>
            </a:r>
          </a:p>
        </p:txBody>
      </p:sp>
      <p:sp>
        <p:nvSpPr>
          <p:cNvPr id="20" name="TextBox 19"/>
          <p:cNvSpPr txBox="1"/>
          <p:nvPr/>
        </p:nvSpPr>
        <p:spPr>
          <a:xfrm>
            <a:off x="4343400" y="3007620"/>
            <a:ext cx="3566160" cy="658368"/>
          </a:xfrm>
          <a:prstGeom prst="rect">
            <a:avLst/>
          </a:prstGeom>
          <a:noFill/>
        </p:spPr>
        <p:txBody>
          <a:bodyPr wrap="square">
            <a:spAutoFit/>
          </a:bodyPr>
          <a:lstStyle/>
          <a:p>
            <a:pPr algn="ctr"/>
            <a:r>
              <a:rPr sz="1200" b="0" i="0">
                <a:solidFill>
                  <a:srgbClr val="1A1A2E"/>
                </a:solidFill>
                <a:latin typeface="Calibri"/>
              </a:rPr>
              <a:t>Same constraint, same result
Near-identical magnitude</a:t>
            </a:r>
          </a:p>
        </p:txBody>
      </p:sp>
      <p:sp>
        <p:nvSpPr>
          <p:cNvPr id="21" name="Rectangle 20"/>
          <p:cNvSpPr/>
          <p:nvPr/>
        </p:nvSpPr>
        <p:spPr>
          <a:xfrm>
            <a:off x="8183880" y="1417320"/>
            <a:ext cx="3749039" cy="4114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257032" y="1444752"/>
            <a:ext cx="3611880" cy="320040"/>
          </a:xfrm>
          <a:prstGeom prst="rect">
            <a:avLst/>
          </a:prstGeom>
          <a:noFill/>
        </p:spPr>
        <p:txBody>
          <a:bodyPr wrap="square">
            <a:spAutoFit/>
          </a:bodyPr>
          <a:lstStyle/>
          <a:p>
            <a:pPr algn="ctr"/>
            <a:r>
              <a:rPr sz="1300" b="1" i="0">
                <a:solidFill>
                  <a:srgbClr val="FFFFFF"/>
                </a:solidFill>
                <a:latin typeface="Calibri"/>
              </a:rPr>
              <a:t>USDC / SVB Failure</a:t>
            </a:r>
          </a:p>
        </p:txBody>
      </p:sp>
      <p:sp>
        <p:nvSpPr>
          <p:cNvPr id="23" name="Rectangle 22"/>
          <p:cNvSpPr/>
          <p:nvPr/>
        </p:nvSpPr>
        <p:spPr>
          <a:xfrm>
            <a:off x="8183880" y="1828800"/>
            <a:ext cx="3749039" cy="320040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275320" y="1901952"/>
            <a:ext cx="3566160" cy="256032"/>
          </a:xfrm>
          <a:prstGeom prst="rect">
            <a:avLst/>
          </a:prstGeom>
          <a:noFill/>
        </p:spPr>
        <p:txBody>
          <a:bodyPr wrap="square">
            <a:spAutoFit/>
          </a:bodyPr>
          <a:lstStyle/>
          <a:p>
            <a:pPr algn="ctr"/>
            <a:r>
              <a:rPr sz="1200" b="0" i="1">
                <a:solidFill>
                  <a:srgbClr val="555566"/>
                </a:solidFill>
                <a:latin typeface="Calibri"/>
              </a:rPr>
              <a:t>Mar 11, 2023</a:t>
            </a:r>
          </a:p>
        </p:txBody>
      </p:sp>
      <p:sp>
        <p:nvSpPr>
          <p:cNvPr id="25" name="TextBox 24"/>
          <p:cNvSpPr txBox="1"/>
          <p:nvPr/>
        </p:nvSpPr>
        <p:spPr>
          <a:xfrm>
            <a:off x="8275320" y="2212848"/>
            <a:ext cx="3566160" cy="274320"/>
          </a:xfrm>
          <a:prstGeom prst="rect">
            <a:avLst/>
          </a:prstGeom>
          <a:noFill/>
        </p:spPr>
        <p:txBody>
          <a:bodyPr wrap="square">
            <a:spAutoFit/>
          </a:bodyPr>
          <a:lstStyle/>
          <a:p>
            <a:pPr algn="ctr"/>
            <a:r>
              <a:rPr sz="1200" b="1" i="0">
                <a:solidFill>
                  <a:srgbClr val="1A7A4A"/>
                </a:solidFill>
                <a:latin typeface="Calibri"/>
              </a:rPr>
              <a:t>Buffer: HIGH  (~18–22%)</a:t>
            </a:r>
          </a:p>
        </p:txBody>
      </p:sp>
      <p:sp>
        <p:nvSpPr>
          <p:cNvPr id="26" name="TextBox 25"/>
          <p:cNvSpPr txBox="1"/>
          <p:nvPr/>
        </p:nvSpPr>
        <p:spPr>
          <a:xfrm>
            <a:off x="8275320" y="2542032"/>
            <a:ext cx="3566160" cy="594360"/>
          </a:xfrm>
          <a:prstGeom prst="rect">
            <a:avLst/>
          </a:prstGeom>
          <a:noFill/>
        </p:spPr>
        <p:txBody>
          <a:bodyPr wrap="square">
            <a:spAutoFit/>
          </a:bodyPr>
          <a:lstStyle/>
          <a:p>
            <a:pPr algn="ctr"/>
            <a:r>
              <a:rPr sz="2600" b="1" i="0">
                <a:solidFill>
                  <a:srgbClr val="1A7A4A"/>
                </a:solidFill>
                <a:latin typeface="Calibri"/>
              </a:rPr>
              <a:t>CAR = −18.01 pp</a:t>
            </a:r>
          </a:p>
        </p:txBody>
      </p:sp>
      <p:sp>
        <p:nvSpPr>
          <p:cNvPr id="27" name="TextBox 26"/>
          <p:cNvSpPr txBox="1"/>
          <p:nvPr/>
        </p:nvSpPr>
        <p:spPr>
          <a:xfrm>
            <a:off x="8275320" y="2996429"/>
            <a:ext cx="3566160" cy="658368"/>
          </a:xfrm>
          <a:prstGeom prst="rect">
            <a:avLst/>
          </a:prstGeom>
          <a:noFill/>
        </p:spPr>
        <p:txBody>
          <a:bodyPr wrap="square">
            <a:spAutoFit/>
          </a:bodyPr>
          <a:lstStyle/>
          <a:p>
            <a:pPr algn="ctr"/>
            <a:r>
              <a:rPr sz="1200" b="0" i="0" dirty="0">
                <a:solidFill>
                  <a:srgbClr val="1A1A2E"/>
                </a:solidFill>
                <a:latin typeface="Calibri"/>
              </a:rPr>
              <a:t>No forced selling
Flight-to-safety buying</a:t>
            </a:r>
          </a:p>
        </p:txBody>
      </p:sp>
      <p:pic>
        <p:nvPicPr>
          <p:cNvPr id="28" name="Picture 27" descr="event_study_cars.png"/>
          <p:cNvPicPr>
            <a:picLocks noChangeAspect="1"/>
          </p:cNvPicPr>
          <p:nvPr/>
        </p:nvPicPr>
        <p:blipFill>
          <a:blip r:embed="rId3"/>
          <a:stretch>
            <a:fillRect/>
          </a:stretch>
        </p:blipFill>
        <p:spPr>
          <a:xfrm>
            <a:off x="388619" y="3586724"/>
            <a:ext cx="7498079" cy="1990314"/>
          </a:xfrm>
          <a:prstGeom prst="rect">
            <a:avLst/>
          </a:prstGeom>
        </p:spPr>
      </p:pic>
      <p:sp>
        <p:nvSpPr>
          <p:cNvPr id="29" name="Rectangle 28"/>
          <p:cNvSpPr/>
          <p:nvPr/>
        </p:nvSpPr>
        <p:spPr>
          <a:xfrm>
            <a:off x="7955279" y="3553181"/>
            <a:ext cx="3931920" cy="20574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092440" y="3617189"/>
            <a:ext cx="3657600" cy="320040"/>
          </a:xfrm>
          <a:prstGeom prst="rect">
            <a:avLst/>
          </a:prstGeom>
          <a:noFill/>
        </p:spPr>
        <p:txBody>
          <a:bodyPr wrap="square">
            <a:spAutoFit/>
          </a:bodyPr>
          <a:lstStyle/>
          <a:p>
            <a:pPr algn="l"/>
            <a:r>
              <a:rPr sz="1300" b="1" i="0" dirty="0">
                <a:solidFill>
                  <a:srgbClr val="FFFFFF"/>
                </a:solidFill>
                <a:latin typeface="Calibri"/>
              </a:rPr>
              <a:t>What the 27 pp swing means:</a:t>
            </a:r>
          </a:p>
        </p:txBody>
      </p:sp>
      <p:sp>
        <p:nvSpPr>
          <p:cNvPr id="31" name="TextBox 30"/>
          <p:cNvSpPr txBox="1"/>
          <p:nvPr/>
        </p:nvSpPr>
        <p:spPr>
          <a:xfrm>
            <a:off x="8092439" y="3770572"/>
            <a:ext cx="3657600" cy="1728678"/>
          </a:xfrm>
          <a:prstGeom prst="rect">
            <a:avLst/>
          </a:prstGeom>
          <a:noFill/>
        </p:spPr>
        <p:txBody>
          <a:bodyPr wrap="square">
            <a:spAutoFit/>
          </a:bodyPr>
          <a:lstStyle/>
          <a:p>
            <a:pPr>
              <a:spcBef>
                <a:spcPts val="0"/>
              </a:spcBef>
            </a:pPr>
            <a:endParaRPr lang="ko-KR" altLang="en-US" dirty="0"/>
          </a:p>
          <a:p>
            <a:pPr algn="l">
              <a:spcBef>
                <a:spcPts val="200"/>
              </a:spcBef>
            </a:pPr>
            <a:r>
              <a:rPr sz="1300" b="1" i="0" dirty="0">
                <a:solidFill>
                  <a:srgbClr val="FFD700"/>
                </a:solidFill>
                <a:latin typeface="Calibri"/>
              </a:rPr>
              <a:t>Low buffer avg CAR:  +8.9 pp</a:t>
            </a:r>
          </a:p>
          <a:p>
            <a:pPr algn="l">
              <a:spcBef>
                <a:spcPts val="600"/>
              </a:spcBef>
            </a:pPr>
            <a:r>
              <a:rPr sz="1300" b="1" i="0" dirty="0">
                <a:solidFill>
                  <a:srgbClr val="FFD700"/>
                </a:solidFill>
                <a:latin typeface="Calibri"/>
              </a:rPr>
              <a:t>High buffer CAR:  −18.0 pp</a:t>
            </a:r>
          </a:p>
          <a:p>
            <a:pPr algn="l">
              <a:spcBef>
                <a:spcPts val="800"/>
              </a:spcBef>
            </a:pPr>
            <a:r>
              <a:rPr sz="1500" b="1" i="0" dirty="0">
                <a:solidFill>
                  <a:srgbClr val="FFFFFF"/>
                </a:solidFill>
                <a:latin typeface="Calibri"/>
              </a:rPr>
              <a:t>Difference:  26.9 pp swing</a:t>
            </a:r>
          </a:p>
          <a:p>
            <a:pPr algn="l">
              <a:spcBef>
                <a:spcPts val="600"/>
              </a:spcBef>
            </a:pPr>
            <a:r>
              <a:rPr sz="1200" b="0" i="0" dirty="0">
                <a:solidFill>
                  <a:srgbClr val="AAC4E8"/>
                </a:solidFill>
                <a:latin typeface="Calibri"/>
              </a:rPr>
              <a:t>Welch t = 15.22***
p &lt; 0.001</a:t>
            </a:r>
          </a:p>
        </p:txBody>
      </p:sp>
      <p:sp>
        <p:nvSpPr>
          <p:cNvPr id="32" name="Rectangle 31"/>
          <p:cNvSpPr/>
          <p:nvPr/>
        </p:nvSpPr>
        <p:spPr>
          <a:xfrm>
            <a:off x="0" y="5824726"/>
            <a:ext cx="12188952" cy="868681"/>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75487" y="5961888"/>
            <a:ext cx="11274552" cy="804672"/>
          </a:xfrm>
          <a:prstGeom prst="rect">
            <a:avLst/>
          </a:prstGeom>
          <a:noFill/>
        </p:spPr>
        <p:txBody>
          <a:bodyPr wrap="square">
            <a:spAutoFit/>
          </a:bodyPr>
          <a:lstStyle/>
          <a:p>
            <a:pPr algn="ctr"/>
            <a:r>
              <a:rPr sz="1700" b="1" i="0" dirty="0">
                <a:solidFill>
                  <a:srgbClr val="FFFFFF"/>
                </a:solidFill>
                <a:latin typeface="Calibri"/>
              </a:rPr>
              <a:t>Same type of shock, same asset class. The buffer condition alone explains a 27 pp swing in Treasury market impact. This is the core finding of the paper.</a:t>
            </a:r>
          </a:p>
        </p:txBody>
      </p:sp>
      <p:sp>
        <p:nvSpPr>
          <p:cNvPr id="36" name="TextBox 35">
            <a:extLst>
              <a:ext uri="{FF2B5EF4-FFF2-40B4-BE49-F238E27FC236}">
                <a16:creationId xmlns:a16="http://schemas.microsoft.com/office/drawing/2014/main" id="{EFB35B99-B633-1484-432B-121FFB79E645}"/>
              </a:ext>
            </a:extLst>
          </p:cNvPr>
          <p:cNvSpPr txBox="1"/>
          <p:nvPr/>
        </p:nvSpPr>
        <p:spPr>
          <a:xfrm>
            <a:off x="10265434" y="320040"/>
            <a:ext cx="1576046" cy="323165"/>
          </a:xfrm>
          <a:prstGeom prst="rect">
            <a:avLst/>
          </a:prstGeom>
          <a:noFill/>
        </p:spPr>
        <p:txBody>
          <a:bodyPr wrap="square">
            <a:spAutoFit/>
          </a:bodyPr>
          <a:lstStyle/>
          <a:p>
            <a:pPr algn="l"/>
            <a:r>
              <a:rPr lang="en-US" sz="1500" b="1" i="0" dirty="0">
                <a:solidFill>
                  <a:srgbClr val="FFFFFF"/>
                </a:solidFill>
                <a:latin typeface="Calibri"/>
              </a:rPr>
              <a:t>Mimi – Page 9</a:t>
            </a:r>
            <a:endParaRPr sz="1500" b="1" i="0" dirty="0">
              <a:solidFill>
                <a:srgbClr val="FFFFFF"/>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00E61-2C05-C316-6DDE-943461C36EB6}"/>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D5F70E2-F928-F2E5-CC17-B7AD1698CA93}"/>
              </a:ext>
            </a:extLst>
          </p:cNvPr>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928FEC6A-0D93-893C-E851-68B37DC9961D}"/>
              </a:ext>
            </a:extLst>
          </p:cNvPr>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CB672A76-4F1E-9534-0F36-8C2A00D5367C}"/>
              </a:ext>
            </a:extLst>
          </p:cNvPr>
          <p:cNvSpPr txBox="1"/>
          <p:nvPr/>
        </p:nvSpPr>
        <p:spPr>
          <a:xfrm>
            <a:off x="274320" y="91440"/>
            <a:ext cx="7006374" cy="492443"/>
          </a:xfrm>
          <a:prstGeom prst="rect">
            <a:avLst/>
          </a:prstGeom>
          <a:noFill/>
        </p:spPr>
        <p:txBody>
          <a:bodyPr wrap="square">
            <a:spAutoFit/>
          </a:bodyPr>
          <a:lstStyle/>
          <a:p>
            <a:pPr algn="l"/>
            <a:r>
              <a:rPr sz="2600" b="0" i="0" dirty="0">
                <a:solidFill>
                  <a:srgbClr val="FFFFFF"/>
                </a:solidFill>
                <a:latin typeface="Calibri"/>
              </a:rPr>
              <a:t>Roadmap</a:t>
            </a:r>
          </a:p>
        </p:txBody>
      </p:sp>
      <p:sp>
        <p:nvSpPr>
          <p:cNvPr id="5" name="TextBox 4">
            <a:extLst>
              <a:ext uri="{FF2B5EF4-FFF2-40B4-BE49-F238E27FC236}">
                <a16:creationId xmlns:a16="http://schemas.microsoft.com/office/drawing/2014/main" id="{2AB3DF11-446E-7552-A614-ECCAEA719B92}"/>
              </a:ext>
            </a:extLst>
          </p:cNvPr>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2</a:t>
            </a:r>
          </a:p>
        </p:txBody>
      </p:sp>
      <p:sp>
        <p:nvSpPr>
          <p:cNvPr id="6" name="Rectangle 5">
            <a:extLst>
              <a:ext uri="{FF2B5EF4-FFF2-40B4-BE49-F238E27FC236}">
                <a16:creationId xmlns:a16="http://schemas.microsoft.com/office/drawing/2014/main" id="{662CBD09-30D2-DF23-819C-B683716407B4}"/>
              </a:ext>
            </a:extLst>
          </p:cNvPr>
          <p:cNvSpPr/>
          <p:nvPr/>
        </p:nvSpPr>
        <p:spPr>
          <a:xfrm>
            <a:off x="320040" y="960120"/>
            <a:ext cx="557784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8B09BF85-C091-0100-3782-A22E4BEB1047}"/>
              </a:ext>
            </a:extLst>
          </p:cNvPr>
          <p:cNvSpPr txBox="1"/>
          <p:nvPr/>
        </p:nvSpPr>
        <p:spPr>
          <a:xfrm>
            <a:off x="457200" y="987552"/>
            <a:ext cx="5394960" cy="310896"/>
          </a:xfrm>
          <a:prstGeom prst="rect">
            <a:avLst/>
          </a:prstGeom>
          <a:noFill/>
        </p:spPr>
        <p:txBody>
          <a:bodyPr wrap="square">
            <a:spAutoFit/>
          </a:bodyPr>
          <a:lstStyle/>
          <a:p>
            <a:pPr algn="l"/>
            <a:r>
              <a:rPr sz="1500" b="1" i="0">
                <a:solidFill>
                  <a:srgbClr val="FFFFFF"/>
                </a:solidFill>
                <a:latin typeface="Calibri"/>
              </a:rPr>
              <a:t>What we have done</a:t>
            </a:r>
          </a:p>
        </p:txBody>
      </p:sp>
      <p:sp>
        <p:nvSpPr>
          <p:cNvPr id="8" name="Rectangle 7">
            <a:extLst>
              <a:ext uri="{FF2B5EF4-FFF2-40B4-BE49-F238E27FC236}">
                <a16:creationId xmlns:a16="http://schemas.microsoft.com/office/drawing/2014/main" id="{98C8FFD7-10AA-AF17-3A00-EB786FE38F8F}"/>
              </a:ext>
            </a:extLst>
          </p:cNvPr>
          <p:cNvSpPr/>
          <p:nvPr/>
        </p:nvSpPr>
        <p:spPr>
          <a:xfrm>
            <a:off x="320040" y="1417320"/>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B21A32C3-D282-8768-9388-0B05B0841F53}"/>
              </a:ext>
            </a:extLst>
          </p:cNvPr>
          <p:cNvSpPr txBox="1"/>
          <p:nvPr/>
        </p:nvSpPr>
        <p:spPr>
          <a:xfrm>
            <a:off x="347472" y="1600200"/>
            <a:ext cx="1042415" cy="347472"/>
          </a:xfrm>
          <a:prstGeom prst="rect">
            <a:avLst/>
          </a:prstGeom>
          <a:noFill/>
        </p:spPr>
        <p:txBody>
          <a:bodyPr wrap="square">
            <a:spAutoFit/>
          </a:bodyPr>
          <a:lstStyle/>
          <a:p>
            <a:pPr algn="ctr"/>
            <a:r>
              <a:rPr sz="1100" b="1" i="0">
                <a:solidFill>
                  <a:srgbClr val="FFFFFF"/>
                </a:solidFill>
                <a:latin typeface="Calibri"/>
              </a:rPr>
              <a:t>Theory</a:t>
            </a:r>
          </a:p>
        </p:txBody>
      </p:sp>
      <p:sp>
        <p:nvSpPr>
          <p:cNvPr id="10" name="Rectangle 9">
            <a:extLst>
              <a:ext uri="{FF2B5EF4-FFF2-40B4-BE49-F238E27FC236}">
                <a16:creationId xmlns:a16="http://schemas.microsoft.com/office/drawing/2014/main" id="{BEFC650D-690C-7990-7BD8-CFA285A25E58}"/>
              </a:ext>
            </a:extLst>
          </p:cNvPr>
          <p:cNvSpPr/>
          <p:nvPr/>
        </p:nvSpPr>
        <p:spPr>
          <a:xfrm>
            <a:off x="1417320" y="1417320"/>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a:extLst>
              <a:ext uri="{FF2B5EF4-FFF2-40B4-BE49-F238E27FC236}">
                <a16:creationId xmlns:a16="http://schemas.microsoft.com/office/drawing/2014/main" id="{F2C5529B-51C5-EB52-5500-866002466EC5}"/>
              </a:ext>
            </a:extLst>
          </p:cNvPr>
          <p:cNvSpPr txBox="1"/>
          <p:nvPr/>
        </p:nvSpPr>
        <p:spPr>
          <a:xfrm>
            <a:off x="1536192" y="1581912"/>
            <a:ext cx="4297680" cy="457200"/>
          </a:xfrm>
          <a:prstGeom prst="rect">
            <a:avLst/>
          </a:prstGeom>
          <a:noFill/>
        </p:spPr>
        <p:txBody>
          <a:bodyPr wrap="square">
            <a:spAutoFit/>
          </a:bodyPr>
          <a:lstStyle/>
          <a:p>
            <a:pPr algn="l"/>
            <a:r>
              <a:rPr sz="1200" b="0" i="0" dirty="0">
                <a:solidFill>
                  <a:srgbClr val="1A1A2E"/>
                </a:solidFill>
                <a:latin typeface="Calibri"/>
              </a:rPr>
              <a:t>✓  Extended Maggiori (2017) with stablecoin supply S, treasury exposure </a:t>
            </a:r>
            <a:r>
              <a:rPr sz="1200" b="0" i="0" dirty="0" err="1">
                <a:solidFill>
                  <a:srgbClr val="1A1A2E"/>
                </a:solidFill>
                <a:latin typeface="Calibri"/>
              </a:rPr>
              <a:t>θ</a:t>
            </a:r>
            <a:r>
              <a:rPr sz="1200" b="0" i="0" dirty="0">
                <a:solidFill>
                  <a:srgbClr val="1A1A2E"/>
                </a:solidFill>
                <a:latin typeface="Calibri"/>
              </a:rPr>
              <a:t>, and liquid buffer L</a:t>
            </a:r>
          </a:p>
        </p:txBody>
      </p:sp>
      <p:sp>
        <p:nvSpPr>
          <p:cNvPr id="12" name="Rectangle 11">
            <a:extLst>
              <a:ext uri="{FF2B5EF4-FFF2-40B4-BE49-F238E27FC236}">
                <a16:creationId xmlns:a16="http://schemas.microsoft.com/office/drawing/2014/main" id="{9C415062-1BAB-EA9C-144B-DCF7195D9406}"/>
              </a:ext>
            </a:extLst>
          </p:cNvPr>
          <p:cNvSpPr/>
          <p:nvPr/>
        </p:nvSpPr>
        <p:spPr>
          <a:xfrm>
            <a:off x="320040" y="2176272"/>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a:extLst>
              <a:ext uri="{FF2B5EF4-FFF2-40B4-BE49-F238E27FC236}">
                <a16:creationId xmlns:a16="http://schemas.microsoft.com/office/drawing/2014/main" id="{D8369B51-CF26-C225-BCA9-CA55313FDEA6}"/>
              </a:ext>
            </a:extLst>
          </p:cNvPr>
          <p:cNvSpPr txBox="1"/>
          <p:nvPr/>
        </p:nvSpPr>
        <p:spPr>
          <a:xfrm>
            <a:off x="347472" y="2359152"/>
            <a:ext cx="1042415" cy="347472"/>
          </a:xfrm>
          <a:prstGeom prst="rect">
            <a:avLst/>
          </a:prstGeom>
          <a:noFill/>
        </p:spPr>
        <p:txBody>
          <a:bodyPr wrap="square">
            <a:spAutoFit/>
          </a:bodyPr>
          <a:lstStyle/>
          <a:p>
            <a:pPr algn="ctr"/>
            <a:r>
              <a:rPr sz="1100" b="1" i="0">
                <a:solidFill>
                  <a:srgbClr val="FFFFFF"/>
                </a:solidFill>
                <a:latin typeface="Calibri"/>
              </a:rPr>
              <a:t>Regression</a:t>
            </a:r>
          </a:p>
        </p:txBody>
      </p:sp>
      <p:sp>
        <p:nvSpPr>
          <p:cNvPr id="14" name="Rectangle 13">
            <a:extLst>
              <a:ext uri="{FF2B5EF4-FFF2-40B4-BE49-F238E27FC236}">
                <a16:creationId xmlns:a16="http://schemas.microsoft.com/office/drawing/2014/main" id="{78D2A042-3976-B71E-9C75-60672E36CBD6}"/>
              </a:ext>
            </a:extLst>
          </p:cNvPr>
          <p:cNvSpPr/>
          <p:nvPr/>
        </p:nvSpPr>
        <p:spPr>
          <a:xfrm>
            <a:off x="1417320" y="2176272"/>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a:extLst>
              <a:ext uri="{FF2B5EF4-FFF2-40B4-BE49-F238E27FC236}">
                <a16:creationId xmlns:a16="http://schemas.microsoft.com/office/drawing/2014/main" id="{392D2179-8C5E-524C-F702-53A0BF204D1B}"/>
              </a:ext>
            </a:extLst>
          </p:cNvPr>
          <p:cNvSpPr txBox="1"/>
          <p:nvPr/>
        </p:nvSpPr>
        <p:spPr>
          <a:xfrm>
            <a:off x="1536192" y="2340864"/>
            <a:ext cx="4297680" cy="457200"/>
          </a:xfrm>
          <a:prstGeom prst="rect">
            <a:avLst/>
          </a:prstGeom>
          <a:noFill/>
        </p:spPr>
        <p:txBody>
          <a:bodyPr wrap="square">
            <a:spAutoFit/>
          </a:bodyPr>
          <a:lstStyle/>
          <a:p>
            <a:pPr algn="l"/>
            <a:r>
              <a:rPr sz="1200" b="0" i="0" dirty="0">
                <a:solidFill>
                  <a:srgbClr val="1A1A2E"/>
                </a:solidFill>
                <a:latin typeface="Calibri"/>
              </a:rPr>
              <a:t>✓  β₁ = −6.02** — stablecoin growth compresses OIS–Treasury spreads (privilege amplification)</a:t>
            </a:r>
          </a:p>
        </p:txBody>
      </p:sp>
      <p:sp>
        <p:nvSpPr>
          <p:cNvPr id="16" name="Rectangle 15">
            <a:extLst>
              <a:ext uri="{FF2B5EF4-FFF2-40B4-BE49-F238E27FC236}">
                <a16:creationId xmlns:a16="http://schemas.microsoft.com/office/drawing/2014/main" id="{EFE68269-F4D2-F9DA-1D5F-F985D92827AF}"/>
              </a:ext>
            </a:extLst>
          </p:cNvPr>
          <p:cNvSpPr/>
          <p:nvPr/>
        </p:nvSpPr>
        <p:spPr>
          <a:xfrm>
            <a:off x="320040" y="2935224"/>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a:extLst>
              <a:ext uri="{FF2B5EF4-FFF2-40B4-BE49-F238E27FC236}">
                <a16:creationId xmlns:a16="http://schemas.microsoft.com/office/drawing/2014/main" id="{354FF1FB-8A88-017D-F38F-ECDEC1B99F10}"/>
              </a:ext>
            </a:extLst>
          </p:cNvPr>
          <p:cNvSpPr txBox="1"/>
          <p:nvPr/>
        </p:nvSpPr>
        <p:spPr>
          <a:xfrm>
            <a:off x="347472" y="3118104"/>
            <a:ext cx="1042415" cy="347472"/>
          </a:xfrm>
          <a:prstGeom prst="rect">
            <a:avLst/>
          </a:prstGeom>
          <a:noFill/>
        </p:spPr>
        <p:txBody>
          <a:bodyPr wrap="square">
            <a:spAutoFit/>
          </a:bodyPr>
          <a:lstStyle/>
          <a:p>
            <a:pPr algn="ctr"/>
            <a:r>
              <a:rPr sz="1100" b="1" i="0">
                <a:solidFill>
                  <a:srgbClr val="FFFFFF"/>
                </a:solidFill>
                <a:latin typeface="Calibri"/>
              </a:rPr>
              <a:t>Threshold</a:t>
            </a:r>
          </a:p>
        </p:txBody>
      </p:sp>
      <p:sp>
        <p:nvSpPr>
          <p:cNvPr id="18" name="Rectangle 17">
            <a:extLst>
              <a:ext uri="{FF2B5EF4-FFF2-40B4-BE49-F238E27FC236}">
                <a16:creationId xmlns:a16="http://schemas.microsoft.com/office/drawing/2014/main" id="{AA69227D-5090-85A9-A2AF-105CFAAC65A9}"/>
              </a:ext>
            </a:extLst>
          </p:cNvPr>
          <p:cNvSpPr/>
          <p:nvPr/>
        </p:nvSpPr>
        <p:spPr>
          <a:xfrm>
            <a:off x="1417320" y="2935224"/>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a:extLst>
              <a:ext uri="{FF2B5EF4-FFF2-40B4-BE49-F238E27FC236}">
                <a16:creationId xmlns:a16="http://schemas.microsoft.com/office/drawing/2014/main" id="{C78A5375-C650-B151-4BBB-4516D52683E0}"/>
              </a:ext>
            </a:extLst>
          </p:cNvPr>
          <p:cNvSpPr txBox="1"/>
          <p:nvPr/>
        </p:nvSpPr>
        <p:spPr>
          <a:xfrm>
            <a:off x="1536192" y="3099816"/>
            <a:ext cx="4297680" cy="457200"/>
          </a:xfrm>
          <a:prstGeom prst="rect">
            <a:avLst/>
          </a:prstGeom>
          <a:noFill/>
        </p:spPr>
        <p:txBody>
          <a:bodyPr wrap="square">
            <a:spAutoFit/>
          </a:bodyPr>
          <a:lstStyle/>
          <a:p>
            <a:pPr algn="l"/>
            <a:r>
              <a:rPr sz="1200" b="0" i="0" dirty="0">
                <a:solidFill>
                  <a:srgbClr val="1A1A2E"/>
                </a:solidFill>
                <a:latin typeface="Calibri"/>
              </a:rPr>
              <a:t>✓  Hansen (2000) threshold at q* = 13% liquid cash — separates safe from fragile regime</a:t>
            </a:r>
          </a:p>
        </p:txBody>
      </p:sp>
      <p:sp>
        <p:nvSpPr>
          <p:cNvPr id="20" name="Rectangle 19">
            <a:extLst>
              <a:ext uri="{FF2B5EF4-FFF2-40B4-BE49-F238E27FC236}">
                <a16:creationId xmlns:a16="http://schemas.microsoft.com/office/drawing/2014/main" id="{44C3D27D-D3B2-A50F-07F1-51DB83236984}"/>
              </a:ext>
            </a:extLst>
          </p:cNvPr>
          <p:cNvSpPr/>
          <p:nvPr/>
        </p:nvSpPr>
        <p:spPr>
          <a:xfrm>
            <a:off x="320040" y="3694176"/>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5670E915-483D-DD5C-8C48-CBAC950D18DC}"/>
              </a:ext>
            </a:extLst>
          </p:cNvPr>
          <p:cNvSpPr txBox="1"/>
          <p:nvPr/>
        </p:nvSpPr>
        <p:spPr>
          <a:xfrm>
            <a:off x="347472" y="3877056"/>
            <a:ext cx="1042415" cy="347472"/>
          </a:xfrm>
          <a:prstGeom prst="rect">
            <a:avLst/>
          </a:prstGeom>
          <a:noFill/>
        </p:spPr>
        <p:txBody>
          <a:bodyPr wrap="square">
            <a:spAutoFit/>
          </a:bodyPr>
          <a:lstStyle/>
          <a:p>
            <a:pPr algn="ctr"/>
            <a:r>
              <a:rPr sz="1100" b="1" i="0">
                <a:solidFill>
                  <a:srgbClr val="FFFFFF"/>
                </a:solidFill>
                <a:latin typeface="Calibri"/>
              </a:rPr>
              <a:t>Event Study</a:t>
            </a:r>
          </a:p>
        </p:txBody>
      </p:sp>
      <p:sp>
        <p:nvSpPr>
          <p:cNvPr id="22" name="Rectangle 21">
            <a:extLst>
              <a:ext uri="{FF2B5EF4-FFF2-40B4-BE49-F238E27FC236}">
                <a16:creationId xmlns:a16="http://schemas.microsoft.com/office/drawing/2014/main" id="{740BA7AD-7EC4-138A-7954-93BC9E039B7C}"/>
              </a:ext>
            </a:extLst>
          </p:cNvPr>
          <p:cNvSpPr/>
          <p:nvPr/>
        </p:nvSpPr>
        <p:spPr>
          <a:xfrm>
            <a:off x="1417320" y="3694176"/>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a:extLst>
              <a:ext uri="{FF2B5EF4-FFF2-40B4-BE49-F238E27FC236}">
                <a16:creationId xmlns:a16="http://schemas.microsoft.com/office/drawing/2014/main" id="{4D533996-16BA-7DA3-3B94-0F7583C74B11}"/>
              </a:ext>
            </a:extLst>
          </p:cNvPr>
          <p:cNvSpPr txBox="1"/>
          <p:nvPr/>
        </p:nvSpPr>
        <p:spPr>
          <a:xfrm>
            <a:off x="1536192" y="3858768"/>
            <a:ext cx="4297680" cy="457200"/>
          </a:xfrm>
          <a:prstGeom prst="rect">
            <a:avLst/>
          </a:prstGeom>
          <a:noFill/>
        </p:spPr>
        <p:txBody>
          <a:bodyPr wrap="square">
            <a:spAutoFit/>
          </a:bodyPr>
          <a:lstStyle/>
          <a:p>
            <a:pPr algn="l"/>
            <a:r>
              <a:rPr sz="1200" b="0" i="0" dirty="0">
                <a:solidFill>
                  <a:srgbClr val="1A1A2E"/>
                </a:solidFill>
                <a:latin typeface="Calibri"/>
              </a:rPr>
              <a:t>✓  3 stress episodes (LUNA, USDT </a:t>
            </a:r>
            <a:r>
              <a:rPr sz="1200" b="0" i="0" dirty="0" err="1">
                <a:solidFill>
                  <a:srgbClr val="1A1A2E"/>
                </a:solidFill>
                <a:latin typeface="Calibri"/>
              </a:rPr>
              <a:t>depeg</a:t>
            </a:r>
            <a:r>
              <a:rPr sz="1200" b="0" i="0" dirty="0">
                <a:solidFill>
                  <a:srgbClr val="1A1A2E"/>
                </a:solidFill>
                <a:latin typeface="Calibri"/>
              </a:rPr>
              <a:t>, SVB) — 27 pp CAR swing between low/high buffer regimes</a:t>
            </a:r>
          </a:p>
        </p:txBody>
      </p:sp>
      <p:sp>
        <p:nvSpPr>
          <p:cNvPr id="24" name="Rectangle 23">
            <a:extLst>
              <a:ext uri="{FF2B5EF4-FFF2-40B4-BE49-F238E27FC236}">
                <a16:creationId xmlns:a16="http://schemas.microsoft.com/office/drawing/2014/main" id="{A4666C9F-087A-E802-3B11-21C8A78148FC}"/>
              </a:ext>
            </a:extLst>
          </p:cNvPr>
          <p:cNvSpPr/>
          <p:nvPr/>
        </p:nvSpPr>
        <p:spPr>
          <a:xfrm>
            <a:off x="320040" y="4453128"/>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a:extLst>
              <a:ext uri="{FF2B5EF4-FFF2-40B4-BE49-F238E27FC236}">
                <a16:creationId xmlns:a16="http://schemas.microsoft.com/office/drawing/2014/main" id="{7EF79A4B-CD27-335D-2EB3-6D137CA95E0E}"/>
              </a:ext>
            </a:extLst>
          </p:cNvPr>
          <p:cNvSpPr txBox="1"/>
          <p:nvPr/>
        </p:nvSpPr>
        <p:spPr>
          <a:xfrm>
            <a:off x="347472" y="4636008"/>
            <a:ext cx="1042415" cy="347472"/>
          </a:xfrm>
          <a:prstGeom prst="rect">
            <a:avLst/>
          </a:prstGeom>
          <a:noFill/>
        </p:spPr>
        <p:txBody>
          <a:bodyPr wrap="square">
            <a:spAutoFit/>
          </a:bodyPr>
          <a:lstStyle/>
          <a:p>
            <a:pPr algn="ctr"/>
            <a:r>
              <a:rPr sz="1100" b="1" i="0">
                <a:solidFill>
                  <a:srgbClr val="FFFFFF"/>
                </a:solidFill>
                <a:latin typeface="Calibri"/>
              </a:rPr>
              <a:t>Robustness</a:t>
            </a:r>
          </a:p>
        </p:txBody>
      </p:sp>
      <p:sp>
        <p:nvSpPr>
          <p:cNvPr id="26" name="Rectangle 25">
            <a:extLst>
              <a:ext uri="{FF2B5EF4-FFF2-40B4-BE49-F238E27FC236}">
                <a16:creationId xmlns:a16="http://schemas.microsoft.com/office/drawing/2014/main" id="{8A5964E2-ABA4-1904-5F3E-DF8A82BFB851}"/>
              </a:ext>
            </a:extLst>
          </p:cNvPr>
          <p:cNvSpPr/>
          <p:nvPr/>
        </p:nvSpPr>
        <p:spPr>
          <a:xfrm>
            <a:off x="1417320" y="4453128"/>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a:extLst>
              <a:ext uri="{FF2B5EF4-FFF2-40B4-BE49-F238E27FC236}">
                <a16:creationId xmlns:a16="http://schemas.microsoft.com/office/drawing/2014/main" id="{69646754-F439-D72D-77BB-0BCDDFECAD8D}"/>
              </a:ext>
            </a:extLst>
          </p:cNvPr>
          <p:cNvSpPr txBox="1"/>
          <p:nvPr/>
        </p:nvSpPr>
        <p:spPr>
          <a:xfrm>
            <a:off x="1536192" y="4617720"/>
            <a:ext cx="4297680" cy="457200"/>
          </a:xfrm>
          <a:prstGeom prst="rect">
            <a:avLst/>
          </a:prstGeom>
          <a:noFill/>
        </p:spPr>
        <p:txBody>
          <a:bodyPr wrap="square">
            <a:spAutoFit/>
          </a:bodyPr>
          <a:lstStyle/>
          <a:p>
            <a:pPr algn="l"/>
            <a:r>
              <a:rPr sz="1200" b="0" i="0">
                <a:solidFill>
                  <a:srgbClr val="1A1A2E"/>
                </a:solidFill>
                <a:latin typeface="Calibri"/>
              </a:rPr>
              <a:t>✓  Mean-centering (VIF), Engle-Granger cointegration, first-differenced spec, post-2023 subsample</a:t>
            </a:r>
          </a:p>
        </p:txBody>
      </p:sp>
      <p:sp>
        <p:nvSpPr>
          <p:cNvPr id="28" name="Rectangle 27">
            <a:extLst>
              <a:ext uri="{FF2B5EF4-FFF2-40B4-BE49-F238E27FC236}">
                <a16:creationId xmlns:a16="http://schemas.microsoft.com/office/drawing/2014/main" id="{9F098DFC-4428-929B-F698-5E263E9EB740}"/>
              </a:ext>
            </a:extLst>
          </p:cNvPr>
          <p:cNvSpPr/>
          <p:nvPr/>
        </p:nvSpPr>
        <p:spPr>
          <a:xfrm>
            <a:off x="320040" y="5212080"/>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a:extLst>
              <a:ext uri="{FF2B5EF4-FFF2-40B4-BE49-F238E27FC236}">
                <a16:creationId xmlns:a16="http://schemas.microsoft.com/office/drawing/2014/main" id="{EEFA1D90-F5F0-B60B-43CA-C6B332B185B5}"/>
              </a:ext>
            </a:extLst>
          </p:cNvPr>
          <p:cNvSpPr txBox="1"/>
          <p:nvPr/>
        </p:nvSpPr>
        <p:spPr>
          <a:xfrm>
            <a:off x="347472" y="5394960"/>
            <a:ext cx="1042415" cy="347472"/>
          </a:xfrm>
          <a:prstGeom prst="rect">
            <a:avLst/>
          </a:prstGeom>
          <a:noFill/>
        </p:spPr>
        <p:txBody>
          <a:bodyPr wrap="square">
            <a:spAutoFit/>
          </a:bodyPr>
          <a:lstStyle/>
          <a:p>
            <a:pPr algn="ctr"/>
            <a:r>
              <a:rPr sz="1100" b="1" i="0">
                <a:solidFill>
                  <a:srgbClr val="FFFFFF"/>
                </a:solidFill>
                <a:latin typeface="Calibri"/>
              </a:rPr>
              <a:t>This deck</a:t>
            </a:r>
          </a:p>
        </p:txBody>
      </p:sp>
      <p:sp>
        <p:nvSpPr>
          <p:cNvPr id="30" name="Rectangle 29">
            <a:extLst>
              <a:ext uri="{FF2B5EF4-FFF2-40B4-BE49-F238E27FC236}">
                <a16:creationId xmlns:a16="http://schemas.microsoft.com/office/drawing/2014/main" id="{1ED0541B-39CA-1711-6665-7E53BCD9251B}"/>
              </a:ext>
            </a:extLst>
          </p:cNvPr>
          <p:cNvSpPr/>
          <p:nvPr/>
        </p:nvSpPr>
        <p:spPr>
          <a:xfrm>
            <a:off x="1417320" y="5212080"/>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a:extLst>
              <a:ext uri="{FF2B5EF4-FFF2-40B4-BE49-F238E27FC236}">
                <a16:creationId xmlns:a16="http://schemas.microsoft.com/office/drawing/2014/main" id="{1D400DCD-F429-1700-C66A-E662810D6759}"/>
              </a:ext>
            </a:extLst>
          </p:cNvPr>
          <p:cNvSpPr txBox="1"/>
          <p:nvPr/>
        </p:nvSpPr>
        <p:spPr>
          <a:xfrm>
            <a:off x="1536192" y="5376672"/>
            <a:ext cx="4297680" cy="457200"/>
          </a:xfrm>
          <a:prstGeom prst="rect">
            <a:avLst/>
          </a:prstGeom>
          <a:noFill/>
        </p:spPr>
        <p:txBody>
          <a:bodyPr wrap="square">
            <a:spAutoFit/>
          </a:bodyPr>
          <a:lstStyle/>
          <a:p>
            <a:pPr algn="l"/>
            <a:r>
              <a:rPr sz="1200" b="0" i="0">
                <a:solidFill>
                  <a:srgbClr val="1A1A2E"/>
                </a:solidFill>
                <a:latin typeface="Calibri"/>
              </a:rPr>
              <a:t>✓  Clarified: why OIS spread, what the buffer condition means, how to read CAR, what each event was</a:t>
            </a:r>
          </a:p>
        </p:txBody>
      </p:sp>
      <p:sp>
        <p:nvSpPr>
          <p:cNvPr id="32" name="Rectangle 31">
            <a:extLst>
              <a:ext uri="{FF2B5EF4-FFF2-40B4-BE49-F238E27FC236}">
                <a16:creationId xmlns:a16="http://schemas.microsoft.com/office/drawing/2014/main" id="{1AB24893-124C-1F02-B6F4-97C7ED8C4A6B}"/>
              </a:ext>
            </a:extLst>
          </p:cNvPr>
          <p:cNvSpPr/>
          <p:nvPr/>
        </p:nvSpPr>
        <p:spPr>
          <a:xfrm>
            <a:off x="6217920" y="960120"/>
            <a:ext cx="5623560" cy="384048"/>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a:extLst>
              <a:ext uri="{FF2B5EF4-FFF2-40B4-BE49-F238E27FC236}">
                <a16:creationId xmlns:a16="http://schemas.microsoft.com/office/drawing/2014/main" id="{89D1BD36-E717-E0B7-7A09-70A56422998D}"/>
              </a:ext>
            </a:extLst>
          </p:cNvPr>
          <p:cNvSpPr txBox="1"/>
          <p:nvPr/>
        </p:nvSpPr>
        <p:spPr>
          <a:xfrm>
            <a:off x="6355080" y="987552"/>
            <a:ext cx="5440680" cy="310896"/>
          </a:xfrm>
          <a:prstGeom prst="rect">
            <a:avLst/>
          </a:prstGeom>
          <a:noFill/>
        </p:spPr>
        <p:txBody>
          <a:bodyPr wrap="square">
            <a:spAutoFit/>
          </a:bodyPr>
          <a:lstStyle/>
          <a:p>
            <a:pPr algn="l"/>
            <a:r>
              <a:rPr sz="1500" b="1" i="0" dirty="0">
                <a:solidFill>
                  <a:srgbClr val="FFFFFF"/>
                </a:solidFill>
                <a:latin typeface="Calibri"/>
              </a:rPr>
              <a:t>Planned for next week</a:t>
            </a:r>
          </a:p>
        </p:txBody>
      </p:sp>
      <p:sp>
        <p:nvSpPr>
          <p:cNvPr id="34" name="Rectangle 33">
            <a:extLst>
              <a:ext uri="{FF2B5EF4-FFF2-40B4-BE49-F238E27FC236}">
                <a16:creationId xmlns:a16="http://schemas.microsoft.com/office/drawing/2014/main" id="{0CAC7A80-E691-845E-4726-3B39B0D75CB1}"/>
              </a:ext>
            </a:extLst>
          </p:cNvPr>
          <p:cNvSpPr/>
          <p:nvPr/>
        </p:nvSpPr>
        <p:spPr>
          <a:xfrm>
            <a:off x="6217920" y="1417320"/>
            <a:ext cx="5623560" cy="5212080"/>
          </a:xfrm>
          <a:prstGeom prst="rect">
            <a:avLst/>
          </a:prstGeom>
          <a:solidFill>
            <a:srgbClr val="FF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a:extLst>
              <a:ext uri="{FF2B5EF4-FFF2-40B4-BE49-F238E27FC236}">
                <a16:creationId xmlns:a16="http://schemas.microsoft.com/office/drawing/2014/main" id="{E9E2A259-69CC-C0C8-857E-888457410998}"/>
              </a:ext>
            </a:extLst>
          </p:cNvPr>
          <p:cNvSpPr txBox="1"/>
          <p:nvPr/>
        </p:nvSpPr>
        <p:spPr>
          <a:xfrm>
            <a:off x="6400800" y="1508760"/>
            <a:ext cx="5303520" cy="5029200"/>
          </a:xfrm>
          <a:prstGeom prst="rect">
            <a:avLst/>
          </a:prstGeom>
          <a:noFill/>
        </p:spPr>
        <p:txBody>
          <a:bodyPr wrap="square">
            <a:spAutoFit/>
          </a:bodyPr>
          <a:lstStyle/>
          <a:p>
            <a:pPr>
              <a:spcBef>
                <a:spcPts val="0"/>
              </a:spcBef>
            </a:pPr>
            <a:endParaRPr dirty="0"/>
          </a:p>
          <a:p>
            <a:pPr algn="l">
              <a:spcBef>
                <a:spcPts val="400"/>
              </a:spcBef>
            </a:pPr>
            <a:r>
              <a:rPr sz="1600" b="1" i="0" dirty="0">
                <a:solidFill>
                  <a:srgbClr val="D4632A"/>
                </a:solidFill>
                <a:latin typeface="Calibri"/>
              </a:rPr>
              <a:t>Placebo Test</a:t>
            </a:r>
          </a:p>
          <a:p>
            <a:pPr algn="l">
              <a:spcBef>
                <a:spcPts val="800"/>
              </a:spcBef>
            </a:pPr>
            <a:r>
              <a:rPr sz="1300" b="0" i="0" dirty="0">
                <a:solidFill>
                  <a:srgbClr val="1A1A2E"/>
                </a:solidFill>
                <a:latin typeface="Calibri"/>
              </a:rPr>
              <a:t>Run the same event study methodology on 3 ordinary days with no known stablecoin stress event:</a:t>
            </a:r>
          </a:p>
          <a:p>
            <a:pPr algn="l">
              <a:spcBef>
                <a:spcPts val="700"/>
              </a:spcBef>
            </a:pPr>
            <a:r>
              <a:rPr sz="1200" b="0" i="0" dirty="0">
                <a:solidFill>
                  <a:srgbClr val="1A1A2E"/>
                </a:solidFill>
                <a:latin typeface="Calibri"/>
              </a:rPr>
              <a:t>❖  Jun 15, 2021  (Low buffer)  —  Quiet summer — no redemption pressure</a:t>
            </a:r>
          </a:p>
          <a:p>
            <a:pPr algn="l">
              <a:spcBef>
                <a:spcPts val="700"/>
              </a:spcBef>
            </a:pPr>
            <a:r>
              <a:rPr sz="1200" b="0" i="0" dirty="0">
                <a:solidFill>
                  <a:srgbClr val="1A1A2E"/>
                </a:solidFill>
                <a:latin typeface="Calibri"/>
              </a:rPr>
              <a:t>❖  Oct 12, 2021  (Low buffer)  —  Pre-LUNA, no crypto-specific stress</a:t>
            </a:r>
          </a:p>
          <a:p>
            <a:pPr algn="l">
              <a:spcBef>
                <a:spcPts val="700"/>
              </a:spcBef>
            </a:pPr>
            <a:r>
              <a:rPr sz="1200" b="0" i="0" dirty="0">
                <a:solidFill>
                  <a:srgbClr val="1A1A2E"/>
                </a:solidFill>
                <a:latin typeface="Calibri"/>
              </a:rPr>
              <a:t>❖  Jul 15, 2025  (High buffer)  —  Post-SVB recovery, stable spread period</a:t>
            </a:r>
          </a:p>
          <a:p>
            <a:pPr algn="l">
              <a:spcBef>
                <a:spcPts val="200"/>
              </a:spcBef>
            </a:pPr>
            <a:r>
              <a:rPr sz="600" b="0" i="0" dirty="0">
                <a:solidFill>
                  <a:srgbClr val="1A1A2E"/>
                </a:solidFill>
                <a:latin typeface="Calibri"/>
              </a:rPr>
              <a:t> </a:t>
            </a:r>
          </a:p>
          <a:p>
            <a:pPr algn="l">
              <a:spcBef>
                <a:spcPts val="400"/>
              </a:spcBef>
            </a:pPr>
            <a:r>
              <a:rPr sz="1400" b="1" i="0" dirty="0">
                <a:solidFill>
                  <a:srgbClr val="1B3A72"/>
                </a:solidFill>
                <a:latin typeface="Calibri"/>
              </a:rPr>
              <a:t>What we expect to show:</a:t>
            </a:r>
          </a:p>
          <a:p>
            <a:pPr algn="l">
              <a:spcBef>
                <a:spcPts val="600"/>
              </a:spcBef>
            </a:pPr>
            <a:r>
              <a:rPr sz="1300" b="0" i="0" dirty="0">
                <a:solidFill>
                  <a:srgbClr val="1A1A2E"/>
                </a:solidFill>
                <a:latin typeface="Calibri"/>
              </a:rPr>
              <a:t>CARs on placebo days should be near 0 pp — confirming that the 9–18 pp swings in actual events are caused by the crisis itself, not by random market drift.</a:t>
            </a:r>
          </a:p>
          <a:p>
            <a:pPr algn="l">
              <a:spcBef>
                <a:spcPts val="200"/>
              </a:spcBef>
            </a:pPr>
            <a:r>
              <a:rPr sz="600" b="0" i="0" dirty="0">
                <a:solidFill>
                  <a:srgbClr val="1A1A2E"/>
                </a:solidFill>
                <a:latin typeface="Calibri"/>
              </a:rPr>
              <a:t> </a:t>
            </a:r>
          </a:p>
          <a:p>
            <a:pPr algn="l">
              <a:spcBef>
                <a:spcPts val="400"/>
              </a:spcBef>
            </a:pPr>
            <a:r>
              <a:rPr sz="1200" b="1" i="1" dirty="0">
                <a:solidFill>
                  <a:srgbClr val="D4632A"/>
                </a:solidFill>
                <a:latin typeface="Calibri"/>
              </a:rPr>
              <a:t>Preliminary result: placebo mean |CAR| = 0.55 pp vs. actual mean |CAR| = 11.92 pp  →  21.7× difference</a:t>
            </a:r>
          </a:p>
        </p:txBody>
      </p:sp>
      <p:sp>
        <p:nvSpPr>
          <p:cNvPr id="36" name="TextBox 35">
            <a:extLst>
              <a:ext uri="{FF2B5EF4-FFF2-40B4-BE49-F238E27FC236}">
                <a16:creationId xmlns:a16="http://schemas.microsoft.com/office/drawing/2014/main" id="{FAABCA31-CFD3-24DB-80BB-D92CF92A8099}"/>
              </a:ext>
            </a:extLst>
          </p:cNvPr>
          <p:cNvSpPr txBox="1"/>
          <p:nvPr/>
        </p:nvSpPr>
        <p:spPr>
          <a:xfrm>
            <a:off x="10265434" y="320040"/>
            <a:ext cx="1576046" cy="323165"/>
          </a:xfrm>
          <a:prstGeom prst="rect">
            <a:avLst/>
          </a:prstGeom>
          <a:noFill/>
        </p:spPr>
        <p:txBody>
          <a:bodyPr wrap="square">
            <a:spAutoFit/>
          </a:bodyPr>
          <a:lstStyle/>
          <a:p>
            <a:pPr algn="l"/>
            <a:r>
              <a:rPr lang="en-US" sz="1500" b="1" i="0" dirty="0">
                <a:solidFill>
                  <a:srgbClr val="FFFFFF"/>
                </a:solidFill>
                <a:latin typeface="Calibri"/>
              </a:rPr>
              <a:t>Mimi – Page 10</a:t>
            </a:r>
            <a:endParaRPr sz="1500" b="1" i="0" dirty="0">
              <a:solidFill>
                <a:srgbClr val="FFFFFF"/>
              </a:solidFill>
              <a:latin typeface="Calibri"/>
            </a:endParaRPr>
          </a:p>
        </p:txBody>
      </p:sp>
    </p:spTree>
    <p:extLst>
      <p:ext uri="{BB962C8B-B14F-4D97-AF65-F5344CB8AC3E}">
        <p14:creationId xmlns:p14="http://schemas.microsoft.com/office/powerpoint/2010/main" val="8142669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a:extLst>
            <a:ext uri="{FF2B5EF4-FFF2-40B4-BE49-F238E27FC236}">
              <a16:creationId xmlns:a16="http://schemas.microsoft.com/office/drawing/2014/main" id="{AE9D1AE5-F6BF-3074-2FDB-037332024CC9}"/>
            </a:ext>
          </a:extLst>
        </p:cNvPr>
        <p:cNvGrpSpPr/>
        <p:nvPr/>
      </p:nvGrpSpPr>
      <p:grpSpPr>
        <a:xfrm>
          <a:off x="0" y="0"/>
          <a:ext cx="0" cy="0"/>
          <a:chOff x="0" y="0"/>
          <a:chExt cx="0" cy="0"/>
        </a:xfrm>
      </p:grpSpPr>
      <p:pic>
        <p:nvPicPr>
          <p:cNvPr id="3" name="그림 2" descr="원, 그래픽, 스크린샷, 그래픽 디자인이(가) 표시된 사진&#10;&#10;자동 생성된 설명">
            <a:extLst>
              <a:ext uri="{FF2B5EF4-FFF2-40B4-BE49-F238E27FC236}">
                <a16:creationId xmlns:a16="http://schemas.microsoft.com/office/drawing/2014/main" id="{AFA83C06-53CF-37CA-2AF7-D2583CEBDE22}"/>
              </a:ext>
            </a:extLst>
          </p:cNvPr>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a:extLst>
              <a:ext uri="{FF2B5EF4-FFF2-40B4-BE49-F238E27FC236}">
                <a16:creationId xmlns:a16="http://schemas.microsoft.com/office/drawing/2014/main" id="{E4FB6D7A-36B6-09E1-E533-6BCE8CEABD8D}"/>
              </a:ext>
            </a:extLst>
          </p:cNvPr>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Thank You</a:t>
            </a: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a:extLst>
              <a:ext uri="{FF2B5EF4-FFF2-40B4-BE49-F238E27FC236}">
                <a16:creationId xmlns:a16="http://schemas.microsoft.com/office/drawing/2014/main" id="{62FDC428-90EF-8781-396E-E2E8DBEE6FEB}"/>
              </a:ext>
            </a:extLst>
          </p:cNvPr>
          <p:cNvSpPr txBox="1"/>
          <p:nvPr/>
        </p:nvSpPr>
        <p:spPr>
          <a:xfrm>
            <a:off x="6094095" y="5560060"/>
            <a:ext cx="5842635" cy="1198880"/>
          </a:xfrm>
          <a:prstGeom prst="rect">
            <a:avLst/>
          </a:prstGeom>
          <a:noFill/>
        </p:spPr>
        <p:txBody>
          <a:bodyPr wrap="square" rtlCol="0">
            <a:spAutoFit/>
          </a:bodyPr>
          <a:lstStyle/>
          <a:p>
            <a:r>
              <a:rPr lang="en-US" altLang="ko-KR" sz="1800" b="1" dirty="0">
                <a:solidFill>
                  <a:schemeClr val="bg1"/>
                </a:solidFill>
              </a:rPr>
              <a:t>Yonsei GSIS 2026-1 </a:t>
            </a: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br>
              <a:rPr lang="en-US" altLang="ko-KR" b="1" dirty="0">
                <a:solidFill>
                  <a:srgbClr val="FFFFFF"/>
                </a:solidFill>
              </a:rPr>
            </a:br>
            <a:r>
              <a:rPr lang="en-US" altLang="ko-KR" b="1" dirty="0">
                <a:solidFill>
                  <a:srgbClr val="FFFFFF"/>
                </a:solidFill>
              </a:rPr>
              <a:t>· Jade Zhu · Alexandre Godefroy · Baptiste Degand</a:t>
            </a:r>
            <a:endParaRPr lang="en-US" altLang="ko-KR" sz="1800" b="1" dirty="0">
              <a:solidFill>
                <a:srgbClr val="FFFFFF"/>
              </a:solidFill>
            </a:endParaRPr>
          </a:p>
        </p:txBody>
      </p:sp>
    </p:spTree>
    <p:extLst>
      <p:ext uri="{BB962C8B-B14F-4D97-AF65-F5344CB8AC3E}">
        <p14:creationId xmlns:p14="http://schemas.microsoft.com/office/powerpoint/2010/main" val="147334882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175</TotalTime>
  <Words>4285</Words>
  <Application>Microsoft Macintosh PowerPoint</Application>
  <PresentationFormat>사용자 지정</PresentationFormat>
  <Paragraphs>268</Paragraphs>
  <Slides>11</Slides>
  <Notes>11</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11</vt:i4>
      </vt:variant>
    </vt:vector>
  </HeadingPairs>
  <TitlesOfParts>
    <vt:vector size="16" baseType="lpstr">
      <vt:lpstr>AppleGothic</vt:lpstr>
      <vt:lpstr>Hiragino Kaku Gothic Std W8</vt:lpstr>
      <vt:lpstr>Arial</vt:lpstr>
      <vt:lpstr>Calibri</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김미르</cp:lastModifiedBy>
  <cp:revision>5</cp:revision>
  <dcterms:created xsi:type="dcterms:W3CDTF">2013-01-27T09:14:16Z</dcterms:created>
  <dcterms:modified xsi:type="dcterms:W3CDTF">2026-05-23T06:35:46Z</dcterms:modified>
  <cp:category/>
</cp:coreProperties>
</file>