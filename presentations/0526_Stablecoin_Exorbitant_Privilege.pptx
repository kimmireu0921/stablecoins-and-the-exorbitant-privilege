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0"/>
  </p:notesMasterIdLst>
  <p:sldIdLst>
    <p:sldId id="266" r:id="rId2"/>
    <p:sldId id="257" r:id="rId3"/>
    <p:sldId id="258" r:id="rId4"/>
    <p:sldId id="259" r:id="rId5"/>
    <p:sldId id="260" r:id="rId6"/>
    <p:sldId id="263" r:id="rId7"/>
    <p:sldId id="268" r:id="rId8"/>
    <p:sldId id="267" r:id="rId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210"/>
    <p:restoredTop sz="48844"/>
  </p:normalViewPr>
  <p:slideViewPr>
    <p:cSldViewPr snapToGrid="0" snapToObjects="1" showGuides="1">
      <p:cViewPr>
        <p:scale>
          <a:sx n="107" d="100"/>
          <a:sy n="107" d="100"/>
        </p:scale>
        <p:origin x="840" y="-2480"/>
      </p:cViewPr>
      <p:guideLst>
        <p:guide orient="horz" pos="223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everyone. Our paper is called Stablecoins and the Exorbitant Privilege. The central argument is that large USD-pegged stablecoin issuers — mainly Tether and Circle — have become significant buyers of U.S. Treasury bills. In normal times, that deepens demand for safe assets and amplifies America's borrowing advantage. But when a run hits and their cash reserves are too thin, they are forced to liquidate T-bills, which rapidly reverses that benefit. Today we want to address some methodological questions from last session and walk clearly through our three stress events.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quickly orient everyone. On the left is everything we have completed. We extended Maggiori's 2017 model to incorporate stablecoin supply, treasury exposure, and the liquid buffer. Our main regression finds that a one standard deviation increase in stablecoin supply compresses the OIS-Treasury spread by roughly 6 basis points — that is the privilege amplification result. We also estimated a safety threshold using Hansen's 2000 threshold regression: issuers need to hold at least 13 percent of supply in liquid cash to stay outside the fragility zone. And we ran a buffer-conditioned event study across three stress episodes, which produced a 27 percentage point swing between the low and high buffer regimes. This deck specifically addresses the clarification questions from last time — why we use the OIS spread, what the buffer condition actually means, and how to read the CAR graphs. Baptiste will walk us through this slide, then hand over to Sara.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question came up about why we use the OIS-Treasury spread instead of just Treasury yields. Here is the intuition. A raw T-bill yield moves for two completely different reasons at the same time — the Fed raising or cutting rates, and investors specifically wanting to hold safe Treasuries. We only care about the second one. The OIS rate tracks market expectations of the Fed Funds path — it is pure monetary policy. So when we subtract it from the T-bill yield, we cancel out the monetary policy component and are left with just the premium investors pay to hold Treasuries specifically. That premium is exactly what stablecoin issuers affect when they buy T-bills. This approach is well established in the literature. Krishnamurthy and Vissing-Jorgensen in 2012 use this same spread to measure safe-asset demand. Nagel in 2016 calls it the convenience yield of near-money assets. Greenwood, Hanson and Stein in 2015 show it captures demand that is insensitive to monetary policy. The practical point is this: if we had used raw yields, a Fed rate cut and a Tether buying surge would look identical in our data. The spread cleanly separates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explain precisely what the buffer condition is, because it is the central variable in our paper. L is the liquid buffer — the share of an issuer's reserves held in cash or cash equivalents, divided by total stablecoin supply. Our Hansen threshold regression estimates a critical cutoff at 13 percent. Here is why it matters. When investors redeem stablecoins for dollars, the issuer has to pay them back. If they hold enough cash — above 13 percent — they pay from cash and T-bill holdings are untouched. The Treasury market feels nothing. But if the cash buffer is below 13 percent, the issuer cannot cover redemptions from cash alone. They have to sell Treasury bills quickly to raise the dollars. That sudden selling pushes T-bill yields up relative to OIS — the spread spikes. In May 2022, Tether had only around 5 to 8 percent in liquid cash — below the threshold. That is why both the LUNA contagion and the direct Tether depeg produced large positive CARs. The buffer condition is what separates an issuer that stabilises Treasury markets from one that disrupts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 stands for Cumulative Abnormal Return — but in our context it measures the cumulative abnormal spread, not a stock return. Let me explain what the y-axis actually means. Before each crisis, we estimate how the OIS-Treasury spread normally behaves using data from around six months prior. We build a model that says: given today's VIX level and global equity returns, what would we expect the spread to be? The abnormal spread on any given day is the actual spread minus that prediction. CAR is the running total of those daily abnormal spreads from five days before the event onward. A positive CAR means the spread has been persistently higher than expected — T-bill selling pressure. A negative CAR means it has been persistently lower than expected — flight-to-safety buying. A flat line at zero would mean the event had no effect on Treasury markets at all. Now, the second event shown here is the USDT partial depeg on May 12th, 2022 — three days after the LUNA collapse. This was a direct bank-run on Tether itself. USDT briefly fell to 95 cents. Unlike UST, which was algorithmic with no real reserves, Tether holds actual assets. The problem was that Tether's cash was only 5 to 8 percent of its reserves — the rest was T-bills. When over 7 billion dollars of USDT was redeemed in a single day, Tether had to sell T-bills to pay out, and the spread spiked. The CAR came in at plus 8.85 percentage points — essentially identical to the LUNA event. Same buffer, same constraint, same outcome — regardless of what triggered the run.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SVB failure in March 2023, and the graph needs careful explanation because the CAR goes deeply negative instead of spiking upward like 2022. SVB collapsed on March 10th — the second largest U.S. bank failure in history. Circle disclosed that 3.3 billion dollars of USDC reserves were held at SVB and temporarily inaccessible. USDC </a:t>
            </a:r>
            <a:r>
              <a:rPr dirty="0" err="1"/>
              <a:t>depegged</a:t>
            </a:r>
            <a:r>
              <a:rPr dirty="0"/>
              <a:t> to around 87 cents — a larger nominal </a:t>
            </a:r>
            <a:r>
              <a:rPr dirty="0" err="1"/>
              <a:t>depeg</a:t>
            </a:r>
            <a:r>
              <a:rPr dirty="0"/>
              <a:t> than Tether in 2022. </a:t>
            </a:r>
            <a:endParaRPr lang="en-US" dirty="0"/>
          </a:p>
          <a:p>
            <a:endParaRPr lang="en-US" dirty="0"/>
          </a:p>
          <a:p>
            <a:r>
              <a:rPr dirty="0"/>
              <a:t>So why does the CAR go to minus 18 instead of spiking? Two forces explain it, and both are on this slide. </a:t>
            </a:r>
            <a:endParaRPr lang="en-US" dirty="0"/>
          </a:p>
          <a:p>
            <a:r>
              <a:rPr b="1" dirty="0"/>
              <a:t>Force A is about government intervention. </a:t>
            </a:r>
            <a:r>
              <a:rPr dirty="0"/>
              <a:t>U.S. regulators guaranteed all SVB deposits within 72 hours of the collapse. Because of that guarantee, Circle never needed to sell a single Treasury bill to cover the 3.3 billion that was temporarily frozen. The crisis was resolved before any forced liquidation became necessary. So unlike 2022, there </a:t>
            </a:r>
            <a:r>
              <a:rPr b="1" dirty="0"/>
              <a:t>was no issuer-side selling pressure </a:t>
            </a:r>
            <a:r>
              <a:rPr dirty="0"/>
              <a:t>on the T-bill market. If that were the whole story, the CAR would be flat — near zero. </a:t>
            </a:r>
            <a:endParaRPr lang="en-US" dirty="0"/>
          </a:p>
          <a:p>
            <a:endParaRPr lang="en-US" dirty="0"/>
          </a:p>
          <a:p>
            <a:r>
              <a:rPr b="1" dirty="0"/>
              <a:t>But Force B is what actually drives the CAR negative</a:t>
            </a:r>
            <a:r>
              <a:rPr dirty="0"/>
              <a:t>.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predicted. </a:t>
            </a:r>
            <a:endParaRPr lang="en-US" dirty="0"/>
          </a:p>
          <a:p>
            <a:endParaRPr lang="en-US" dirty="0"/>
          </a:p>
          <a:p>
            <a:r>
              <a:rPr dirty="0"/>
              <a:t>The net effect of Force A — no selling — plus Force B — active buying — is a CAR of minus 18 percentage points. The graph is negative, not flat, because the crisis still moved Treasury markets, just in the opposite direction from 2022. And the 27 percentage point swing between regimes, with a Welch t of 15.22, is the core empirical finding of our paper.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where does that leave us? Everything on the left is completed and presented today. For next week, we are running a placebo test to validate our event study results. The idea is simple: if our methodology is sound, then running the same event study on three ordinary, uneventful days with the same buffer conditions should produce CARs near zero. We picked June 15th 2021 and October 12th 2021 as low-buffer placebos — quiet periods before LUNA with no stablecoin stress. And July 15th 2025 as a high-buffer placebo — a stable period well after the SVB recovery. Our preliminary result already shows the placebo mean absolute CAR is just 0.55 percentage points, compared to 11.92 for the actual events. That is a 21.7 times difference. This directly answers the question of whether our large CARs could just be random market noise — they cannot. They only appear on real crisis days.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p>
          <a:p>
            <a:pPr algn="l">
              <a:spcBef>
                <a:spcPts val="700"/>
              </a:spcBef>
            </a:pPr>
            <a:r>
              <a:rPr sz="1300" b="0" i="0" dirty="0">
                <a:solidFill>
                  <a:srgbClr val="1A1A2E"/>
                </a:solidFill>
                <a:latin typeface="Calibri"/>
              </a:rPr>
              <a:t>•  Driven by inflation expectations</a:t>
            </a:r>
          </a:p>
          <a:p>
            <a:pPr algn="l">
              <a:spcBef>
                <a:spcPts val="700"/>
              </a:spcBef>
            </a:pPr>
            <a:r>
              <a:rPr sz="1300" b="0" i="0" dirty="0">
                <a:solidFill>
                  <a:srgbClr val="1A1A2E"/>
                </a:solidFill>
                <a:latin typeface="Calibri"/>
              </a:rPr>
              <a:t>•  Driven by safe-asset demand</a:t>
            </a:r>
          </a:p>
          <a:p>
            <a:pPr algn="l">
              <a:spcBef>
                <a:spcPts val="700"/>
              </a:spcBef>
            </a:pPr>
            <a:r>
              <a:rPr sz="1300" b="0" i="0" dirty="0">
                <a:solidFill>
                  <a:srgbClr val="1A1A2E"/>
                </a:solidFill>
                <a:latin typeface="Calibri"/>
              </a:rPr>
              <a:t>•  Cannot distinguish these three forces</a:t>
            </a: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p>
          <a:p>
            <a:pPr algn="l">
              <a:spcBef>
                <a:spcPts val="700"/>
              </a:spcBef>
            </a:pPr>
            <a:r>
              <a:rPr sz="1300" b="0" i="0" dirty="0">
                <a:solidFill>
                  <a:srgbClr val="1A1A2E"/>
                </a:solidFill>
                <a:latin typeface="Calibri"/>
              </a:rPr>
              <a:t>•  Pure monetary policy expectations</a:t>
            </a:r>
          </a:p>
          <a:p>
            <a:pPr algn="l">
              <a:spcBef>
                <a:spcPts val="700"/>
              </a:spcBef>
            </a:pPr>
            <a:r>
              <a:rPr sz="1300" b="0" i="0" dirty="0">
                <a:solidFill>
                  <a:srgbClr val="1A1A2E"/>
                </a:solidFill>
                <a:latin typeface="Calibri"/>
              </a:rPr>
              <a:t>•  No T-bill specific demand embedded</a:t>
            </a:r>
          </a:p>
          <a:p>
            <a:pPr algn="l">
              <a:spcBef>
                <a:spcPts val="700"/>
              </a:spcBef>
            </a:pPr>
            <a:r>
              <a:rPr sz="1300" b="0" i="0" dirty="0">
                <a:solidFill>
                  <a:srgbClr val="1A1A2E"/>
                </a:solidFill>
                <a:latin typeface="Calibri"/>
              </a:rPr>
              <a:t>•  Moves with macro, not stablecoin flows</a:t>
            </a: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p>
          <a:p>
            <a:pPr algn="l">
              <a:spcBef>
                <a:spcPts val="700"/>
              </a:spcBef>
            </a:pPr>
            <a:r>
              <a:rPr sz="1300" b="0" i="0" dirty="0">
                <a:solidFill>
                  <a:srgbClr val="1A1A2E"/>
                </a:solidFill>
                <a:latin typeface="Calibri"/>
              </a:rPr>
              <a:t>❖  Cancels out monetary policy</a:t>
            </a:r>
          </a:p>
          <a:p>
            <a:pPr algn="l">
              <a:spcBef>
                <a:spcPts val="700"/>
              </a:spcBef>
            </a:pPr>
            <a:r>
              <a:rPr sz="1300" b="0" i="0" dirty="0">
                <a:solidFill>
                  <a:srgbClr val="1A1A2E"/>
                </a:solidFill>
                <a:latin typeface="Calibri"/>
              </a:rPr>
              <a:t>❖  Isolates convenience / safety premium</a:t>
            </a:r>
          </a:p>
          <a:p>
            <a:pPr algn="l">
              <a:spcBef>
                <a:spcPts val="700"/>
              </a:spcBef>
            </a:pPr>
            <a:r>
              <a:rPr sz="1300" b="0" i="0" dirty="0">
                <a:solidFill>
                  <a:srgbClr val="1A1A2E"/>
                </a:solidFill>
                <a:latin typeface="Calibri"/>
              </a:rPr>
              <a:t>❖  Only moves when T-bill demand shifts</a:t>
            </a: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MUST sell T-bills to raise the cash</a:t>
            </a:r>
          </a:p>
          <a:p>
            <a:pPr algn="l">
              <a:spcBef>
                <a:spcPts val="600"/>
              </a:spcBef>
            </a:pPr>
            <a:r>
              <a:rPr sz="1300" b="0" i="0" dirty="0">
                <a:solidFill>
                  <a:srgbClr val="1A1A2E"/>
                </a:solidFill>
                <a:latin typeface="Calibri"/>
              </a:rPr>
              <a:t>→  This selling pushes T-bill yields UP</a:t>
            </a:r>
          </a:p>
          <a:p>
            <a:pPr algn="l">
              <a:spcBef>
                <a:spcPts val="600"/>
              </a:spcBef>
            </a:pPr>
            <a:r>
              <a:rPr sz="1300" b="0" i="0" dirty="0">
                <a:solidFill>
                  <a:srgbClr val="1A1A2E"/>
                </a:solidFill>
                <a:latin typeface="Calibri"/>
              </a:rPr>
              <a:t>→  OIS-Treasury spread SPIKES (CAR is positive)</a:t>
            </a: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p>
          <a:p>
            <a:pPr algn="l">
              <a:spcBef>
                <a:spcPts val="600"/>
              </a:spcBef>
            </a:pPr>
            <a:r>
              <a:rPr sz="1300" b="0" i="0" dirty="0">
                <a:solidFill>
                  <a:srgbClr val="1A1A2E"/>
                </a:solidFill>
                <a:latin typeface="Calibri"/>
              </a:rPr>
              <a:t>→  When investors redeem stablecoins for dollars...</a:t>
            </a:r>
          </a:p>
          <a:p>
            <a:pPr algn="l">
              <a:spcBef>
                <a:spcPts val="600"/>
              </a:spcBef>
            </a:pPr>
            <a:r>
              <a:rPr sz="1300" b="0" i="0" dirty="0">
                <a:solidFill>
                  <a:srgbClr val="1A1A2E"/>
                </a:solidFill>
                <a:latin typeface="Calibri"/>
              </a:rPr>
              <a:t>→  Issuer pays out from cash — T-bills untouched</a:t>
            </a:r>
          </a:p>
          <a:p>
            <a:pPr algn="l">
              <a:spcBef>
                <a:spcPts val="600"/>
              </a:spcBef>
            </a:pPr>
            <a:r>
              <a:rPr sz="1300" b="0" i="0" dirty="0">
                <a:solidFill>
                  <a:srgbClr val="1A1A2E"/>
                </a:solidFill>
                <a:latin typeface="Calibri"/>
              </a:rPr>
              <a:t>→  No forced selling, no T-bill yield pressure</a:t>
            </a:r>
          </a:p>
          <a:p>
            <a:pPr algn="l">
              <a:spcBef>
                <a:spcPts val="600"/>
              </a:spcBef>
            </a:pPr>
            <a:r>
              <a:rPr sz="1300" b="0" i="0" dirty="0">
                <a:solidFill>
                  <a:srgbClr val="1A1A2E"/>
                </a:solidFill>
                <a:latin typeface="Calibri"/>
              </a:rPr>
              <a:t>→  Spread does NOT spike from issuer behavior</a:t>
            </a: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Conditioned Event Study</a:t>
            </a: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a:solidFill>
                  <a:srgbClr val="1B3A72"/>
                </a:solidFill>
                <a:latin typeface="Calibri"/>
                <a:sym typeface="+mn-ea"/>
              </a:rPr>
              <a:t>Step 1 — Build a Normal Model</a:t>
            </a:r>
            <a:endParaRPr b="1" i="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a:solidFill>
                  <a:srgbClr val="1B3A72"/>
                </a:solidFill>
                <a:latin typeface="Calibri"/>
                <a:sym typeface="+mn-ea"/>
              </a:rPr>
              <a:t>Step 2 — Compute the Abnormal Spread</a:t>
            </a:r>
            <a:endParaRPr b="1" i="0">
              <a:solidFill>
                <a:srgbClr val="1B3A72"/>
              </a:solidFill>
              <a:latin typeface="Calibri"/>
            </a:endParaRPr>
          </a:p>
          <a:p>
            <a:pPr algn="l"/>
            <a:r>
              <a:rPr>
                <a:solidFill>
                  <a:srgbClr val="1A1A2E"/>
                </a:solidFill>
                <a:latin typeface="Calibri"/>
                <a:sym typeface="+mn-ea"/>
              </a:rPr>
              <a:t>For each day in the event window (5 days before to 20 days after the event):</a:t>
            </a:r>
            <a:br>
              <a:rPr>
                <a:solidFill>
                  <a:srgbClr val="1A1A2E"/>
                </a:solidFill>
                <a:latin typeface="Calibri"/>
                <a:sym typeface="+mn-ea"/>
              </a:rPr>
            </a:br>
            <a:r>
              <a:rPr>
                <a:solidFill>
                  <a:srgbClr val="1A1A2E"/>
                </a:solidFill>
                <a:latin typeface="Calibri"/>
                <a:sym typeface="+mn-ea"/>
              </a:rPr>
              <a:t>Abnormal Spread = Actual Spread  −  Predicted Spread</a:t>
            </a:r>
            <a:br>
              <a:rPr>
                <a:solidFill>
                  <a:srgbClr val="1A1A2E"/>
                </a:solidFill>
                <a:latin typeface="Calibri"/>
                <a:sym typeface="+mn-ea"/>
              </a:rPr>
            </a:br>
            <a:r>
              <a:rPr b="1">
                <a:solidFill>
                  <a:srgbClr val="1B3A72"/>
                </a:solidFill>
                <a:latin typeface="Calibri"/>
                <a:sym typeface="+mn-ea"/>
              </a:rPr>
              <a:t>Step 3 — Cumulate into CAR</a:t>
            </a:r>
            <a:endParaRPr b="1" i="0">
              <a:solidFill>
                <a:srgbClr val="1B3A72"/>
              </a:solidFill>
              <a:latin typeface="Calibri"/>
            </a:endParaRPr>
          </a:p>
          <a:p>
            <a:pPr algn="l"/>
            <a:r>
              <a:rPr>
                <a:solidFill>
                  <a:srgbClr val="1A1A2E"/>
                </a:solidFill>
                <a:latin typeface="Calibri"/>
                <a:sym typeface="+mn-ea"/>
              </a:rPr>
              <a:t>CAR on day τ = sum of all abnormal spreads from day −5 to day τ</a:t>
            </a:r>
            <a:br>
              <a:rPr>
                <a:solidFill>
                  <a:srgbClr val="1A1A2E"/>
                </a:solidFill>
                <a:latin typeface="Calibri"/>
                <a:sym typeface="+mn-ea"/>
              </a:rPr>
            </a:br>
            <a:r>
              <a:rPr lang="en-US" altLang="en-US">
                <a:solidFill>
                  <a:srgbClr val="1A1A2E"/>
                </a:solidFill>
                <a:latin typeface="Calibri"/>
                <a:sym typeface="+mn-ea"/>
              </a:rPr>
              <a:t>X-axis: trading days relative to event (day 0 = crisis date)</a:t>
            </a:r>
          </a:p>
          <a:p>
            <a:pPr algn="l"/>
            <a:r>
              <a:rPr>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Same buffer. Same CAR. Different trigger. Same outcome.</a:t>
            </a:r>
          </a:p>
        </p:txBody>
      </p:sp>
      <p:pic>
        <p:nvPicPr>
          <p:cNvPr id="41" name="Picture 40"/>
          <p:cNvPicPr>
            <a:picLocks noChangeAspect="1"/>
          </p:cNvPicPr>
          <p:nvPr/>
        </p:nvPicPr>
        <p:blipFill>
          <a:blip r:embed="rId3"/>
          <a:stretch>
            <a:fillRect/>
          </a:stretch>
        </p:blipFill>
        <p:spPr>
          <a:xfrm>
            <a:off x="6082030" y="1672590"/>
            <a:ext cx="5603240" cy="373570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2443"/>
          </a:xfrm>
          <a:prstGeom prst="rect">
            <a:avLst/>
          </a:prstGeom>
          <a:noFill/>
        </p:spPr>
        <p:txBody>
          <a:bodyPr wrap="square">
            <a:spAutoFit/>
          </a:bodyPr>
          <a:lstStyle/>
          <a:p>
            <a:pPr algn="l"/>
            <a:r>
              <a:rPr sz="2600" b="0" i="0" dirty="0">
                <a:solidFill>
                  <a:srgbClr val="FFFFFF"/>
                </a:solidFill>
                <a:latin typeface="Calibri"/>
              </a:rPr>
              <a:t>Event 3: USDC / S</a:t>
            </a:r>
            <a:r>
              <a:rPr lang="en-US" sz="2600" b="0" i="0" dirty="0">
                <a:solidFill>
                  <a:srgbClr val="FFFFFF"/>
                </a:solidFill>
                <a:latin typeface="Calibri"/>
              </a:rPr>
              <a:t>ilicon Valley Bank</a:t>
            </a:r>
            <a:r>
              <a:rPr sz="2600" b="0" i="0" dirty="0">
                <a:solidFill>
                  <a:srgbClr val="FFFFFF"/>
                </a:solidFill>
                <a:latin typeface="Calibri"/>
              </a:rPr>
              <a:t> Failure — March 1</a:t>
            </a:r>
            <a:r>
              <a:rPr lang="en-US" sz="2600" b="0" i="0" dirty="0">
                <a:solidFill>
                  <a:srgbClr val="FFFFFF"/>
                </a:solidFill>
                <a:latin typeface="Calibri"/>
              </a:rPr>
              <a:t>0</a:t>
            </a:r>
            <a:r>
              <a:rPr sz="2600" b="0" i="0" dirty="0">
                <a:solidFill>
                  <a:srgbClr val="FFFFFF"/>
                </a:solidFill>
                <a:latin typeface="Calibri"/>
              </a:rPr>
              <a:t>, 2023</a:t>
            </a: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$3.3B (8% of reserves) frozen at SVB   |   CAR = −18.01 pp***   |   t-stat &gt; 30</a:t>
            </a: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dirty="0">
                <a:solidFill>
                  <a:srgbClr val="1A1A2E"/>
                </a:solidFill>
                <a:latin typeface="Calibri"/>
              </a:rPr>
              <a:t>❖  SVB failed on March 10, 2023 — the second-largest US bank failure in history</a:t>
            </a:r>
          </a:p>
          <a:p>
            <a:pPr algn="l">
              <a:spcBef>
                <a:spcPts val="600"/>
              </a:spcBef>
            </a:pPr>
            <a:r>
              <a:rPr sz="1200" b="0" i="0" dirty="0">
                <a:solidFill>
                  <a:srgbClr val="1A1A2E"/>
                </a:solidFill>
                <a:latin typeface="Calibri"/>
              </a:rPr>
              <a:t>❖  Circle disclosed: $3.3 billion of USDC reserves were held at SVB — temporarily inaccessible</a:t>
            </a:r>
          </a:p>
          <a:p>
            <a:pPr algn="l">
              <a:spcBef>
                <a:spcPts val="600"/>
              </a:spcBef>
            </a:pPr>
            <a:r>
              <a:rPr sz="1200" b="0" i="0" dirty="0">
                <a:solidFill>
                  <a:srgbClr val="1A1A2E"/>
                </a:solidFill>
                <a:latin typeface="Calibri"/>
              </a:rPr>
              <a:t>❖  USDC </a:t>
            </a:r>
            <a:r>
              <a:rPr sz="1200" b="0" i="0" dirty="0" err="1">
                <a:solidFill>
                  <a:srgbClr val="1A1A2E"/>
                </a:solidFill>
                <a:latin typeface="Calibri"/>
              </a:rPr>
              <a:t>depegged</a:t>
            </a:r>
            <a:r>
              <a:rPr sz="1200" b="0" i="0" dirty="0">
                <a:solidFill>
                  <a:srgbClr val="1A1A2E"/>
                </a:solidFill>
                <a:latin typeface="Calibri"/>
              </a:rPr>
              <a:t> to ~$0.87 on March 11 — a larger nominal </a:t>
            </a:r>
            <a:r>
              <a:rPr sz="1200" b="0" i="0" dirty="0" err="1">
                <a:solidFill>
                  <a:srgbClr val="1A1A2E"/>
                </a:solidFill>
                <a:latin typeface="Calibri"/>
              </a:rPr>
              <a:t>depeg</a:t>
            </a:r>
            <a:r>
              <a:rPr sz="1200" b="0" i="0" dirty="0">
                <a:solidFill>
                  <a:srgbClr val="1A1A2E"/>
                </a:solidFill>
                <a:latin typeface="Calibri"/>
              </a:rPr>
              <a:t> than USDT in 2022</a:t>
            </a:r>
          </a:p>
          <a:p>
            <a:pPr algn="l">
              <a:spcBef>
                <a:spcPts val="600"/>
              </a:spcBef>
            </a:pPr>
            <a:r>
              <a:rPr sz="1200" b="0" i="0" dirty="0">
                <a:solidFill>
                  <a:srgbClr val="1A1A2E"/>
                </a:solidFill>
                <a:latin typeface="Calibri"/>
              </a:rPr>
              <a:t>❖  But by March 13, after the US government guaranteed SVB deposits, USDC returned to $1.00</a:t>
            </a:r>
          </a:p>
        </p:txBody>
      </p:sp>
      <p:sp>
        <p:nvSpPr>
          <p:cNvPr id="14" name="Rectangle 13"/>
          <p:cNvSpPr/>
          <p:nvPr/>
        </p:nvSpPr>
        <p:spPr>
          <a:xfrm>
            <a:off x="4168140" y="3188335"/>
            <a:ext cx="7673975" cy="4857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U.S. regulators guaranteed ALL SVB deposits within 72 hours of collapse.</a:t>
            </a:r>
            <a:endParaRPr sz="1000" b="0" i="0">
              <a:solidFill>
                <a:srgbClr val="1A1A2E"/>
              </a:solidFill>
              <a:latin typeface="Calibri"/>
            </a:endParaRPr>
          </a:p>
          <a:p>
            <a:pPr algn="l">
              <a:spcBef>
                <a:spcPts val="500"/>
              </a:spcBef>
            </a:pPr>
            <a:r>
              <a:rPr sz="1000">
                <a:solidFill>
                  <a:srgbClr val="1A1A2E"/>
                </a:solidFill>
                <a:latin typeface="Calibri"/>
                <a:sym typeface="+mn-ea"/>
              </a:rPr>
              <a:t>Circle did NOT need to sell T-bills — government backstop resolved the crisis before forced liquidation.</a:t>
            </a: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Government backstop (SVB deposit guarantee)</a:t>
            </a:r>
            <a:endParaRPr sz="1000"/>
          </a:p>
        </p:txBody>
      </p:sp>
      <p:sp>
        <p:nvSpPr>
          <p:cNvPr id="18" name="Rectangle 17"/>
          <p:cNvSpPr/>
          <p:nvPr/>
        </p:nvSpPr>
        <p:spPr>
          <a:xfrm>
            <a:off x="4153535" y="4055428"/>
            <a:ext cx="7673975" cy="52133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dirty="0">
                <a:solidFill>
                  <a:srgbClr val="1A1A2E"/>
                </a:solidFill>
                <a:latin typeface="Calibri"/>
                <a:sym typeface="+mn-ea"/>
              </a:rPr>
              <a:t>SVB's failure caused widespread panic — investors fled to safety</a:t>
            </a:r>
            <a:r>
              <a:rPr lang="en-US" sz="1000" dirty="0">
                <a:solidFill>
                  <a:srgbClr val="1A1A2E"/>
                </a:solidFill>
                <a:latin typeface="Calibri"/>
                <a:sym typeface="+mn-ea"/>
              </a:rPr>
              <a:t>. </a:t>
            </a:r>
            <a:r>
              <a:rPr sz="1000" dirty="0">
                <a:solidFill>
                  <a:srgbClr val="1A1A2E"/>
                </a:solidFill>
                <a:latin typeface="Calibri"/>
                <a:sym typeface="+mn-ea"/>
              </a:rPr>
              <a:t>Massive buying of U.S. T-bills (the safest short-term asset)</a:t>
            </a:r>
            <a:endParaRPr sz="1000" b="0" i="0" dirty="0">
              <a:solidFill>
                <a:srgbClr val="1A1A2E"/>
              </a:solidFill>
              <a:latin typeface="Calibri"/>
            </a:endParaRPr>
          </a:p>
          <a:p>
            <a:pPr algn="l">
              <a:spcBef>
                <a:spcPts val="500"/>
              </a:spcBef>
            </a:pPr>
            <a:r>
              <a:rPr sz="1000" dirty="0">
                <a:solidFill>
                  <a:srgbClr val="1A1A2E"/>
                </a:solidFill>
                <a:latin typeface="Calibri"/>
                <a:sym typeface="+mn-ea"/>
              </a:rPr>
              <a:t>This BUYING pushed T-bill yields DOWN relative to OIS</a:t>
            </a:r>
            <a:r>
              <a:rPr lang="en-US" sz="1000" dirty="0">
                <a:solidFill>
                  <a:srgbClr val="1A1A2E"/>
                </a:solidFill>
                <a:latin typeface="Calibri"/>
                <a:sym typeface="+mn-ea"/>
              </a:rPr>
              <a:t>. </a:t>
            </a:r>
            <a:r>
              <a:rPr sz="1000" b="1" dirty="0">
                <a:solidFill>
                  <a:srgbClr val="C0392B"/>
                </a:solidFill>
                <a:latin typeface="Calibri"/>
                <a:sym typeface="+mn-ea"/>
              </a:rPr>
              <a:t>→ Spread compressed far BELOW what the normal model predicted</a:t>
            </a:r>
            <a:endParaRPr sz="1000" dirty="0"/>
          </a:p>
        </p:txBody>
      </p:sp>
      <p:sp>
        <p:nvSpPr>
          <p:cNvPr id="19" name="Rectangle 18"/>
          <p:cNvSpPr/>
          <p:nvPr/>
        </p:nvSpPr>
        <p:spPr>
          <a:xfrm>
            <a:off x="4153535" y="3745548"/>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45914" y="4644708"/>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3"/>
          <a:srcRect l="65880" t="8036" r="816"/>
          <a:stretch>
            <a:fillRect/>
          </a:stretch>
        </p:blipFill>
        <p:spPr>
          <a:xfrm>
            <a:off x="681050" y="2943860"/>
            <a:ext cx="3318381" cy="2432812"/>
          </a:xfrm>
          <a:prstGeom prst="rect">
            <a:avLst/>
          </a:prstGeom>
        </p:spPr>
      </p:pic>
      <p:sp>
        <p:nvSpPr>
          <p:cNvPr id="29" name="Rectangle 28"/>
          <p:cNvSpPr/>
          <p:nvPr/>
        </p:nvSpPr>
        <p:spPr>
          <a:xfrm>
            <a:off x="-10160" y="5448110"/>
            <a:ext cx="12198985" cy="1580071"/>
          </a:xfrm>
          <a:prstGeom prst="rect">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bg1"/>
                </a:solidFill>
                <a:latin typeface="Calibri"/>
                <a:sym typeface="+mn-ea"/>
              </a:rPr>
              <a:t>The 27 pp Swing — What Does It Mean?</a:t>
            </a:r>
            <a:br>
              <a:rPr lang="en-US" b="1" dirty="0">
                <a:solidFill>
                  <a:schemeClr val="bg1"/>
                </a:solidFill>
                <a:latin typeface="Calibri"/>
                <a:sym typeface="+mn-ea"/>
              </a:rPr>
            </a:br>
            <a:r>
              <a:rPr lang="en-US" dirty="0">
                <a:solidFill>
                  <a:schemeClr val="bg1"/>
                </a:solidFill>
                <a:latin typeface="Calibri"/>
                <a:sym typeface="+mn-ea"/>
              </a:rPr>
              <a:t>2022  Low buffer (LUNA + USDT avg)  →  CAR = +8.9 pp   →  Forced T-bill selling pushed the spread UP</a:t>
            </a:r>
            <a:br>
              <a:rPr lang="en-US" b="1" dirty="0">
                <a:solidFill>
                  <a:schemeClr val="bg1"/>
                </a:solidFill>
                <a:latin typeface="Calibri"/>
                <a:sym typeface="+mn-ea"/>
              </a:rPr>
            </a:br>
            <a:r>
              <a:rPr lang="en-US" dirty="0">
                <a:solidFill>
                  <a:schemeClr val="bg1"/>
                </a:solidFill>
                <a:latin typeface="Calibri"/>
                <a:sym typeface="+mn-ea"/>
              </a:rPr>
              <a:t>2023  High buffer (SVB)               →  CAR = −18.0 pp  →  No forced selling + flight-to-safety buying pushed the spread DOWN</a:t>
            </a:r>
            <a:br>
              <a:rPr lang="en-US" b="1" dirty="0">
                <a:solidFill>
                  <a:schemeClr val="bg1"/>
                </a:solidFill>
                <a:latin typeface="Calibri"/>
                <a:sym typeface="+mn-ea"/>
              </a:rPr>
            </a:br>
            <a:r>
              <a:rPr lang="en-US" dirty="0">
                <a:solidFill>
                  <a:schemeClr val="bg1"/>
                </a:solidFill>
                <a:latin typeface="Calibri"/>
                <a:sym typeface="+mn-ea"/>
              </a:rPr>
              <a:t>Swing: +8.9 − (−18.0) = 26.9 pp  →  The buffer regime alone flipped both the direction and size of the Treasury market impact</a:t>
            </a:r>
            <a:br>
              <a:rPr lang="en-US" b="1" dirty="0">
                <a:solidFill>
                  <a:schemeClr val="bg1"/>
                </a:solidFill>
                <a:latin typeface="Calibri"/>
                <a:sym typeface="+mn-ea"/>
              </a:rPr>
            </a:br>
            <a:r>
              <a:rPr lang="en-US" dirty="0">
                <a:solidFill>
                  <a:schemeClr val="bg1"/>
                </a:solidFill>
                <a:latin typeface="Calibri"/>
                <a:sym typeface="+mn-ea"/>
              </a:rPr>
              <a:t>Welch t = 15.22***  |  p &lt; 0.001  →  The probability this difference is random is essentially zero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p>
          <a:p>
            <a:pPr algn="l">
              <a:spcBef>
                <a:spcPts val="800"/>
              </a:spcBef>
            </a:pPr>
            <a:r>
              <a:rPr sz="1300" b="0" i="0" dirty="0">
                <a:solidFill>
                  <a:srgbClr val="1A1A2E"/>
                </a:solidFill>
                <a:latin typeface="Calibri"/>
              </a:rPr>
              <a:t>Run the same event study methodology on 3 ordinary days with no known stablecoin stress event:</a:t>
            </a:r>
          </a:p>
          <a:p>
            <a:pPr algn="l">
              <a:spcBef>
                <a:spcPts val="700"/>
              </a:spcBef>
            </a:pPr>
            <a:r>
              <a:rPr sz="1200" b="0" i="0" dirty="0">
                <a:solidFill>
                  <a:srgbClr val="1A1A2E"/>
                </a:solidFill>
                <a:latin typeface="Calibri"/>
              </a:rPr>
              <a:t>❖  Jun 15, 2021  (Low buffer)  —  Quiet summer — no redemption pressure</a:t>
            </a:r>
          </a:p>
          <a:p>
            <a:pPr algn="l">
              <a:spcBef>
                <a:spcPts val="700"/>
              </a:spcBef>
            </a:pPr>
            <a:r>
              <a:rPr sz="1200" b="0" i="0" dirty="0">
                <a:solidFill>
                  <a:srgbClr val="1A1A2E"/>
                </a:solidFill>
                <a:latin typeface="Calibri"/>
              </a:rPr>
              <a:t>❖  Oct 12, 2021  (Low buffer)  —  Pre-LUNA, no crypto-specific stress</a:t>
            </a:r>
          </a:p>
          <a:p>
            <a:pPr algn="l">
              <a:spcBef>
                <a:spcPts val="700"/>
              </a:spcBef>
            </a:pPr>
            <a:r>
              <a:rPr sz="1200" b="0" i="0" dirty="0">
                <a:solidFill>
                  <a:srgbClr val="1A1A2E"/>
                </a:solidFill>
                <a:latin typeface="Calibri"/>
              </a:rPr>
              <a:t>❖  Jul 15, 2025  (High buffer)  —  Post-SVB recovery, stable spread period</a:t>
            </a:r>
          </a:p>
          <a:p>
            <a:pPr algn="l">
              <a:spcBef>
                <a:spcPts val="200"/>
              </a:spcBef>
            </a:pPr>
            <a:r>
              <a:rPr sz="600" b="0" i="0" dirty="0">
                <a:solidFill>
                  <a:srgbClr val="1A1A2E"/>
                </a:solidFill>
                <a:latin typeface="Calibri"/>
              </a:rPr>
              <a:t> </a:t>
            </a:r>
          </a:p>
          <a:p>
            <a:pPr algn="l">
              <a:spcBef>
                <a:spcPts val="400"/>
              </a:spcBef>
            </a:pPr>
            <a:r>
              <a:rPr sz="1400" b="1" i="0" dirty="0">
                <a:solidFill>
                  <a:srgbClr val="1B3A72"/>
                </a:solidFill>
                <a:latin typeface="Calibri"/>
              </a:rPr>
              <a:t>What we expect to show:</a:t>
            </a: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p>
          <a:p>
            <a:pPr algn="l">
              <a:spcBef>
                <a:spcPts val="200"/>
              </a:spcBef>
            </a:pPr>
            <a:r>
              <a:rPr sz="600" b="0" i="0" dirty="0">
                <a:solidFill>
                  <a:srgbClr val="1A1A2E"/>
                </a:solidFill>
                <a:latin typeface="Calibri"/>
              </a:rPr>
              <a:t> </a:t>
            </a:r>
          </a:p>
          <a:p>
            <a:pPr algn="l">
              <a:spcBef>
                <a:spcPts val="400"/>
              </a:spcBef>
            </a:pPr>
            <a:r>
              <a:rPr sz="1200" b="1" i="1" dirty="0">
                <a:solidFill>
                  <a:srgbClr val="D4632A"/>
                </a:solidFill>
                <a:latin typeface="Calibri"/>
              </a:rPr>
              <a:t>Preliminary result: placebo mean |CAR| = 0.55 pp vs. actual mean |CAR| = 11.92 pp  →  21.7× difference</a:t>
            </a: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TotalTime>
  <Words>3061</Words>
  <Application>Microsoft Macintosh PowerPoint</Application>
  <PresentationFormat>사용자 지정</PresentationFormat>
  <Paragraphs>149</Paragraphs>
  <Slides>8</Slides>
  <Notes>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vt:i4>
      </vt:variant>
    </vt:vector>
  </HeadingPairs>
  <TitlesOfParts>
    <vt:vector size="13" baseType="lpstr">
      <vt:lpstr>AppleGothic</vt: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11</cp:revision>
  <dcterms:created xsi:type="dcterms:W3CDTF">2026-05-25T14:31:54Z</dcterms:created>
  <dcterms:modified xsi:type="dcterms:W3CDTF">2026-05-26T01:25:16Z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