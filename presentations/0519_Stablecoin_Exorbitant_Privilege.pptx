
<file path=[Content_Types].xml><?xml version="1.0" encoding="utf-8"?>
<Types xmlns="http://schemas.openxmlformats.org/package/2006/content-types">
  <Default Extension="jpeg" ContentType="image/jpeg"/>
  <Default Extension="JPG" ContentType="image/.jpg"/>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63" r:id="rId7"/>
    <p:sldId id="259" r:id="rId8"/>
    <p:sldId id="260" r:id="rId9"/>
    <p:sldId id="261" r:id="rId10"/>
    <p:sldId id="262" r:id="rId11"/>
    <p:sldId id="265" r:id="rId12"/>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9"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41122"/>
  </p:normalViewPr>
  <p:slideViewPr>
    <p:cSldViewPr snapToGrid="0" snapToObjects="1" showGuides="1">
      <p:cViewPr varScale="1">
        <p:scale>
          <a:sx n="41" d="100"/>
          <a:sy n="41" d="100"/>
        </p:scale>
        <p:origin x="3296" y="184"/>
      </p:cViewPr>
      <p:guideLst>
        <p:guide orient="horz" pos="2159"/>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5" Type="http://schemas.openxmlformats.org/officeDocument/2006/relationships/tableStyles" Target="tableStyles.xml"/><Relationship Id="rId14" Type="http://schemas.openxmlformats.org/officeDocument/2006/relationships/viewProps" Target="viewProps.xml"/><Relationship Id="rId13" Type="http://schemas.openxmlformats.org/officeDocument/2006/relationships/presProps" Target="presProps.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[BAPTISTE — Title Slide]</a:t>
            </a:r>
            <a:endParaRPr dirty="0"/>
          </a:p>
          <a:p>
            <a:endParaRPr dirty="0"/>
          </a:p>
          <a:p>
            <a:r>
              <a:rPr dirty="0"/>
              <a:t>Good morning / afternoon everyone. </a:t>
            </a:r>
            <a:r>
              <a:rPr lang="en-US" dirty="0"/>
              <a:t>My name is Baptiste, and together with Alexandre and Jade, we joined the stablecoin and exorbitant privilege research. W</a:t>
            </a:r>
            <a:r>
              <a:rPr dirty="0"/>
              <a:t>e are presenting the second part of our research on stablecoins and the exorbitant privilege.</a:t>
            </a:r>
            <a:endParaRPr dirty="0"/>
          </a:p>
          <a:p>
            <a:endParaRPr dirty="0"/>
          </a:p>
          <a:p>
            <a:r>
              <a:rPr dirty="0"/>
              <a:t>Last week, our colleagues Mireu, Sara, and Oybek presented the motivation, theory, and the first two empirical results. Today, we present the causal evidence, a new finding on asymmetric effects, our policy recommendation, and the conclusion.</a:t>
            </a:r>
            <a:endParaRPr dirty="0"/>
          </a:p>
          <a:p>
            <a:endParaRPr dirty="0"/>
          </a:p>
          <a:p>
            <a:r>
              <a:rPr dirty="0"/>
              <a:t>Let's get started.</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[ALEXANDRE — Roadmap]</a:t>
            </a:r>
            <a:endParaRPr dirty="0"/>
          </a:p>
          <a:p>
            <a:endParaRPr dirty="0"/>
          </a:p>
          <a:p>
            <a:r>
              <a:rPr dirty="0"/>
              <a:t>This slide gives you a quick map of today's presentation.</a:t>
            </a:r>
            <a:endParaRPr dirty="0"/>
          </a:p>
          <a:p>
            <a:endParaRPr dirty="0"/>
          </a:p>
          <a:p>
            <a:r>
              <a:rPr dirty="0"/>
              <a:t>On the left, you can see what was covered last week — the motivation, the theoretical framework we call the New Triffin Dilemma, the extension of Maggiori's 2017 model, the data, and the first two results: the privilege amplification regression and the reserve adequacy threshold.</a:t>
            </a:r>
            <a:endParaRPr dirty="0"/>
          </a:p>
          <a:p>
            <a:endParaRPr dirty="0"/>
          </a:p>
          <a:p>
            <a:r>
              <a:rPr dirty="0"/>
              <a:t>Today we add three new things.</a:t>
            </a:r>
            <a:endParaRPr dirty="0"/>
          </a:p>
          <a:p>
            <a:endParaRPr dirty="0"/>
          </a:p>
          <a:p>
            <a:r>
              <a:rPr dirty="0"/>
              <a:t>First, a Literature Gap slide — we will show exactly where our paper fits in the existing academic literature and why what we do has not been done before.</a:t>
            </a:r>
            <a:endParaRPr dirty="0"/>
          </a:p>
          <a:p>
            <a:endParaRPr dirty="0"/>
          </a:p>
          <a:p>
            <a:r>
              <a:rPr dirty="0"/>
              <a:t>Second, Result 3 — the buffer-conditioned event study. This is where we move from monthly correlations to specific crisis events to show that our mechanism is not just statistical but actually causal.</a:t>
            </a:r>
            <a:endParaRPr dirty="0"/>
          </a:p>
          <a:p>
            <a:endParaRPr dirty="0"/>
          </a:p>
          <a:p>
            <a:r>
              <a:rPr dirty="0"/>
              <a:t>Third, two new contributions responding directly to our professor's feedback: an asymmetric effects analysis that splits supply growth from supply contraction, and a reframed policy implication that is more intellectually honest about what our data can and cannot claim.</a:t>
            </a:r>
            <a:endParaRPr dirty="0"/>
          </a:p>
          <a:p>
            <a:endParaRPr dirty="0"/>
          </a:p>
          <a:p>
            <a:r>
              <a:rPr dirty="0"/>
              <a:t>Jade will take you through the two results slides. I will start with the literature gap. Baptiste will close with policy and conclusion.</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[ALEXANDRE — Literature Gap]</a:t>
            </a:r>
            <a:endParaRPr dirty="0"/>
          </a:p>
          <a:p>
            <a:endParaRPr dirty="0"/>
          </a:p>
          <a:p>
            <a:r>
              <a:rPr dirty="0"/>
              <a:t>This slide answers the question: what does the existing literature do, and where exactly does our paper add something new?</a:t>
            </a:r>
            <a:endParaRPr dirty="0"/>
          </a:p>
          <a:p>
            <a:endParaRPr dirty="0"/>
          </a:p>
          <a:p>
            <a:r>
              <a:rPr dirty="0"/>
              <a:t>On the left panel, you see three papers.</a:t>
            </a:r>
            <a:endParaRPr dirty="0"/>
          </a:p>
          <a:p>
            <a:endParaRPr dirty="0"/>
          </a:p>
          <a:p>
            <a:r>
              <a:rPr dirty="0"/>
              <a:t>The first and most important is </a:t>
            </a:r>
            <a:r>
              <a:rPr dirty="0" err="1"/>
              <a:t>Aldasoro</a:t>
            </a:r>
            <a:r>
              <a:rPr dirty="0"/>
              <a:t> and Ahmed — a Bank for International Settlements working paper published in 2025. This is the closest paper to ours. They find that stablecoin inflows compress 3-month Treasury bill yields by about 2.5 to 3.5 basis points. They also have a state-dependent interaction term — but their conditioning variable is the supply of Treasury bills in the market, not the liquid reserves held by stablecoin issuers. They also use yield levels as their dependent variable. We use the OIS-Treasury spread, which is a cleaner measure because it isolates demand-side effects from supply-side noise.</a:t>
            </a:r>
            <a:endParaRPr dirty="0"/>
          </a:p>
          <a:p>
            <a:endParaRPr dirty="0"/>
          </a:p>
          <a:p>
            <a:r>
              <a:rPr dirty="0"/>
              <a:t>The second paper is Gorton and Zhang, 2023. They draw the analogy between stablecoins and the wildcat banks of the nineteenth century — unregulated private banks that issued their own notes. They document run risk thoroughly, but they do not connect reserve composition to Treasury market dynamics. They do not run the regression we run.</a:t>
            </a:r>
            <a:endParaRPr dirty="0"/>
          </a:p>
          <a:p>
            <a:endParaRPr dirty="0"/>
          </a:p>
          <a:p>
            <a:r>
              <a:rPr dirty="0"/>
              <a:t>The third paper is Lyons and Viswanath-Natraj, 2023. They study how stablecoin pegs are maintained through arbitrage — it's a paper about the exchange rate mechanics. They do not connect to sovereign debt markets at all.</a:t>
            </a:r>
            <a:endParaRPr dirty="0"/>
          </a:p>
          <a:p>
            <a:endParaRPr dirty="0"/>
          </a:p>
          <a:p>
            <a:r>
              <a:rPr dirty="0"/>
              <a:t>On the right panel, you see what we contribute that none of these papers do. We are the first to jointly include the stablecoin issuance variable AND the issuer's liquid buffer as a moderating variable AND use the OIS-Treasury spread as the outcome. We are also the first to estimate a nonlinear threshold — L* equals 13% — using the Hansen 2000 method. And we are the first to test whether the effect is asymmetric between growth and contraction periods.</a:t>
            </a:r>
            <a:endParaRPr dirty="0"/>
          </a:p>
          <a:p>
            <a:endParaRPr dirty="0"/>
          </a:p>
          <a:p>
            <a:r>
              <a:rPr dirty="0"/>
              <a:t>The quote at the bottom summarizes the gap in one sentence.</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[ALEXANDRE — Literature Gap]</a:t>
            </a:r>
            <a:endParaRPr dirty="0"/>
          </a:p>
          <a:p>
            <a:endParaRPr dirty="0"/>
          </a:p>
          <a:p>
            <a:r>
              <a:rPr dirty="0"/>
              <a:t>This slide answers the question: what does the existing literature do, and where exactly does our paper add something new?</a:t>
            </a:r>
            <a:endParaRPr dirty="0"/>
          </a:p>
          <a:p>
            <a:endParaRPr dirty="0"/>
          </a:p>
          <a:p>
            <a:r>
              <a:rPr dirty="0"/>
              <a:t>On the left panel, you see three papers.</a:t>
            </a:r>
            <a:endParaRPr dirty="0"/>
          </a:p>
          <a:p>
            <a:endParaRPr dirty="0"/>
          </a:p>
          <a:p>
            <a:r>
              <a:rPr dirty="0"/>
              <a:t>The first and most important is </a:t>
            </a:r>
            <a:r>
              <a:rPr dirty="0" err="1"/>
              <a:t>Aldasoro</a:t>
            </a:r>
            <a:r>
              <a:rPr dirty="0"/>
              <a:t> and Ahmed — a Bank for International Settlements working paper published in 2025. This is the closest paper to ours. They find that stablecoin inflows compress 3-month Treasury bill yields by about 2.5 to 3.5 basis points. They also have a state-dependent interaction term — but their conditioning variable is the supply of Treasury bills in the market, not the liquid reserves held by stablecoin issuers. They also use yield levels as their dependent variable. We use the OIS-Treasury spread, which is a cleaner measure because it isolates demand-side effects from supply-side noise.</a:t>
            </a:r>
            <a:endParaRPr dirty="0"/>
          </a:p>
          <a:p>
            <a:endParaRPr dirty="0"/>
          </a:p>
          <a:p>
            <a:r>
              <a:rPr dirty="0"/>
              <a:t>The second paper is Gorton and Zhang, 2023. They draw the analogy between stablecoins and the wildcat banks of the nineteenth century — unregulated private banks that issued their own notes. They document run risk thoroughly, but they do not connect reserve composition to Treasury market dynamics. They do not run the regression we run.</a:t>
            </a:r>
            <a:endParaRPr dirty="0"/>
          </a:p>
          <a:p>
            <a:endParaRPr dirty="0"/>
          </a:p>
          <a:p>
            <a:r>
              <a:rPr dirty="0"/>
              <a:t>The third paper is Lyons and Viswanath-Natraj, 2023. They study how stablecoin pegs are maintained through arbitrage — it's a paper about the exchange rate mechanics. They do not connect to sovereign debt markets at all.</a:t>
            </a:r>
            <a:endParaRPr dirty="0"/>
          </a:p>
          <a:p>
            <a:endParaRPr dirty="0"/>
          </a:p>
          <a:p>
            <a:r>
              <a:rPr dirty="0"/>
              <a:t>On the right panel, you see what we contribute that none of these papers do. We are the first to jointly include the stablecoin issuance variable AND the issuer's liquid buffer as a moderating variable AND use the OIS-Treasury spread as the outcome. We are also the first to estimate a nonlinear threshold — L* equals 13% — using the Hansen 2000 method. And we are the first to test whether the effect is asymmetric between growth and contraction periods.</a:t>
            </a:r>
            <a:endParaRPr dirty="0"/>
          </a:p>
          <a:p>
            <a:endParaRPr dirty="0"/>
          </a:p>
          <a:p>
            <a:r>
              <a:rPr dirty="0"/>
              <a:t>The quote at the bottom summarizes the gap in one sentence.</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[JADE — Result 3: Buffer-Conditioned Event Study]</a:t>
            </a:r>
            <a:endParaRPr dirty="0"/>
          </a:p>
          <a:p>
            <a:endParaRPr dirty="0"/>
          </a:p>
          <a:p>
            <a:r>
              <a:rPr dirty="0"/>
              <a:t>Thank you Alexandre. I will now present Result 3 — the event study.</a:t>
            </a:r>
            <a:endParaRPr dirty="0"/>
          </a:p>
          <a:p>
            <a:endParaRPr dirty="0"/>
          </a:p>
          <a:p>
            <a:r>
              <a:rPr dirty="0"/>
              <a:t>Up until now, our results have been based on monthly regressions across the full sample. That tells us about average relationships. But it does not tell us whether the buffer mechanism actually works in the moments that matter most — during a crisis.</a:t>
            </a:r>
            <a:endParaRPr dirty="0"/>
          </a:p>
          <a:p>
            <a:endParaRPr dirty="0"/>
          </a:p>
          <a:p>
            <a:r>
              <a:rPr dirty="0"/>
              <a:t>The event study fixes that. We take three real-world stress episodes and ask: what happened to the OIS-Treasury spread in the days immediately following each event? And does the answer depend on how large the liquid buffer was at the time?</a:t>
            </a:r>
            <a:endParaRPr dirty="0"/>
          </a:p>
          <a:p>
            <a:endParaRPr dirty="0"/>
          </a:p>
          <a:p>
            <a:r>
              <a:rPr dirty="0"/>
              <a:t>We measure the Cumulative Abnormal Return — or CAR — on the spread. A positive CAR means the spread spiked upward, which means Treasury yields rose relative to overnight rates — a sign that stablecoin issuers were forced to sell T-bills, increasing their supply and pushing prices down.</a:t>
            </a:r>
            <a:endParaRPr dirty="0"/>
          </a:p>
          <a:p>
            <a:endParaRPr dirty="0"/>
          </a:p>
          <a:p>
            <a:r>
              <a:rPr dirty="0"/>
              <a:t>Now look at the table on the right.</a:t>
            </a:r>
            <a:endParaRPr dirty="0"/>
          </a:p>
          <a:p>
            <a:endParaRPr dirty="0"/>
          </a:p>
          <a:p>
            <a:r>
              <a:rPr dirty="0"/>
              <a:t>The first two events — the LUNA/UST collapse in May 2022 and the USDT partial </a:t>
            </a:r>
            <a:r>
              <a:rPr dirty="0" err="1"/>
              <a:t>depeg</a:t>
            </a:r>
            <a:r>
              <a:rPr dirty="0"/>
              <a:t> shortly after — both happened when the liquid buffer was LOW. The CAR in both cases is strongly positive: plus 8.9 and plus 8.8 basis points, both significant at the 1% level with t-statistics above 30. This is a large and unambiguous effect. Issuers did not have enough cash to absorb redemptions, so they sold T-bills, and the spread spiked.</a:t>
            </a:r>
            <a:endParaRPr dirty="0"/>
          </a:p>
          <a:p>
            <a:endParaRPr dirty="0"/>
          </a:p>
          <a:p>
            <a:r>
              <a:rPr dirty="0"/>
              <a:t>The third event — the USDC and SVB failure in March 2023 — is where the result becomes really interesting. By early 2023, the liquid buffer had recovered above the 13% threshold. The CAR is NEGATIVE: minus 18 basis points. The spread compressed instead of spiking. Why? Because Circle had enough cash to absorb redemptions without touching its T-bill holdings. What investors saw instead was a flight-to-safety into Treasuries — the usual response to a financial shock when the stablecoin system is not forced to liquidate.</a:t>
            </a:r>
            <a:endParaRPr dirty="0"/>
          </a:p>
          <a:p>
            <a:endParaRPr dirty="0"/>
          </a:p>
          <a:p>
            <a:r>
              <a:rPr dirty="0"/>
              <a:t>The difference between these two regimes is statistically confirmed: t-statistic of 15.22, p-value below 0.001.</a:t>
            </a:r>
            <a:endParaRPr dirty="0"/>
          </a:p>
          <a:p>
            <a:endParaRPr dirty="0"/>
          </a:p>
          <a:p>
            <a:r>
              <a:rPr dirty="0"/>
              <a:t>This is the cleanest evidence we have that the buffer is not just a number — it is what separates a crisis that spreads to sovereign debt markets from one that does not.</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[JADE — Asymmetric Effects]</a:t>
            </a:r>
            <a:endParaRPr dirty="0"/>
          </a:p>
          <a:p>
            <a:endParaRPr dirty="0"/>
          </a:p>
          <a:p>
            <a:r>
              <a:rPr dirty="0"/>
              <a:t>This slide presents a new result that responds directly to our professor's question from last week: why is the buffer interaction term positive?</a:t>
            </a:r>
            <a:endParaRPr dirty="0"/>
          </a:p>
          <a:p>
            <a:endParaRPr dirty="0"/>
          </a:p>
          <a:p>
            <a:r>
              <a:rPr dirty="0"/>
              <a:t>In our main regression, the coefficient β₄ on L times </a:t>
            </a:r>
            <a:r>
              <a:rPr dirty="0" err="1"/>
              <a:t>ΔlnS</a:t>
            </a:r>
            <a:r>
              <a:rPr dirty="0"/>
              <a:t> is positive and equal to 49.17. The intuition our professor questioned was: if a higher buffer means the issuer holds more cash and fewer T-bills, shouldn't a bigger buffer reduce the spread compression during supply growth — because they are buying fewer T-bills? So why is the sign positive?</a:t>
            </a:r>
            <a:endParaRPr dirty="0"/>
          </a:p>
          <a:p>
            <a:endParaRPr dirty="0"/>
          </a:p>
          <a:p>
            <a:r>
              <a:rPr dirty="0"/>
              <a:t>The answer comes from separating supply growth from supply contraction. That is what this slide shows.</a:t>
            </a:r>
            <a:endParaRPr dirty="0"/>
          </a:p>
          <a:p>
            <a:endParaRPr dirty="0"/>
          </a:p>
          <a:p>
            <a:r>
              <a:rPr dirty="0"/>
              <a:t>On the left, in red, are the 32 months in our sample when stablecoin supply was growing. The effect of supply growth on the spread is negative — more supply means more T-bill buying, which compresses spreads — but the coefficient is only minus 1.79 and it is not statistically significant. The R-squared is 0.33. During growth periods, the buffer does not matter much because the dynamic is orderly. Issuers buy T-bills gradually as they mint new tokens.</a:t>
            </a:r>
            <a:endParaRPr dirty="0"/>
          </a:p>
          <a:p>
            <a:endParaRPr dirty="0"/>
          </a:p>
          <a:p>
            <a:r>
              <a:rPr dirty="0"/>
              <a:t>On the right, in green, are the 19 months when supply was contracting. Here, β₁ jumps to minus 12.68 — seven times larger — and it is statistically significant at the 5% level. The R-squared jumps to 0.73. The model explains far more of the variation during stress periods than calm ones. And the buffer interaction term is large and positive — plus 78.57 — meaning a higher buffer significantly dampens the spread spike during redemption periods.</a:t>
            </a:r>
            <a:endParaRPr dirty="0"/>
          </a:p>
          <a:p>
            <a:endParaRPr dirty="0"/>
          </a:p>
          <a:p>
            <a:r>
              <a:rPr dirty="0"/>
              <a:t>So the answer to the professor's question is this: β₄ is positive because the dominant effect of the buffer is during contractions — where it prevents forced T-bill liquidation — not during growth. The combined positive sign in the main regression reflects this asymmetry. The buffer absorbs redemption shocks. That is the mechanism our paper is about.</a:t>
            </a:r>
            <a:endParaRPr dirty="0"/>
          </a:p>
          <a:p>
            <a:endParaRPr dirty="0"/>
          </a:p>
          <a:p>
            <a:r>
              <a:rPr dirty="0"/>
              <a:t>Baptiste will now close with the policy implications and conclusion.</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[BAPTISTE — Policy Implication]</a:t>
            </a:r>
          </a:p>
          <a:p/>
          <a:p>
            <a:r>
              <a:t>Thank you Jade. Now let me turn to what our findings mean for policy.</a:t>
            </a:r>
          </a:p>
          <a:p/>
          <a:p>
            <a:r>
              <a:t>Our threshold regression using the Hansen 2000 method identified L* equals 13% as a statistical break point. Below 13% — which describes 38 out of our 51 sample months — stablecoin activity significantly amplifies Treasury market volatility during stress. Above 13% — the remaining 13 months — the transmission channel is attenuated and runs are absorbed internally.</a:t>
            </a:r>
          </a:p>
          <a:p/>
          <a:p>
            <a:r>
              <a:t>One thing our professor pointed out last week, and which we want to address directly: our data tells us WHERE the break is. It does not tell us what is OPTIMAL. These are two different things.</a:t>
            </a:r>
          </a:p>
          <a:p/>
          <a:p>
            <a:r>
              <a:t>Finding a break point at 13% is like finding that bridge failures become much more likely when material stress exceeds a certain level — it tells you something important about the threshold, but it does not tell you what the ideal engineering standard should be. A full welfare analysis — weighing the cost of holding more liquid reserves against the benefit of reduced systemic risk — would require a structural model that goes beyond this paper.</a:t>
            </a:r>
          </a:p>
          <a:p/>
          <a:p>
            <a:r>
              <a:t>What we are proposing is more modest: that regulators consider 13 to 15% as a minimum empirical floor when designing reserve requirements for fiat-collateralized stablecoin issuers above a systemically relevant size.</a:t>
            </a:r>
          </a:p>
          <a:p/>
          <a:p>
            <a:r>
              <a:t>The caveat on the bottom right is important. We put it there deliberately. We are acknowledging the limit of what our data can claim, which is exactly the kind of intellectual honesty that distinguishes a research contribution from a policy prescription.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[BAPTISTE — Conclusion]</a:t>
            </a:r>
            <a:endParaRPr dirty="0"/>
          </a:p>
          <a:p>
            <a:endParaRPr dirty="0"/>
          </a:p>
          <a:p>
            <a:r>
              <a:rPr dirty="0"/>
              <a:t>Let me now bring everything together.</a:t>
            </a:r>
            <a:endParaRPr dirty="0"/>
          </a:p>
          <a:p>
            <a:endParaRPr dirty="0"/>
          </a:p>
          <a:p>
            <a:r>
              <a:rPr dirty="0"/>
              <a:t>Our paper documents three results that form a coherent story.</a:t>
            </a:r>
            <a:endParaRPr dirty="0"/>
          </a:p>
          <a:p>
            <a:endParaRPr dirty="0"/>
          </a:p>
          <a:p>
            <a:r>
              <a:rPr dirty="0"/>
              <a:t>The first result — the green box on the left — is the privilege amplification channel. When stablecoin supply grows by 1%, the OIS-Treasury spread compresses by about 6 to 8 basis points. Tether and Circle are mechanically buying US Treasury bills to back their tokens. This deepens demand for safe US assets and amplifies the exorbitant privilege that the United States already enjoys by issuing the world's reserve currency.</a:t>
            </a:r>
            <a:endParaRPr dirty="0"/>
          </a:p>
          <a:p>
            <a:endParaRPr dirty="0"/>
          </a:p>
          <a:p>
            <a:r>
              <a:rPr dirty="0"/>
              <a:t>The second result — the blue box in the middle — is the safety threshold. Using the Hansen 2000 threshold regression, we identify L* equals 13% as the break point. Below this level, stablecoin activity disrupts Treasury markets during stress. Above it, redemptions are absorbed internally and the market is undisturbed.</a:t>
            </a:r>
            <a:endParaRPr dirty="0"/>
          </a:p>
          <a:p>
            <a:endParaRPr dirty="0"/>
          </a:p>
          <a:p>
            <a:r>
              <a:rPr dirty="0"/>
              <a:t>The third result — the red box on the right — is the causal evidence from the event study. During the LUNA collapse and the USDT </a:t>
            </a:r>
            <a:r>
              <a:rPr dirty="0" err="1"/>
              <a:t>depeg</a:t>
            </a:r>
            <a:r>
              <a:rPr dirty="0"/>
              <a:t> in 2022, when buffers were low, spreads spiked by nearly 9 basis points. During the SVB event in 2023, when buffers had recovered, spreads compressed by 18 basis points — a flight-to-safety instead of a forced liquidation. The buffer determined the outcome.</a:t>
            </a:r>
            <a:endParaRPr dirty="0"/>
          </a:p>
          <a:p>
            <a:endParaRPr dirty="0"/>
          </a:p>
          <a:p>
            <a:r>
              <a:rPr dirty="0"/>
              <a:t>This brings us to the central argument of our paper, which we call the New Triffin Dilemma.</a:t>
            </a:r>
            <a:endParaRPr dirty="0"/>
          </a:p>
          <a:p>
            <a:endParaRPr dirty="0"/>
          </a:p>
          <a:p>
            <a:r>
              <a:rPr dirty="0"/>
              <a:t>Robert Triffin observed in 1960 that the US dollar's role as the world's reserve currency created an inherent contradiction — supplying enough safe assets to meet global demand requires running current account deficits that eventually undermine confidence in the dollar itself. The system depends on the very condition that makes it unsustainable.</a:t>
            </a:r>
            <a:endParaRPr dirty="0"/>
          </a:p>
          <a:p>
            <a:endParaRPr dirty="0"/>
          </a:p>
          <a:p>
            <a:r>
              <a:rPr dirty="0"/>
              <a:t>Our paper shows that stablecoins create an analogous dilemma at the private level. The same structural Treasury demand that amplifies American borrowing privilege in normal times embeds a fragility that can rapidly reverse it during runs. Whether a stress episode leads to sovereign contagion or flight-to-safety depends entirely on one variable: L — the liquid buffer.</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[BAPTISTE — Title Slide]</a:t>
            </a:r>
            <a:endParaRPr dirty="0"/>
          </a:p>
          <a:p>
            <a:endParaRPr dirty="0"/>
          </a:p>
          <a:p>
            <a:r>
              <a:rPr dirty="0"/>
              <a:t>Good morning / afternoon everyone. </a:t>
            </a:r>
            <a:r>
              <a:rPr lang="en-US" dirty="0"/>
              <a:t>My name is Baptiste, and together with Alexandre and Jade, we joined the stablecoin and exorbitant privilege research. W</a:t>
            </a:r>
            <a:r>
              <a:rPr dirty="0"/>
              <a:t>e are presenting the second part of our research on stablecoins and the exorbitant privilege.</a:t>
            </a:r>
            <a:endParaRPr dirty="0"/>
          </a:p>
          <a:p>
            <a:endParaRPr dirty="0"/>
          </a:p>
          <a:p>
            <a:r>
              <a:rPr dirty="0"/>
              <a:t>Last week, our colleagues Mireu, Sara, and Oybek presented the motivation, theory, and the first two empirical results. Today, we present the causal evidence, a new finding on asymmetric effects, our policy recommendation, and the conclusion.</a:t>
            </a:r>
            <a:endParaRPr dirty="0"/>
          </a:p>
          <a:p>
            <a:endParaRPr dirty="0"/>
          </a:p>
          <a:p>
            <a:r>
              <a:rPr dirty="0"/>
              <a:t>Let's get started.</a:t>
            </a:r>
            <a:endParaRPr dirty="0"/>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7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7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7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7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7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7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7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7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7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7.xml"/><Relationship Id="rId2" Type="http://schemas.microsoft.com/office/2007/relationships/hdphoto" Target="../media/image2.wdp"/><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7.xml"/><Relationship Id="rId2" Type="http://schemas.microsoft.com/office/2007/relationships/hdphoto" Target="../media/image2.wdp"/><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pic>
        <p:nvPicPr>
          <p:cNvPr id="5" name="그림 4" descr="원, 그래픽, 스크린샷, 그래픽 디자인이(가) 표시된 사진&#10;&#10;자동 생성된 설명"/>
          <p:cNvPicPr>
            <a:picLocks noChangeAspect="1"/>
          </p:cNvPicPr>
          <p:nvPr/>
        </p:nvPicPr>
        <p:blipFill>
          <a:blip/>
          <a:stretch>
            <a:fillRect/>
          </a:stretch>
        </p:blipFill>
        <p:spPr>
          <a:xfrm>
            <a:off x="0" y="890"/>
            <a:ext cx="4809898" cy="6856214"/>
          </a:xfrm>
          <a:prstGeom prst="rect">
            <a:avLst/>
          </a:prstGeom>
        </p:spPr>
      </p:pic>
      <p:pic>
        <p:nvPicPr>
          <p:cNvPr id="2" name="그림 4" descr="원, 그래픽, 스크린샷, 그래픽 디자인이(가) 표시된 사진&#10;&#10;자동 생성된 설명"/>
          <p:cNvPicPr>
            <a:picLocks noChangeAspect="1"/>
          </p:cNvPicPr>
          <p:nvPr/>
        </p:nvPicPr>
        <p:blipFill>
          <a:blip r:embed="rId1">
            <a:lum bright="70000" contrast="-70000"/>
            <a:extLst>
              <a:ext uri="{BEBA8EAE-BF5A-486C-A8C5-ECC9F3942E4B}">
                <a14:imgProps xmlns:a14="http://schemas.microsoft.com/office/drawing/2010/main">
                  <a14:imgLayer r:embed="rId2">
                    <a14:imgEffect>
                      <a14:artisticPhotocopy trans="30000" detail="2"/>
                    </a14:imgEffect>
                  </a14:imgLayer>
                </a14:imgProps>
              </a:ext>
              <a:ext uri="{28A0092B-C50C-407E-A947-70E740481C1C}">
                <a14:useLocalDpi xmlns:a14="http://schemas.microsoft.com/office/drawing/2010/main" val="0"/>
              </a:ext>
            </a:extLst>
          </a:blip>
          <a:stretch>
            <a:fillRect/>
          </a:stretch>
        </p:blipFill>
        <p:spPr>
          <a:xfrm>
            <a:off x="127000" y="127890"/>
            <a:ext cx="4809898" cy="6856214"/>
          </a:xfrm>
          <a:prstGeom prst="rect">
            <a:avLst/>
          </a:prstGeom>
        </p:spPr>
      </p:pic>
      <p:sp>
        <p:nvSpPr>
          <p:cNvPr id="6" name="직사각형 5"/>
          <p:cNvSpPr/>
          <p:nvPr/>
        </p:nvSpPr>
        <p:spPr>
          <a:xfrm>
            <a:off x="-1" y="1879560"/>
            <a:ext cx="12188826" cy="2576274"/>
          </a:xfrm>
          <a:prstGeom prst="rect">
            <a:avLst/>
          </a:prstGeom>
          <a:solidFill>
            <a:schemeClr val="tx1">
              <a:alpha val="5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latinLnBrk="1">
              <a:defRPr/>
            </a:pPr>
            <a:r>
              <a:rPr lang="en-US" altLang="ko-KR" sz="2400" dirty="0">
                <a:solidFill>
                  <a:prstClr val="white"/>
                </a:solidFill>
                <a:latin typeface="Hiragino Kaku Gothic Std W8" panose="020B0800000000000000" pitchFamily="34" charset="-128"/>
                <a:ea typeface="Hiragino Kaku Gothic Std W8" panose="020B0800000000000000" pitchFamily="34" charset="-128"/>
              </a:rPr>
              <a:t>STABLECOINS AND THE EXORBITANT PRIVILEGE</a:t>
            </a:r>
            <a:endParaRPr lang="en-US" altLang="ko-KR" sz="2400" dirty="0">
              <a:solidFill>
                <a:prstClr val="white"/>
              </a:solidFill>
              <a:latin typeface="Hiragino Kaku Gothic Std W8" panose="020B0800000000000000" pitchFamily="34" charset="-128"/>
              <a:ea typeface="Hiragino Kaku Gothic Std W8" panose="020B0800000000000000" pitchFamily="34" charset="-128"/>
            </a:endParaRPr>
          </a:p>
          <a:p>
            <a:pPr algn="ctr" defTabSz="914400" latinLnBrk="1">
              <a:defRPr/>
            </a:pPr>
            <a:endParaRPr lang="ko-KR" altLang="en-US" sz="2400" dirty="0">
              <a:solidFill>
                <a:prstClr val="white"/>
              </a:solidFill>
              <a:latin typeface="Hiragino Kaku Gothic Std W8" panose="020B0800000000000000" pitchFamily="34" charset="-128"/>
              <a:ea typeface="Malgun Gothic" panose="020B0503020000020004" pitchFamily="50" charset="-127"/>
            </a:endParaRPr>
          </a:p>
        </p:txBody>
      </p:sp>
      <p:sp>
        <p:nvSpPr>
          <p:cNvPr id="11" name="TextBox 10"/>
          <p:cNvSpPr txBox="1"/>
          <p:nvPr/>
        </p:nvSpPr>
        <p:spPr>
          <a:xfrm>
            <a:off x="6466205" y="5560060"/>
            <a:ext cx="5470525" cy="1198880"/>
          </a:xfrm>
          <a:prstGeom prst="rect">
            <a:avLst/>
          </a:prstGeom>
          <a:noFill/>
        </p:spPr>
        <p:txBody>
          <a:bodyPr wrap="square" rtlCol="0">
            <a:spAutoFit/>
          </a:bodyPr>
          <a:lstStyle/>
          <a:p>
            <a:r>
              <a:rPr lang="en-US" altLang="ko-KR" sz="1800" b="1" dirty="0">
                <a:solidFill>
                  <a:schemeClr val="bg1"/>
                </a:solidFill>
              </a:rPr>
              <a:t>Yonsei GSIS 2026-1 </a:t>
            </a:r>
            <a:endParaRPr lang="en-US" altLang="ko-KR" sz="1800" b="1" dirty="0">
              <a:solidFill>
                <a:schemeClr val="bg1"/>
              </a:solidFill>
            </a:endParaRPr>
          </a:p>
          <a:p>
            <a:r>
              <a:rPr lang="en-US" altLang="ko-KR" sz="1800" b="1" dirty="0">
                <a:solidFill>
                  <a:schemeClr val="bg1"/>
                </a:solidFill>
              </a:rPr>
              <a:t>Topics in International Finance</a:t>
            </a:r>
            <a:endParaRPr lang="en-US" altLang="ko-KR" sz="1800" dirty="0">
              <a:solidFill>
                <a:schemeClr val="bg1"/>
              </a:solidFill>
            </a:endParaRPr>
          </a:p>
          <a:p>
            <a:r>
              <a:rPr lang="en-US" altLang="ko-KR" b="1" dirty="0">
                <a:solidFill>
                  <a:srgbClr val="FFFFFF"/>
                </a:solidFill>
              </a:rPr>
              <a:t>Mireu Kim · Sara Chekroune · Oybek Ibragimov</a:t>
            </a:r>
            <a:br>
              <a:rPr lang="en-US" altLang="ko-KR" b="1" dirty="0">
                <a:solidFill>
                  <a:srgbClr val="FFFFFF"/>
                </a:solidFill>
              </a:rPr>
            </a:br>
            <a:r>
              <a:rPr lang="en-US" altLang="ko-KR" b="1" dirty="0">
                <a:solidFill>
                  <a:srgbClr val="FFFFFF"/>
                </a:solidFill>
              </a:rPr>
              <a:t>New Memebers - Please write your names here !</a:t>
            </a:r>
            <a:endParaRPr lang="en-US" altLang="ko-KR" sz="1800" b="1" dirty="0">
              <a:solidFill>
                <a:srgbClr val="FFFFFF"/>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686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91440"/>
            <a:ext cx="10515600" cy="550000"/>
          </a:xfrm>
          <a:prstGeom prst="rect">
            <a:avLst/>
          </a:prstGeom>
          <a:noFill/>
        </p:spPr>
        <p:txBody>
          <a:bodyPr wrap="square">
            <a:spAutoFit/>
          </a:bodyPr>
          <a:lstStyle/>
          <a:p>
            <a:r>
              <a:rPr sz="2600" b="0">
                <a:solidFill>
                  <a:srgbClr val="FFFFFF"/>
                </a:solidFill>
              </a:rPr>
              <a:t>Roadmap</a:t>
            </a:r>
            <a:endParaRPr sz="2600" b="0">
              <a:solidFill>
                <a:srgbClr val="FFFFFF"/>
              </a:solidFill>
            </a:endParaRPr>
          </a:p>
        </p:txBody>
      </p:sp>
      <p:sp>
        <p:nvSpPr>
          <p:cNvPr id="5" name="TextBox 4"/>
          <p:cNvSpPr txBox="1"/>
          <p:nvPr/>
        </p:nvSpPr>
        <p:spPr>
          <a:xfrm>
            <a:off x="9800000" y="207010"/>
            <a:ext cx="2200000" cy="368300"/>
          </a:xfrm>
          <a:prstGeom prst="rect">
            <a:avLst/>
          </a:prstGeom>
          <a:noFill/>
        </p:spPr>
        <p:txBody>
          <a:bodyPr wrap="square">
            <a:spAutoFit/>
          </a:bodyPr>
          <a:lstStyle/>
          <a:p>
            <a:pPr algn="r"/>
            <a:r>
              <a:rPr sz="1000" b="0">
                <a:solidFill>
                  <a:srgbClr val="555566"/>
                </a:solidFill>
              </a:rPr>
              <a:t>Alexandre  Page 2</a:t>
            </a:r>
            <a:endParaRPr sz="1000" b="0">
              <a:solidFill>
                <a:srgbClr val="555566"/>
              </a:solidFill>
            </a:endParaRPr>
          </a:p>
        </p:txBody>
      </p:sp>
      <p:sp>
        <p:nvSpPr>
          <p:cNvPr id="6" name="TextBox 5"/>
          <p:cNvSpPr txBox="1"/>
          <p:nvPr/>
        </p:nvSpPr>
        <p:spPr>
          <a:xfrm>
            <a:off x="640080" y="1020000"/>
            <a:ext cx="11155680" cy="3723005"/>
          </a:xfrm>
          <a:prstGeom prst="rect">
            <a:avLst/>
          </a:prstGeom>
          <a:noFill/>
        </p:spPr>
        <p:txBody>
          <a:bodyPr wrap="square">
            <a:spAutoFit/>
          </a:bodyPr>
          <a:lstStyle/>
          <a:p>
            <a:pPr algn="l"/>
            <a:r>
              <a:rPr sz="1600" b="1">
                <a:solidFill>
                  <a:srgbClr val="8A9ABB"/>
                </a:solidFill>
              </a:rPr>
              <a:t>Last week:</a:t>
            </a:r>
            <a:endParaRPr sz="1600" b="1">
              <a:solidFill>
                <a:srgbClr val="8A9ABB"/>
              </a:solidFill>
            </a:endParaRPr>
          </a:p>
          <a:p>
            <a:r>
              <a:rPr sz="1600" b="0">
                <a:solidFill>
                  <a:srgbClr val="8A9ABB"/>
                </a:solidFill>
              </a:rPr>
              <a:t>❖  Motivation — why stablecoins matter for sovereign debt</a:t>
            </a:r>
            <a:endParaRPr sz="1600" b="0">
              <a:solidFill>
                <a:srgbClr val="8A9ABB"/>
              </a:solidFill>
            </a:endParaRPr>
          </a:p>
          <a:p>
            <a:r>
              <a:rPr sz="1600" b="0">
                <a:solidFill>
                  <a:srgbClr val="8A9ABB"/>
                </a:solidFill>
              </a:rPr>
              <a:t>❖  The New Triffin Dilemma — our core argument</a:t>
            </a:r>
            <a:endParaRPr sz="1600" b="0">
              <a:solidFill>
                <a:srgbClr val="8A9ABB"/>
              </a:solidFill>
            </a:endParaRPr>
          </a:p>
          <a:p>
            <a:r>
              <a:rPr sz="1600" b="0">
                <a:solidFill>
                  <a:srgbClr val="8A9ABB"/>
                </a:solidFill>
              </a:rPr>
              <a:t>❖  Theoretical extension of Maggiori (2017)</a:t>
            </a:r>
            <a:endParaRPr sz="1600" b="0">
              <a:solidFill>
                <a:srgbClr val="8A9ABB"/>
              </a:solidFill>
            </a:endParaRPr>
          </a:p>
          <a:p>
            <a:r>
              <a:rPr sz="1600" b="0">
                <a:solidFill>
                  <a:srgbClr val="8A9ABB"/>
                </a:solidFill>
              </a:rPr>
              <a:t>❖  Data &amp; Methodology</a:t>
            </a:r>
            <a:endParaRPr sz="1600" b="0">
              <a:solidFill>
                <a:srgbClr val="8A9ABB"/>
              </a:solidFill>
            </a:endParaRPr>
          </a:p>
          <a:p>
            <a:r>
              <a:rPr sz="1600" b="0">
                <a:solidFill>
                  <a:srgbClr val="8A9ABB"/>
                </a:solidFill>
              </a:rPr>
              <a:t>❖  Result 1 — Privilege amplification regression</a:t>
            </a:r>
            <a:endParaRPr sz="1600" b="0">
              <a:solidFill>
                <a:srgbClr val="8A9ABB"/>
              </a:solidFill>
            </a:endParaRPr>
          </a:p>
          <a:p>
            <a:r>
              <a:rPr sz="1600" b="0">
                <a:solidFill>
                  <a:srgbClr val="8A9ABB"/>
                </a:solidFill>
              </a:rPr>
              <a:t>❖  Result 2 — Reserve adequacy threshold (Hansen 2000)</a:t>
            </a:r>
            <a:endParaRPr sz="1600" b="0">
              <a:solidFill>
                <a:srgbClr val="8A9ABB"/>
              </a:solidFill>
            </a:endParaRPr>
          </a:p>
          <a:p>
            <a:endParaRPr sz="1600" b="0">
              <a:solidFill>
                <a:srgbClr val="8A9ABB"/>
              </a:solidFill>
            </a:endParaRPr>
          </a:p>
          <a:p>
            <a:r>
              <a:rPr sz="1800" b="1">
                <a:solidFill>
                  <a:srgbClr val="1A1A2E"/>
                </a:solidFill>
              </a:rPr>
              <a:t>This week:</a:t>
            </a:r>
            <a:endParaRPr sz="1800" b="1">
              <a:solidFill>
                <a:srgbClr val="1A1A2E"/>
              </a:solidFill>
            </a:endParaRPr>
          </a:p>
          <a:p>
            <a:r>
              <a:rPr sz="1800" b="0">
                <a:solidFill>
                  <a:srgbClr val="1A1A2E"/>
                </a:solidFill>
              </a:rPr>
              <a:t>❖  Literature Gap — placing our contribution</a:t>
            </a:r>
            <a:endParaRPr sz="1800" b="0">
              <a:solidFill>
                <a:srgbClr val="1A1A2E"/>
              </a:solidFill>
            </a:endParaRPr>
          </a:p>
          <a:p>
            <a:r>
              <a:rPr sz="1800" b="0">
                <a:solidFill>
                  <a:srgbClr val="1A1A2E"/>
                </a:solidFill>
              </a:rPr>
              <a:t>❖  Result 3 — Buffer-conditioned event study (causal evidence)</a:t>
            </a:r>
            <a:endParaRPr sz="1800" b="0">
              <a:solidFill>
                <a:srgbClr val="1A1A2E"/>
              </a:solidFill>
            </a:endParaRPr>
          </a:p>
          <a:p>
            <a:r>
              <a:rPr sz="1800" b="0">
                <a:solidFill>
                  <a:srgbClr val="1A1A2E"/>
                </a:solidFill>
              </a:rPr>
              <a:t>❖  Asymmetric Effects — Growth vs. Contraction periods (new)</a:t>
            </a:r>
            <a:endParaRPr sz="1800" b="0">
              <a:solidFill>
                <a:srgbClr val="1A1A2E"/>
              </a:solidFill>
            </a:endParaRPr>
          </a:p>
          <a:p>
            <a:r>
              <a:rPr sz="1800" b="0">
                <a:solidFill>
                  <a:srgbClr val="1A1A2E"/>
                </a:solidFill>
              </a:rPr>
              <a:t>❖  Policy Implication — 13% threshold reframed</a:t>
            </a:r>
            <a:endParaRPr sz="1800" b="0">
              <a:solidFill>
                <a:srgbClr val="1A1A2E"/>
              </a:solidFill>
            </a:endParaRPr>
          </a:p>
          <a:p>
            <a:r>
              <a:rPr sz="1800" b="0">
                <a:solidFill>
                  <a:srgbClr val="1A1A2E"/>
                </a:solidFill>
              </a:rPr>
              <a:t>❖  Conclusion</a:t>
            </a:r>
            <a:endParaRPr sz="1800" b="0">
              <a:solidFill>
                <a:srgbClr val="1A1A2E"/>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88825" cy="71501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91440"/>
            <a:ext cx="10515600" cy="491490"/>
          </a:xfrm>
          <a:prstGeom prst="rect">
            <a:avLst/>
          </a:prstGeom>
          <a:noFill/>
        </p:spPr>
        <p:txBody>
          <a:bodyPr wrap="square">
            <a:spAutoFit/>
          </a:bodyPr>
          <a:lstStyle/>
          <a:p>
            <a:r>
              <a:rPr lang="en-US" altLang="en-US" sz="2600" b="0">
                <a:solidFill>
                  <a:srgbClr val="FFFFFF"/>
                </a:solidFill>
              </a:rPr>
              <a:t>What The Literature Has Established — And Where It Stops</a:t>
            </a:r>
            <a:endParaRPr lang="en-US" altLang="en-US" sz="2600" b="0">
              <a:solidFill>
                <a:srgbClr val="FFFFFF"/>
              </a:solidFill>
            </a:endParaRPr>
          </a:p>
        </p:txBody>
      </p:sp>
      <p:sp>
        <p:nvSpPr>
          <p:cNvPr id="5" name="TextBox 4"/>
          <p:cNvSpPr txBox="1"/>
          <p:nvPr/>
        </p:nvSpPr>
        <p:spPr>
          <a:xfrm>
            <a:off x="9800000" y="207010"/>
            <a:ext cx="2200000" cy="245110"/>
          </a:xfrm>
          <a:prstGeom prst="rect">
            <a:avLst/>
          </a:prstGeom>
          <a:noFill/>
        </p:spPr>
        <p:txBody>
          <a:bodyPr wrap="square">
            <a:spAutoFit/>
          </a:bodyPr>
          <a:lstStyle/>
          <a:p>
            <a:pPr algn="r"/>
            <a:r>
              <a:rPr lang="en-US" sz="1000" b="0">
                <a:solidFill>
                  <a:srgbClr val="555566"/>
                </a:solidFill>
              </a:rPr>
              <a:t>Oybek </a:t>
            </a:r>
            <a:r>
              <a:rPr sz="1000" b="0">
                <a:solidFill>
                  <a:srgbClr val="555566"/>
                </a:solidFill>
              </a:rPr>
              <a:t>Page 3</a:t>
            </a:r>
            <a:endParaRPr sz="1000" b="0">
              <a:solidFill>
                <a:srgbClr val="555566"/>
              </a:solidFill>
            </a:endParaRPr>
          </a:p>
        </p:txBody>
      </p:sp>
      <p:sp>
        <p:nvSpPr>
          <p:cNvPr id="6" name="Rectangle 5"/>
          <p:cNvSpPr/>
          <p:nvPr/>
        </p:nvSpPr>
        <p:spPr>
          <a:xfrm>
            <a:off x="261620" y="4179570"/>
            <a:ext cx="11127740" cy="1356995"/>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1B3A72"/>
                </a:solidFill>
                <a:sym typeface="+mn-ea"/>
              </a:rPr>
              <a:t>Aldasoro &amp; Ahmed  (BIS WP 1270, 2025)</a:t>
            </a:r>
            <a:endParaRPr sz="1600" b="1">
              <a:solidFill>
                <a:srgbClr val="1B3A72"/>
              </a:solidFill>
            </a:endParaRPr>
          </a:p>
          <a:p>
            <a:pPr>
              <a:spcBef>
                <a:spcPts val="300"/>
              </a:spcBef>
            </a:pPr>
            <a:r>
              <a:rPr sz="1600">
                <a:solidFill>
                  <a:srgbClr val="1A7A4A"/>
                </a:solidFill>
                <a:sym typeface="+mn-ea"/>
              </a:rPr>
              <a:t>✓ </a:t>
            </a:r>
            <a:r>
              <a:rPr lang="en-US" altLang="en-US" sz="1600" b="0">
                <a:solidFill>
                  <a:srgbClr val="1A7A4A"/>
                </a:solidFill>
              </a:rPr>
              <a:t>Stablecoin inflows lower 3-month T-bill yields 2–2.5 basis points. Outflows raise yields 2–3x more. Effect is state-dependent on T-bill market supply.</a:t>
            </a:r>
            <a:endParaRPr lang="en-US" altLang="en-US" sz="1600" b="0">
              <a:solidFill>
                <a:srgbClr val="1A7A4A"/>
              </a:solidFill>
            </a:endParaRPr>
          </a:p>
          <a:p>
            <a:pPr>
              <a:spcBef>
                <a:spcPts val="200"/>
              </a:spcBef>
            </a:pPr>
            <a:r>
              <a:rPr sz="1600">
                <a:solidFill>
                  <a:srgbClr val="C0392B"/>
                </a:solidFill>
                <a:sym typeface="+mn-ea"/>
              </a:rPr>
              <a:t>✗  </a:t>
            </a:r>
            <a:r>
              <a:rPr lang="en-US" altLang="en-US" sz="1600" b="0">
                <a:solidFill>
                  <a:srgbClr val="C0392B"/>
                </a:solidFill>
              </a:rPr>
              <a:t>Moderating variable is market-level T-bill supply — not issuer reserve composition. Uses yield levels, not OIS-Treasury spread. No reserve adequacy threshold identified.</a:t>
            </a:r>
            <a:endParaRPr lang="en-US" altLang="en-US" sz="1600" b="0">
              <a:solidFill>
                <a:srgbClr val="C0392B"/>
              </a:solidFill>
            </a:endParaRPr>
          </a:p>
        </p:txBody>
      </p:sp>
      <p:sp>
        <p:nvSpPr>
          <p:cNvPr id="7" name="Rectangle 6"/>
          <p:cNvSpPr/>
          <p:nvPr/>
        </p:nvSpPr>
        <p:spPr>
          <a:xfrm>
            <a:off x="274320" y="817880"/>
            <a:ext cx="11548110" cy="38989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0045" y="852805"/>
            <a:ext cx="11407140" cy="306705"/>
          </a:xfrm>
          <a:prstGeom prst="rect">
            <a:avLst/>
          </a:prstGeom>
          <a:noFill/>
        </p:spPr>
        <p:txBody>
          <a:bodyPr wrap="square">
            <a:spAutoFit/>
          </a:bodyPr>
          <a:lstStyle/>
          <a:p>
            <a:pPr algn="ctr"/>
            <a:r>
              <a:rPr sz="1400" b="1">
                <a:solidFill>
                  <a:srgbClr val="FFFFFF"/>
                </a:solidFill>
              </a:rPr>
              <a:t>Existing Literature</a:t>
            </a:r>
            <a:endParaRPr sz="1400" b="1">
              <a:solidFill>
                <a:srgbClr val="FFFFFF"/>
              </a:solidFill>
            </a:endParaRPr>
          </a:p>
        </p:txBody>
      </p:sp>
      <p:sp>
        <p:nvSpPr>
          <p:cNvPr id="17" name="Rectangle 16"/>
          <p:cNvSpPr/>
          <p:nvPr/>
        </p:nvSpPr>
        <p:spPr>
          <a:xfrm>
            <a:off x="0" y="5862955"/>
            <a:ext cx="12188825" cy="994410"/>
          </a:xfrm>
          <a:prstGeom prst="rect">
            <a:avLst/>
          </a:prstGeom>
          <a:solidFill>
            <a:srgbClr val="D463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en-US"/>
              <a:t>Each paper answers one question and leaves the next one open. None jointly estimates how issuer reserve composition moderates the transmission from stablecoin activity to sovereign debt markets.</a:t>
            </a:r>
            <a:endParaRPr lang="en-US" altLang="en-US"/>
          </a:p>
        </p:txBody>
      </p:sp>
      <p:sp>
        <p:nvSpPr>
          <p:cNvPr id="20" name="Rectangle 19"/>
          <p:cNvSpPr/>
          <p:nvPr/>
        </p:nvSpPr>
        <p:spPr>
          <a:xfrm>
            <a:off x="273685" y="2643505"/>
            <a:ext cx="11127740" cy="1290955"/>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1B3A72"/>
                </a:solidFill>
                <a:sym typeface="+mn-ea"/>
              </a:rPr>
              <a:t>Gorton &amp; Zhang  (2023)</a:t>
            </a:r>
            <a:endParaRPr sz="1600" b="1">
              <a:solidFill>
                <a:srgbClr val="1B3A72"/>
              </a:solidFill>
            </a:endParaRPr>
          </a:p>
          <a:p>
            <a:pPr>
              <a:spcBef>
                <a:spcPts val="300"/>
              </a:spcBef>
            </a:pPr>
            <a:r>
              <a:rPr sz="1600">
                <a:solidFill>
                  <a:srgbClr val="1A7A4A"/>
                </a:solidFill>
                <a:sym typeface="+mn-ea"/>
              </a:rPr>
              <a:t>✓  </a:t>
            </a:r>
            <a:r>
              <a:rPr lang="en-US" altLang="en-US" sz="1600">
                <a:solidFill>
                  <a:srgbClr val="1A7A4A"/>
                </a:solidFill>
                <a:sym typeface="+mn-ea"/>
              </a:rPr>
              <a:t>Stablecoin issuers are unregulated banks. Runs are structurally inevitable without deposit insurance equivalents. Historical parallel to 19th century wildcat banking.</a:t>
            </a:r>
            <a:endParaRPr sz="1600" b="0">
              <a:solidFill>
                <a:srgbClr val="1A7A4A"/>
              </a:solidFill>
            </a:endParaRPr>
          </a:p>
          <a:p>
            <a:pPr>
              <a:spcBef>
                <a:spcPts val="200"/>
              </a:spcBef>
            </a:pPr>
            <a:r>
              <a:rPr sz="1600">
                <a:solidFill>
                  <a:srgbClr val="C0392B"/>
                </a:solidFill>
                <a:sym typeface="+mn-ea"/>
              </a:rPr>
              <a:t>✗  </a:t>
            </a:r>
            <a:r>
              <a:rPr lang="en-US" altLang="en-US" sz="1600" b="0">
                <a:solidFill>
                  <a:srgbClr val="C0392B"/>
                </a:solidFill>
                <a:sym typeface="+mn-ea"/>
              </a:rPr>
              <a:t>Identifies the run risk. Does not model how runs transmit to sovereign debt markets. No Treasury spread analysis. No threshold estimation.</a:t>
            </a:r>
            <a:endParaRPr lang="en-US" altLang="en-US" sz="1600" b="0">
              <a:solidFill>
                <a:srgbClr val="C0392B"/>
              </a:solidFill>
              <a:sym typeface="+mn-ea"/>
            </a:endParaRPr>
          </a:p>
        </p:txBody>
      </p:sp>
      <p:sp>
        <p:nvSpPr>
          <p:cNvPr id="21" name="Rectangle 20"/>
          <p:cNvSpPr/>
          <p:nvPr/>
        </p:nvSpPr>
        <p:spPr>
          <a:xfrm>
            <a:off x="273685" y="1300480"/>
            <a:ext cx="11115675" cy="125095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1B3A72"/>
                </a:solidFill>
                <a:sym typeface="+mn-ea"/>
              </a:rPr>
              <a:t>Lyons &amp; Viswanath-Natraj  (2023)</a:t>
            </a:r>
            <a:endParaRPr sz="1600" b="1">
              <a:solidFill>
                <a:srgbClr val="1B3A72"/>
              </a:solidFill>
            </a:endParaRPr>
          </a:p>
          <a:p>
            <a:pPr>
              <a:spcBef>
                <a:spcPts val="300"/>
              </a:spcBef>
            </a:pPr>
            <a:r>
              <a:rPr sz="1600">
                <a:solidFill>
                  <a:srgbClr val="1A7A4A"/>
                </a:solidFill>
                <a:sym typeface="+mn-ea"/>
              </a:rPr>
              <a:t>✓  </a:t>
            </a:r>
            <a:r>
              <a:rPr lang="en-US" altLang="en-US" sz="1600" b="0">
                <a:solidFill>
                  <a:srgbClr val="1A7A4A"/>
                </a:solidFill>
              </a:rPr>
              <a:t>Arbitrage mechanisms keep dollar-backed stablecoins pegged. Under-collateralised issuers face speculative attacks and devaluation risk.</a:t>
            </a:r>
            <a:endParaRPr lang="en-US" altLang="en-US" sz="1600" b="0">
              <a:solidFill>
                <a:srgbClr val="1A7A4A"/>
              </a:solidFill>
            </a:endParaRPr>
          </a:p>
          <a:p>
            <a:pPr>
              <a:spcBef>
                <a:spcPts val="200"/>
              </a:spcBef>
            </a:pPr>
            <a:r>
              <a:rPr sz="1600">
                <a:solidFill>
                  <a:srgbClr val="C0392B"/>
                </a:solidFill>
                <a:sym typeface="+mn-ea"/>
              </a:rPr>
              <a:t>✗  </a:t>
            </a:r>
            <a:r>
              <a:rPr lang="en-US" altLang="en-US" sz="1600" b="0">
                <a:solidFill>
                  <a:srgbClr val="C0392B"/>
                </a:solidFill>
                <a:sym typeface="+mn-ea"/>
              </a:rPr>
              <a:t>Internal peg mechanics only. No connection to Treasury market outcomes. No reserve adequacy variable.</a:t>
            </a:r>
            <a:endParaRPr lang="en-US" altLang="en-US" sz="1600" b="0">
              <a:solidFill>
                <a:srgbClr val="C0392B"/>
              </a:solidFill>
              <a:sym typeface="+mn-e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88952" cy="8686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91440"/>
            <a:ext cx="10515600" cy="491490"/>
          </a:xfrm>
          <a:prstGeom prst="rect">
            <a:avLst/>
          </a:prstGeom>
          <a:noFill/>
        </p:spPr>
        <p:txBody>
          <a:bodyPr wrap="square">
            <a:spAutoFit/>
          </a:bodyPr>
          <a:lstStyle/>
          <a:p>
            <a:r>
              <a:rPr lang="en-US" altLang="en-US" sz="2600" b="0">
                <a:solidFill>
                  <a:srgbClr val="FFFFFF"/>
                </a:solidFill>
              </a:rPr>
              <a:t>What Our Paper Does That No Paper Has Done</a:t>
            </a:r>
            <a:endParaRPr lang="en-US" altLang="en-US" sz="2600" b="0">
              <a:solidFill>
                <a:srgbClr val="FFFFFF"/>
              </a:solidFill>
            </a:endParaRPr>
          </a:p>
        </p:txBody>
      </p:sp>
      <p:sp>
        <p:nvSpPr>
          <p:cNvPr id="5" name="TextBox 4"/>
          <p:cNvSpPr txBox="1"/>
          <p:nvPr/>
        </p:nvSpPr>
        <p:spPr>
          <a:xfrm>
            <a:off x="9800000" y="207010"/>
            <a:ext cx="2200000" cy="245110"/>
          </a:xfrm>
          <a:prstGeom prst="rect">
            <a:avLst/>
          </a:prstGeom>
          <a:noFill/>
        </p:spPr>
        <p:txBody>
          <a:bodyPr wrap="square">
            <a:spAutoFit/>
          </a:bodyPr>
          <a:lstStyle/>
          <a:p>
            <a:pPr algn="r"/>
            <a:r>
              <a:rPr lang="en-US" sz="1000" b="0">
                <a:solidFill>
                  <a:srgbClr val="555566"/>
                </a:solidFill>
              </a:rPr>
              <a:t>Oybek </a:t>
            </a:r>
            <a:r>
              <a:rPr sz="1000" b="0">
                <a:solidFill>
                  <a:srgbClr val="555566"/>
                </a:solidFill>
              </a:rPr>
              <a:t>Page 3</a:t>
            </a:r>
            <a:endParaRPr sz="1000" b="0">
              <a:solidFill>
                <a:srgbClr val="555566"/>
              </a:solidFill>
            </a:endParaRPr>
          </a:p>
        </p:txBody>
      </p:sp>
      <p:sp>
        <p:nvSpPr>
          <p:cNvPr id="6" name="Rectangle 5"/>
          <p:cNvSpPr/>
          <p:nvPr/>
        </p:nvSpPr>
        <p:spPr>
          <a:xfrm>
            <a:off x="127635" y="1489710"/>
            <a:ext cx="5600700" cy="1545590"/>
          </a:xfrm>
          <a:prstGeom prst="rect">
            <a:avLst/>
          </a:prstGeom>
          <a:solidFill>
            <a:schemeClr val="accent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en-US" sz="1400">
                <a:solidFill>
                  <a:schemeClr val="tx1"/>
                </a:solidFill>
                <a:sym typeface="+mn-ea"/>
              </a:rPr>
              <a:t>"No existing study jointly estimates how issuer reserve adequacy moderates the transmission from stablecoin supply growth to OIS-Treasury spreads — or identifies the threshold below which this transmission becomes a sovereign liquidity shock."</a:t>
            </a:r>
            <a:endParaRPr lang="en-US" altLang="en-US" sz="1400" b="0">
              <a:solidFill>
                <a:schemeClr val="tx1"/>
              </a:solidFill>
              <a:sym typeface="+mn-ea"/>
            </a:endParaRPr>
          </a:p>
        </p:txBody>
      </p:sp>
      <p:sp>
        <p:nvSpPr>
          <p:cNvPr id="12" name="Rectangle 11"/>
          <p:cNvSpPr/>
          <p:nvPr/>
        </p:nvSpPr>
        <p:spPr>
          <a:xfrm>
            <a:off x="6026150" y="960120"/>
            <a:ext cx="5859780" cy="829310"/>
          </a:xfrm>
          <a:prstGeom prst="rect">
            <a:avLst/>
          </a:prstGeom>
          <a:solidFill>
            <a:srgbClr val="1B3A72"/>
          </a:solidFill>
          <a:ln>
            <a:noFill/>
          </a:ln>
          <a:effectLst>
            <a:outerShdw blurRad="40000" dist="23000" dir="5400000" rotWithShape="0">
              <a:srgbClr val="000000">
                <a:alpha val="35000"/>
              </a:srgbClr>
            </a:outerShdw>
            <a:softEdge rad="12700"/>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en-US" sz="1700"/>
              <a:t>1. Dependent variable: OIS–Treasury spread — not yield levels. Measures the privilege directly.</a:t>
            </a:r>
            <a:endParaRPr lang="en-US" altLang="en-US" sz="1700"/>
          </a:p>
        </p:txBody>
      </p:sp>
      <p:sp>
        <p:nvSpPr>
          <p:cNvPr id="17" name="Rectangle 16"/>
          <p:cNvSpPr/>
          <p:nvPr/>
        </p:nvSpPr>
        <p:spPr>
          <a:xfrm>
            <a:off x="0" y="5596128"/>
            <a:ext cx="12188952" cy="1097280"/>
          </a:xfrm>
          <a:prstGeom prst="rect">
            <a:avLst/>
          </a:prstGeom>
          <a:solidFill>
            <a:srgbClr val="D463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a:solidFill>
                  <a:srgbClr val="FFFFFF"/>
                </a:solidFill>
                <a:sym typeface="+mn-ea"/>
              </a:rPr>
              <a:t>β₄ and L* = 13% have no direct antecedent in the published literature.</a:t>
            </a:r>
            <a:endParaRPr b="1">
              <a:solidFill>
                <a:srgbClr val="FFFFFF"/>
              </a:solidFill>
            </a:endParaRPr>
          </a:p>
          <a:p>
            <a:pPr algn="ctr"/>
          </a:p>
        </p:txBody>
      </p:sp>
      <p:sp>
        <p:nvSpPr>
          <p:cNvPr id="19" name="Rectangle 18"/>
          <p:cNvSpPr/>
          <p:nvPr/>
        </p:nvSpPr>
        <p:spPr>
          <a:xfrm>
            <a:off x="6026150" y="1847850"/>
            <a:ext cx="5859780" cy="829310"/>
          </a:xfrm>
          <a:prstGeom prst="rect">
            <a:avLst/>
          </a:prstGeom>
          <a:solidFill>
            <a:srgbClr val="1B3A72"/>
          </a:solidFill>
          <a:ln>
            <a:noFill/>
          </a:ln>
          <a:effectLst>
            <a:outerShdw blurRad="40000" dist="23000" dir="5400000" rotWithShape="0">
              <a:srgbClr val="000000">
                <a:alpha val="35000"/>
              </a:srgbClr>
            </a:outerShdw>
            <a:softEdge rad="12700"/>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en-US" sz="1700"/>
              <a:t>2. Moderating variable: Issuer liquid buffer L — not market supply. Policy-actionable.</a:t>
            </a:r>
            <a:endParaRPr lang="en-US" altLang="en-US" sz="1700"/>
          </a:p>
        </p:txBody>
      </p:sp>
      <p:sp>
        <p:nvSpPr>
          <p:cNvPr id="20" name="Rectangle 19"/>
          <p:cNvSpPr/>
          <p:nvPr/>
        </p:nvSpPr>
        <p:spPr>
          <a:xfrm>
            <a:off x="6026150" y="2767330"/>
            <a:ext cx="5859780" cy="829310"/>
          </a:xfrm>
          <a:prstGeom prst="rect">
            <a:avLst/>
          </a:prstGeom>
          <a:solidFill>
            <a:srgbClr val="1B3A72"/>
          </a:solidFill>
          <a:ln>
            <a:noFill/>
          </a:ln>
          <a:effectLst>
            <a:outerShdw blurRad="40000" dist="23000" dir="5400000" rotWithShape="0">
              <a:srgbClr val="000000">
                <a:alpha val="35000"/>
              </a:srgbClr>
            </a:outerShdw>
            <a:softEdge rad="12700"/>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n-US" altLang="en-US" sz="1700"/>
              <a:t>3. Interaction term β₄: How L moderates stablecoin issuance effect on spreads. No antecedent.</a:t>
            </a:r>
            <a:endParaRPr lang="en-US" altLang="en-US" sz="1700"/>
          </a:p>
        </p:txBody>
      </p:sp>
      <p:sp>
        <p:nvSpPr>
          <p:cNvPr id="21" name="Rectangle 20"/>
          <p:cNvSpPr/>
          <p:nvPr/>
        </p:nvSpPr>
        <p:spPr>
          <a:xfrm>
            <a:off x="6026150" y="3656330"/>
            <a:ext cx="5859780" cy="829310"/>
          </a:xfrm>
          <a:prstGeom prst="rect">
            <a:avLst/>
          </a:prstGeom>
          <a:solidFill>
            <a:srgbClr val="1B3A72"/>
          </a:solidFill>
          <a:ln>
            <a:noFill/>
          </a:ln>
          <a:effectLst>
            <a:outerShdw blurRad="40000" dist="23000" dir="5400000" rotWithShape="0">
              <a:srgbClr val="000000">
                <a:alpha val="35000"/>
              </a:srgbClr>
            </a:outerShdw>
            <a:softEdge rad="12700"/>
          </a:effectLst>
        </p:spPr>
        <p:style>
          <a:lnRef idx="1">
            <a:schemeClr val="accent1"/>
          </a:lnRef>
          <a:fillRef idx="3">
            <a:schemeClr val="accent1"/>
          </a:fillRef>
          <a:effectRef idx="2">
            <a:schemeClr val="accent1"/>
          </a:effectRef>
          <a:fontRef idx="minor">
            <a:schemeClr val="lt1"/>
          </a:fontRef>
        </p:style>
        <p:txBody>
          <a:bodyPr rtlCol="0" anchor="ctr"/>
          <a:lstStyle/>
          <a:p>
            <a:pPr algn="l"/>
            <a:r>
              <a:rPr lang="en-US" altLang="en-US" sz="1700"/>
              <a:t>4. Threshold L = 13%:* Hansen (2000) structural break separating two distinct regimes.First empirical estimate of this kind.</a:t>
            </a:r>
            <a:endParaRPr lang="en-US" altLang="en-US" sz="1700"/>
          </a:p>
        </p:txBody>
      </p:sp>
      <p:sp>
        <p:nvSpPr>
          <p:cNvPr id="22" name="Rectangle 21"/>
          <p:cNvSpPr/>
          <p:nvPr/>
        </p:nvSpPr>
        <p:spPr>
          <a:xfrm>
            <a:off x="6026150" y="4545330"/>
            <a:ext cx="5859780" cy="829310"/>
          </a:xfrm>
          <a:prstGeom prst="rect">
            <a:avLst/>
          </a:prstGeom>
          <a:solidFill>
            <a:srgbClr val="1B3A72"/>
          </a:solidFill>
          <a:ln>
            <a:noFill/>
          </a:ln>
          <a:effectLst>
            <a:outerShdw blurRad="40000" dist="23000" dir="5400000" rotWithShape="0">
              <a:srgbClr val="000000">
                <a:alpha val="35000"/>
              </a:srgbClr>
            </a:outerShdw>
            <a:softEdge rad="12700"/>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en-US" sz="1700"/>
              <a:t>5. Asymmetric effects: Growth vs. contraction periods separated. Consistent with Ahmed &amp; Aldasoro's own asymmetry finding.</a:t>
            </a:r>
            <a:endParaRPr lang="en-US" altLang="en-US" sz="1700"/>
          </a:p>
        </p:txBody>
      </p:sp>
      <p:sp>
        <p:nvSpPr>
          <p:cNvPr id="30" name="Rectangle 29"/>
          <p:cNvSpPr/>
          <p:nvPr/>
        </p:nvSpPr>
        <p:spPr>
          <a:xfrm>
            <a:off x="127635" y="4201160"/>
            <a:ext cx="5600065" cy="1126490"/>
          </a:xfrm>
          <a:prstGeom prst="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en-US" sz="1200">
                <a:solidFill>
                  <a:schemeClr val="tx1"/>
                </a:solidFill>
                <a:sym typeface="+mn-ea"/>
              </a:rPr>
              <a:t>We fill this gap by combining three strands no paper has combined simultaneously:</a:t>
            </a:r>
            <a:endParaRPr lang="en-US" altLang="en-US" sz="1200" b="0">
              <a:solidFill>
                <a:schemeClr val="tx1"/>
              </a:solidFill>
            </a:endParaRPr>
          </a:p>
          <a:p>
            <a:pPr algn="ctr"/>
            <a:endParaRPr lang="en-US" altLang="en-US" sz="1200" b="0">
              <a:solidFill>
                <a:schemeClr val="tx1"/>
              </a:solidFill>
            </a:endParaRPr>
          </a:p>
          <a:p>
            <a:pPr algn="ctr"/>
            <a:r>
              <a:rPr lang="en-US" altLang="en-US" sz="1200">
                <a:solidFill>
                  <a:schemeClr val="tx1"/>
                </a:solidFill>
                <a:sym typeface="+mn-ea"/>
              </a:rPr>
              <a:t>Exorbitant privilege framework (Maggiori 2017)</a:t>
            </a:r>
            <a:endParaRPr lang="en-US" altLang="en-US" sz="1200" b="0">
              <a:solidFill>
                <a:schemeClr val="tx1"/>
              </a:solidFill>
            </a:endParaRPr>
          </a:p>
          <a:p>
            <a:pPr algn="ctr"/>
            <a:r>
              <a:rPr lang="en-US" altLang="en-US" sz="1200">
                <a:solidFill>
                  <a:schemeClr val="tx1"/>
                </a:solidFill>
                <a:sym typeface="+mn-ea"/>
              </a:rPr>
              <a:t>Stablecoin run risk (Gorton &amp; Zhang 2023)</a:t>
            </a:r>
            <a:endParaRPr lang="en-US" altLang="en-US" sz="1200" b="0">
              <a:solidFill>
                <a:schemeClr val="tx1"/>
              </a:solidFill>
            </a:endParaRPr>
          </a:p>
          <a:p>
            <a:pPr algn="ctr"/>
            <a:r>
              <a:rPr lang="en-US" altLang="en-US" sz="1200">
                <a:solidFill>
                  <a:schemeClr val="tx1"/>
                </a:solidFill>
                <a:sym typeface="+mn-ea"/>
              </a:rPr>
              <a:t>Reserve adequacy methodology (Jeanne &amp; Rancière 2011)</a:t>
            </a:r>
            <a:endParaRPr lang="en-US" altLang="en-US" sz="1200">
              <a:solidFill>
                <a:schemeClr val="tx1"/>
              </a:solidFill>
              <a:sym typeface="+mn-e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686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91440"/>
            <a:ext cx="10515600" cy="550000"/>
          </a:xfrm>
          <a:prstGeom prst="rect">
            <a:avLst/>
          </a:prstGeom>
          <a:noFill/>
        </p:spPr>
        <p:txBody>
          <a:bodyPr wrap="square">
            <a:spAutoFit/>
          </a:bodyPr>
          <a:lstStyle/>
          <a:p>
            <a:r>
              <a:rPr sz="2600" b="0">
                <a:solidFill>
                  <a:srgbClr val="FFFFFF"/>
                </a:solidFill>
              </a:rPr>
              <a:t>Result 3: Buffer-Conditioned Event Study</a:t>
            </a:r>
            <a:endParaRPr sz="2600" b="0">
              <a:solidFill>
                <a:srgbClr val="FFFFFF"/>
              </a:solidFill>
            </a:endParaRPr>
          </a:p>
        </p:txBody>
      </p:sp>
      <p:sp>
        <p:nvSpPr>
          <p:cNvPr id="5" name="TextBox 4"/>
          <p:cNvSpPr txBox="1"/>
          <p:nvPr/>
        </p:nvSpPr>
        <p:spPr>
          <a:xfrm>
            <a:off x="9800000" y="207010"/>
            <a:ext cx="2200000" cy="368300"/>
          </a:xfrm>
          <a:prstGeom prst="rect">
            <a:avLst/>
          </a:prstGeom>
          <a:noFill/>
        </p:spPr>
        <p:txBody>
          <a:bodyPr wrap="square">
            <a:spAutoFit/>
          </a:bodyPr>
          <a:lstStyle/>
          <a:p>
            <a:pPr algn="r"/>
            <a:r>
              <a:rPr sz="1000" b="0">
                <a:solidFill>
                  <a:srgbClr val="555566"/>
                </a:solidFill>
              </a:rPr>
              <a:t>Jade  Page 4</a:t>
            </a:r>
            <a:endParaRPr sz="1000" b="0">
              <a:solidFill>
                <a:srgbClr val="555566"/>
              </a:solidFill>
            </a:endParaRPr>
          </a:p>
        </p:txBody>
      </p:sp>
      <p:pic>
        <p:nvPicPr>
          <p:cNvPr id="6" name="Picture 5" descr="event_study_cars.png"/>
          <p:cNvPicPr>
            <a:picLocks noChangeAspect="1"/>
          </p:cNvPicPr>
          <p:nvPr/>
        </p:nvPicPr>
        <p:blipFill>
          <a:blip r:embed="rId1"/>
          <a:stretch>
            <a:fillRect/>
          </a:stretch>
        </p:blipFill>
        <p:spPr>
          <a:xfrm>
            <a:off x="228600" y="960120"/>
            <a:ext cx="6858000" cy="4572000"/>
          </a:xfrm>
          <a:prstGeom prst="rect">
            <a:avLst/>
          </a:prstGeom>
        </p:spPr>
      </p:pic>
      <p:sp>
        <p:nvSpPr>
          <p:cNvPr id="7" name="Rectangle 6"/>
          <p:cNvSpPr/>
          <p:nvPr/>
        </p:nvSpPr>
        <p:spPr>
          <a:xfrm>
            <a:off x="7314999" y="960120"/>
            <a:ext cx="4675619" cy="38000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45000" y="1020120"/>
            <a:ext cx="779270" cy="260000"/>
          </a:xfrm>
          <a:prstGeom prst="rect">
            <a:avLst/>
          </a:prstGeom>
          <a:noFill/>
        </p:spPr>
        <p:txBody>
          <a:bodyPr wrap="square">
            <a:spAutoFit/>
          </a:bodyPr>
          <a:lstStyle/>
          <a:p>
            <a:r>
              <a:rPr sz="1100" b="1">
                <a:solidFill>
                  <a:srgbClr val="FFFFFF"/>
                </a:solidFill>
              </a:rPr>
              <a:t>Event</a:t>
            </a:r>
            <a:endParaRPr sz="1100" b="1">
              <a:solidFill>
                <a:srgbClr val="FFFFFF"/>
              </a:solidFill>
            </a:endParaRPr>
          </a:p>
        </p:txBody>
      </p:sp>
      <p:sp>
        <p:nvSpPr>
          <p:cNvPr id="9" name="TextBox 8"/>
          <p:cNvSpPr txBox="1"/>
          <p:nvPr/>
        </p:nvSpPr>
        <p:spPr>
          <a:xfrm>
            <a:off x="9345000" y="1020120"/>
            <a:ext cx="779270" cy="260000"/>
          </a:xfrm>
          <a:prstGeom prst="rect">
            <a:avLst/>
          </a:prstGeom>
          <a:noFill/>
        </p:spPr>
        <p:txBody>
          <a:bodyPr wrap="square">
            <a:spAutoFit/>
          </a:bodyPr>
          <a:lstStyle/>
          <a:p>
            <a:r>
              <a:rPr sz="1100" b="1">
                <a:solidFill>
                  <a:srgbClr val="FFFFFF"/>
                </a:solidFill>
              </a:rPr>
              <a:t>Buffer</a:t>
            </a:r>
            <a:endParaRPr sz="1100" b="1">
              <a:solidFill>
                <a:srgbClr val="FFFFFF"/>
              </a:solidFill>
            </a:endParaRPr>
          </a:p>
        </p:txBody>
      </p:sp>
      <p:sp>
        <p:nvSpPr>
          <p:cNvPr id="10" name="TextBox 9"/>
          <p:cNvSpPr txBox="1"/>
          <p:nvPr/>
        </p:nvSpPr>
        <p:spPr>
          <a:xfrm>
            <a:off x="10245000" y="1020120"/>
            <a:ext cx="779270" cy="260000"/>
          </a:xfrm>
          <a:prstGeom prst="rect">
            <a:avLst/>
          </a:prstGeom>
          <a:noFill/>
        </p:spPr>
        <p:txBody>
          <a:bodyPr wrap="square">
            <a:spAutoFit/>
          </a:bodyPr>
          <a:lstStyle/>
          <a:p>
            <a:r>
              <a:rPr sz="1100" b="1">
                <a:solidFill>
                  <a:srgbClr val="FFFFFF"/>
                </a:solidFill>
              </a:rPr>
              <a:t>CAR</a:t>
            </a:r>
            <a:endParaRPr sz="1100" b="1">
              <a:solidFill>
                <a:srgbClr val="FFFFFF"/>
              </a:solidFill>
            </a:endParaRPr>
          </a:p>
        </p:txBody>
      </p:sp>
      <p:sp>
        <p:nvSpPr>
          <p:cNvPr id="11" name="TextBox 10"/>
          <p:cNvSpPr txBox="1"/>
          <p:nvPr/>
        </p:nvSpPr>
        <p:spPr>
          <a:xfrm>
            <a:off x="10945000" y="1020120"/>
            <a:ext cx="779270" cy="260000"/>
          </a:xfrm>
          <a:prstGeom prst="rect">
            <a:avLst/>
          </a:prstGeom>
          <a:noFill/>
        </p:spPr>
        <p:txBody>
          <a:bodyPr wrap="square">
            <a:spAutoFit/>
          </a:bodyPr>
          <a:lstStyle/>
          <a:p>
            <a:r>
              <a:rPr sz="1100" b="1">
                <a:solidFill>
                  <a:srgbClr val="FFFFFF"/>
                </a:solidFill>
              </a:rPr>
              <a:t>Sig.</a:t>
            </a:r>
            <a:endParaRPr sz="1100" b="1">
              <a:solidFill>
                <a:srgbClr val="FFFFFF"/>
              </a:solidFill>
            </a:endParaRPr>
          </a:p>
        </p:txBody>
      </p:sp>
      <p:sp>
        <p:nvSpPr>
          <p:cNvPr id="12" name="Rectangle 11"/>
          <p:cNvSpPr/>
          <p:nvPr/>
        </p:nvSpPr>
        <p:spPr>
          <a:xfrm>
            <a:off x="7314999" y="1340120"/>
            <a:ext cx="4675619" cy="400000"/>
          </a:xfrm>
          <a:prstGeom prst="rect">
            <a:avLst/>
          </a:prstGeom>
          <a:solidFill>
            <a:srgbClr val="FCEB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44999" y="1410120"/>
            <a:ext cx="1544358" cy="261610"/>
          </a:xfrm>
          <a:prstGeom prst="rect">
            <a:avLst/>
          </a:prstGeom>
          <a:noFill/>
        </p:spPr>
        <p:txBody>
          <a:bodyPr wrap="square">
            <a:spAutoFit/>
          </a:bodyPr>
          <a:lstStyle/>
          <a:p>
            <a:r>
              <a:rPr sz="1100" b="0" dirty="0">
                <a:solidFill>
                  <a:srgbClr val="1A1A2E"/>
                </a:solidFill>
              </a:rPr>
              <a:t>LUNA/UST Collapse</a:t>
            </a:r>
            <a:endParaRPr sz="1100" b="0" dirty="0">
              <a:solidFill>
                <a:srgbClr val="1A1A2E"/>
              </a:solidFill>
            </a:endParaRPr>
          </a:p>
        </p:txBody>
      </p:sp>
      <p:sp>
        <p:nvSpPr>
          <p:cNvPr id="14" name="TextBox 13"/>
          <p:cNvSpPr txBox="1"/>
          <p:nvPr/>
        </p:nvSpPr>
        <p:spPr>
          <a:xfrm>
            <a:off x="9344999" y="1410120"/>
            <a:ext cx="757005" cy="261610"/>
          </a:xfrm>
          <a:prstGeom prst="rect">
            <a:avLst/>
          </a:prstGeom>
          <a:noFill/>
        </p:spPr>
        <p:txBody>
          <a:bodyPr wrap="square">
            <a:spAutoFit/>
          </a:bodyPr>
          <a:lstStyle/>
          <a:p>
            <a:r>
              <a:rPr sz="1100" b="0">
                <a:solidFill>
                  <a:srgbClr val="C0392B"/>
                </a:solidFill>
              </a:rPr>
              <a:t>LOW</a:t>
            </a:r>
            <a:endParaRPr sz="1100" b="0">
              <a:solidFill>
                <a:srgbClr val="C0392B"/>
              </a:solidFill>
            </a:endParaRPr>
          </a:p>
        </p:txBody>
      </p:sp>
      <p:sp>
        <p:nvSpPr>
          <p:cNvPr id="15" name="TextBox 14"/>
          <p:cNvSpPr txBox="1"/>
          <p:nvPr/>
        </p:nvSpPr>
        <p:spPr>
          <a:xfrm>
            <a:off x="10244999" y="1410120"/>
            <a:ext cx="757005" cy="261610"/>
          </a:xfrm>
          <a:prstGeom prst="rect">
            <a:avLst/>
          </a:prstGeom>
          <a:noFill/>
        </p:spPr>
        <p:txBody>
          <a:bodyPr wrap="square">
            <a:spAutoFit/>
          </a:bodyPr>
          <a:lstStyle/>
          <a:p>
            <a:r>
              <a:rPr sz="1100" b="0">
                <a:solidFill>
                  <a:srgbClr val="C0392B"/>
                </a:solidFill>
              </a:rPr>
              <a:t>+8.91 bp</a:t>
            </a:r>
            <a:endParaRPr sz="1100" b="0">
              <a:solidFill>
                <a:srgbClr val="C0392B"/>
              </a:solidFill>
            </a:endParaRPr>
          </a:p>
        </p:txBody>
      </p:sp>
      <p:sp>
        <p:nvSpPr>
          <p:cNvPr id="16" name="TextBox 15"/>
          <p:cNvSpPr txBox="1"/>
          <p:nvPr/>
        </p:nvSpPr>
        <p:spPr>
          <a:xfrm>
            <a:off x="10944999" y="1410120"/>
            <a:ext cx="757005" cy="261610"/>
          </a:xfrm>
          <a:prstGeom prst="rect">
            <a:avLst/>
          </a:prstGeom>
          <a:noFill/>
        </p:spPr>
        <p:txBody>
          <a:bodyPr wrap="square">
            <a:spAutoFit/>
          </a:bodyPr>
          <a:lstStyle/>
          <a:p>
            <a:r>
              <a:rPr sz="1100" b="0">
                <a:solidFill>
                  <a:srgbClr val="C0392B"/>
                </a:solidFill>
              </a:rPr>
              <a:t>***</a:t>
            </a:r>
            <a:endParaRPr sz="1100" b="0">
              <a:solidFill>
                <a:srgbClr val="C0392B"/>
              </a:solidFill>
            </a:endParaRPr>
          </a:p>
        </p:txBody>
      </p:sp>
      <p:sp>
        <p:nvSpPr>
          <p:cNvPr id="17" name="Rectangle 16"/>
          <p:cNvSpPr/>
          <p:nvPr/>
        </p:nvSpPr>
        <p:spPr>
          <a:xfrm>
            <a:off x="7314999" y="1750120"/>
            <a:ext cx="4675619" cy="400000"/>
          </a:xfrm>
          <a:prstGeom prst="rect">
            <a:avLst/>
          </a:prstGeom>
          <a:solidFill>
            <a:srgbClr val="FCEB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44999" y="1820120"/>
            <a:ext cx="1544358" cy="261610"/>
          </a:xfrm>
          <a:prstGeom prst="rect">
            <a:avLst/>
          </a:prstGeom>
          <a:noFill/>
        </p:spPr>
        <p:txBody>
          <a:bodyPr wrap="square">
            <a:spAutoFit/>
          </a:bodyPr>
          <a:lstStyle/>
          <a:p>
            <a:r>
              <a:rPr sz="1100" b="0" dirty="0">
                <a:solidFill>
                  <a:srgbClr val="1A1A2E"/>
                </a:solidFill>
              </a:rPr>
              <a:t>USDT Partial </a:t>
            </a:r>
            <a:r>
              <a:rPr sz="1100" b="0" dirty="0" err="1">
                <a:solidFill>
                  <a:srgbClr val="1A1A2E"/>
                </a:solidFill>
              </a:rPr>
              <a:t>Depeg</a:t>
            </a:r>
            <a:endParaRPr sz="1100" b="0" dirty="0">
              <a:solidFill>
                <a:srgbClr val="1A1A2E"/>
              </a:solidFill>
            </a:endParaRPr>
          </a:p>
        </p:txBody>
      </p:sp>
      <p:sp>
        <p:nvSpPr>
          <p:cNvPr id="19" name="TextBox 18"/>
          <p:cNvSpPr txBox="1"/>
          <p:nvPr/>
        </p:nvSpPr>
        <p:spPr>
          <a:xfrm>
            <a:off x="9344999" y="1820120"/>
            <a:ext cx="757005" cy="261610"/>
          </a:xfrm>
          <a:prstGeom prst="rect">
            <a:avLst/>
          </a:prstGeom>
          <a:noFill/>
        </p:spPr>
        <p:txBody>
          <a:bodyPr wrap="square">
            <a:spAutoFit/>
          </a:bodyPr>
          <a:lstStyle/>
          <a:p>
            <a:r>
              <a:rPr sz="1100" b="0">
                <a:solidFill>
                  <a:srgbClr val="C0392B"/>
                </a:solidFill>
              </a:rPr>
              <a:t>LOW</a:t>
            </a:r>
            <a:endParaRPr sz="1100" b="0">
              <a:solidFill>
                <a:srgbClr val="C0392B"/>
              </a:solidFill>
            </a:endParaRPr>
          </a:p>
        </p:txBody>
      </p:sp>
      <p:sp>
        <p:nvSpPr>
          <p:cNvPr id="20" name="TextBox 19"/>
          <p:cNvSpPr txBox="1"/>
          <p:nvPr/>
        </p:nvSpPr>
        <p:spPr>
          <a:xfrm>
            <a:off x="10244999" y="1820120"/>
            <a:ext cx="757005" cy="261610"/>
          </a:xfrm>
          <a:prstGeom prst="rect">
            <a:avLst/>
          </a:prstGeom>
          <a:noFill/>
        </p:spPr>
        <p:txBody>
          <a:bodyPr wrap="square">
            <a:spAutoFit/>
          </a:bodyPr>
          <a:lstStyle/>
          <a:p>
            <a:r>
              <a:rPr sz="1100" b="0">
                <a:solidFill>
                  <a:srgbClr val="C0392B"/>
                </a:solidFill>
              </a:rPr>
              <a:t>+8.85 bp</a:t>
            </a:r>
            <a:endParaRPr sz="1100" b="0">
              <a:solidFill>
                <a:srgbClr val="C0392B"/>
              </a:solidFill>
            </a:endParaRPr>
          </a:p>
        </p:txBody>
      </p:sp>
      <p:sp>
        <p:nvSpPr>
          <p:cNvPr id="21" name="TextBox 20"/>
          <p:cNvSpPr txBox="1"/>
          <p:nvPr/>
        </p:nvSpPr>
        <p:spPr>
          <a:xfrm>
            <a:off x="10944999" y="1820120"/>
            <a:ext cx="757005" cy="261610"/>
          </a:xfrm>
          <a:prstGeom prst="rect">
            <a:avLst/>
          </a:prstGeom>
          <a:noFill/>
        </p:spPr>
        <p:txBody>
          <a:bodyPr wrap="square">
            <a:spAutoFit/>
          </a:bodyPr>
          <a:lstStyle/>
          <a:p>
            <a:r>
              <a:rPr sz="1100" b="0">
                <a:solidFill>
                  <a:srgbClr val="C0392B"/>
                </a:solidFill>
              </a:rPr>
              <a:t>***</a:t>
            </a:r>
            <a:endParaRPr sz="1100" b="0">
              <a:solidFill>
                <a:srgbClr val="C0392B"/>
              </a:solidFill>
            </a:endParaRPr>
          </a:p>
        </p:txBody>
      </p:sp>
      <p:sp>
        <p:nvSpPr>
          <p:cNvPr id="22" name="Rectangle 21"/>
          <p:cNvSpPr/>
          <p:nvPr/>
        </p:nvSpPr>
        <p:spPr>
          <a:xfrm>
            <a:off x="7314999" y="2160120"/>
            <a:ext cx="4675619" cy="400000"/>
          </a:xfrm>
          <a:prstGeom prst="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44999" y="2230120"/>
            <a:ext cx="1544358" cy="261610"/>
          </a:xfrm>
          <a:prstGeom prst="rect">
            <a:avLst/>
          </a:prstGeom>
          <a:noFill/>
        </p:spPr>
        <p:txBody>
          <a:bodyPr wrap="square">
            <a:spAutoFit/>
          </a:bodyPr>
          <a:lstStyle/>
          <a:p>
            <a:r>
              <a:rPr sz="1100" b="0" dirty="0">
                <a:solidFill>
                  <a:srgbClr val="1A1A2E"/>
                </a:solidFill>
              </a:rPr>
              <a:t>USDC / SVB Failure</a:t>
            </a:r>
            <a:endParaRPr sz="1100" b="0" dirty="0">
              <a:solidFill>
                <a:srgbClr val="1A1A2E"/>
              </a:solidFill>
            </a:endParaRPr>
          </a:p>
        </p:txBody>
      </p:sp>
      <p:sp>
        <p:nvSpPr>
          <p:cNvPr id="24" name="TextBox 23"/>
          <p:cNvSpPr txBox="1"/>
          <p:nvPr/>
        </p:nvSpPr>
        <p:spPr>
          <a:xfrm>
            <a:off x="9344999" y="2230120"/>
            <a:ext cx="757005" cy="261610"/>
          </a:xfrm>
          <a:prstGeom prst="rect">
            <a:avLst/>
          </a:prstGeom>
          <a:noFill/>
        </p:spPr>
        <p:txBody>
          <a:bodyPr wrap="square">
            <a:spAutoFit/>
          </a:bodyPr>
          <a:lstStyle/>
          <a:p>
            <a:r>
              <a:rPr sz="1100" b="0">
                <a:solidFill>
                  <a:srgbClr val="1A7A4A"/>
                </a:solidFill>
              </a:rPr>
              <a:t>HIGH</a:t>
            </a:r>
            <a:endParaRPr sz="1100" b="0">
              <a:solidFill>
                <a:srgbClr val="1A7A4A"/>
              </a:solidFill>
            </a:endParaRPr>
          </a:p>
        </p:txBody>
      </p:sp>
      <p:sp>
        <p:nvSpPr>
          <p:cNvPr id="25" name="TextBox 24"/>
          <p:cNvSpPr txBox="1"/>
          <p:nvPr/>
        </p:nvSpPr>
        <p:spPr>
          <a:xfrm>
            <a:off x="10244999" y="2230120"/>
            <a:ext cx="757005" cy="261610"/>
          </a:xfrm>
          <a:prstGeom prst="rect">
            <a:avLst/>
          </a:prstGeom>
          <a:noFill/>
        </p:spPr>
        <p:txBody>
          <a:bodyPr wrap="square">
            <a:spAutoFit/>
          </a:bodyPr>
          <a:lstStyle/>
          <a:p>
            <a:r>
              <a:rPr sz="1100" b="0">
                <a:solidFill>
                  <a:srgbClr val="1A7A4A"/>
                </a:solidFill>
              </a:rPr>
              <a:t>−18.01 bp</a:t>
            </a:r>
            <a:endParaRPr sz="1100" b="0">
              <a:solidFill>
                <a:srgbClr val="1A7A4A"/>
              </a:solidFill>
            </a:endParaRPr>
          </a:p>
        </p:txBody>
      </p:sp>
      <p:sp>
        <p:nvSpPr>
          <p:cNvPr id="26" name="TextBox 25"/>
          <p:cNvSpPr txBox="1"/>
          <p:nvPr/>
        </p:nvSpPr>
        <p:spPr>
          <a:xfrm>
            <a:off x="10944999" y="2230120"/>
            <a:ext cx="757005" cy="261610"/>
          </a:xfrm>
          <a:prstGeom prst="rect">
            <a:avLst/>
          </a:prstGeom>
          <a:noFill/>
        </p:spPr>
        <p:txBody>
          <a:bodyPr wrap="square">
            <a:spAutoFit/>
          </a:bodyPr>
          <a:lstStyle/>
          <a:p>
            <a:r>
              <a:rPr sz="1100" b="0">
                <a:solidFill>
                  <a:srgbClr val="1A7A4A"/>
                </a:solidFill>
              </a:rPr>
              <a:t>***</a:t>
            </a:r>
            <a:endParaRPr sz="1100" b="0">
              <a:solidFill>
                <a:srgbClr val="1A7A4A"/>
              </a:solidFill>
            </a:endParaRPr>
          </a:p>
        </p:txBody>
      </p:sp>
      <p:sp>
        <p:nvSpPr>
          <p:cNvPr id="27" name="TextBox 26"/>
          <p:cNvSpPr txBox="1"/>
          <p:nvPr/>
        </p:nvSpPr>
        <p:spPr>
          <a:xfrm>
            <a:off x="7314999" y="2610120"/>
            <a:ext cx="4675619" cy="246221"/>
          </a:xfrm>
          <a:prstGeom prst="rect">
            <a:avLst/>
          </a:prstGeom>
          <a:noFill/>
        </p:spPr>
        <p:txBody>
          <a:bodyPr wrap="square">
            <a:spAutoFit/>
          </a:bodyPr>
          <a:lstStyle/>
          <a:p>
            <a:r>
              <a:rPr sz="1000" b="0">
                <a:solidFill>
                  <a:srgbClr val="555566"/>
                </a:solidFill>
              </a:rPr>
              <a:t>Low vs. High buffer diff-test: t = 15.22, p &lt; 0.001</a:t>
            </a:r>
            <a:endParaRPr sz="1000" b="0">
              <a:solidFill>
                <a:srgbClr val="555566"/>
              </a:solidFill>
            </a:endParaRPr>
          </a:p>
        </p:txBody>
      </p:sp>
      <p:sp>
        <p:nvSpPr>
          <p:cNvPr id="28" name="Rectangle 27"/>
          <p:cNvSpPr/>
          <p:nvPr/>
        </p:nvSpPr>
        <p:spPr>
          <a:xfrm>
            <a:off x="7315000" y="3060120"/>
            <a:ext cx="4200000" cy="220000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95000" y="3160120"/>
            <a:ext cx="4000000" cy="1672253"/>
          </a:xfrm>
          <a:prstGeom prst="rect">
            <a:avLst/>
          </a:prstGeom>
          <a:noFill/>
        </p:spPr>
        <p:txBody>
          <a:bodyPr wrap="square">
            <a:spAutoFit/>
          </a:bodyPr>
          <a:lstStyle/>
          <a:p>
            <a:pPr algn="l"/>
            <a:r>
              <a:rPr sz="1400" b="1" dirty="0">
                <a:solidFill>
                  <a:srgbClr val="AAC4E8"/>
                </a:solidFill>
              </a:rPr>
              <a:t>What this shows:</a:t>
            </a:r>
            <a:endParaRPr sz="1400" b="1" dirty="0">
              <a:solidFill>
                <a:srgbClr val="AAC4E8"/>
              </a:solidFill>
            </a:endParaRPr>
          </a:p>
          <a:p>
            <a:pPr>
              <a:spcBef>
                <a:spcPts val="500"/>
              </a:spcBef>
            </a:pPr>
            <a:r>
              <a:rPr sz="1200" b="0" dirty="0">
                <a:solidFill>
                  <a:srgbClr val="FFFFFF"/>
                </a:solidFill>
              </a:rPr>
              <a:t>❖  LOW buffer (LUNA, USDT 2022): spreads spike +8.9 bp — forced
  T-bill liquidation transmits to sovereign debt markets</a:t>
            </a:r>
            <a:endParaRPr sz="1200" b="0" dirty="0">
              <a:solidFill>
                <a:srgbClr val="FFFFFF"/>
              </a:solidFill>
            </a:endParaRPr>
          </a:p>
          <a:p>
            <a:pPr>
              <a:spcBef>
                <a:spcPts val="500"/>
              </a:spcBef>
            </a:pPr>
            <a:r>
              <a:rPr sz="1200" b="0" dirty="0">
                <a:solidFill>
                  <a:srgbClr val="FFFFFF"/>
                </a:solidFill>
              </a:rPr>
              <a:t>❖  HIGH buffer (SVB 2023): spreads compress −18 bp — cash absorbs</a:t>
            </a:r>
            <a:r>
              <a:rPr lang="ko-KR" altLang="en-US" sz="1200" dirty="0">
                <a:solidFill>
                  <a:srgbClr val="FFFFFF"/>
                </a:solidFill>
              </a:rPr>
              <a:t> </a:t>
            </a:r>
            <a:r>
              <a:rPr sz="1200" b="0" dirty="0">
                <a:solidFill>
                  <a:srgbClr val="FFFFFF"/>
                </a:solidFill>
              </a:rPr>
              <a:t>redemptions; market sees flight-to-safety instead</a:t>
            </a:r>
            <a:endParaRPr sz="1200" b="0" dirty="0">
              <a:solidFill>
                <a:srgbClr val="FFFFFF"/>
              </a:solidFill>
            </a:endParaRPr>
          </a:p>
          <a:p>
            <a:pPr>
              <a:spcBef>
                <a:spcPts val="500"/>
              </a:spcBef>
            </a:pPr>
            <a:r>
              <a:rPr sz="1200" b="0" dirty="0">
                <a:solidFill>
                  <a:srgbClr val="FFFFFF"/>
                </a:solidFill>
              </a:rPr>
              <a:t>❖  Difference is statistically significant (p &lt; 0.001)</a:t>
            </a:r>
            <a:endParaRPr sz="1200" b="0" dirty="0">
              <a:solidFill>
                <a:srgbClr val="FFFFFF"/>
              </a:solidFill>
            </a:endParaRPr>
          </a:p>
        </p:txBody>
      </p:sp>
      <p:sp>
        <p:nvSpPr>
          <p:cNvPr id="30" name="Rectangle 29"/>
          <p:cNvSpPr/>
          <p:nvPr/>
        </p:nvSpPr>
        <p:spPr>
          <a:xfrm>
            <a:off x="0" y="5596128"/>
            <a:ext cx="12188952" cy="1097280"/>
          </a:xfrm>
          <a:prstGeom prst="rect">
            <a:avLst/>
          </a:prstGeom>
          <a:solidFill>
            <a:srgbClr val="D463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8640" y="5716128"/>
            <a:ext cx="11274552" cy="830000"/>
          </a:xfrm>
          <a:prstGeom prst="rect">
            <a:avLst/>
          </a:prstGeom>
          <a:noFill/>
        </p:spPr>
        <p:txBody>
          <a:bodyPr wrap="square">
            <a:spAutoFit/>
          </a:bodyPr>
          <a:lstStyle/>
          <a:p>
            <a:pPr algn="ctr"/>
            <a:r>
              <a:rPr sz="1800" b="1">
                <a:solidFill>
                  <a:srgbClr val="FFFFFF"/>
                </a:solidFill>
              </a:rPr>
              <a:t>Causal evidence: the buffer — not the event — determines whether a run stabilises or disrupts Treasury markets.</a:t>
            </a:r>
            <a:endParaRPr sz="1800" b="1">
              <a:solidFill>
                <a:srgbClr val="FFFFFF"/>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686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91440"/>
            <a:ext cx="10515600" cy="550000"/>
          </a:xfrm>
          <a:prstGeom prst="rect">
            <a:avLst/>
          </a:prstGeom>
          <a:noFill/>
        </p:spPr>
        <p:txBody>
          <a:bodyPr wrap="square">
            <a:spAutoFit/>
          </a:bodyPr>
          <a:lstStyle/>
          <a:p>
            <a:r>
              <a:rPr sz="2600" b="0">
                <a:solidFill>
                  <a:srgbClr val="FFFFFF"/>
                </a:solidFill>
              </a:rPr>
              <a:t>Asymmetric Effects: Growth vs. Contraction Periods</a:t>
            </a:r>
            <a:endParaRPr sz="2600" b="0">
              <a:solidFill>
                <a:srgbClr val="FFFFFF"/>
              </a:solidFill>
            </a:endParaRPr>
          </a:p>
        </p:txBody>
      </p:sp>
      <p:sp>
        <p:nvSpPr>
          <p:cNvPr id="5" name="TextBox 4"/>
          <p:cNvSpPr txBox="1"/>
          <p:nvPr/>
        </p:nvSpPr>
        <p:spPr>
          <a:xfrm>
            <a:off x="9800000" y="207010"/>
            <a:ext cx="2200000" cy="368300"/>
          </a:xfrm>
          <a:prstGeom prst="rect">
            <a:avLst/>
          </a:prstGeom>
          <a:noFill/>
        </p:spPr>
        <p:txBody>
          <a:bodyPr wrap="square">
            <a:spAutoFit/>
          </a:bodyPr>
          <a:lstStyle/>
          <a:p>
            <a:pPr algn="r"/>
            <a:r>
              <a:rPr sz="1000" b="0">
                <a:solidFill>
                  <a:srgbClr val="555566"/>
                </a:solidFill>
              </a:rPr>
              <a:t>Jade  Page 5</a:t>
            </a:r>
            <a:endParaRPr sz="1000" b="0">
              <a:solidFill>
                <a:srgbClr val="555566"/>
              </a:solidFill>
            </a:endParaRPr>
          </a:p>
        </p:txBody>
      </p:sp>
      <p:sp>
        <p:nvSpPr>
          <p:cNvPr id="6" name="TextBox 5"/>
          <p:cNvSpPr txBox="1"/>
          <p:nvPr/>
        </p:nvSpPr>
        <p:spPr>
          <a:xfrm>
            <a:off x="365760" y="920000"/>
            <a:ext cx="11430000" cy="300000"/>
          </a:xfrm>
          <a:prstGeom prst="rect">
            <a:avLst/>
          </a:prstGeom>
          <a:noFill/>
        </p:spPr>
        <p:txBody>
          <a:bodyPr wrap="square">
            <a:spAutoFit/>
          </a:bodyPr>
          <a:lstStyle/>
          <a:p>
            <a:r>
              <a:rPr sz="1300" b="0" dirty="0">
                <a:solidFill>
                  <a:srgbClr val="555566"/>
                </a:solidFill>
              </a:rPr>
              <a:t>Buying T-bills is gradual and orderly. Selling is forced and immediate. The buffer only matters when supply contracts.</a:t>
            </a:r>
            <a:endParaRPr sz="1300" b="0" dirty="0">
              <a:solidFill>
                <a:srgbClr val="555566"/>
              </a:solidFill>
            </a:endParaRPr>
          </a:p>
        </p:txBody>
      </p:sp>
      <p:sp>
        <p:nvSpPr>
          <p:cNvPr id="7" name="Rectangle 6"/>
          <p:cNvSpPr/>
          <p:nvPr/>
        </p:nvSpPr>
        <p:spPr>
          <a:xfrm>
            <a:off x="365760" y="1300000"/>
            <a:ext cx="5486400" cy="4050000"/>
          </a:xfrm>
          <a:prstGeom prst="rect">
            <a:avLst/>
          </a:prstGeom>
          <a:solidFill>
            <a:srgbClr val="FCEB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1300000"/>
            <a:ext cx="5486400" cy="4200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360000"/>
            <a:ext cx="5303520" cy="340000"/>
          </a:xfrm>
          <a:prstGeom prst="rect">
            <a:avLst/>
          </a:prstGeom>
          <a:noFill/>
        </p:spPr>
        <p:txBody>
          <a:bodyPr wrap="square">
            <a:spAutoFit/>
          </a:bodyPr>
          <a:lstStyle/>
          <a:p>
            <a:r>
              <a:rPr sz="1400" b="1">
                <a:solidFill>
                  <a:srgbClr val="FFFFFF"/>
                </a:solidFill>
              </a:rPr>
              <a:t>GROWTH PERIODS  (ΔlnS &gt; 0)   N = 32</a:t>
            </a:r>
            <a:endParaRPr sz="1400" b="1">
              <a:solidFill>
                <a:srgbClr val="FFFFFF"/>
              </a:solidFill>
            </a:endParaRPr>
          </a:p>
        </p:txBody>
      </p:sp>
      <p:sp>
        <p:nvSpPr>
          <p:cNvPr id="10" name="TextBox 9"/>
          <p:cNvSpPr txBox="1"/>
          <p:nvPr/>
        </p:nvSpPr>
        <p:spPr>
          <a:xfrm>
            <a:off x="420000" y="1800000"/>
            <a:ext cx="5350000" cy="1795363"/>
          </a:xfrm>
          <a:prstGeom prst="rect">
            <a:avLst/>
          </a:prstGeom>
          <a:noFill/>
        </p:spPr>
        <p:txBody>
          <a:bodyPr wrap="square">
            <a:spAutoFit/>
          </a:bodyPr>
          <a:lstStyle/>
          <a:p>
            <a:pPr algn="l"/>
            <a:r>
              <a:rPr sz="2800" b="1" dirty="0">
                <a:solidFill>
                  <a:srgbClr val="C0392B"/>
                </a:solidFill>
              </a:rPr>
              <a:t>β₁ = −1.79   (p = 0.352, </a:t>
            </a:r>
            <a:r>
              <a:rPr sz="2800" b="1" dirty="0" err="1">
                <a:solidFill>
                  <a:srgbClr val="C0392B"/>
                </a:solidFill>
              </a:rPr>
              <a:t>n.s</a:t>
            </a:r>
            <a:r>
              <a:rPr sz="2800" b="1" dirty="0">
                <a:solidFill>
                  <a:srgbClr val="C0392B"/>
                </a:solidFill>
              </a:rPr>
              <a:t>.)</a:t>
            </a:r>
            <a:endParaRPr sz="2800" b="1" dirty="0">
              <a:solidFill>
                <a:srgbClr val="C0392B"/>
              </a:solidFill>
            </a:endParaRPr>
          </a:p>
          <a:p>
            <a:pPr>
              <a:spcBef>
                <a:spcPts val="400"/>
              </a:spcBef>
            </a:pPr>
            <a:r>
              <a:rPr sz="1600" b="0" dirty="0">
                <a:solidFill>
                  <a:srgbClr val="1A1A2E"/>
                </a:solidFill>
              </a:rPr>
              <a:t>L × </a:t>
            </a:r>
            <a:r>
              <a:rPr sz="1600" b="0" dirty="0" err="1">
                <a:solidFill>
                  <a:srgbClr val="1A1A2E"/>
                </a:solidFill>
              </a:rPr>
              <a:t>ΔlnS</a:t>
            </a:r>
            <a:r>
              <a:rPr sz="1600" b="0" dirty="0">
                <a:solidFill>
                  <a:srgbClr val="1A1A2E"/>
                </a:solidFill>
              </a:rPr>
              <a:t> = −31.28   (p = 0.136, </a:t>
            </a:r>
            <a:r>
              <a:rPr sz="1600" b="0" dirty="0" err="1">
                <a:solidFill>
                  <a:srgbClr val="1A1A2E"/>
                </a:solidFill>
              </a:rPr>
              <a:t>n.s</a:t>
            </a:r>
            <a:r>
              <a:rPr sz="1600" b="0" dirty="0">
                <a:solidFill>
                  <a:srgbClr val="1A1A2E"/>
                </a:solidFill>
              </a:rPr>
              <a:t>.)</a:t>
            </a:r>
            <a:endParaRPr sz="1600" b="0" dirty="0">
              <a:solidFill>
                <a:srgbClr val="1A1A2E"/>
              </a:solidFill>
            </a:endParaRPr>
          </a:p>
          <a:p>
            <a:pPr>
              <a:spcBef>
                <a:spcPts val="400"/>
              </a:spcBef>
            </a:pPr>
            <a:r>
              <a:rPr sz="1400" b="0" dirty="0">
                <a:solidFill>
                  <a:srgbClr val="1A1A2E"/>
                </a:solidFill>
              </a:rPr>
              <a:t>R² = 0.335</a:t>
            </a:r>
            <a:endParaRPr sz="1400" b="0" dirty="0">
              <a:solidFill>
                <a:srgbClr val="1A1A2E"/>
              </a:solidFill>
            </a:endParaRPr>
          </a:p>
          <a:p>
            <a:pPr>
              <a:spcBef>
                <a:spcPts val="1200"/>
              </a:spcBef>
            </a:pPr>
            <a:r>
              <a:rPr sz="1300" b="0" dirty="0">
                <a:solidFill>
                  <a:srgbClr val="1A1A2E"/>
                </a:solidFill>
              </a:rPr>
              <a:t>Supply growth → orderly T-bill purchases.
Buffer size does not significantly change</a:t>
            </a:r>
            <a:r>
              <a:rPr lang="ko-KR" altLang="en-US" sz="1300" b="0" dirty="0">
                <a:solidFill>
                  <a:srgbClr val="1A1A2E"/>
                </a:solidFill>
              </a:rPr>
              <a:t> </a:t>
            </a:r>
            <a:r>
              <a:rPr sz="1300" b="0" dirty="0">
                <a:solidFill>
                  <a:srgbClr val="1A1A2E"/>
                </a:solidFill>
              </a:rPr>
              <a:t>how issuers affect markets.</a:t>
            </a:r>
            <a:endParaRPr sz="1300" b="0" dirty="0">
              <a:solidFill>
                <a:srgbClr val="1A1A2E"/>
              </a:solidFill>
            </a:endParaRPr>
          </a:p>
        </p:txBody>
      </p:sp>
      <p:sp>
        <p:nvSpPr>
          <p:cNvPr id="11" name="Rectangle 10"/>
          <p:cNvSpPr/>
          <p:nvPr/>
        </p:nvSpPr>
        <p:spPr>
          <a:xfrm>
            <a:off x="6309360" y="1300000"/>
            <a:ext cx="5486400" cy="4050000"/>
          </a:xfrm>
          <a:prstGeom prst="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309360" y="1300000"/>
            <a:ext cx="5486400" cy="420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1360000"/>
            <a:ext cx="5303520" cy="340000"/>
          </a:xfrm>
          <a:prstGeom prst="rect">
            <a:avLst/>
          </a:prstGeom>
          <a:noFill/>
        </p:spPr>
        <p:txBody>
          <a:bodyPr wrap="square">
            <a:spAutoFit/>
          </a:bodyPr>
          <a:lstStyle/>
          <a:p>
            <a:r>
              <a:rPr sz="1400" b="1">
                <a:solidFill>
                  <a:srgbClr val="FFFFFF"/>
                </a:solidFill>
              </a:rPr>
              <a:t>CONTRACTION PERIODS  (ΔlnS &lt; 0)   N = 19</a:t>
            </a:r>
            <a:endParaRPr sz="1400" b="1">
              <a:solidFill>
                <a:srgbClr val="FFFFFF"/>
              </a:solidFill>
            </a:endParaRPr>
          </a:p>
        </p:txBody>
      </p:sp>
      <p:sp>
        <p:nvSpPr>
          <p:cNvPr id="14" name="TextBox 13"/>
          <p:cNvSpPr txBox="1"/>
          <p:nvPr/>
        </p:nvSpPr>
        <p:spPr>
          <a:xfrm>
            <a:off x="6370000" y="1800000"/>
            <a:ext cx="5350000" cy="3400000"/>
          </a:xfrm>
          <a:prstGeom prst="rect">
            <a:avLst/>
          </a:prstGeom>
          <a:noFill/>
        </p:spPr>
        <p:txBody>
          <a:bodyPr wrap="square">
            <a:spAutoFit/>
          </a:bodyPr>
          <a:lstStyle/>
          <a:p>
            <a:pPr algn="l"/>
            <a:r>
              <a:rPr sz="2800" b="1">
                <a:solidFill>
                  <a:srgbClr val="1A7A4A"/>
                </a:solidFill>
              </a:rPr>
              <a:t>β₁ = −12.68**   (p = 0.037)</a:t>
            </a:r>
            <a:endParaRPr sz="2800" b="1">
              <a:solidFill>
                <a:srgbClr val="1A7A4A"/>
              </a:solidFill>
            </a:endParaRPr>
          </a:p>
          <a:p>
            <a:pPr>
              <a:spcBef>
                <a:spcPts val="400"/>
              </a:spcBef>
            </a:pPr>
            <a:r>
              <a:rPr sz="1600" b="0">
                <a:solidFill>
                  <a:srgbClr val="1A1A2E"/>
                </a:solidFill>
              </a:rPr>
              <a:t>L × ΔlnS = +78.57   (p = 0.314, n.s.)</a:t>
            </a:r>
            <a:endParaRPr sz="1600" b="0">
              <a:solidFill>
                <a:srgbClr val="1A1A2E"/>
              </a:solidFill>
            </a:endParaRPr>
          </a:p>
          <a:p>
            <a:pPr>
              <a:spcBef>
                <a:spcPts val="400"/>
              </a:spcBef>
            </a:pPr>
            <a:r>
              <a:rPr sz="1400" b="0">
                <a:solidFill>
                  <a:srgbClr val="1A1A2E"/>
                </a:solidFill>
              </a:rPr>
              <a:t>R² = 0.728</a:t>
            </a:r>
            <a:endParaRPr sz="1400" b="0">
              <a:solidFill>
                <a:srgbClr val="1A1A2E"/>
              </a:solidFill>
            </a:endParaRPr>
          </a:p>
          <a:p>
            <a:pPr>
              <a:spcBef>
                <a:spcPts val="1200"/>
              </a:spcBef>
            </a:pPr>
            <a:r>
              <a:rPr sz="1300" b="0">
                <a:solidFill>
                  <a:srgbClr val="1A1A2E"/>
                </a:solidFill>
              </a:rPr>
              <a:t>Supply contraction → 7× larger effect.
Forced liquidation drives sovereign spread.
Model explains 73% of variation in stress.</a:t>
            </a:r>
            <a:endParaRPr sz="1300" b="0">
              <a:solidFill>
                <a:srgbClr val="1A1A2E"/>
              </a:solidFill>
            </a:endParaRPr>
          </a:p>
        </p:txBody>
      </p:sp>
      <p:sp>
        <p:nvSpPr>
          <p:cNvPr id="15" name="Rectangle 14"/>
          <p:cNvSpPr/>
          <p:nvPr/>
        </p:nvSpPr>
        <p:spPr>
          <a:xfrm>
            <a:off x="0" y="5596128"/>
            <a:ext cx="12188952" cy="1097280"/>
          </a:xfrm>
          <a:prstGeom prst="rect">
            <a:avLst/>
          </a:prstGeom>
          <a:solidFill>
            <a:srgbClr val="D463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5716128"/>
            <a:ext cx="11274552" cy="830000"/>
          </a:xfrm>
          <a:prstGeom prst="rect">
            <a:avLst/>
          </a:prstGeom>
          <a:noFill/>
        </p:spPr>
        <p:txBody>
          <a:bodyPr wrap="square">
            <a:spAutoFit/>
          </a:bodyPr>
          <a:lstStyle/>
          <a:p>
            <a:pPr algn="ctr"/>
            <a:r>
              <a:rPr sz="1800" b="1">
                <a:solidFill>
                  <a:srgbClr val="FFFFFF"/>
                </a:solidFill>
              </a:rPr>
              <a:t>The buffer matters precisely when supply is falling — confirming the fragility mechanism our theory predicts.</a:t>
            </a:r>
            <a:endParaRPr sz="1800" b="1">
              <a:solidFill>
                <a:srgbClr val="FFFFFF"/>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686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91440"/>
            <a:ext cx="10515600" cy="550000"/>
          </a:xfrm>
          <a:prstGeom prst="rect">
            <a:avLst/>
          </a:prstGeom>
          <a:noFill/>
        </p:spPr>
        <p:txBody>
          <a:bodyPr wrap="square">
            <a:spAutoFit/>
          </a:bodyPr>
          <a:lstStyle/>
          <a:p>
            <a:r>
              <a:rPr sz="2600" b="0">
                <a:solidFill>
                  <a:srgbClr val="FFFFFF"/>
                </a:solidFill>
              </a:rPr>
              <a:t>Policy Implication: The 13% Empirical Floor</a:t>
            </a:r>
            <a:endParaRPr sz="2600" b="0">
              <a:solidFill>
                <a:srgbClr val="FFFFFF"/>
              </a:solidFill>
            </a:endParaRPr>
          </a:p>
        </p:txBody>
      </p:sp>
      <p:sp>
        <p:nvSpPr>
          <p:cNvPr id="5" name="TextBox 4"/>
          <p:cNvSpPr txBox="1"/>
          <p:nvPr/>
        </p:nvSpPr>
        <p:spPr>
          <a:xfrm>
            <a:off x="9800000" y="207010"/>
            <a:ext cx="2200000" cy="368300"/>
          </a:xfrm>
          <a:prstGeom prst="rect">
            <a:avLst/>
          </a:prstGeom>
          <a:noFill/>
        </p:spPr>
        <p:txBody>
          <a:bodyPr wrap="square">
            <a:spAutoFit/>
          </a:bodyPr>
          <a:lstStyle/>
          <a:p>
            <a:pPr algn="r"/>
            <a:r>
              <a:rPr sz="1000" b="0">
                <a:solidFill>
                  <a:srgbClr val="555566"/>
                </a:solidFill>
              </a:rPr>
              <a:t>Baptiste  Page 6</a:t>
            </a:r>
            <a:endParaRPr sz="1000" b="0">
              <a:solidFill>
                <a:srgbClr val="555566"/>
              </a:solidFill>
            </a:endParaRPr>
          </a:p>
        </p:txBody>
      </p:sp>
      <p:sp>
        <p:nvSpPr>
          <p:cNvPr id="6" name="Rectangle 5"/>
          <p:cNvSpPr/>
          <p:nvPr/>
        </p:nvSpPr>
        <p:spPr>
          <a:xfrm>
            <a:off x="365760" y="960120"/>
            <a:ext cx="4800000" cy="443532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20000" y="1020000"/>
            <a:ext cx="4600000" cy="340000"/>
          </a:xfrm>
          <a:prstGeom prst="rect">
            <a:avLst/>
          </a:prstGeom>
          <a:noFill/>
        </p:spPr>
        <p:txBody>
          <a:bodyPr wrap="square">
            <a:spAutoFit/>
          </a:bodyPr>
          <a:lstStyle/>
          <a:p>
            <a:r>
              <a:rPr sz="1500" b="1">
                <a:solidFill>
                  <a:srgbClr val="AAC4E8"/>
                </a:solidFill>
              </a:rPr>
              <a:t>What the threshold tells us:</a:t>
            </a:r>
            <a:endParaRPr sz="1500" b="1">
              <a:solidFill>
                <a:srgbClr val="AAC4E8"/>
              </a:solidFill>
            </a:endParaRPr>
          </a:p>
        </p:txBody>
      </p:sp>
      <p:sp>
        <p:nvSpPr>
          <p:cNvPr id="8" name="TextBox 7"/>
          <p:cNvSpPr txBox="1"/>
          <p:nvPr/>
        </p:nvSpPr>
        <p:spPr>
          <a:xfrm>
            <a:off x="420000" y="1450000"/>
            <a:ext cx="4600000" cy="3200000"/>
          </a:xfrm>
          <a:prstGeom prst="rect">
            <a:avLst/>
          </a:prstGeom>
          <a:noFill/>
        </p:spPr>
        <p:txBody>
          <a:bodyPr wrap="square">
            <a:spAutoFit/>
          </a:bodyPr>
          <a:lstStyle/>
          <a:p>
            <a:pPr algn="l"/>
            <a:r>
              <a:rPr sz="4000" b="1" dirty="0">
                <a:solidFill>
                  <a:srgbClr val="FFFFFF"/>
                </a:solidFill>
              </a:rPr>
              <a:t>q*  =  13%</a:t>
            </a:r>
            <a:endParaRPr sz="4000" b="1" dirty="0">
              <a:solidFill>
                <a:srgbClr val="FFFFFF"/>
              </a:solidFill>
            </a:endParaRPr>
          </a:p>
          <a:p>
            <a:pPr>
              <a:spcBef>
                <a:spcPts val="600"/>
              </a:spcBef>
            </a:pPr>
            <a:r>
              <a:rPr sz="1300" b="0" dirty="0">
                <a:solidFill>
                  <a:srgbClr val="AAC4E8"/>
                </a:solidFill>
              </a:rPr>
              <a:t>of supply held as liquid cash</a:t>
            </a:r>
            <a:endParaRPr sz="1300" b="0" dirty="0">
              <a:solidFill>
                <a:srgbClr val="AAC4E8"/>
              </a:solidFill>
            </a:endParaRPr>
          </a:p>
          <a:p>
            <a:pPr>
              <a:spcBef>
                <a:spcPts val="1600"/>
              </a:spcBef>
            </a:pPr>
            <a:r>
              <a:rPr sz="1300" b="1" dirty="0">
                <a:solidFill>
                  <a:srgbClr val="FFD700"/>
                </a:solidFill>
              </a:rPr>
              <a:t>Below 13% (38 of 51 months):</a:t>
            </a:r>
            <a:endParaRPr sz="1300" b="1" dirty="0">
              <a:solidFill>
                <a:srgbClr val="FFD700"/>
              </a:solidFill>
            </a:endParaRPr>
          </a:p>
          <a:p>
            <a:r>
              <a:rPr sz="1300" b="0" dirty="0">
                <a:solidFill>
                  <a:srgbClr val="FFFFFF"/>
                </a:solidFill>
              </a:rPr>
              <a:t>Issuers move T-bill markets in both
directions → sovereign spread disruption</a:t>
            </a:r>
            <a:endParaRPr sz="1300" b="0" dirty="0">
              <a:solidFill>
                <a:srgbClr val="FFFFFF"/>
              </a:solidFill>
            </a:endParaRPr>
          </a:p>
          <a:p>
            <a:pPr>
              <a:spcBef>
                <a:spcPts val="1000"/>
              </a:spcBef>
            </a:pPr>
            <a:r>
              <a:rPr sz="1300" b="1" dirty="0">
                <a:solidFill>
                  <a:srgbClr val="FFD700"/>
                </a:solidFill>
              </a:rPr>
              <a:t>Above 13% (13 of 51 months):</a:t>
            </a:r>
            <a:endParaRPr sz="1300" b="1" dirty="0">
              <a:solidFill>
                <a:srgbClr val="FFD700"/>
              </a:solidFill>
            </a:endParaRPr>
          </a:p>
          <a:p>
            <a:r>
              <a:rPr sz="1300" b="0" dirty="0">
                <a:solidFill>
                  <a:srgbClr val="FFFFFF"/>
                </a:solidFill>
              </a:rPr>
              <a:t>Redemptions absorbed by cash →
T-bill market undisturbed</a:t>
            </a:r>
            <a:endParaRPr sz="1300" b="0" dirty="0">
              <a:solidFill>
                <a:srgbClr val="FFFFFF"/>
              </a:solidFill>
            </a:endParaRPr>
          </a:p>
        </p:txBody>
      </p:sp>
      <p:sp>
        <p:nvSpPr>
          <p:cNvPr id="9" name="Rectangle 8"/>
          <p:cNvSpPr/>
          <p:nvPr/>
        </p:nvSpPr>
        <p:spPr>
          <a:xfrm>
            <a:off x="5350000" y="960120"/>
            <a:ext cx="6500000" cy="443532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50000" y="1020000"/>
            <a:ext cx="6200000" cy="340000"/>
          </a:xfrm>
          <a:prstGeom prst="rect">
            <a:avLst/>
          </a:prstGeom>
          <a:noFill/>
        </p:spPr>
        <p:txBody>
          <a:bodyPr wrap="square">
            <a:spAutoFit/>
          </a:bodyPr>
          <a:lstStyle/>
          <a:p>
            <a:r>
              <a:rPr sz="1500" b="1">
                <a:solidFill>
                  <a:srgbClr val="1B3A72"/>
                </a:solidFill>
              </a:rPr>
              <a:t>Regulatory interpretation:</a:t>
            </a:r>
            <a:endParaRPr sz="1500" b="1">
              <a:solidFill>
                <a:srgbClr val="1B3A72"/>
              </a:solidFill>
            </a:endParaRPr>
          </a:p>
        </p:txBody>
      </p:sp>
      <p:sp>
        <p:nvSpPr>
          <p:cNvPr id="11" name="TextBox 10"/>
          <p:cNvSpPr txBox="1"/>
          <p:nvPr/>
        </p:nvSpPr>
        <p:spPr>
          <a:xfrm>
            <a:off x="5450000" y="1450000"/>
            <a:ext cx="6100000" cy="260000"/>
          </a:xfrm>
          <a:prstGeom prst="rect">
            <a:avLst/>
          </a:prstGeom>
          <a:noFill/>
        </p:spPr>
        <p:txBody>
          <a:bodyPr wrap="square">
            <a:spAutoFit/>
          </a:bodyPr>
          <a:lstStyle/>
          <a:p>
            <a:r>
              <a:rPr sz="1200" b="1">
                <a:solidFill>
                  <a:srgbClr val="1B3A72"/>
                </a:solidFill>
              </a:rPr>
              <a:t>What the data says</a:t>
            </a:r>
            <a:endParaRPr sz="1200" b="1">
              <a:solidFill>
                <a:srgbClr val="1B3A72"/>
              </a:solidFill>
            </a:endParaRPr>
          </a:p>
        </p:txBody>
      </p:sp>
      <p:sp>
        <p:nvSpPr>
          <p:cNvPr id="12" name="TextBox 11"/>
          <p:cNvSpPr txBox="1"/>
          <p:nvPr/>
        </p:nvSpPr>
        <p:spPr>
          <a:xfrm>
            <a:off x="5450000" y="1710000"/>
            <a:ext cx="6100000" cy="400000"/>
          </a:xfrm>
          <a:prstGeom prst="rect">
            <a:avLst/>
          </a:prstGeom>
          <a:noFill/>
        </p:spPr>
        <p:txBody>
          <a:bodyPr wrap="square">
            <a:spAutoFit/>
          </a:bodyPr>
          <a:lstStyle/>
          <a:p>
            <a:r>
              <a:rPr sz="1200" b="0" dirty="0">
                <a:solidFill>
                  <a:srgbClr val="1A1A2E"/>
                </a:solidFill>
              </a:rPr>
              <a:t>L* = 13% is the empirically identified statistical break point
separating two distinct regimes — not an optimal level</a:t>
            </a:r>
            <a:endParaRPr sz="1200" b="0" dirty="0">
              <a:solidFill>
                <a:srgbClr val="1A1A2E"/>
              </a:solidFill>
            </a:endParaRPr>
          </a:p>
        </p:txBody>
      </p:sp>
      <p:sp>
        <p:nvSpPr>
          <p:cNvPr id="13" name="TextBox 12"/>
          <p:cNvSpPr txBox="1"/>
          <p:nvPr/>
        </p:nvSpPr>
        <p:spPr>
          <a:xfrm>
            <a:off x="5450000" y="2210000"/>
            <a:ext cx="6100000" cy="260000"/>
          </a:xfrm>
          <a:prstGeom prst="rect">
            <a:avLst/>
          </a:prstGeom>
          <a:noFill/>
        </p:spPr>
        <p:txBody>
          <a:bodyPr wrap="square">
            <a:spAutoFit/>
          </a:bodyPr>
          <a:lstStyle/>
          <a:p>
            <a:r>
              <a:rPr sz="1200" b="1">
                <a:solidFill>
                  <a:srgbClr val="1B3A72"/>
                </a:solidFill>
              </a:rPr>
              <a:t>Proposed floor</a:t>
            </a:r>
            <a:endParaRPr sz="1200" b="1">
              <a:solidFill>
                <a:srgbClr val="1B3A72"/>
              </a:solidFill>
            </a:endParaRPr>
          </a:p>
        </p:txBody>
      </p:sp>
      <p:sp>
        <p:nvSpPr>
          <p:cNvPr id="14" name="TextBox 13"/>
          <p:cNvSpPr txBox="1"/>
          <p:nvPr/>
        </p:nvSpPr>
        <p:spPr>
          <a:xfrm>
            <a:off x="5450000" y="2470000"/>
            <a:ext cx="6100000" cy="400000"/>
          </a:xfrm>
          <a:prstGeom prst="rect">
            <a:avLst/>
          </a:prstGeom>
          <a:noFill/>
        </p:spPr>
        <p:txBody>
          <a:bodyPr wrap="square">
            <a:spAutoFit/>
          </a:bodyPr>
          <a:lstStyle/>
          <a:p>
            <a:r>
              <a:rPr sz="1200" b="0">
                <a:solidFill>
                  <a:srgbClr val="1A1A2E"/>
                </a:solidFill>
              </a:rPr>
              <a:t>Minimum liquid reserve requirement of 13–15% of outstanding supply
(cash or near-cash instruments only)</a:t>
            </a:r>
            <a:endParaRPr sz="1200" b="0">
              <a:solidFill>
                <a:srgbClr val="1A1A2E"/>
              </a:solidFill>
            </a:endParaRPr>
          </a:p>
        </p:txBody>
      </p:sp>
      <p:sp>
        <p:nvSpPr>
          <p:cNvPr id="15" name="TextBox 14"/>
          <p:cNvSpPr txBox="1"/>
          <p:nvPr/>
        </p:nvSpPr>
        <p:spPr>
          <a:xfrm>
            <a:off x="5450000" y="2970000"/>
            <a:ext cx="6100000" cy="260000"/>
          </a:xfrm>
          <a:prstGeom prst="rect">
            <a:avLst/>
          </a:prstGeom>
          <a:noFill/>
        </p:spPr>
        <p:txBody>
          <a:bodyPr wrap="square">
            <a:spAutoFit/>
          </a:bodyPr>
          <a:lstStyle/>
          <a:p>
            <a:r>
              <a:rPr sz="1200" b="1">
                <a:solidFill>
                  <a:srgbClr val="1B3A72"/>
                </a:solidFill>
              </a:rPr>
              <a:t>Who this applies to</a:t>
            </a:r>
            <a:endParaRPr sz="1200" b="1">
              <a:solidFill>
                <a:srgbClr val="1B3A72"/>
              </a:solidFill>
            </a:endParaRPr>
          </a:p>
        </p:txBody>
      </p:sp>
      <p:sp>
        <p:nvSpPr>
          <p:cNvPr id="16" name="TextBox 15"/>
          <p:cNvSpPr txBox="1"/>
          <p:nvPr/>
        </p:nvSpPr>
        <p:spPr>
          <a:xfrm>
            <a:off x="5450000" y="3230000"/>
            <a:ext cx="6100000" cy="400000"/>
          </a:xfrm>
          <a:prstGeom prst="rect">
            <a:avLst/>
          </a:prstGeom>
          <a:noFill/>
        </p:spPr>
        <p:txBody>
          <a:bodyPr wrap="square">
            <a:spAutoFit/>
          </a:bodyPr>
          <a:lstStyle/>
          <a:p>
            <a:r>
              <a:rPr sz="1200" b="0" dirty="0">
                <a:solidFill>
                  <a:srgbClr val="1A1A2E"/>
                </a:solidFill>
              </a:rPr>
              <a:t>USD-pegged fiat-</a:t>
            </a:r>
            <a:r>
              <a:rPr sz="1200" b="0" dirty="0" err="1">
                <a:solidFill>
                  <a:srgbClr val="1A1A2E"/>
                </a:solidFill>
              </a:rPr>
              <a:t>collateralised</a:t>
            </a:r>
            <a:r>
              <a:rPr sz="1200" b="0" dirty="0">
                <a:solidFill>
                  <a:srgbClr val="1A1A2E"/>
                </a:solidFill>
              </a:rPr>
              <a:t> stablecoin issuers
operating above $10bn supply (systemic threshold)</a:t>
            </a:r>
            <a:endParaRPr sz="1200" b="0" dirty="0">
              <a:solidFill>
                <a:srgbClr val="1A1A2E"/>
              </a:solidFill>
            </a:endParaRPr>
          </a:p>
        </p:txBody>
      </p:sp>
      <p:sp>
        <p:nvSpPr>
          <p:cNvPr id="17" name="TextBox 16"/>
          <p:cNvSpPr txBox="1"/>
          <p:nvPr/>
        </p:nvSpPr>
        <p:spPr>
          <a:xfrm>
            <a:off x="5450000" y="3730000"/>
            <a:ext cx="6100000" cy="260000"/>
          </a:xfrm>
          <a:prstGeom prst="rect">
            <a:avLst/>
          </a:prstGeom>
          <a:noFill/>
        </p:spPr>
        <p:txBody>
          <a:bodyPr wrap="square">
            <a:spAutoFit/>
          </a:bodyPr>
          <a:lstStyle/>
          <a:p>
            <a:r>
              <a:rPr sz="1200" b="1">
                <a:solidFill>
                  <a:srgbClr val="1B3A72"/>
                </a:solidFill>
              </a:rPr>
              <a:t>Caveat — welfare optimum</a:t>
            </a:r>
            <a:endParaRPr sz="1200" b="1">
              <a:solidFill>
                <a:srgbClr val="1B3A72"/>
              </a:solidFill>
            </a:endParaRPr>
          </a:p>
        </p:txBody>
      </p:sp>
      <p:sp>
        <p:nvSpPr>
          <p:cNvPr id="18" name="TextBox 17"/>
          <p:cNvSpPr txBox="1"/>
          <p:nvPr/>
        </p:nvSpPr>
        <p:spPr>
          <a:xfrm>
            <a:off x="5450000" y="3990000"/>
            <a:ext cx="6100000" cy="400000"/>
          </a:xfrm>
          <a:prstGeom prst="rect">
            <a:avLst/>
          </a:prstGeom>
          <a:noFill/>
        </p:spPr>
        <p:txBody>
          <a:bodyPr wrap="square">
            <a:spAutoFit/>
          </a:bodyPr>
          <a:lstStyle/>
          <a:p>
            <a:r>
              <a:rPr sz="1200" b="0" dirty="0">
                <a:solidFill>
                  <a:srgbClr val="1A1A2E"/>
                </a:solidFill>
              </a:rPr>
              <a:t>This threshold identifies a </a:t>
            </a:r>
            <a:r>
              <a:rPr sz="1200" b="0" dirty="0" err="1">
                <a:solidFill>
                  <a:srgbClr val="1A1A2E"/>
                </a:solidFill>
              </a:rPr>
              <a:t>behavioural</a:t>
            </a:r>
            <a:r>
              <a:rPr sz="1200" b="0" dirty="0">
                <a:solidFill>
                  <a:srgbClr val="1A1A2E"/>
                </a:solidFill>
              </a:rPr>
              <a:t> break, not a welfare
optimum. Full welfare analysis requires a structural model
beyond this paper's scope</a:t>
            </a:r>
            <a:endParaRPr sz="1200" b="0" dirty="0">
              <a:solidFill>
                <a:srgbClr val="1A1A2E"/>
              </a:solidFill>
            </a:endParaRPr>
          </a:p>
        </p:txBody>
      </p:sp>
      <p:sp>
        <p:nvSpPr>
          <p:cNvPr id="19" name="Rectangle 18"/>
          <p:cNvSpPr/>
          <p:nvPr/>
        </p:nvSpPr>
        <p:spPr>
          <a:xfrm>
            <a:off x="0" y="5596128"/>
            <a:ext cx="12188952" cy="1097280"/>
          </a:xfrm>
          <a:prstGeom prst="rect">
            <a:avLst/>
          </a:prstGeom>
          <a:solidFill>
            <a:srgbClr val="D463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5716128"/>
            <a:ext cx="11274552" cy="830000"/>
          </a:xfrm>
          <a:prstGeom prst="rect">
            <a:avLst/>
          </a:prstGeom>
          <a:noFill/>
        </p:spPr>
        <p:txBody>
          <a:bodyPr wrap="square">
            <a:spAutoFit/>
          </a:bodyPr>
          <a:lstStyle/>
          <a:p>
            <a:pPr algn="ctr"/>
            <a:r>
              <a:rPr sz="1800" b="1">
                <a:solidFill>
                  <a:srgbClr val="FFFFFF"/>
                </a:solidFill>
              </a:rPr>
              <a:t>We identify where the break is — regulators determine where the requirement should be set.</a:t>
            </a:r>
            <a:endParaRPr sz="1800" b="1">
              <a:solidFill>
                <a:srgbClr val="FFFFFF"/>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686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91440"/>
            <a:ext cx="10515600" cy="550000"/>
          </a:xfrm>
          <a:prstGeom prst="rect">
            <a:avLst/>
          </a:prstGeom>
          <a:noFill/>
        </p:spPr>
        <p:txBody>
          <a:bodyPr wrap="square">
            <a:spAutoFit/>
          </a:bodyPr>
          <a:lstStyle/>
          <a:p>
            <a:r>
              <a:rPr sz="2600" b="0">
                <a:solidFill>
                  <a:srgbClr val="FFFFFF"/>
                </a:solidFill>
              </a:rPr>
              <a:t>Conclusion: Navigating the New Triffin Dilemma</a:t>
            </a:r>
            <a:endParaRPr sz="2600" b="0">
              <a:solidFill>
                <a:srgbClr val="FFFFFF"/>
              </a:solidFill>
            </a:endParaRPr>
          </a:p>
        </p:txBody>
      </p:sp>
      <p:sp>
        <p:nvSpPr>
          <p:cNvPr id="5" name="TextBox 4"/>
          <p:cNvSpPr txBox="1"/>
          <p:nvPr/>
        </p:nvSpPr>
        <p:spPr>
          <a:xfrm>
            <a:off x="9800000" y="207010"/>
            <a:ext cx="2200000" cy="368300"/>
          </a:xfrm>
          <a:prstGeom prst="rect">
            <a:avLst/>
          </a:prstGeom>
          <a:noFill/>
        </p:spPr>
        <p:txBody>
          <a:bodyPr wrap="square">
            <a:spAutoFit/>
          </a:bodyPr>
          <a:lstStyle/>
          <a:p>
            <a:pPr algn="r"/>
            <a:r>
              <a:rPr sz="1000" b="0">
                <a:solidFill>
                  <a:srgbClr val="555566"/>
                </a:solidFill>
              </a:rPr>
              <a:t>Baptiste  Page 7</a:t>
            </a:r>
            <a:endParaRPr sz="1000" b="0">
              <a:solidFill>
                <a:srgbClr val="555566"/>
              </a:solidFill>
            </a:endParaRPr>
          </a:p>
        </p:txBody>
      </p:sp>
      <p:sp>
        <p:nvSpPr>
          <p:cNvPr id="6" name="Rectangle 5"/>
          <p:cNvSpPr/>
          <p:nvPr/>
        </p:nvSpPr>
        <p:spPr>
          <a:xfrm>
            <a:off x="274320" y="960120"/>
            <a:ext cx="3840000" cy="3900000"/>
          </a:xfrm>
          <a:prstGeom prst="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960120"/>
            <a:ext cx="3840000" cy="380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34320" y="1010120"/>
            <a:ext cx="3720000" cy="300000"/>
          </a:xfrm>
          <a:prstGeom prst="rect">
            <a:avLst/>
          </a:prstGeom>
          <a:noFill/>
        </p:spPr>
        <p:txBody>
          <a:bodyPr wrap="square">
            <a:spAutoFit/>
          </a:bodyPr>
          <a:lstStyle/>
          <a:p>
            <a:r>
              <a:rPr sz="1300" b="1">
                <a:solidFill>
                  <a:srgbClr val="FFFFFF"/>
                </a:solidFill>
              </a:rPr>
              <a:t>Result 1 — Privilege Amplification</a:t>
            </a:r>
            <a:endParaRPr sz="1300" b="1">
              <a:solidFill>
                <a:srgbClr val="FFFFFF"/>
              </a:solidFill>
            </a:endParaRPr>
          </a:p>
        </p:txBody>
      </p:sp>
      <p:sp>
        <p:nvSpPr>
          <p:cNvPr id="9" name="TextBox 8"/>
          <p:cNvSpPr txBox="1"/>
          <p:nvPr/>
        </p:nvSpPr>
        <p:spPr>
          <a:xfrm>
            <a:off x="334320" y="1410120"/>
            <a:ext cx="3720000" cy="3300000"/>
          </a:xfrm>
          <a:prstGeom prst="rect">
            <a:avLst/>
          </a:prstGeom>
          <a:noFill/>
        </p:spPr>
        <p:txBody>
          <a:bodyPr wrap="square">
            <a:spAutoFit/>
          </a:bodyPr>
          <a:lstStyle/>
          <a:p>
            <a:r>
              <a:rPr sz="1300" b="0">
                <a:solidFill>
                  <a:srgbClr val="1A1A2E"/>
                </a:solidFill>
              </a:rPr>
              <a:t>Every 1% growth in stablecoin supply compresses the
OIS–Treasury spread by ~6–8 basis points.
Stablecoins mechanically deepen US safe-asset
demand — amplifying the exorbitant privilege.</a:t>
            </a:r>
            <a:endParaRPr sz="1300" b="0">
              <a:solidFill>
                <a:srgbClr val="1A1A2E"/>
              </a:solidFill>
            </a:endParaRPr>
          </a:p>
        </p:txBody>
      </p:sp>
      <p:sp>
        <p:nvSpPr>
          <p:cNvPr id="10" name="Rectangle 9"/>
          <p:cNvSpPr/>
          <p:nvPr/>
        </p:nvSpPr>
        <p:spPr>
          <a:xfrm>
            <a:off x="4388640" y="960120"/>
            <a:ext cx="3840000" cy="3900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88640" y="960120"/>
            <a:ext cx="3840000" cy="38000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48640" y="1010120"/>
            <a:ext cx="3720000" cy="300000"/>
          </a:xfrm>
          <a:prstGeom prst="rect">
            <a:avLst/>
          </a:prstGeom>
          <a:noFill/>
        </p:spPr>
        <p:txBody>
          <a:bodyPr wrap="square">
            <a:spAutoFit/>
          </a:bodyPr>
          <a:lstStyle/>
          <a:p>
            <a:r>
              <a:rPr sz="1300" b="1">
                <a:solidFill>
                  <a:srgbClr val="FFFFFF"/>
                </a:solidFill>
              </a:rPr>
              <a:t>Result 2 — Safety Threshold</a:t>
            </a:r>
            <a:endParaRPr sz="1300" b="1">
              <a:solidFill>
                <a:srgbClr val="FFFFFF"/>
              </a:solidFill>
            </a:endParaRPr>
          </a:p>
        </p:txBody>
      </p:sp>
      <p:sp>
        <p:nvSpPr>
          <p:cNvPr id="13" name="TextBox 12"/>
          <p:cNvSpPr txBox="1"/>
          <p:nvPr/>
        </p:nvSpPr>
        <p:spPr>
          <a:xfrm>
            <a:off x="4448640" y="1410120"/>
            <a:ext cx="3720000" cy="3300000"/>
          </a:xfrm>
          <a:prstGeom prst="rect">
            <a:avLst/>
          </a:prstGeom>
          <a:noFill/>
        </p:spPr>
        <p:txBody>
          <a:bodyPr wrap="square">
            <a:spAutoFit/>
          </a:bodyPr>
          <a:lstStyle/>
          <a:p>
            <a:r>
              <a:rPr sz="1300" b="0">
                <a:solidFill>
                  <a:srgbClr val="1A1A2E"/>
                </a:solidFill>
              </a:rPr>
              <a:t>Hansen (2000) threshold regression identifies L* = 13%
as the break point between two market regimes.
Below 13%: forced liquidation disrupts sovereign debt.
Above 13%: redemptions absorbed, markets undisturbed.</a:t>
            </a:r>
            <a:endParaRPr sz="1300" b="0">
              <a:solidFill>
                <a:srgbClr val="1A1A2E"/>
              </a:solidFill>
            </a:endParaRPr>
          </a:p>
        </p:txBody>
      </p:sp>
      <p:sp>
        <p:nvSpPr>
          <p:cNvPr id="14" name="Rectangle 13"/>
          <p:cNvSpPr/>
          <p:nvPr/>
        </p:nvSpPr>
        <p:spPr>
          <a:xfrm>
            <a:off x="8502960" y="960120"/>
            <a:ext cx="3840000" cy="3900000"/>
          </a:xfrm>
          <a:prstGeom prst="rect">
            <a:avLst/>
          </a:prstGeom>
          <a:solidFill>
            <a:srgbClr val="FCEB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502960" y="960120"/>
            <a:ext cx="3840000" cy="3800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62960" y="1010120"/>
            <a:ext cx="3720000" cy="300000"/>
          </a:xfrm>
          <a:prstGeom prst="rect">
            <a:avLst/>
          </a:prstGeom>
          <a:noFill/>
        </p:spPr>
        <p:txBody>
          <a:bodyPr wrap="square">
            <a:spAutoFit/>
          </a:bodyPr>
          <a:lstStyle/>
          <a:p>
            <a:r>
              <a:rPr sz="1300" b="1">
                <a:solidFill>
                  <a:srgbClr val="FFFFFF"/>
                </a:solidFill>
              </a:rPr>
              <a:t>Result 3 — Causal Evidence</a:t>
            </a:r>
            <a:endParaRPr sz="1300" b="1">
              <a:solidFill>
                <a:srgbClr val="FFFFFF"/>
              </a:solidFill>
            </a:endParaRPr>
          </a:p>
        </p:txBody>
      </p:sp>
      <p:sp>
        <p:nvSpPr>
          <p:cNvPr id="17" name="TextBox 16"/>
          <p:cNvSpPr txBox="1"/>
          <p:nvPr/>
        </p:nvSpPr>
        <p:spPr>
          <a:xfrm>
            <a:off x="8562960" y="1410120"/>
            <a:ext cx="3720000" cy="3300000"/>
          </a:xfrm>
          <a:prstGeom prst="rect">
            <a:avLst/>
          </a:prstGeom>
          <a:noFill/>
        </p:spPr>
        <p:txBody>
          <a:bodyPr wrap="square">
            <a:spAutoFit/>
          </a:bodyPr>
          <a:lstStyle/>
          <a:p>
            <a:r>
              <a:rPr sz="1300" b="0">
                <a:solidFill>
                  <a:srgbClr val="1A1A2E"/>
                </a:solidFill>
              </a:rPr>
              <a:t>Buffer-conditioned event study across LUNA, USDT
depeg, and USDC/SVB confirms the mechanism.
Low-buffer runs → +8.9 bp spread spike.
High-buffer stress → −18 bp flight-to-safety.</a:t>
            </a:r>
            <a:endParaRPr sz="1300" b="0">
              <a:solidFill>
                <a:srgbClr val="1A1A2E"/>
              </a:solidFill>
            </a:endParaRPr>
          </a:p>
        </p:txBody>
      </p:sp>
      <p:sp>
        <p:nvSpPr>
          <p:cNvPr id="18" name="TextBox 17"/>
          <p:cNvSpPr txBox="1"/>
          <p:nvPr/>
        </p:nvSpPr>
        <p:spPr>
          <a:xfrm>
            <a:off x="365760" y="4650000"/>
            <a:ext cx="11430000" cy="750000"/>
          </a:xfrm>
          <a:prstGeom prst="rect">
            <a:avLst/>
          </a:prstGeom>
          <a:noFill/>
        </p:spPr>
        <p:txBody>
          <a:bodyPr wrap="square">
            <a:spAutoFit/>
          </a:bodyPr>
          <a:lstStyle/>
          <a:p>
            <a:r>
              <a:rPr sz="1300" b="0" dirty="0">
                <a:solidFill>
                  <a:srgbClr val="1A1A2E"/>
                </a:solidFill>
              </a:rPr>
              <a:t>The New Triffin Dilemma: stablecoins simultaneously deepen and </a:t>
            </a:r>
            <a:r>
              <a:rPr sz="1300" b="0" dirty="0" err="1">
                <a:solidFill>
                  <a:srgbClr val="1A1A2E"/>
                </a:solidFill>
              </a:rPr>
              <a:t>destabilise</a:t>
            </a:r>
            <a:r>
              <a:rPr sz="1300" b="0" dirty="0">
                <a:solidFill>
                  <a:srgbClr val="1A1A2E"/>
                </a:solidFill>
              </a:rPr>
              <a:t> US safe-asset markets. The same structural Treasury demand that amplifies the exorbitant privilege in normal times embeds a fragility that can rapidly reverse it during runs. Whether a stress episode triggers sovereign contagion or flight-to-safety depends entirely on one variable: L.</a:t>
            </a:r>
            <a:endParaRPr sz="1300" b="0" dirty="0">
              <a:solidFill>
                <a:srgbClr val="1A1A2E"/>
              </a:solidFill>
            </a:endParaRPr>
          </a:p>
        </p:txBody>
      </p:sp>
      <p:sp>
        <p:nvSpPr>
          <p:cNvPr id="19" name="Rectangle 18"/>
          <p:cNvSpPr/>
          <p:nvPr/>
        </p:nvSpPr>
        <p:spPr>
          <a:xfrm>
            <a:off x="0" y="5596128"/>
            <a:ext cx="12188952" cy="1097280"/>
          </a:xfrm>
          <a:prstGeom prst="rect">
            <a:avLst/>
          </a:prstGeom>
          <a:solidFill>
            <a:srgbClr val="D463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5716128"/>
            <a:ext cx="11274552" cy="830000"/>
          </a:xfrm>
          <a:prstGeom prst="rect">
            <a:avLst/>
          </a:prstGeom>
          <a:noFill/>
        </p:spPr>
        <p:txBody>
          <a:bodyPr wrap="square">
            <a:spAutoFit/>
          </a:bodyPr>
          <a:lstStyle/>
          <a:p>
            <a:pPr algn="ctr"/>
            <a:r>
              <a:rPr sz="1800" b="1">
                <a:solidFill>
                  <a:srgbClr val="FFFFFF"/>
                </a:solidFill>
              </a:rPr>
              <a:t>Stablecoins help the US in normal times — and threaten it in stress. L is what separates the two.</a:t>
            </a:r>
            <a:endParaRPr sz="1800" b="1">
              <a:solidFill>
                <a:srgbClr val="FFFFFF"/>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pic>
        <p:nvPicPr>
          <p:cNvPr id="5" name="그림 4" descr="원, 그래픽, 스크린샷, 그래픽 디자인이(가) 표시된 사진&#10;&#10;자동 생성된 설명"/>
          <p:cNvPicPr>
            <a:picLocks noChangeAspect="1"/>
          </p:cNvPicPr>
          <p:nvPr/>
        </p:nvPicPr>
        <p:blipFill>
          <a:blip/>
          <a:stretch>
            <a:fillRect/>
          </a:stretch>
        </p:blipFill>
        <p:spPr>
          <a:xfrm>
            <a:off x="0" y="890"/>
            <a:ext cx="4809898" cy="6856214"/>
          </a:xfrm>
          <a:prstGeom prst="rect">
            <a:avLst/>
          </a:prstGeom>
        </p:spPr>
      </p:pic>
      <p:pic>
        <p:nvPicPr>
          <p:cNvPr id="2" name="그림 4" descr="원, 그래픽, 스크린샷, 그래픽 디자인이(가) 표시된 사진&#10;&#10;자동 생성된 설명"/>
          <p:cNvPicPr>
            <a:picLocks noChangeAspect="1"/>
          </p:cNvPicPr>
          <p:nvPr/>
        </p:nvPicPr>
        <p:blipFill>
          <a:blip r:embed="rId1">
            <a:lum bright="70000" contrast="-70000"/>
            <a:extLst>
              <a:ext uri="{BEBA8EAE-BF5A-486C-A8C5-ECC9F3942E4B}">
                <a14:imgProps xmlns:a14="http://schemas.microsoft.com/office/drawing/2010/main">
                  <a14:imgLayer r:embed="rId2">
                    <a14:imgEffect>
                      <a14:artisticPhotocopy trans="30000" detail="2"/>
                    </a14:imgEffect>
                  </a14:imgLayer>
                </a14:imgProps>
              </a:ext>
              <a:ext uri="{28A0092B-C50C-407E-A947-70E740481C1C}">
                <a14:useLocalDpi xmlns:a14="http://schemas.microsoft.com/office/drawing/2010/main" val="0"/>
              </a:ext>
            </a:extLst>
          </a:blip>
          <a:stretch>
            <a:fillRect/>
          </a:stretch>
        </p:blipFill>
        <p:spPr>
          <a:xfrm>
            <a:off x="127000" y="127890"/>
            <a:ext cx="4809898" cy="6856214"/>
          </a:xfrm>
          <a:prstGeom prst="rect">
            <a:avLst/>
          </a:prstGeom>
        </p:spPr>
      </p:pic>
      <p:sp>
        <p:nvSpPr>
          <p:cNvPr id="6" name="직사각형 5"/>
          <p:cNvSpPr/>
          <p:nvPr/>
        </p:nvSpPr>
        <p:spPr>
          <a:xfrm>
            <a:off x="-1" y="1879560"/>
            <a:ext cx="12188826" cy="2576274"/>
          </a:xfrm>
          <a:prstGeom prst="rect">
            <a:avLst/>
          </a:prstGeom>
          <a:solidFill>
            <a:schemeClr val="tx1">
              <a:alpha val="5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latinLnBrk="1">
              <a:defRPr/>
            </a:pPr>
            <a:r>
              <a:rPr lang="en-US" altLang="ko-KR" sz="2400" dirty="0">
                <a:solidFill>
                  <a:prstClr val="white"/>
                </a:solidFill>
                <a:latin typeface="Hiragino Kaku Gothic Std W8" panose="020B0800000000000000" pitchFamily="34" charset="-128"/>
                <a:ea typeface="Hiragino Kaku Gothic Std W8" panose="020B0800000000000000" pitchFamily="34" charset="-128"/>
              </a:rPr>
              <a:t>THANK YOU !</a:t>
            </a:r>
            <a:endParaRPr lang="ko-KR" altLang="en-US" sz="2400" dirty="0">
              <a:solidFill>
                <a:prstClr val="white"/>
              </a:solidFill>
              <a:latin typeface="Hiragino Kaku Gothic Std W8" panose="020B0800000000000000" pitchFamily="34" charset="-128"/>
              <a:ea typeface="Malgun Gothic" panose="020B0503020000020004" pitchFamily="50" charset="-127"/>
            </a:endParaRPr>
          </a:p>
        </p:txBody>
      </p:sp>
      <p:sp>
        <p:nvSpPr>
          <p:cNvPr id="11" name="TextBox 10"/>
          <p:cNvSpPr txBox="1"/>
          <p:nvPr/>
        </p:nvSpPr>
        <p:spPr>
          <a:xfrm>
            <a:off x="6466205" y="5560060"/>
            <a:ext cx="5470525" cy="1198880"/>
          </a:xfrm>
          <a:prstGeom prst="rect">
            <a:avLst/>
          </a:prstGeom>
          <a:noFill/>
        </p:spPr>
        <p:txBody>
          <a:bodyPr wrap="square" rtlCol="0">
            <a:spAutoFit/>
          </a:bodyPr>
          <a:lstStyle/>
          <a:p>
            <a:r>
              <a:rPr lang="en-US" altLang="ko-KR" sz="1800" b="1" dirty="0">
                <a:solidFill>
                  <a:schemeClr val="bg1"/>
                </a:solidFill>
              </a:rPr>
              <a:t>Yonsei GSIS 2026-1 </a:t>
            </a:r>
            <a:endParaRPr lang="en-US" altLang="ko-KR" sz="1800" b="1" dirty="0">
              <a:solidFill>
                <a:schemeClr val="bg1"/>
              </a:solidFill>
            </a:endParaRPr>
          </a:p>
          <a:p>
            <a:r>
              <a:rPr lang="en-US" altLang="ko-KR" sz="1800" b="1" dirty="0">
                <a:solidFill>
                  <a:schemeClr val="bg1"/>
                </a:solidFill>
              </a:rPr>
              <a:t>Topics in International Finance</a:t>
            </a:r>
            <a:endParaRPr lang="en-US" altLang="ko-KR" sz="1800" dirty="0">
              <a:solidFill>
                <a:schemeClr val="bg1"/>
              </a:solidFill>
            </a:endParaRPr>
          </a:p>
          <a:p>
            <a:r>
              <a:rPr lang="en-US" altLang="ko-KR" b="1" dirty="0">
                <a:solidFill>
                  <a:srgbClr val="FFFFFF"/>
                </a:solidFill>
              </a:rPr>
              <a:t>Mireu Kim · Sara Chekroune · Oybek Ibragimov</a:t>
            </a:r>
            <a:br>
              <a:rPr lang="en-US" altLang="ko-KR" b="1" dirty="0">
                <a:solidFill>
                  <a:srgbClr val="FFFFFF"/>
                </a:solidFill>
              </a:rPr>
            </a:br>
            <a:r>
              <a:rPr lang="en-US" altLang="ko-KR" b="1" dirty="0">
                <a:solidFill>
                  <a:srgbClr val="FFFFFF"/>
                </a:solidFill>
              </a:rPr>
              <a:t>New Memebers - Please write your names here !</a:t>
            </a:r>
            <a:endParaRPr lang="en-US" altLang="ko-KR" sz="1800" b="1" dirty="0">
              <a:solidFill>
                <a:srgbClr val="FFFFFF"/>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6761</Words>
  <Application>WPS Presentation</Application>
  <PresentationFormat>사용자 지정</PresentationFormat>
  <Paragraphs>197</Paragraphs>
  <Slides>9</Slides>
  <Notes>7</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9</vt:i4>
      </vt:variant>
    </vt:vector>
  </HeadingPairs>
  <TitlesOfParts>
    <vt:vector size="25" baseType="lpstr">
      <vt:lpstr>Arial</vt:lpstr>
      <vt:lpstr>SimSun</vt:lpstr>
      <vt:lpstr>Wingdings</vt:lpstr>
      <vt:lpstr>Arial</vt:lpstr>
      <vt:lpstr>Hiragino Kaku Gothic Std W8</vt:lpstr>
      <vt:lpstr>Malgun Gothic</vt:lpstr>
      <vt:lpstr>Calibri</vt:lpstr>
      <vt:lpstr>Helvetica Neue</vt:lpstr>
      <vt:lpstr>Microsoft YaHei</vt:lpstr>
      <vt:lpstr>汉仪旗黑</vt:lpstr>
      <vt:lpstr>Arial Unicode MS</vt:lpstr>
      <vt:lpstr>Malgun Gothic</vt:lpstr>
      <vt:lpstr>Apple SD Gothic Neo</vt:lpstr>
      <vt:lpstr>汉仪书宋二KW</vt:lpstr>
      <vt:lpstr>宋体-简</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OybekIbragimov</cp:lastModifiedBy>
  <cp:revision>7</cp:revision>
  <dcterms:created xsi:type="dcterms:W3CDTF">2026-05-17T20:39:40Z</dcterms:created>
  <dcterms:modified xsi:type="dcterms:W3CDTF">2026-05-17T20:39:40Z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1033-12.1.25880.25880</vt:lpwstr>
  </property>
  <property fmtid="{D5CDD505-2E9C-101B-9397-08002B2CF9AE}" pid="3" name="ICV">
    <vt:lpwstr>1A1AD6E10C8243AAEEBF096A9A1405FB_42</vt:lpwstr>
  </property>
</Properties>
</file>