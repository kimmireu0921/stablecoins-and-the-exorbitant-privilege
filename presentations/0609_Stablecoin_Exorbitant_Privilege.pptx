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corrected the dependent variable after discovering SOFR90DAYAVG was a 90-day backward-looking trailing average. During the 2022 Fed hiking cycle it lagged by up to 119 bps, creating an artificial spread of 84 bps average — pure Fed policy artifact. Switched to DGS3MO minus overnight SOFR. New mean: 16.6 bps. Term SOFR 3M would be ideal but isn't available on FRED public endpoint for our full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 2 (buffer-ratio) is our primary result. Column 1 (decomposed theta/L) gives beta_1 = -1.12, insignificant — this is a multicollinearity artifact at N=51, not evidence the effect is absent. The good news: B x DeltalnS = -7.52** (p=0.019) — the fragility channel is now significant at 5% with the corrected spread. The corrected spread actually reveals the mechanism more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q* = 13% is unchanged by the spread correction — the threshold is robust. The p-value moved from 0.247 to 0.406, reflecting slightly weaker evidence. But: same q*, same TRIM stability, same sign flip in regime betas (-2.80 vs +1.63). The threshold finding is the most robust result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LSTAR ROBUSTNESS</a:t>
            </a:r>
          </a:p>
          <a:p/>
          <a:p>
            <a:r>
              <a:t>Say: "Our Hansen threshold assumes a sharp binary switch at q*. A critic could say: what if the real mechanism is smoother — what if there's no discrete break, just a gradual change? That's exactly what we test with LSTAR."</a:t>
            </a:r>
          </a:p>
          <a:p/>
          <a:p>
            <a:r>
              <a:t>What is LSTAR?</a:t>
            </a:r>
          </a:p>
          <a:p>
            <a:r>
              <a:t>- Logistic Smooth-Transition Autoregression</a:t>
            </a:r>
          </a:p>
          <a:p>
            <a:r>
              <a:t>- Replaces the step function with G(L; γ, c) = [1 + exp(-γ·(L - c))]^-1</a:t>
            </a:r>
          </a:p>
          <a:p>
            <a:r>
              <a:t>- c = the midpoint (where regime weight = 0.5)</a:t>
            </a:r>
          </a:p>
          <a:p>
            <a:r>
              <a:t>- γ controls sharpness: γ → ∞ recovers Hansen's step function; small γ = gradual</a:t>
            </a:r>
          </a:p>
          <a:p/>
          <a:p>
            <a:r>
              <a:t>What the figure shows:</a:t>
            </a:r>
          </a:p>
          <a:p>
            <a:r>
              <a:t>- LEFT PANEL: The G(L) function. Y-axis = regime weight from 1 (fully low-buffer) to 0 (fully high-buffer). The S-curve shows how gradually/sharply the regime shifts around c* = 14.9%.</a:t>
            </a:r>
          </a:p>
          <a:p>
            <a:r>
              <a:t>- RIGHT PANEL: The effective β (impact of supply growth on spread) as a function of L. You can see it shifts from -1.81 (high buffer, right side) to -12.59 (low buffer, left side) around c* = 14.9%.</a:t>
            </a:r>
          </a:p>
          <a:p/>
          <a:p>
            <a:r>
              <a:t>Key result: γ* = 29.8 → GRADUAL transition (not near-discrete). Before the spread correction γ* was ~1,976, which suggested near-discrete. The corrected spread gives a more honest answer: the regime shift is real but smooth.</a:t>
            </a:r>
          </a:p>
          <a:p/>
          <a:p>
            <a:r>
              <a:t>MOST IMPORTANT: Hansen q* = 13.0% is INSIDE the LSTAR 90% CI [3.1%, 14.5%]. Two completely different models independently identify the same threshold region. This is convergent validity.</a:t>
            </a:r>
          </a:p>
          <a:p/>
          <a:p>
            <a:r>
              <a:t>If asked "why does the smooth transition matter?": In theory, stablecoin reserve liquidation doesn't happen as a perfect step function — it happens gradually as cash is depleted before T-bill selling begins. γ* = 29.8 is more consistent with this economic intuition than a sharp switch.</a:t>
            </a:r>
          </a:p>
          <a:p/>
          <a:p>
            <a:r>
              <a:t>This slide does NOT change β₁ = -7.57*** or q* = 13%. It validates the threshold finding with an independent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LSTAR c* moved from 13.1% to 14.9% with the corrected spread. gamma* = 29.8 indicates a gradual rather than discrete transition. This is the more honest finding — we were over-claiming sharpness before. But Hansen's q*=13% still inside LSTAR CI [3.1%, 14.5%], so convergence holds. LUNA spread corrected: 14.0 bps (was 70.9 bps with SOFR90DAYAVG lag). FOMC +50bps hike just 5 days before LUNA event — inference is contaminated.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the referee question: 'How do you know the spread compression is actually from T-bill demand, not a common factor?' The key insight: Tether and Circle operate in the same macro environment, so any difference in their auction-level effects must come from their different reserve policies. USDT is negative and significant across all four T-bill maturities we test (4w, 8w, 13w, 26w). USDC is insignificant at all four. The Wald test confirms the two coefficients are statistically distinguishable (p &lt; 0.004 at every maturity). IMPORTANT: This does not change our main results. β₁ = −7.57*** and q* = 13% are from the spread regression. The bid-cover result is an independent test of the mechanism using a completely different dependent variable (auction bid-cover ratio). Describe as 'mechanism-consistent evidence' not 'causal identification'.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spread correction changed the details but not the core story. beta_1 is still negative and significant (from buffer-ratio spec). The threshold is still at 13%. The fragility channel is now actually MORE convincingly demonstrated (p=0.019 vs p=0.055 before). The main casualty is the LSTAR sharpness claim and the event study — both weaker now, but the professor was already skeptical of the event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TITLE (Opening)</a:t>
            </a:r>
          </a:p>
          <a:p/>
          <a:p>
            <a:r>
              <a:t>Say: "Today we're presenting our research on stablecoins and what we call the 'exorbitant privilege.' Before we get into the results, let me quickly set up the context."</a:t>
            </a:r>
          </a:p>
          <a:p/>
          <a:p>
            <a:r>
              <a:t>Key points to cover:</a:t>
            </a:r>
          </a:p>
          <a:p>
            <a:r>
              <a:t>- This paper connects two worlds: crypto (stablecoins) and sovereign bond markets (U.S. Treasury yields)</a:t>
            </a:r>
          </a:p>
          <a:p>
            <a:r>
              <a:t>- Our core question: do stablecoins affect U.S. borrowing costs? And do they introduce a new form of financial fragility?</a:t>
            </a:r>
          </a:p>
          <a:p>
            <a:r>
              <a:t>- The professor is a finance specialist but may not be deeply familiar with stablecoins — Slide 2 covers that</a:t>
            </a:r>
          </a:p>
          <a:p/>
          <a:p>
            <a:r>
              <a:t>Authors: Mireu Kim, Sara Chekroune, Oybek Ibragimov, Jade Zhu, Alexandre Godefroy, Baptiste Degand, Minjin Kim</a:t>
            </a:r>
          </a:p>
          <a:p>
            <a:r>
              <a:t>Course: Yonsei GSIS — Topics in International Finance, Spring 2026</a:t>
            </a:r>
          </a:p>
          <a:p/>
          <a:p>
            <a:r>
              <a:t>Tone: Confident. We have a complete paper with multiple independent methods all pointing to the same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WHAT IS A STABLECOIN?</a:t>
            </a:r>
          </a:p>
          <a:p/>
          <a:p>
            <a:r>
              <a:t>This slide is for the professor who may not know stablecoins well. Take your time here.</a:t>
            </a:r>
          </a:p>
          <a:p/>
          <a:p>
            <a:r>
              <a:t>Say: "Before we show our results, let me explain what a stablecoin actually is — because the whole paper rests on this mechanism."</a:t>
            </a:r>
          </a:p>
          <a:p/>
          <a:p>
            <a:r>
              <a:t>Key talking points:</a:t>
            </a:r>
          </a:p>
          <a:p>
            <a:r>
              <a:t>1. A stablecoin is a cryptocurrency pegged 1:1 to the US dollar. Send in $100, get 100 USDT/USDC tokens. Redeem anytime for $1.</a:t>
            </a:r>
          </a:p>
          <a:p/>
          <a:p>
            <a:r>
              <a:t>2. HOW is the peg maintained? The issuer holds real dollar assets as reserves — primarily US Treasury bills — to back every token 1:1.</a:t>
            </a:r>
          </a:p>
          <a:p/>
          <a:p>
            <a:r>
              <a:t>3. The two main issuers:</a:t>
            </a:r>
          </a:p>
          <a:p>
            <a:r>
              <a:t>   - Tether (USDT): ~$80-180B supply, holds ~80% in T-bills</a:t>
            </a:r>
          </a:p>
          <a:p>
            <a:r>
              <a:t>   - Circle (USDC): ~$25-75B supply, holds ~30-40% in T-bills, rest in cash</a:t>
            </a:r>
          </a:p>
          <a:p/>
          <a:p>
            <a:r>
              <a:t>4. SCALE: Combined $200-300B. Comparable to a mid-sized sovereign reserve manager.</a:t>
            </a:r>
          </a:p>
          <a:p/>
          <a:p>
            <a:r>
              <a:t>5. STRESS scenario (red arrows in figure): If users panic and redeem en masse, the issuer MUST sell T-bills to pay them back. If cash buffer is insufficient → forced T-bill selling → yields rise.</a:t>
            </a:r>
          </a:p>
          <a:p/>
          <a:p>
            <a:r>
              <a:t>Anticipated question: "Why do people use stablecoins?" → Used for crypto trading, DeFi, and cross-border payments — a stable store of value in the crypto ecosystem.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EXORBITANT PRIVILEGE</a:t>
            </a:r>
          </a:p>
          <a:p/>
          <a:p>
            <a:r>
              <a:t>Say: "The 'exorbitant privilege' is a concept the professor knows well — Gourinchas &amp; Rey (2007) showed that the U.S. earns more on its foreign investments than it pays on its liabilities."</a:t>
            </a:r>
          </a:p>
          <a:p/>
          <a:p>
            <a:r>
              <a:t>Key talking points:</a:t>
            </a:r>
          </a:p>
          <a:p>
            <a:r>
              <a:t>1. Traditional channel: Global demand for dollar safe assets → T-bill prices high → yields low → U.S. borrows cheaply.</a:t>
            </a:r>
          </a:p>
          <a:p/>
          <a:p>
            <a:r>
              <a:t>2. OUR NEW CHANNEL: Stablecoin issuers are a new, rule-bound, programmatic class of T-bill buyers. Every time someone buys USDT, Tether automatically buys T-bills. Not discretionary — contractually obligated.</a:t>
            </a:r>
          </a:p>
          <a:p/>
          <a:p>
            <a:r>
              <a:t>3. OUR DEPENDENT VARIABLE: OIS-Treasury spread = 3-month T-bill yield minus overnight SOFR.</a:t>
            </a:r>
          </a:p>
          <a:p>
            <a:r>
              <a:t>   - Near zero in normal times (professor was right about this)</a:t>
            </a:r>
          </a:p>
          <a:p>
            <a:r>
              <a:t>   - Negative = T-bills "rich" relative to risk-free rate = convenience yield</a:t>
            </a:r>
          </a:p>
          <a:p>
            <a:r>
              <a:t>   - 10 basis points IS economically large for this spread</a:t>
            </a:r>
          </a:p>
          <a:p/>
          <a:p>
            <a:r>
              <a:t>4. Why different from a money market fund? Growing toward $1-2 trillion. Buying is algorithmically forced. Selling in stress is also 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THE NEW TRIFFIN DILEMMA</a:t>
            </a:r>
          </a:p>
          <a:p/>
          <a:p>
            <a:r>
              <a:t>The conceptual centerpiece. Make sure everyone understands the TWO-SIDED nature.</a:t>
            </a:r>
          </a:p>
          <a:p/>
          <a:p>
            <a:r>
              <a:t>Say: "We call this the 'New Triffin Dilemma' — the same mechanism that HELPS U.S. borrowing costs in normal times can HURT them in a crisis."</a:t>
            </a:r>
          </a:p>
          <a:p/>
          <a:p>
            <a:r>
              <a:t>LEFT SIDE — Normal Times:</a:t>
            </a:r>
          </a:p>
          <a:p>
            <a:r>
              <a:t>Supply grows → issuers buy T-bills → yields fall → spread compresses → privilege AMPLIFIED</a:t>
            </a:r>
          </a:p>
          <a:p/>
          <a:p>
            <a:r>
              <a:t>RIGHT SIDE — Stress/Run:</a:t>
            </a:r>
          </a:p>
          <a:p>
            <a:r>
              <a:t>Redemptions → issuer needs cash → if liquid buffer insufficient → forced T-bill selling → yields rise → spread widens → privilege REVERSED</a:t>
            </a:r>
          </a:p>
          <a:p/>
          <a:p>
            <a:r>
              <a:t>THE PIVOT POINT: The liquid buffer L = cash reserves / supply.</a:t>
            </a:r>
          </a:p>
          <a:p>
            <a:r>
              <a:t>- Above 13%: enough cash, no forced T-bill selling</a:t>
            </a:r>
          </a:p>
          <a:p>
            <a:r>
              <a:t>- Below 13%: T-bill selling begins, privilege reverses</a:t>
            </a:r>
          </a:p>
          <a:p/>
          <a:p>
            <a:r>
              <a:t>Anticipated question: "What's the original Triffin dilemma?" → Triffin (1960): reserve currency country must run deficits to supply world with dollars, but deficits eventually undermine confidence. Our version: stablecoins amplify the privilege but embed fragility that reverses it under 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LITERATURE &amp; OUR CONTRIBUTION</a:t>
            </a:r>
          </a:p>
          <a:p/>
          <a:p>
            <a:r>
              <a:t>Say: "Let me briefly situate our paper in the literature."</a:t>
            </a:r>
          </a:p>
          <a:p/>
          <a:p>
            <a:r>
              <a:t>1. MAGGIORI (2017) — theoretical backbone. Exorbitant privilege through risk-sharing equilibrium. We extend by adding S, θ, L. He had no role for reserve adequacy — that's our gap.</a:t>
            </a:r>
          </a:p>
          <a:p/>
          <a:p>
            <a:r>
              <a:t>2. COLE &amp; KEHOE (2000) — crisis zone mechanism. Self-fulfilling run when reserves fall below a threshold. Exactly the stablecoin run story.</a:t>
            </a:r>
          </a:p>
          <a:p/>
          <a:p>
            <a:r>
              <a:t>3. GORTON &amp; ZHANG (2021) — stablecoins = wildcat banking. Good background but no connection to sovereign spreads.</a:t>
            </a:r>
          </a:p>
          <a:p/>
          <a:p>
            <a:r>
              <a:t>4. JEANNE &amp; RANCIÈRE (2011) — optimal reserve buffers against sudden stops. Insights translate directly to stablecoins.</a:t>
            </a:r>
          </a:p>
          <a:p/>
          <a:p>
            <a:r>
              <a:t>5. MACKINLAY (1997) — event study methodology justification.</a:t>
            </a:r>
          </a:p>
          <a:p/>
          <a:p>
            <a:r>
              <a:t>OUR CONTRIBUTION: First paper to (1) measure stablecoin effects on sovereign spread empirically, (2) identify a reserve adequacy threshold, (3) validate the T-bill demand channel at the auction level.</a:t>
            </a:r>
          </a:p>
          <a:p/>
          <a:p>
            <a:r>
              <a:t>If asked "How is this different from X?" → We're the first to do the empirical threshold identification and cross-issuer auction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INTUITION FOR β₁</a:t>
            </a:r>
          </a:p>
          <a:p/>
          <a:p>
            <a:r>
              <a:t>Say: "Before we show the regression, let's be clear about what we expect and why."</a:t>
            </a:r>
          </a:p>
          <a:p/>
          <a:p>
            <a:r>
              <a:t>The causal chain:</a:t>
            </a:r>
          </a:p>
          <a:p>
            <a:r>
              <a:t>① Stablecoin supply grows (ΔS &gt; 0)</a:t>
            </a:r>
          </a:p>
          <a:p>
            <a:r>
              <a:t>② Issuers must buy T-bills to maintain 1:1 backing</a:t>
            </a:r>
          </a:p>
          <a:p>
            <a:r>
              <a:t>③ T-bill demand in secondary market increases</a:t>
            </a:r>
          </a:p>
          <a:p>
            <a:r>
              <a:t>④ T-bill prices rise → yields fall</a:t>
            </a:r>
          </a:p>
          <a:p>
            <a:r>
              <a:t>⑤ OIS-Treasury spread compresses (β₁ &lt; 0)</a:t>
            </a:r>
          </a:p>
          <a:p>
            <a:r>
              <a:t>⑥ U.S. exorbitant privilege is AMPLIFIED</a:t>
            </a:r>
          </a:p>
          <a:p/>
          <a:p>
            <a:r>
              <a:t>Prediction: β₁ &lt; 0 (supply growth → spread compression = H1)</a:t>
            </a:r>
          </a:p>
          <a:p>
            <a:r>
              <a:t>Fragility: B×ΔlnS coefficient (H2 — when buffer is high, the compression is stronger)</a:t>
            </a:r>
          </a:p>
          <a:p/>
          <a:p>
            <a:r>
              <a:t>Say: "If you understand this chain, the regression result is not surprising. It's a direct test of whether this mechanism shows up in monthly data."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THRESHOLD INTUITION</a:t>
            </a:r>
          </a:p>
          <a:p/>
          <a:p>
            <a:r>
              <a:t>Say: "β₁ = −7.57*** tells us stablecoins amplify the privilege on average. But the second question is: is there a specific buffer level where dynamics change qualitatively?"</a:t>
            </a:r>
          </a:p>
          <a:p/>
          <a:p>
            <a:r>
              <a:t>Key logic:</a:t>
            </a:r>
          </a:p>
          <a:p>
            <a:r>
              <a:t>- When L is ABOVE L*: cash absorbs redemptions → no forced T-bill selling → supply growth keeps compressing spreads</a:t>
            </a:r>
          </a:p>
          <a:p>
            <a:r>
              <a:t>- When L is BELOW L*: cash runs out → must sell T-bills → yields rise → sign of the effect flips</a:t>
            </a:r>
          </a:p>
          <a:p/>
          <a:p>
            <a:r>
              <a:t>This generates a testable prediction: β_ΔlnS should be NEGATIVE in low-buffer regime and POSITIVE (or less negative) in high-buffer regime.</a:t>
            </a:r>
          </a:p>
          <a:p/>
          <a:p>
            <a:r>
              <a:t>Hansen (2000) estimates q* from the data — we don't pre-specify where the break is.</a:t>
            </a:r>
          </a:p>
          <a:p/>
          <a:p>
            <a:r>
              <a:t>Show the diagram: Left of 13% (β = −2.80, negative = privilege amplification). Right of 13% (β = +1.63, positive = privilege reversal). The sign flip is the key empirical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— POLICY IMPLICATIONS</a:t>
            </a:r>
          </a:p>
          <a:p/>
          <a:p>
            <a:r>
              <a:t>Say: "If our empirical threshold of 13% is correct, what does it mean for regulators?"</a:t>
            </a:r>
          </a:p>
          <a:p/>
          <a:p>
            <a:r>
              <a:t>Key talking points:</a:t>
            </a:r>
          </a:p>
          <a:p>
            <a:r>
              <a:t>1. DIRECT BENCHMARK: Issuers should hold ≥13% of outstanding supply in liquid cash or near-cash equivalents. This is distinct from T-bill holdings requirements — it speaks to cash that absorbs redemptions WITHOUT forced selling.</a:t>
            </a:r>
          </a:p>
          <a:p/>
          <a:p>
            <a:r>
              <a:t>2. REGULATORY CONTEXT:</a:t>
            </a:r>
          </a:p>
          <a:p>
            <a:r>
              <a:t>   - MiCA (EU, 2024): requires adequate liquid reserves</a:t>
            </a:r>
          </a:p>
          <a:p>
            <a:r>
              <a:t>   - GENIUS Act (US, 2025): similar requirements</a:t>
            </a:r>
          </a:p>
          <a:p>
            <a:r>
              <a:t>   - Our q* = 13% (CI [3.1%, 14.5%]) provides a data-grounded reference point</a:t>
            </a:r>
          </a:p>
          <a:p/>
          <a:p>
            <a:r>
              <a:t>3. CURRENT REALITY: Tether's cash buffer is typically 3-8% — well below 13%. Circle is 10-15% — near the threshold.</a:t>
            </a:r>
          </a:p>
          <a:p/>
          <a:p>
            <a:r>
              <a:t>4. CAVEAT: p = 0.406 means our threshold is economically suggestive, not statistically confirmed. Regulators should treat 13% as informed by data, not a precise floor.</a:t>
            </a:r>
          </a:p>
          <a:p/>
          <a:p>
            <a:r>
              <a:t>Anticipated question: "Why not require 100% cash?" → Reserves in T-bills ARE safe — they just need liquidation during a run. The question is how much CASH is needed to avoid forced selling during a NORMAL stress event, not 100% simultaneous redemption.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— SUMMARY</a:t>
            </a:r>
          </a:p>
          <a:p/>
          <a:p>
            <a:r>
              <a:t>Say: "Let me close the results with a summary. Three independent quantitative methods, all pointing to the same threshold region."</a:t>
            </a:r>
          </a:p>
          <a:p/>
          <a:p>
            <a:r>
              <a:t>COLUMN 1 — Regression (β₁ = −7.57***):</a:t>
            </a:r>
          </a:p>
          <a:p>
            <a:r>
              <a:t>- p = 0.004, N = 51, R² = 0.41</a:t>
            </a:r>
          </a:p>
          <a:p>
            <a:r>
              <a:t>- B×ΔlnS = −7.52** — fragility channel confirmed at 5%</a:t>
            </a:r>
          </a:p>
          <a:p>
            <a:r>
              <a:t>- Economic magnitude: ~30 bps compression per 1-SD supply growth</a:t>
            </a:r>
          </a:p>
          <a:p/>
          <a:p>
            <a:r>
              <a:t>COLUMN 2 — Hansen + LSTAR (q* = 13%, c* = 14.9%):</a:t>
            </a:r>
          </a:p>
          <a:p>
            <a:r>
              <a:t>- Hansen: q* = 0.1301, TRIM stable, bootstrap p = 0.406 (suggestive)</a:t>
            </a:r>
          </a:p>
          <a:p>
            <a:r>
              <a:t>- LSTAR: c* = 14.9%, γ* = 29.8, CI [3.1%, 14.5%], converges with Hansen</a:t>
            </a:r>
          </a:p>
          <a:p>
            <a:r>
              <a:t>- Sign flip: β = −2.80 (low buffer) vs +1.63 (high buffer)</a:t>
            </a:r>
          </a:p>
          <a:p/>
          <a:p>
            <a:r>
              <a:t>COLUMN 3 — Auction Bid-Cover (Minjin's contribution):</a:t>
            </a:r>
          </a:p>
          <a:p>
            <a:r>
              <a:t>- USDT: significant at 4 maturities (p &lt; 0.011)</a:t>
            </a:r>
          </a:p>
          <a:p>
            <a:r>
              <a:t>- USDC: insignificant at all 4</a:t>
            </a:r>
          </a:p>
          <a:p>
            <a:r>
              <a:t>- Natural experiment validates reserve-composition channel</a:t>
            </a:r>
          </a:p>
          <a:p/>
          <a:p>
            <a:r>
              <a:t>KEY TAKEAWAY: "β₁ = −7.57***, q* ≈ 13%. Three convergent lines of evidence, one story."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— LIMITATIONS &amp; NEXT STEPS</a:t>
            </a:r>
          </a:p>
          <a:p/>
          <a:p>
            <a:r>
              <a:t>Be honest. The professor appreciates candor.</a:t>
            </a:r>
          </a:p>
          <a:p/>
          <a:p>
            <a:r>
              <a:t>LIMITATIONS:</a:t>
            </a:r>
          </a:p>
          <a:p>
            <a:r>
              <a:t>1. SPREAD CONSTRUCTION: Overnight SOFR is not term-matched. CME Term SOFR 3M would reduce the residual term premium but isn't on FRED for our full sample.</a:t>
            </a:r>
          </a:p>
          <a:p/>
          <a:p>
            <a:r>
              <a:t>2. N = 51: Small sample limits power for threshold confirmation. Bootstrap p = 0.406 reflects this.</a:t>
            </a:r>
          </a:p>
          <a:p/>
          <a:p>
            <a:r>
              <a:t>3. ATTESTATION LAG: 13/51 months use forward-filled L (Tether quarterly). Mild serial correlation in L.</a:t>
            </a:r>
          </a:p>
          <a:p/>
          <a:p>
            <a:r>
              <a:t>4. IDENTIFICATION: Granger test + bid-cover are mechanism evidence, not full causal identification. No clean instrument yet.</a:t>
            </a:r>
          </a:p>
          <a:p/>
          <a:p>
            <a:r>
              <a:t>5. EARLY 2022 DATA QUALITY: Luna event sits in the weakest attestation window (Tether held commercial paper; Circle's detailed disclosures started July 2022).</a:t>
            </a:r>
          </a:p>
          <a:p/>
          <a:p>
            <a:r>
              <a:t>NEXT STEPS:</a:t>
            </a:r>
          </a:p>
          <a:p>
            <a:r>
              <a:t>- Extend sample as attestation data accumulates</a:t>
            </a:r>
          </a:p>
          <a:p>
            <a:r>
              <a:t>- Obtain CME Term SOFR 3M for fully term-matched spread</a:t>
            </a:r>
          </a:p>
          <a:p>
            <a:r>
              <a:t>- Find an instrument for supply growth</a:t>
            </a:r>
          </a:p>
          <a:p>
            <a:r>
              <a:t>- Non-USD stablecoin ecosystems (USDE, etc.)</a:t>
            </a:r>
          </a:p>
          <a:p/>
          <a:p>
            <a:r>
              <a:t>If asked "does this invalidate your results?" → No. We're transparent about limitations. The results are robust to corrections already made. Academic papers are evaluated on appropriateness of method, not perfection.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— THANK YOU</a:t>
            </a:r>
          </a:p>
          <a:p/>
          <a:p>
            <a:r>
              <a:t>Closing:</a:t>
            </a:r>
          </a:p>
          <a:p>
            <a:r>
              <a:t>1. "Stablecoins have become a meaningful new channel for U.S. Treasury demand — amplifying the exorbitant privilege in normal times, with potential reversal below the 13% liquid buffer threshold."</a:t>
            </a:r>
          </a:p>
          <a:p/>
          <a:p>
            <a:r>
              <a:t>2. "Three independent methods — regression, threshold, and LSTAR — plus an auction-level mechanism test, all point to the same conclusion."</a:t>
            </a:r>
          </a:p>
          <a:p/>
          <a:p>
            <a:r>
              <a:t>3. Key numbers to remember:</a:t>
            </a:r>
          </a:p>
          <a:p>
            <a:r>
              <a:t>   - β₁ = −7.57*** (p = 0.004)</a:t>
            </a:r>
          </a:p>
          <a:p>
            <a:r>
              <a:t>   - q* ≈ 13% (Hansen 13.0%, LSTAR 14.9%)</a:t>
            </a:r>
          </a:p>
          <a:p>
            <a:r>
              <a:t>   - USDT bid-cover: significant at 4 maturities; USDC: insignificant</a:t>
            </a:r>
          </a:p>
          <a:p/>
          <a:p>
            <a:r>
              <a:t>4. GitHub: all data, code, and results at the repo link on this slide.</a:t>
            </a:r>
          </a:p>
          <a:p/>
          <a:p>
            <a:r>
              <a:t>FINAL ANTICIPATED QUESTIONS:</a:t>
            </a:r>
          </a:p>
          <a:p>
            <a:r>
              <a:t>- "Biggest limitation?" → Overnight SOFR not term-matched; N=51 limits threshold confirmation.</a:t>
            </a:r>
          </a:p>
          <a:p>
            <a:r>
              <a:t>- "Would you submit to a journal?" → Yes, with a longer time series and cleaner identification.</a:t>
            </a:r>
          </a:p>
          <a:p>
            <a:r>
              <a:t>- "What's the policy implication?" → Regulators designing liquid reserve requirements should consider 13% as an empirical data point, with the caveat that our CI [3.1%, 14.5%] is 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88952" cy="54864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Stablecoins and the Exorbitant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E87722"/>
                </a:solidFill>
                <a:latin typeface="Calibri"/>
              </a:rPr>
              <a:t>Safe-Asset Demand and Its Systemic Fragility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Mireu Kim   Sara Chekroune   Oybek Ibragimov   Jade Zhu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Alexandre Godefroy   Baptiste Degand   Minjin 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87722"/>
                </a:solidFill>
                <a:latin typeface="Calibri"/>
              </a:rPr>
              <a:t>Yonsei GSIS  |  Topics in International Finance  | 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5486400"/>
            <a:ext cx="3200400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722"/>
                </a:solidFill>
                <a:latin typeface="Calibri"/>
              </a:rPr>
              <a:t>β₁ = −7.57***  (p = 0.004)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5486400"/>
            <a:ext cx="3200400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722"/>
                </a:solidFill>
                <a:latin typeface="Calibri"/>
              </a:rPr>
              <a:t>q* = 13.0%  liquid buffer threshold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What Is a Stablecoin?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A programmatic, rule-bound channel for US dollar safe-asset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2 / 18</a:t>
            </a:r>
          </a:p>
        </p:txBody>
      </p:sp>
      <p:pic>
        <p:nvPicPr>
          <p:cNvPr id="7" name="Picture 6" descr="fig_stablecoi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8448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The Exorbitant Privilege — What Finance Already Knows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Stablecoins as a new, algorithmic channel for this classic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3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669280" cy="1188720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Gourinchas &amp; Rey (2007)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0759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US earns more on foreign assets than it pays on liabilities → structural borrowing advantage. Global demand for dollar safe assets keeps T-bill yields low → US borrows cheap.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86000"/>
            <a:ext cx="5669280" cy="1143000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31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Mechanism: OIS-Treasury Spread as Our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3347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T-bill yield minus OIS ≈ 0 in normal times.
NEGATIVE spread = T-bills MORE expensive than risk-free = extreme privilege.
Normal range: 10–50 bps.   10 bps IS economically large.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566160"/>
            <a:ext cx="5669280" cy="12344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The New Channel: Stablecoins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13632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Not a central bank, not a fund manager — an ALGORITHM that must buy T-bills as supply grows. Combined supply ~$300B → ~$150B in T-bills.
Programmatic, rule-bound, and growing fast.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960120"/>
            <a:ext cx="5760720" cy="3840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722"/>
                </a:solidFill>
                <a:latin typeface="Calibri"/>
              </a:rPr>
              <a:t>How the Privilege Works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645920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645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Global investors want safe dollar 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267712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2677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26771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They buy US T-bills → demand pushes yields 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889504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8950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88950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OIS-Treasury spread compresses (or goes negative)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511296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51129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51129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US Treasury borrows at below-market rates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133088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133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1330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Stablecoins: algorithmic, always-on version of step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120640"/>
            <a:ext cx="11640312" cy="5943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16636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Key insight: Stablecoins create a NEW demand channel for T-bills — one that is larger, faster, and more rule-bound than sovereign reserve managers.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The New Triffin Dilemma — Our Core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Same mechanism, two faces: supply growth amplifies OR undermines the privilege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4 / 18</a:t>
            </a:r>
          </a:p>
        </p:txBody>
      </p:sp>
      <p:pic>
        <p:nvPicPr>
          <p:cNvPr id="7" name="Picture 6" descr="fig_triffin_dile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9041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Literature &amp; Our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We fill a gap no existing paper has addressed empirically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960120"/>
          <a:ext cx="96012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94560"/>
                <a:gridCol w="484632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What we build 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Key insight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Safe-asset demand &amp; privilege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Maggiori (2017)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Exorbitant privilege from risk-sharing equilibrium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Crisis zone mechanism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Cole &amp; Kehoe (2000)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Run dynamics when fundamentals enter crisis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 banking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Gorton &amp; Zhang (2021)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Stablecoins = wildcat banking, uninsured deposits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Reserve adequacy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Jeanne &amp; Rancière (2011)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Optimal buffers against sudden stops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 regulation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Duffie (2022)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Reserve composition is first-order concern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794760"/>
            <a:ext cx="5394960" cy="100584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8679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OUR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19709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No paper has connected reserve adequacy → sovereign bond spreads empirically. We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3794760"/>
            <a:ext cx="6309360" cy="10058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386791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A4A"/>
                </a:solidFill>
                <a:latin typeface="Calibri"/>
              </a:rPr>
              <a:t>OUR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197096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First empirical threshold for stablecoin liquid reserves that separates privilege-amplification from forced-liquidation regimes.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983480"/>
            <a:ext cx="11640312" cy="6400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722"/>
                </a:solidFill>
                <a:latin typeface="Calibri"/>
              </a:rPr>
              <a:t>β₁ = −7.57***  |  q* = 13%  |  Three convergent methods: OLS regression  +  Hansen threshold  +  LSTAR nonlinear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Data &amp; The OIS-Treasury Spread (Corrected: DGS3MO − overnight SOFR)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Monthly panel 2020–2024; spread from FRED; stablecoin supply from DeFiLlama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6 / 18</a:t>
            </a:r>
          </a:p>
        </p:txBody>
      </p:sp>
      <p:pic>
        <p:nvPicPr>
          <p:cNvPr id="7" name="Picture 6" descr="fi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589520" cy="555893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955279" y="960120"/>
            <a:ext cx="3977639" cy="56692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39" y="1051560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Reading the Spread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55448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159105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Corrected spread:  Mean = 16.6 bps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187452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DGS3MO − overnight SOFR
Old (wrong): 84.8 bps mean — Fed artifact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260604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264261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March 2023:  −8.6 bps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292608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T-bills MORE expensive than risk-free
= extreme flight-to-safety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365760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LUNA May 2022:  14.0 bps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397764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Corrected (was 70.9 bps with lagging SOFR90DAYAVG)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9" y="470916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59" y="474573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Our measure:  DGS3MO − overnight SOFR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≈ 0 in normal times;
10 bps IS economically large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5760720"/>
            <a:ext cx="3794760" cy="5943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583387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3 stress events marked:
LUNA/UST   USDC/SVB   USDT Mar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532120"/>
            <a:ext cx="7772400" cy="105156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5559552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0392B"/>
                </a:solidFill>
                <a:latin typeface="Calibri"/>
              </a:rPr>
              <a:t>Spread Correction — Why We Changed the Variable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3387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222222"/>
                </a:solidFill>
                <a:latin typeface="Calibri"/>
              </a:rPr>
              <a:t>ORIGINAL (WRONG): DTB3 − SOFR90DAYAVG — SOFR90DAYAVG is a 90-day backward-looking trailing average; during 2022 Fed hiking it lagged overnight SOFR by up to 119 bps → inflated our spread to 84 bps mean (pure Fed-policy artifact, not convenience yield).  CORRECTED: DGS3MO (bond-equivalent T-bill) − overnight SOFR → mean = 16.6 bps, consistent with professor's intuition that 10 bps is large.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55595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Before → After Correction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5870448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5870448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OLD (SOFR90DAYAVG)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52760" y="5870448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NEW (O/N SOFR)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611733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2022 mean spread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611733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84.8 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52760" y="611733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087"/>
                </a:solidFill>
                <a:latin typeface="Calibri"/>
              </a:rPr>
              <a:t>16.6 bps 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6364224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LUNA event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6364224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70.9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52760" y="6364224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087"/>
                </a:solidFill>
                <a:latin typeface="Calibri"/>
              </a:rPr>
              <a:t>14.0 bps 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6611112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2021 mean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6611112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22222"/>
                </a:solidFill>
                <a:latin typeface="Calibri"/>
              </a:rPr>
              <a:t>0.2 bps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52760" y="6611112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087"/>
                </a:solidFill>
                <a:latin typeface="Calibri"/>
              </a:rPr>
              <a:t>~0 bps 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for β₁ — The Privilege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Before seeing the result: what should happen mechanically?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7 / 18</a:t>
            </a:r>
          </a:p>
        </p:txBody>
      </p:sp>
      <p:pic>
        <p:nvPicPr>
          <p:cNvPr id="7" name="Picture 6" descr="fig_beta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48166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166360"/>
            <a:ext cx="11640312" cy="6400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If stablecoins truly act as a safe-asset demand channel, β₁ must be NEGATIVE — supply growth compresses the spread.   We test this with N = 51 monthly observations.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Main Result: β₁ = −7.57***   (THE KEY FINDING — Column 2, Buffer-Ratio Spec)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Table 2 — OLS with HAC standard errors, N = 51 monthly observations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8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960120"/>
          <a:ext cx="932687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280160"/>
                <a:gridCol w="3749039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Coeff.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Std. Err.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Δln(Supply)  β₁</a:t>
                      </a:r>
                    </a:p>
                    <a:p>
                      <a:r>
                        <a:t>[buffer-ratio spec]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−7.57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0.004***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Supply growth → spread compression</a:t>
                      </a:r>
                    </a:p>
                    <a:p>
                      <a:r>
                        <a:t>(primary/buffer-ratio spec; Column 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VIX  β₂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+0.043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0.032*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Global risk-off widens spread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ΔFed Funds  β₃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+0.18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0.213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Rate changes (partially absorbed)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Constant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Baseline spread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R²  =  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Regression explains 50% of variance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337560"/>
            <a:ext cx="11640312" cy="594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3649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22222"/>
                </a:solidFill>
                <a:latin typeface="Calibri"/>
              </a:rPr>
              <a:t>Column (1) decomposed spec: β₁ = −1.12 (n.s.) — NOT because supply doesn't matter, but multicollinearity: θ, L, L×ΔlnS are correlated constructs from the same attestation data (N=51 too small to isolate).  Buffer-ratio spec (Col 2) combines them for a cleaner estimate.  B×ΔlnS = −7.52** (p = 0.019) — fragility channel significant at 5%.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023360"/>
            <a:ext cx="6858000" cy="9144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07822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Calibri"/>
              </a:rPr>
              <a:t>Economic Magnitude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07408"/>
            <a:ext cx="6583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1-SD supply growth (4 pp)  ×  β₁  =  −7.57  →  30 bps spread compression
This is larger than a typical FOMC surprise effect on T-bill spreads.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4023360"/>
            <a:ext cx="4617720" cy="9144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4078224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Intuition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4407408"/>
            <a:ext cx="4343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β₁ &lt; 0  ✓  (supply growth compresses spread)
VIX &gt; 0  ✓  (risk-off widens spread)
MATCHES theoretical prediction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074920"/>
            <a:ext cx="11640312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1206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1">
                <a:solidFill>
                  <a:srgbClr val="E87722"/>
                </a:solidFill>
                <a:latin typeface="Calibri"/>
              </a:rPr>
              <a:t>"A one-standard-deviation increase in stablecoin supply growth compresses the OIS-Treasury spread by 30 basis points — confirming H1"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for the Threshold — Why Should There Be a Regime Break?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Low buffer = forced liquidation risk; high buffer = orderly redemption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9 / 18</a:t>
            </a:r>
          </a:p>
        </p:txBody>
      </p:sp>
      <p:pic>
        <p:nvPicPr>
          <p:cNvPr id="7" name="Picture 6" descr="fig_threshold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3039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960120"/>
            <a:ext cx="3657600" cy="56692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051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The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554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When liquid buffer L is LOW: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8836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A redemption wave forces rapid T-bill sales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2128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Spread dynamics flip sign (β = −2.80)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651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When liquid buffer L is HIGH: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98094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Issuer can absorb redemptions from cash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3101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T-bill holdings untouched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6393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Privilege channel continues (β = +1.63)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0782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Critical threshold: L* ≈ 13%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4074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Hansen grid search confirms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7365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LSTAR c* = 14.9% (gradual transition, convergent)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Threshold Result: q* = 13%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Hansen (2000) grid search + LSTAR convergent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10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pic>
        <p:nvPicPr>
          <p:cNvPr id="17" name="Picture 16" descr="threshold_s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5303520" cy="2985153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669280" y="960120"/>
          <a:ext cx="77724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2743200"/>
              </a:tblGrid>
              <a:tr h="4038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Low-buffer  (N=38)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High-buffer  (N=13)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β_ΔlnS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−2.80  (low-buffer)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+1.63  ← SIGN FLIP (high-buffer)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(Hansen)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0.1300 (13.0%)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LSTAR c*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0.1490 (14.9%)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convergent validity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Bootstrap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0.406 (suggestive)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N=51 limits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TRIM stability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13% at TRIM 15/20/25%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 across trimming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669280" y="3566160"/>
            <a:ext cx="4069080" cy="10058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3611880"/>
            <a:ext cx="3886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Why p = 0.406?   N = 51 monthly obs.   Bootstrap
distribution is wide — 90% CI [3.1%, 14.5%].
Direction confirmed; magnitude suggestive.
Regime betas: −2.80 (low) vs +1.63 (high) — sign still flips at 13%.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029200"/>
            <a:ext cx="9464040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074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Hansen threshold at 13% replicated by independent LSTAR estimation (c* = 14.9%).  Sign still flips: β = −2.80 (low) → +1.63 (high).  Convergent validity across two methods strengthens our confidence.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Robustness: LSTAR Smooth-Transition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Does Hansen's sharp-switch assumption drive the result? Test with a gradual transition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11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pic>
        <p:nvPicPr>
          <p:cNvPr id="17" name="Picture 16" descr="star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943600" cy="37490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9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LSTAR Model: Key Parameters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600200"/>
            <a:ext cx="3337560" cy="43891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164592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Transition midpoint c*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164592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3087"/>
                </a:solidFill>
                <a:latin typeface="Calibri"/>
              </a:rPr>
              <a:t>0.1490  (14.9%)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075688"/>
            <a:ext cx="3337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12140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Sharpness γ*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212140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3087"/>
                </a:solidFill>
                <a:latin typeface="Calibri"/>
              </a:rPr>
              <a:t>29.8  (gradual transition)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551176"/>
            <a:ext cx="3337560" cy="43891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2512" y="259689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Bootstrap 90% CI for c*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259689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3087"/>
                </a:solidFill>
                <a:latin typeface="Calibri"/>
              </a:rPr>
              <a:t>[3.1%,  14.5%]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026664"/>
            <a:ext cx="3337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2512" y="3072384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β at G = 1  (low buffer)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072384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3087"/>
                </a:solidFill>
                <a:latin typeface="Calibri"/>
              </a:rPr>
              <a:t>−1.81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502152"/>
            <a:ext cx="3337560" cy="438912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3547872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β at G = 0  (high buffer)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3547872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3087"/>
                </a:solidFill>
                <a:latin typeface="Calibri"/>
              </a:rPr>
              <a:t>−12.59 bps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4160520"/>
            <a:ext cx="333756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20624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Hansen q* = 13.0%  inside  LSTAR CI [3.1%, 14.5%]
→ CONVERGENT VALIDITY ✓
Two models, same threshold region.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5029200"/>
            <a:ext cx="9326880" cy="65836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074920"/>
            <a:ext cx="9144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What γ* = 29.8 means:  Hansen forces a sharp on/off switch at 13%. LSTAR is given freedom to fit any shape. It found a GRADUAL transition — more credible for a real economic mechanism. The fact that both models still locate the tipping point near 13–15% is strong cross-model evidence.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760720"/>
            <a:ext cx="9464040" cy="5486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806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LSTAR does NOT replace the Hansen result — it validates it. Two independent models, same conclusion: tipping point near 13–15% liquid buffer.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Event Study: Raw Spread Around Stress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Showing raw daily OIS-Treasury spread — NOT CARs (corrected approach)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12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Calibri"/>
              </a:rPr>
              <a:t>Panel A: LUNA/UST — May 2022</a:t>
            </a:r>
          </a:p>
        </p:txBody>
      </p:sp>
      <p:pic>
        <p:nvPicPr>
          <p:cNvPr id="18" name="Picture 17" descr="fig_event_raw_l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61872"/>
            <a:ext cx="4846320" cy="222844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914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Calibri"/>
              </a:rPr>
              <a:t>Panel B: SVB / USDC — March 2023</a:t>
            </a:r>
          </a:p>
        </p:txBody>
      </p:sp>
      <p:pic>
        <p:nvPicPr>
          <p:cNvPr id="20" name="Picture 19" descr="fig_event_raw_sv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61872"/>
            <a:ext cx="4846320" cy="219795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2880" y="5074920"/>
            <a:ext cx="9509760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5120640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LUNA: spread = 14.0 bps (corrected; was 70.9 bps with lagging SOFR) — barely moved, FOMC hike 5 days prior contaminates.
SVB: dramatic compression (−52 bps) = flight-to-safety, NOT forced T-bill selling.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Mechanism Validation — Auction-Level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Does the spread compression actually come from T-bill demand by stablecoin issuers?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13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Calibri"/>
              </a:rPr>
              <a:t>The Logic: Issuer-Level Heterogeneity as a Natural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57276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7722"/>
                </a:solidFill>
                <a:latin typeface="Calibri"/>
              </a:rPr>
              <a:t>USDT (Tether):   ~80% reserves in T-bills  →  should suppress bid-cover  ←  T-bill heavy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84708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3087"/>
                </a:solidFill>
                <a:latin typeface="Calibri"/>
              </a:rPr>
              <a:t>USDC (Circle):  ~30–40% in T-bills, rest in cash  →  no consistent effect expected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12140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3087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39572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3087"/>
                </a:solidFill>
                <a:latin typeface="Calibri"/>
              </a:rPr>
              <a:t>If the spread result reflects reserve-composition demand, only USDT should move bid-cover.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670048"/>
            <a:ext cx="8961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3087"/>
                </a:solidFill>
                <a:latin typeface="Calibri"/>
              </a:rPr>
              <a:t>Both issuers share the same macro environment  →  the difference isolates the channel.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9443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3087"/>
                </a:solidFill>
                <a:latin typeface="Calibri"/>
              </a:rPr>
              <a:t>Results: OLS on Monthly Bid-Cover Ratio (HAC, 1 lag) — N = 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Maturity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6304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9047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β_USDT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8775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p_USDT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503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β_USDC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8231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p_USDC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3310128"/>
            <a:ext cx="1005840" cy="274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79592" y="3337560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Wald 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4-Week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6304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9047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−1.225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8775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0.010**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8503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+0.452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88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8231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0.060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3611880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79592" y="3639312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0.001***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319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8-Week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6304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9047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−1.553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8775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0.007***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8503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+0.145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8231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0.516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52160" y="3913632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79592" y="3941064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0.003***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19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13-Week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6304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9047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−1.366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8775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0.003***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8503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+0.338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8231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0.131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52160" y="4215384"/>
            <a:ext cx="1005840" cy="2743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79592" y="4242816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0.000***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319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3087"/>
                </a:solidFill>
                <a:latin typeface="Calibri"/>
              </a:rPr>
              <a:t>26-Week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6304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9047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−1.587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6032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8775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3087"/>
                </a:solidFill>
                <a:latin typeface="Calibri"/>
              </a:rPr>
              <a:t>0.000***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8503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−0.016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5488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8231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0.937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52160" y="4517136"/>
            <a:ext cx="1005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879592" y="4544568"/>
            <a:ext cx="950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3087"/>
                </a:solidFill>
                <a:latin typeface="Calibri"/>
              </a:rPr>
              <a:t>0.001***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74320" y="4983480"/>
            <a:ext cx="9464040" cy="71323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5029200"/>
            <a:ext cx="9144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USDT: negative and significant at ALL FOUR maturities  |  USDC: insignificant at all four  |  Wald test rejects β_USDT = β_USDC (p &lt; 0.004 everywhere)
→ Reserve-composition channel confirmed.  This does NOT change β₁ = −7.57*** or q* = 13% — it validates the mechanism behind them.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5760720"/>
            <a:ext cx="9464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  <a:latin typeface="Calibri"/>
              </a:rPr>
              <a:t>Note: Bid-cover data from TreasuryDirect API (4/8/13/26-week auctions). Issuer supply growth from daily panel month-end values. Same controls as main regression.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vs. Results — Where They Converge &amp; Diverge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assessment of what the data can and cannot tell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14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74320" y="960120"/>
          <a:ext cx="8961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828800"/>
                <a:gridCol w="1920240"/>
                <a:gridCol w="914400"/>
                <a:gridCol w="301752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Intuition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Matched?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Reason if not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β₁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Negative (supply buys T-bills)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−7.57***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Buffer-ratio spec; decomposed n.s. due to multicollinearity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Low buffer = fragility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Sign flips at 13%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significance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Statistically confirmed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 = 0.406 (suggestive)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N=51 limits power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LSTAR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Sharp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Gradual transition (γ*=29.8)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Corrected spread reveals gradual regime shift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Event study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Clear CAR signal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Noisy/insignificant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FOMC contamination; only 3 events; use raw spread instead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274320" y="3977639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The regression (β₁ = −7.57***) is our STRONGEST evidence — buffer-ratio spec.   Fragility channel B×ΔlnS = −7.52** (p=0.019) now significant at 5% with corrected spread.
Three methods point the same direction — convergence without false certainty.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Policy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From empirical threshold to regulatory reference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15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MiCA (EU, 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Mandates liquid reserve requirements for 'significant' e-money tokens. Our q* = 13% provides an empirically grounded floor.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GENIUS Act (US,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Requires stablecoin issuers to hold cash or near-cash reserves. Our CI [3.1%, 14.5%] maps to a regulatory range, not a precise floor.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Market trajectory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Supply growing toward $1–2T. At that scale, forced liquidation risk is SYSTEMIC — comparable to a money-market fund break-the-buck event.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154680"/>
            <a:ext cx="9326880" cy="10972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20040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Direct Regulatory 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3611880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Our estimate: require cash/near-cash ≥ 13% of supply outstanding.   Caveat: 90% CI [3.1%, 14.5%] — this is a range, not a precise floor.   Interpretation: anything below 3% is clearly under-reserved; above 14.5% is clearly adequate.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370832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416552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First paper to provide an empirical threshold directly relevant to reserve legislation.
As attestation data accumulates, this estimate will sharpen.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Summary: Three Convergent Lines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Each method is individually limited; together they point to the same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16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2926080" cy="5029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1.  Regression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Calibri"/>
              </a:rPr>
              <a:t>β₁ = −7.57***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003087"/>
                </a:solidFill>
                <a:latin typeface="Calibri"/>
              </a:rPr>
              <a:t>p = 0.004  (buffer-ratio spec)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Privilege amplification confirmed.
1-SD supply growth → 30 bps spread compression.
B×ΔlnS = −7.52** (p=0.019): fragility channel
now significant at 5%.
VIX and rate controls; HAC s.e.
STRONGEST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01568" y="960120"/>
            <a:ext cx="292608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3008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2.  Hansen Threshold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01568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288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  <a:latin typeface="Calibri"/>
              </a:rPr>
              <a:t>q* = 13%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C0392B"/>
                </a:solidFill>
                <a:latin typeface="Calibri"/>
              </a:rPr>
              <a:t>Bootstrap CI [3.1%, 14.5%]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01568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Threshold identified independently by
Hansen grid search AND LSTAR (c* = 14.9%).
Sign flip: β = −2.80 (low) → +1.63 (high).
p = 0.406 — suggestive, not confirmed.
N = 51 limits power.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28816" y="960120"/>
            <a:ext cx="2926080" cy="5029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3.  Event Study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28816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4536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66666"/>
                </a:solidFill>
                <a:latin typeface="Calibri"/>
              </a:rPr>
              <a:t>All CARs insignificant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4536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66666"/>
                </a:solidFill>
                <a:latin typeface="Calibri"/>
              </a:rPr>
              <a:t>−15 to −2 bps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28816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0256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Directionally consistent.
FOMC contamination in 2 of 3 events.
SVB = flight-to-safety, not mechanism.
LUNA: 14.0 bps (corrected spread).
Qualitative context only.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937760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983480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E87722"/>
                </a:solidFill>
                <a:latin typeface="Calibri"/>
              </a:rPr>
              <a:t>"All three methods point to the same conclusion: stablecoins amplify the exorbitant privilege, with a fragility threshold near 13% liquid buffer."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accounting of constraints and the research agenda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17 /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4297680" cy="411480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00584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Limitations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50876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147218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N = 51 months limits statistical power
for threshold confirmation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14884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11226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Liquid buffer L forward-filled for 13 months
(Tether quarterly attestation lag)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78892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75234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Endogeneity not fully resolved
(Granger test addresses but doesn't solve)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9242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Only 3 stress events;
FOMC contamination in 2 of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06908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03250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Sample covers 2020–2024 only;
may not generalize to other regimes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960120"/>
            <a:ext cx="4663440" cy="4114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10058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4A"/>
                </a:solidFill>
                <a:latin typeface="Calibri"/>
              </a:rPr>
              <a:t>Next Steps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15087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14904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Longer sample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17373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As weekly/monthly attestations accumulate, N grows → power improves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1945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0" y="21762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Better identification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24231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Instrument for supply growth (e.g., regulatory announcements)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28803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28620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Non-USD ecosystems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1089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Euro stablecoins, CBDC interactions — broader privilege question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35661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0" y="35478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High-frequency 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37947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Daily spread + daily supply → better event identification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2519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0" y="42336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Cross-country comparison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44805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Does same mechanism operate for EUR-denominated safe assets?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212080"/>
            <a:ext cx="9326880" cy="5486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2578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This paper is the first step. The research agenda is clear and tractable.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Stablecoins and the Exorbitant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E87722"/>
                </a:solidFill>
                <a:latin typeface="Calibri"/>
              </a:rPr>
              <a:t>Safe-Asset Demand and Its Systemic Fragility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48840"/>
            <a:ext cx="3200400" cy="82296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7627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7722"/>
                </a:solidFill>
                <a:latin typeface="Calibri"/>
              </a:rPr>
              <a:t>β₁ = −7.57***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Calibri"/>
              </a:rPr>
              <a:t>p = 0.004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148840"/>
            <a:ext cx="3200400" cy="82296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7627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7722"/>
                </a:solidFill>
                <a:latin typeface="Calibri"/>
              </a:rPr>
              <a:t>q* = 13%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Calibri"/>
              </a:rPr>
              <a:t>Bootstrap CI [3.1%, 14.5%]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148840"/>
            <a:ext cx="3200400" cy="82296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17627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7722"/>
                </a:solidFill>
                <a:latin typeface="Calibri"/>
              </a:rPr>
              <a:t>4 methods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Calibri"/>
              </a:rPr>
              <a:t>regression + threshold + LSTAR + bid-cover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Mireu Kim   Sara Chekroune   Oybek Ibragimov   Jade Zhu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136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Alexandre Godefroy   Baptiste Degand   Minjin Kim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2628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87722"/>
                </a:solidFill>
                <a:latin typeface="Calibri"/>
              </a:rPr>
              <a:t>Yonsei GSIS  |  Topics in International Finance  |  June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Thank you — Questions welcome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E87722"/>
                </a:solidFill>
                <a:latin typeface="Calibri"/>
              </a:rPr>
              <a:t>github.com/stablecoin-privilege-research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