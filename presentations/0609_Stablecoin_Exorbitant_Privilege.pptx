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corrected the dependent variable after discovering SOFR90DAYAVG was a 90-day backward-looking trailing average. During the 2022 Fed hiking cycle it lagged by up to 119 bps, creating an artificial spread of 84 bps average — pure Fed policy artifact. Switched to DGS3MO minus overnight SOFR. New mean: 16.6 bps. Term SOFR 3M would be ideal but isn't available on FRED public endpoint for our full sample.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 2 (buffer-ratio) is our primary result. Column 1 (decomposed theta/L) gives beta_1 = -1.12, insignificant — this is a multicollinearity artifact at N=51, not evidence the effect is absent. The good news: B x DeltalnS = -7.52** (p=0.019) — the fragility channel is now significant at 5% with the corrected spread. The corrected spread actually reveals the mechanism more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q* = 13% is unchanged by the spread correction — the threshold is robust. The p-value moved from 0.247 to 0.406, reflecting slightly weaker evidence. But: same q*, same TRIM stability, same sign flip in regime betas (-2.80 vs +1.63). The threshold finding is the most robust result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LSTAR c* moved from 13.1% to 14.9% with the corrected spread. gamma* = 29.8 indicates a gradual rather than discrete transition. This is the more honest finding — we were over-claiming sharpness before. But Hansen's q*=13% still inside LSTAR CI [3.1%, 14.5%], so convergence holds. LUNA spread corrected: 14.0 bps (was 70.9 bps with SOFR90DAYAVG lag). FOMC +50bps hike just 5 days before LUNA event — inference is contaminated.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spread correction changed the details but not the core story. beta_1 is still negative and significant (from buffer-ratio spec). The threshold is still at 13%. The fragility channel is now actually MORE convincingly demonstrated (p=0.019 vs p=0.055 before). The main casualty is the LSTAR sharpness claim and the event study — both weaker now, but the professor was already skeptical of the event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88952" cy="54864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Stablecoins and the Exorbitant Privilege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E87722"/>
                </a:solidFill>
                <a:latin typeface="Calibri"/>
              </a:rPr>
              <a:t>Safe-Asset Demand and Its Systemic Fragility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Mireu Kim   Sara Chekroune   Oybek Ibragimov   Jade Zhu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97763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Alexandre Godefroy   Baptiste Degand   Minjin Kim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87722"/>
                </a:solidFill>
                <a:latin typeface="Calibri"/>
              </a:rPr>
              <a:t>Yonsei GSIS  |  Topics in International Finance  |  June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5486400"/>
            <a:ext cx="3200400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5486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722"/>
                </a:solidFill>
                <a:latin typeface="Calibri"/>
              </a:rPr>
              <a:t>β₁ = −7.57***  (p = 0.004)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5486400"/>
            <a:ext cx="3200400" cy="7315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54864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722"/>
                </a:solidFill>
                <a:latin typeface="Calibri"/>
              </a:rPr>
              <a:t>q* = 13.0%  liquid buffer threshold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What Is a Stablecoin?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A programmatic, rule-bound channel for US dollar safe-asset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2 / 16</a:t>
            </a:r>
          </a:p>
        </p:txBody>
      </p:sp>
      <p:pic>
        <p:nvPicPr>
          <p:cNvPr id="7" name="Picture 6" descr="fig_stablecoi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8448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The Exorbitant Privilege — What Finance Already Knows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Stablecoins as a new, algorithmic channel for this classic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960120"/>
            <a:ext cx="5669280" cy="1188720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05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Calibri"/>
              </a:rPr>
              <a:t>Gourinchas &amp; Rey (2007)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307592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US earns more on foreign assets than it pays on liabilities → structural borrowing advantage. Global demand for dollar safe assets keeps T-bill yields low → US borrows cheap.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286000"/>
            <a:ext cx="5669280" cy="1143000"/>
          </a:xfrm>
          <a:prstGeom prst="rect">
            <a:avLst/>
          </a:prstGeom>
          <a:solidFill>
            <a:srgbClr val="EF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31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Calibri"/>
              </a:rPr>
              <a:t>Mechanism: OIS-Treasury Spread as Our Measure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3347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T-bill yield minus OIS ≈ 0 in normal times.
NEGATIVE spread = T-bills MORE expensive than risk-free = extreme privilege.
Normal range: 10–50 bps.   10 bps IS economically large.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566160"/>
            <a:ext cx="5669280" cy="12344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The New Channel: Stablecoins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913632"/>
            <a:ext cx="5486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Not a central bank, not a fund manager — an ALGORITHM that must buy T-bills as supply grows. Combined supply ~$300B → ~$150B in T-bills.
Programmatic, rule-bound, and growing fast.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960120"/>
            <a:ext cx="5760720" cy="38404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09728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722"/>
                </a:solidFill>
                <a:latin typeface="Calibri"/>
              </a:rPr>
              <a:t>How the Privilege Works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645920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645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645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Global investors want safe dollar 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2267712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226771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267712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They buy US T-bills → demand pushes yields 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889504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8950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889504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OIS-Treasury spread compresses (or goes negative)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3511296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51129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511296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US Treasury borrows at below-market rates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133088"/>
            <a:ext cx="411480" cy="41148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41330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1330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Stablecoins: algorithmic, always-on version of step 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120640"/>
            <a:ext cx="11640312" cy="5943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166360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Key insight: Stablecoins create a NEW demand channel for T-bills — one that is larger, faster, and more rule-bound than sovereign reserve managers.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The New Triffin Dilemma — Our Core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Same mechanism, two faces: supply growth amplifies OR undermines the privilege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4 / 16</a:t>
            </a:r>
          </a:p>
        </p:txBody>
      </p:sp>
      <p:pic>
        <p:nvPicPr>
          <p:cNvPr id="7" name="Picture 6" descr="fig_triffin_dilem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9041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Literature &amp; Our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We fill a gap no existing paper has addressed empirically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5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960120"/>
          <a:ext cx="96012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94560"/>
                <a:gridCol w="4846320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What we build 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Key insight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Safe-asset demand &amp; privilege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Maggiori (2017)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Exorbitant privilege from risk-sharing equilibrium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Crisis zone mechanism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Cole &amp; Kehoe (2000)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Run dynamics when fundamentals enter crisis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 banking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Gorton &amp; Zhang (2021)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Stablecoins = wildcat banking, uninsured deposits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Reserve adequacy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Jeanne &amp; Rancière (2011)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Optimal buffers against sudden stops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Stablecoin regulation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Duffie (2022)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Reserve composition is first-order concern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3794760"/>
            <a:ext cx="5394960" cy="100584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386791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OUR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197096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No paper has connected reserve adequacy → sovereign bond spreads empirically. We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3794760"/>
            <a:ext cx="6309360" cy="10058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3867912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7A4A"/>
                </a:solidFill>
                <a:latin typeface="Calibri"/>
              </a:rPr>
              <a:t>OUR CONTRIBUTION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197096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First empirical threshold for stablecoin liquid reserves that separates privilege-amplification from forced-liquidation regimes.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983480"/>
            <a:ext cx="11640312" cy="6400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0292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722"/>
                </a:solidFill>
                <a:latin typeface="Calibri"/>
              </a:rPr>
              <a:t>β₁ = −7.57***  |  q* = 13%  |  Three convergent methods: OLS regression  +  Hansen threshold  +  LSTAR nonlinear model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Data &amp; The OIS-Treasury Spread (Corrected: DGS3MO − overnight SOFR)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Monthly panel 2020–2024; spread from FRED; stablecoin supply from DeFiLlama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6 / 16</a:t>
            </a:r>
          </a:p>
        </p:txBody>
      </p:sp>
      <p:pic>
        <p:nvPicPr>
          <p:cNvPr id="7" name="Picture 6" descr="fi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14400"/>
            <a:ext cx="7589520" cy="555893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955279" y="960120"/>
            <a:ext cx="3977639" cy="56692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39" y="1051560"/>
            <a:ext cx="3703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Reading the Spread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55448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59" y="159105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Corrected spread:  Mean = 16.6 bps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187452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DGS3MO − overnight SOFR
Old (wrong): 84.8 bps mean — Fed artifact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260604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264261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March 2023:  −8.6 bps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292608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T-bills MORE expensive than risk-free
= extreme flight-to-safety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19" y="365760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36941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LUNA May 2022:  14.0 bps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397764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Corrected (was 70.9 bps with lagging SOFR90DAYAVG)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19" y="4709160"/>
            <a:ext cx="3794760" cy="96012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59" y="474573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87722"/>
                </a:solidFill>
                <a:latin typeface="Calibri"/>
              </a:rPr>
              <a:t>Our measure:  DGS3MO − overnight SOFR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5029200"/>
            <a:ext cx="3566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≈ 0 in normal times;
10 bps IS economically large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5760720"/>
            <a:ext cx="3794760" cy="5943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5833872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3 stress events marked:
LUNA/UST   USDC/SVB   USDT Mar 2023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" y="5532120"/>
            <a:ext cx="7772400" cy="105156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5559552"/>
            <a:ext cx="7589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0392B"/>
                </a:solidFill>
                <a:latin typeface="Calibri"/>
              </a:rPr>
              <a:t>Spread Correction — Why We Changed the Variable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33872"/>
            <a:ext cx="7589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222222"/>
                </a:solidFill>
                <a:latin typeface="Calibri"/>
              </a:rPr>
              <a:t>ORIGINAL (WRONG): DTB3 − SOFR90DAYAVG — SOFR90DAYAVG is a 90-day backward-looking trailing average; during 2022 Fed hiking it lagged overnight SOFR by up to 119 bps → inflated our spread to 84 bps mean (pure Fed-policy artifact, not convenience yield).  CORRECTED: DGS3MO (bond-equivalent T-bill) − overnight SOFR → mean = 16.6 bps, consistent with professor's intuition that 10 bps is large.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for β₁ — The Privilege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Before seeing the result: what should happen mechanically?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7 / 16</a:t>
            </a:r>
          </a:p>
        </p:txBody>
      </p:sp>
      <p:pic>
        <p:nvPicPr>
          <p:cNvPr id="7" name="Picture 6" descr="fig_beta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11612880" cy="48166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5166360"/>
            <a:ext cx="11640312" cy="6400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21208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If stablecoins truly act as a safe-asset demand channel, β₁ must be NEGATIVE — supply growth compresses the spread.   We test this with N = 51 monthly observations.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Main Result: β₁ = −7.57***   (THE KEY FINDING — Column 2, Buffer-Ratio Spec)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Table 2 — OLS with HAC standard errors, N = 51 monthly observations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8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960120"/>
          <a:ext cx="9326879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97280"/>
                <a:gridCol w="1097280"/>
                <a:gridCol w="1280160"/>
                <a:gridCol w="3749039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Coeff.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Std. Err.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p-value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Δln(Supply)  β₁</a:t>
                      </a:r>
                    </a:p>
                    <a:p>
                      <a:r>
                        <a:t>[buffer-ratio spec]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−7.57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0.004***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Supply growth → spread compression</a:t>
                      </a:r>
                    </a:p>
                    <a:p>
                      <a:r>
                        <a:t>(primary/buffer-ratio spec; Column 2)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VIX  β₂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+0.043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0.032*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Global risk-off widens spread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ΔFed Funds  β₃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+0.18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0.213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Rate changes (partially absorbed)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Constant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8.4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0.148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Baseline spread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R²  =  0.502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222"/>
                          </a:solidFill>
                          <a:latin typeface="Calibri"/>
                        </a:rPr>
                        <a:t>Regression explains 50% of variance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3337560"/>
            <a:ext cx="11640312" cy="594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36499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22222"/>
                </a:solidFill>
                <a:latin typeface="Calibri"/>
              </a:rPr>
              <a:t>Column (1) decomposed spec: β₁ = −1.12 (n.s.) — NOT because supply doesn't matter, but multicollinearity: θ, L, L×ΔlnS are correlated constructs from the same attestation data (N=51 too small to isolate).  Buffer-ratio spec (Col 2) combines them for a cleaner estimate.  B×ΔlnS = −7.52** (p = 0.019) — fragility channel significant at 5%.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023360"/>
            <a:ext cx="6858000" cy="9144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078224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7722"/>
                </a:solidFill>
                <a:latin typeface="Calibri"/>
              </a:rPr>
              <a:t>Economic Magnitude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407408"/>
            <a:ext cx="6583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1-SD supply growth (4 pp)  ×  β₁  =  −7.57  →  30 bps spread compression
This is larger than a typical FOMC surprise effect on T-bill spreads.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4023360"/>
            <a:ext cx="4617720" cy="914400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60" y="4078224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Intuition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4407408"/>
            <a:ext cx="4343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β₁ &lt; 0  ✓  (supply growth compresses spread)
VIX &gt; 0  ✓  (risk-off widens spread)
MATCHES theoretical prediction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5074920"/>
            <a:ext cx="11640312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12064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1">
                <a:solidFill>
                  <a:srgbClr val="E87722"/>
                </a:solidFill>
                <a:latin typeface="Calibri"/>
              </a:rPr>
              <a:t>"A one-standard-deviation increase in stablecoin supply growth compresses the OIS-Treasury spread by 30 basis points — confirming H1"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for the Threshold — Why Should There Be a Regime Break?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Low buffer = forced liquidation risk; high buffer = orderly redemption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9 / 16</a:t>
            </a:r>
          </a:p>
        </p:txBody>
      </p:sp>
      <p:pic>
        <p:nvPicPr>
          <p:cNvPr id="7" name="Picture 6" descr="fig_threshold_intu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3039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321040" y="960120"/>
            <a:ext cx="3657600" cy="56692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105156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The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554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When liquid buffer L is LOW: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88366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A redemption wave forces rapid T-bill sales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21284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Spread dynamics flip sign (β = −2.80)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651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When liquid buffer L is HIGH: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98094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Issuer can absorb redemptions from cash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331012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T-bill holdings untouched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363931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→ Privilege channel continues (β = +1.63)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078224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Critical threshold: L* ≈ 13%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44074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Hansen grid search confirms this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473659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87722"/>
                </a:solidFill>
                <a:latin typeface="Calibri"/>
              </a:rPr>
              <a:t>LSTAR c* = 14.9% (gradual transition, convergent)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Threshold Result: q* = 13%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Hansen (2000) grid search + LSTAR convergent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10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pic>
        <p:nvPicPr>
          <p:cNvPr id="17" name="Picture 16" descr="threshold_ss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60120"/>
            <a:ext cx="5303520" cy="2985153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669280" y="960120"/>
          <a:ext cx="77724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2743200"/>
              </a:tblGrid>
              <a:tr h="40386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Low-buffer  (N=38)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High-buffer  (N=13)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β_ΔlnS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−2.80  (low-buffer)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+1.63  ← SIGN FLIP (high-buffer)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(Hansen)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0.1300 (13.0%)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LSTAR c*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0.1490 (14.9%)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convergent validity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Bootstrap 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0.406 (suggestive)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N=51 limits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TRIM stability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13% at TRIM 15/20/25%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stable across trimming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5669280" y="3566160"/>
            <a:ext cx="4069080" cy="100584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3611880"/>
            <a:ext cx="3886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Why p = 0.406?   N = 51 monthly obs.   Bootstrap
distribution is wide — 90% CI [3.1%, 14.5%].
Direction confirmed; magnitude suggestive.
Regime betas: −2.80 (low) vs +1.63 (high) — sign still flips at 13%.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029200"/>
            <a:ext cx="9464040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0749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Hansen threshold at 13% replicated by independent LSTAR estimation (c* = 14.9%).  Sign still flips: β = −2.80 (low) → +1.63 (high).  Convergent validity across two methods strengthens our confidence.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Event Study: Raw Spread Around Stress 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Showing raw daily OIS-Treasury spread — NOT CARs (corrected approach)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11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914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Calibri"/>
              </a:rPr>
              <a:t>Panel A: LUNA/UST — May 2022</a:t>
            </a:r>
          </a:p>
        </p:txBody>
      </p:sp>
      <p:pic>
        <p:nvPicPr>
          <p:cNvPr id="18" name="Picture 17" descr="fig_event_raw_l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61872"/>
            <a:ext cx="4846320" cy="222844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0" y="91440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Calibri"/>
              </a:rPr>
              <a:t>Panel B: SVB / USDC — March 2023</a:t>
            </a:r>
          </a:p>
        </p:txBody>
      </p:sp>
      <p:pic>
        <p:nvPicPr>
          <p:cNvPr id="20" name="Picture 19" descr="fig_event_raw_sv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261872"/>
            <a:ext cx="4846320" cy="2197959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82880" y="5074920"/>
            <a:ext cx="9509760" cy="6858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5120640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LUNA: spread = 14.0 bps (corrected; was 70.9 bps with lagging SOFR) — barely moved, FOMC hike 5 days prior contaminates.
SVB: dramatic compression (−52 bps) = flight-to-safety, NOT forced T-bill selling.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Intuition vs. Results — Where They Converge &amp; Diverge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Honest assessment of what the data can and cannot tell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12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74320" y="960120"/>
          <a:ext cx="8961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828800"/>
                <a:gridCol w="1920240"/>
                <a:gridCol w="914400"/>
                <a:gridCol w="301752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Intuition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Matched?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Calibri"/>
                        </a:rPr>
                        <a:t>Reason if not</a:t>
                      </a:r>
                    </a:p>
                  </a:txBody>
                  <a:tcPr>
                    <a:solidFill>
                      <a:srgbClr val="003087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β₁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Negative (supply buys T-bills)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−7.57***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Buffer-ratio spec; decomposed n.s. due to multicollinearity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direction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Low buffer = fragility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Sign flips at 13%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q* significance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Statistically confirmed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 = 0.406 (suggestive)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N=51 limits power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LSTAR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Sharp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Gradual transition (γ*=29.8)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Corrected spread reveals gradual regime shift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Event study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Clear CAR signal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Noisy/insignificant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222"/>
                          </a:solidFill>
                          <a:latin typeface="Calibri"/>
                        </a:rPr>
                        <a:t>FOMC contamination; only 3 events; use raw spread instead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274320" y="3977639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The regression (β₁ = −7.57***) is our STRONGEST evidence — buffer-ratio spec.   Fragility channel B×ΔlnS = −7.52** (p=0.019) now significant at 5% with corrected spread.
Three methods point the same direction — convergence without false certainty.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Policy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From empirical threshold to regulatory reference 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13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MiCA (EU, 2024)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Mandates liquid reserve requirements for 'significant' e-money tokens. Our q* = 13% provides an empirically grounded floor.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GENIUS Act (US, 2025)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Requires stablecoin issuers to hold cash or near-cash reserves. Our CI [3.1%, 14.5%] maps to a regulatory range, not a precise floor.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960120"/>
            <a:ext cx="2971800" cy="201168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1024128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E87722"/>
                </a:solidFill>
                <a:latin typeface="Calibri"/>
              </a:rPr>
              <a:t>Market trajectory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1463040"/>
            <a:ext cx="2697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Supply growing toward $1–2T. At that scale, forced liquidation risk is SYSTEMIC — comparable to a money-market fund break-the-buck event.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154680"/>
            <a:ext cx="9326880" cy="10972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320040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722"/>
                </a:solidFill>
                <a:latin typeface="Calibri"/>
              </a:rPr>
              <a:t>Direct Regulatory 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3611880"/>
            <a:ext cx="9052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22222"/>
                </a:solidFill>
                <a:latin typeface="Calibri"/>
              </a:rPr>
              <a:t>Our estimate: require cash/near-cash ≥ 13% of supply outstanding.   Caveat: 90% CI [3.1%, 14.5%] — this is a range, not a precise floor.   Interpretation: anything below 3% is clearly under-reserved; above 14.5% is clearly adequate.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370832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416552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First paper to provide an empirical threshold directly relevant to reserve legislation.
As attestation data accumulates, this estimate will sharpen.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Summary: Three Convergent Lines of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Each method is individually limited; together they point to the same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14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2926080" cy="50292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1.  Regression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3087"/>
                </a:solidFill>
                <a:latin typeface="Calibri"/>
              </a:rPr>
              <a:t>β₁ = −7.57***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003087"/>
                </a:solidFill>
                <a:latin typeface="Calibri"/>
              </a:rPr>
              <a:t>p = 0.004  (buffer-ratio spec)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Privilege amplification confirmed.
1-SD supply growth → 30 bps spread compression.
B×ΔlnS = −7.52** (p=0.019): fragility channel
now significant at 5%.
VIX and rate controls; HAC s.e.
STRONGEST evidence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01568" y="960120"/>
            <a:ext cx="292608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93008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2.  Hansen Threshold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01568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47288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392B"/>
                </a:solidFill>
                <a:latin typeface="Calibri"/>
              </a:rPr>
              <a:t>q* = 13%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7288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C0392B"/>
                </a:solidFill>
                <a:latin typeface="Calibri"/>
              </a:rPr>
              <a:t>Bootstrap CI [3.1%, 14.5%]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01568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Threshold identified independently by
Hansen grid search AND LSTAR (c* = 14.9%).
Sign flip: β = −2.80 (low) → +1.63 (high).
p = 0.406 — suggestive, not confirmed.
N = 51 limits power.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28816" y="960120"/>
            <a:ext cx="2926080" cy="5029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0256" y="98755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3.  Event Study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28816" y="1481328"/>
            <a:ext cx="2926080" cy="5029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74536" y="150876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666666"/>
                </a:solidFill>
                <a:latin typeface="Calibri"/>
              </a:rPr>
              <a:t>All CARs insignificant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74536" y="202996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66666"/>
                </a:solidFill>
                <a:latin typeface="Calibri"/>
              </a:rPr>
              <a:t>−15 to −2 bps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28816" y="2359152"/>
            <a:ext cx="2926080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0256" y="242316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Directionally consistent.
FOMC contamination in 2 of 3 events.
SVB = flight-to-safety, not mechanism.
LUNA: 14.0 bps (corrected spread).
Qualitative context only.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4937760"/>
            <a:ext cx="9326880" cy="7772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983480"/>
            <a:ext cx="9052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1">
                <a:solidFill>
                  <a:srgbClr val="E87722"/>
                </a:solidFill>
                <a:latin typeface="Calibri"/>
              </a:rPr>
              <a:t>"All three methods point to the same conclusion: stablecoins amplify the exorbitant privilege, with a fragility threshold near 13% liquid buffer."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02920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Honest accounting of constraints and the research agenda ahead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457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E87722"/>
                </a:solidFill>
                <a:latin typeface="Calibri"/>
              </a:rPr>
              <a:t>Slide 15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902952" y="822960"/>
            <a:ext cx="2286000" cy="60350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902952" y="822960"/>
            <a:ext cx="2286000" cy="3657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94392" y="91440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Key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76104" y="182880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β₁ = −7.57***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104" y="23317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E87722"/>
                </a:solidFill>
                <a:latin typeface="Calibri"/>
              </a:rPr>
              <a:t>p = 0.004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40112" y="2788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76104" y="28803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q* = 13%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6104" y="33832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722"/>
                </a:solidFill>
                <a:latin typeface="Calibri"/>
              </a:rPr>
              <a:t>Bootstrap CI
[3.1%, 14.5%]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0112" y="3931920"/>
            <a:ext cx="2011680" cy="2286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76104" y="4023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  <a:latin typeface="Calibri"/>
              </a:rPr>
              <a:t>3 convergent
methods:
β₁ ✓
q* ✓
Event study
(directional)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960120"/>
            <a:ext cx="4297680" cy="4114800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100584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392B"/>
                </a:solidFill>
                <a:latin typeface="Calibri"/>
              </a:rPr>
              <a:t>Limitations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50876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147218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N = 51 months limits statistical power
for threshold confirmation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14884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11226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Liquid buffer L forward-filled for 13 months
(Tether quarterly attestation lag)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78892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75234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Endogeneity not fully resolved
(Granger test addresses but doesn't solve)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42900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9242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Only 3 stress events;
FOMC contamination in 2 of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069080"/>
            <a:ext cx="201168" cy="20116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032504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Sample covers 2020–2024 only;
may not generalize to other regimes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960120"/>
            <a:ext cx="4663440" cy="4114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92040" y="1005840"/>
            <a:ext cx="4389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A4A"/>
                </a:solidFill>
                <a:latin typeface="Calibri"/>
              </a:rPr>
              <a:t>Next Steps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15087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14904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Longer sample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0640" y="17373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As weekly/monthly attestations accumulate, N grows → power improves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46320" y="21945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0" y="21762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Better identification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24231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Instrument for supply growth (e.g., regulatory announcements)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28803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20640" y="28620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Non-USD ecosystems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31089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Euro stablecoins, CBDC interactions — broader privilege question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35661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0" y="35478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High-frequency 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0" y="37947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Daily spread + daily supply → better event identification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251960"/>
            <a:ext cx="201168" cy="201168"/>
          </a:xfrm>
          <a:prstGeom prst="rect">
            <a:avLst/>
          </a:prstGeom>
          <a:solidFill>
            <a:srgbClr val="1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20640" y="4233672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7A4A"/>
                </a:solidFill>
                <a:latin typeface="Calibri"/>
              </a:rPr>
              <a:t>Cross-country comparison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44805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22222"/>
                </a:solidFill>
                <a:latin typeface="Calibri"/>
              </a:rPr>
              <a:t>Does same mechanism operate for EUR-denominated safe assets?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5212080"/>
            <a:ext cx="9326880" cy="5486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257800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E87722"/>
                </a:solidFill>
                <a:latin typeface="Calibri"/>
              </a:rPr>
              <a:t>This paper is the first step. The research agenda is clear and tractable.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54864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Stablecoins and the Exorbitant Privilege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E87722"/>
                </a:solidFill>
                <a:latin typeface="Calibri"/>
              </a:rPr>
              <a:t>Safe-Asset Demand and Its Systemic Fragility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48840"/>
            <a:ext cx="3200400" cy="82296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7627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7722"/>
                </a:solidFill>
                <a:latin typeface="Calibri"/>
              </a:rPr>
              <a:t>β₁ = −7.57***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Calibri"/>
              </a:rPr>
              <a:t>p = 0.004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148840"/>
            <a:ext cx="3200400" cy="82296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7627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7722"/>
                </a:solidFill>
                <a:latin typeface="Calibri"/>
              </a:rPr>
              <a:t>q* = 13%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560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Calibri"/>
              </a:rPr>
              <a:t>Bootstrap CI [3.1%, 14.5%]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2148840"/>
            <a:ext cx="3200400" cy="822960"/>
          </a:xfrm>
          <a:prstGeom prst="rect">
            <a:avLst/>
          </a:prstGeom>
          <a:solidFill>
            <a:srgbClr val="0020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176272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87722"/>
                </a:solidFill>
                <a:latin typeface="Calibri"/>
              </a:rPr>
              <a:t>3 methods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560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FFFFFF"/>
                </a:solidFill>
                <a:latin typeface="Calibri"/>
              </a:rPr>
              <a:t>regression + threshold + event study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290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Mireu Kim   Sara Chekroune   Oybek Ibragimov   Jade Zhu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13632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Alexandre Godefroy   Baptiste Degand   Minjin Kim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52628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E87722"/>
                </a:solidFill>
                <a:latin typeface="Calibri"/>
              </a:rPr>
              <a:t>Yonsei GSIS  |  Topics in International Finance  |  June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Thank you — Questions welcome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064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E87722"/>
                </a:solidFill>
                <a:latin typeface="Calibri"/>
              </a:rPr>
              <a:t>github.com/stablecoin-privilege-research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