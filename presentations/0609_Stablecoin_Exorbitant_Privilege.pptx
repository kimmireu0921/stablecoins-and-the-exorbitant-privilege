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corrected the dependent variable after discovering SOFR90DAYAVG was a 90-day backward-looking trailing average. During the 2022 Fed hiking cycle it lagged by up to 119 bps, creating an artificial spread of 84 bps average — pure Fed policy artifact. Switched to DGS3MO minus overnight SOFR. New mean: 16.6 bps. Term SOFR 3M would be ideal but isn't available on FRED public endpoint for our full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2 (buffer-ratio) is our primary result. Column 1 (decomposed theta/L) gives beta_1 = -1.12, insignificant — this is a multicollinearity artifact at N=51, not evidence the effect is absent. The good news: B x DeltalnS = -7.52** (p=0.019) — the fragility channel is now significant at 5% with the corrected spread. The corrected spread actually reveals the mechanism more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q* = 13% is unchanged by the spread correction — the threshold is robust. The p-value moved from 0.247 to 0.406, reflecting slightly weaker evidence. But: same q*, same TRIM stability, same sign flip in regime betas (-2.80 vs +1.63). The threshold finding is the most robust result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LSTAR c* moved from 13.1% to 14.9% with the corrected spread. gamma* = 29.8 indicates a gradual rather than discrete transition. This is the more honest finding — we were over-claiming sharpness before. But Hansen's q*=13% still inside LSTAR CI [3.1%, 14.5%], so convergence holds. LUNA spread corrected: 14.0 bps (was 70.9 bps with SOFR90DAYAVG lag). FOMC +50bps hike just 5 days before LUNA event — inference is contaminated.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referee question: 'How do you know the spread compression is actually from T-bill demand, not a common factor?' The key insight: Tether and Circle operate in the same macro environment, so any difference in their auction-level effects must come from their different reserve policies. USDT is negative and significant across all four T-bill maturities we test (4w, 8w, 13w, 26w). USDC is insignificant at all four. The Wald test confirms the two coefficients are statistically distinguishable (p &lt; 0.004 at every maturity). IMPORTANT: This does not change our main results. β₁ = −7.57*** and q* = 13% are from the spread regression. The bid-cover result is an independent test of the mechanism using a completely different dependent variable (auction bid-cover ratio). Describe as 'mechanism-consistent evidence' not 'causal identification'.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spread correction changed the details but not the core story. beta_1 is still negative and significant (from buffer-ratio spec). The threshold is still at 13%. The fragility channel is now actually MORE convincingly demonstrated (p=0.019 vs p=0.055 before). The main casualty is the LSTAR sharpness claim and the event study — both weaker now, but the professor was already skeptical of the event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Stablecoins and the Exorbitant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E87722"/>
                </a:solidFill>
                <a:latin typeface="Calibri"/>
              </a:rPr>
              <a:t>Safe-Asset Demand and Its Systemic Fragility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Mireu Kim   Sara Chekroune   Oybek Ibragimov   Jade Zhu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Alexandre Godefroy   Baptiste Degand   Minjin Kim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7722"/>
                </a:solidFill>
                <a:latin typeface="Calibri"/>
              </a:rPr>
              <a:t>Yonsei GSIS  |  Topics in International Finance  |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5486400"/>
            <a:ext cx="32004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5486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722"/>
                </a:solidFill>
                <a:latin typeface="Calibri"/>
              </a:rPr>
              <a:t>β₁ = −7.57***  (p = 0.004)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5486400"/>
            <a:ext cx="32004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5486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722"/>
                </a:solidFill>
                <a:latin typeface="Calibri"/>
              </a:rPr>
              <a:t>q* = 13.0%  liquid buffer threshold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Is a Stablecoin?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A programmatic, rule-bound channel for US dollar safe-asset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2 / 16</a:t>
            </a:r>
          </a:p>
        </p:txBody>
      </p:sp>
      <p:pic>
        <p:nvPicPr>
          <p:cNvPr id="7" name="Picture 6" descr="fig_stableco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844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Exorbitant Privilege — What Finance Already Knows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Stablecoins as a new, algorithmic channel for this classic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669280" cy="118872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Calibri"/>
              </a:rPr>
              <a:t>Gourinchas &amp; Rey (2007)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US earns more on foreign assets than it pays on liabilities → structural borrowing advantage. Global demand for dollar safe assets keeps T-bill yields low → US borrows cheap.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5669280" cy="114300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Calibri"/>
              </a:rPr>
              <a:t>Mechanism: OIS-Treasury Spread as Our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T-bill yield minus OIS ≈ 0 in normal times.
NEGATIVE spread = T-bills MORE expensive than risk-free = extreme privilege.
Normal range: 10–50 bps.   10 bps IS economically large.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5669280" cy="1234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The New Channel: Stablecoins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1363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Not a central bank, not a fund manager — an ALGORITHM that must buy T-bills as supply grows. Combined supply ~$300B → ~$150B in T-bills.
Programmatic, rule-bound, and growing fast.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960120"/>
            <a:ext cx="5760720" cy="3840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722"/>
                </a:solidFill>
                <a:latin typeface="Calibri"/>
              </a:rPr>
              <a:t>How the Privilege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45920"/>
            <a:ext cx="41148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Global investors want safe dollar 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67712"/>
            <a:ext cx="41148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2677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2677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They buy US T-bills → demand pushes yields 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889504"/>
            <a:ext cx="41148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895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88950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OIS-Treasury spread compresses (or goes negative)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511296"/>
            <a:ext cx="41148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5112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51129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US Treasury borrows at below-market rates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133088"/>
            <a:ext cx="41148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133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330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Stablecoins: algorithmic, always-on version of step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20640"/>
            <a:ext cx="1164031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Key insight: Stablecoins create a NEW demand channel for T-bills — one that is larger, faster, and more rule-bound than sovereign reserve managers.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New Triffin Dilemma — Our Core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Same mechanism, two faces: supply growth amplifies OR undermines the 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4 / 16</a:t>
            </a:r>
          </a:p>
        </p:txBody>
      </p:sp>
      <p:pic>
        <p:nvPicPr>
          <p:cNvPr id="7" name="Picture 6" descr="fig_triffin_di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904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Literature &amp; Our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We fill a gap no existing paper has addressed empirically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60120"/>
          <a:ext cx="9601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484632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What we build on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Key insight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Safe-asset demand &amp; privilege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Maggiori (2017)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Exorbitant privilege from risk-sharing equilibrium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Crisis zone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Cole &amp; Kehoe (2000)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Run dynamics when fundamentals enter crisis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Stablecoin banking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Gorton &amp; Zhang (2021)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Stablecoins = wildcat banking, uninsured deposits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Reserve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Jeanne &amp; Rancière (2011)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Optimal buffers against sudden stops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Stablecoin regulation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Duffie (2022)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Reserve composition is first-order concern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794760"/>
            <a:ext cx="5394960" cy="100584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67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OUR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970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No paper has connected reserve adequacy → sovereign bond spreads empirically. We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3794760"/>
            <a:ext cx="630936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86791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A"/>
                </a:solidFill>
                <a:latin typeface="Calibri"/>
              </a:rPr>
              <a:t>OUR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9709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First empirical threshold for stablecoin liquid reserves that separates privilege-amplification from forced-liquidation regimes.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11640312" cy="6400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722"/>
                </a:solidFill>
                <a:latin typeface="Calibri"/>
              </a:rPr>
              <a:t>β₁ = −7.57***  |  q* = 13%  |  Three convergent methods: OLS regression  +  Hansen threshold  +  LSTAR nonlinear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 &amp; The OIS-Treasury Spread (Corrected: DGS3MO − overnight SOFR)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Monthly panel 2020–2024; spread from FRED; stablecoin supply from DeFiLlama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6 / 16</a:t>
            </a:r>
          </a:p>
        </p:txBody>
      </p:sp>
      <p:pic>
        <p:nvPicPr>
          <p:cNvPr id="7" name="Picture 6" descr="fi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589520" cy="55589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79" y="960120"/>
            <a:ext cx="3977639" cy="5669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39" y="105156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Reading the Spread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554480"/>
            <a:ext cx="3794760" cy="96012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5910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Corrected spread:  Mean = 16.6 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8745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DGS3MO − overnight SOFR
Old (wrong): 84.8 bps mean — Fed artifact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606040"/>
            <a:ext cx="3794760" cy="96012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6426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March 2023:  −8.6 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92608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T-bills MORE expensive than risk-free
= extreme flight-to-safety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657600"/>
            <a:ext cx="3794760" cy="96012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36941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LUNA May 2022:  14.0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39776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Corrected (was 70.9 bps with lagging SOFR90DAYAVG)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4709160"/>
            <a:ext cx="3794760" cy="96012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47457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Our measure:  DGS3MO − overnight SOFR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0292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≈ 0 in normal times;
10 bps IS economically large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5760720"/>
            <a:ext cx="379476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58338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3 stress events marked:
LUNA/UST   USDC/SVB   USDT Mar 2023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532120"/>
            <a:ext cx="7772400" cy="105156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55955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Spread Correction — Why We Changed the 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83387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22222"/>
                </a:solidFill>
                <a:latin typeface="Calibri"/>
              </a:rPr>
              <a:t>ORIGINAL (WRONG): DTB3 − SOFR90DAYAVG — SOFR90DAYAVG is a 90-day backward-looking trailing average; during 2022 Fed hiking it lagged overnight SOFR by up to 119 bps → inflated our spread to 84 bps mean (pure Fed-policy artifact, not convenience yield).  CORRECTED: DGS3MO (bond-equivalent T-bill) − overnight SOFR → mean = 16.6 bps, consistent with professor's intuition that 10 bps is large.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Intuition for β₁ — The Privilege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Before seeing the result: what should happen mechanically?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7 / 16</a:t>
            </a:r>
          </a:p>
        </p:txBody>
      </p:sp>
      <p:pic>
        <p:nvPicPr>
          <p:cNvPr id="7" name="Picture 6" descr="fig_beta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48166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166360"/>
            <a:ext cx="11640312" cy="6400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If stablecoins truly act as a safe-asset demand channel, β₁ must be NEGATIVE — supply growth compresses the spread.   We test this with N = 51 monthly observations.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Main Result: β₁ = −7.57***   (THE KEY FINDING — Column 2, Buffer-Ratio Spec)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Table 2 — OLS with HAC standard errors, N = 51 monthly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60120"/>
          <a:ext cx="93268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097280"/>
                <a:gridCol w="1280160"/>
                <a:gridCol w="3749039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Coeff.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Std. Err.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Δln(Supply)  β₁</a:t>
                      </a:r>
                    </a:p>
                    <a:p>
                      <a:r>
                        <a:t>[buffer-ratio spec]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−7.57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0.004***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Supply growth → spread compression</a:t>
                      </a:r>
                    </a:p>
                    <a:p>
                      <a:r>
                        <a:t>(primary/buffer-ratio spec; Column 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VIX  β₂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+0.043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0.032*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Global risk-off widens 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ΔFed Funds  β₃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+0.18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Rate changes (partially absorbed)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+12.3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Baseline spread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R²  =  0.502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Regression explains 50% of variance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337560"/>
            <a:ext cx="11640312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3649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  <a:latin typeface="Calibri"/>
              </a:rPr>
              <a:t>Column (1) decomposed spec: β₁ = −1.12 (n.s.) — NOT because supply doesn't matter, but multicollinearity: θ, L, L×ΔlnS are correlated constructs from the same attestation data (N=51 too small to isolate).  Buffer-ratio spec (Col 2) combines them for a cleaner estimate.  B×ΔlnS = −7.52** (p = 0.019) — fragility channel significant at 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023360"/>
            <a:ext cx="685800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07822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Economic Magnitude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07408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1-SD supply growth (4 pp)  ×  β₁  =  −7.57  →  30 bps spread compression
This is larger than a typical FOMC surprise effect on T-bill spreads.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023360"/>
            <a:ext cx="4617720" cy="9144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078224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Intuition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407408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β₁ &lt; 0  ✓  (supply growth compresses spread)
VIX &gt; 0  ✓  (risk-off widens spread)
MATCHES theoretical 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74920"/>
            <a:ext cx="11640312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1">
                <a:solidFill>
                  <a:srgbClr val="E87722"/>
                </a:solidFill>
                <a:latin typeface="Calibri"/>
              </a:rPr>
              <a:t>"A one-standard-deviation increase in stablecoin supply growth compresses the OIS-Treasury spread by 30 basis points — confirming H1"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Intuition for the Threshold — Why Should There Be a Regime Break?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Low buffer = forced liquidation risk; high buffer = orderly redemption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9 / 16</a:t>
            </a:r>
          </a:p>
        </p:txBody>
      </p:sp>
      <p:pic>
        <p:nvPicPr>
          <p:cNvPr id="7" name="Picture 6" descr="fig_threshold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303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960120"/>
            <a:ext cx="3657600" cy="5669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The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When liquid buffer L is 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83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→ A redemption wave forces rapid T-bill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12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→ Spread dynamics flip sign (β = −2.80)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When liquid buffer L is HIGH: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980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→ Issuer can absorb redemptions from cash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101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→ T-bill holdings untouched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39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→ Privilege channel continues (β = +1.63)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7722"/>
                </a:solidFill>
                <a:latin typeface="Calibri"/>
              </a:rPr>
              <a:t>Critical threshold: L* ≈ 13%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407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7722"/>
                </a:solidFill>
                <a:latin typeface="Calibri"/>
              </a:rPr>
              <a:t>Hansen grid search confirms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736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7722"/>
                </a:solidFill>
                <a:latin typeface="Calibri"/>
              </a:rPr>
              <a:t>LSTAR c* = 14.9% (gradual transition, convergent)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Threshold Result: q* = 13%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Hansen (2000) grid search + LSTAR convergent 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pic>
        <p:nvPicPr>
          <p:cNvPr id="17" name="Picture 16" descr="threshold_s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303520" cy="2985153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0" y="960120"/>
          <a:ext cx="7772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74320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Low-buffer  (N=38)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High-buffer  (N=13)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β_ΔlnS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−2.80  (low-buffer)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+1.63  ← SIGN FLIP (high-buffer)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q* (Hansen)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0.1300 (13.0%)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LSTAR c*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0.1490 (14.9%)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convergent validity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Bootstrap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0.406 (suggestive)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N=51 limits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TRIM stability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13% at TRIM 15/20/25%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stable across trimming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669280" y="3566160"/>
            <a:ext cx="4069080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61188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Why p = 0.406?   N = 51 monthly obs.   Bootstrap
distribution is wide — 90% CI [3.1%, 14.5%].
Direction confirmed; magnitude suggestive.
Regime betas: −2.80 (low) vs +1.63 (high) — sign still flips at 13%.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29200"/>
            <a:ext cx="9464040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Hansen threshold at 13% replicated by independent LSTAR estimation (c* = 14.9%).  Sign still flips: β = −2.80 (low) → +1.63 (high).  Convergent validity across two methods strengthens our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Event Study: Raw Spread Around Stress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Showing raw daily OIS-Treasury spread — NOT CARs (corrected approach)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Calibri"/>
              </a:rPr>
              <a:t>Panel A: LUNA/UST — May 2022</a:t>
            </a:r>
          </a:p>
        </p:txBody>
      </p:sp>
      <p:pic>
        <p:nvPicPr>
          <p:cNvPr id="18" name="Picture 17" descr="fig_event_raw_l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4846320" cy="22284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0" y="914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Calibri"/>
              </a:rPr>
              <a:t>Panel B: SVB / USDC — March 2023</a:t>
            </a:r>
          </a:p>
        </p:txBody>
      </p:sp>
      <p:pic>
        <p:nvPicPr>
          <p:cNvPr id="20" name="Picture 19" descr="fig_event_raw_sv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61872"/>
            <a:ext cx="4846320" cy="219795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2880" y="5074920"/>
            <a:ext cx="9509760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LUNA: spread = 14.0 bps (corrected; was 70.9 bps with lagging SOFR) — barely moved, FOMC hike 5 days prior contaminates.
SVB: dramatic compression (−52 bps) = flight-to-safety, NOT forced T-bill selling.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Mechanism Validation — Auction-Level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Does the spread compression actually come from T-bill demand by stablecoin issuers?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</a:rPr>
              <a:t>The Logic: Issuer-Level Heterogeneity as a Natural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72768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7722"/>
                </a:solidFill>
                <a:latin typeface="Calibri"/>
              </a:rPr>
              <a:t>USDT (Tether):   ~80% reserves in T-bills  →  should suppress bid-cover  ←  T-bill heavy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47088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087"/>
                </a:solidFill>
                <a:latin typeface="Calibri"/>
              </a:rPr>
              <a:t>USDC (Circle):  ~30–40% in T-bills, rest in cash  →  no consistent effect 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121408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087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95728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087"/>
                </a:solidFill>
                <a:latin typeface="Calibri"/>
              </a:rPr>
              <a:t>If the spread result reflects reserve-composition demand, only USDT should move bid-cover.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670048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087"/>
                </a:solidFill>
                <a:latin typeface="Calibri"/>
              </a:rPr>
              <a:t>Both issuers share the same macro environment  →  the difference isolates the channel.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44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3087"/>
                </a:solidFill>
                <a:latin typeface="Calibri"/>
              </a:rPr>
              <a:t>Results: OLS on Monthly Bid-Cover Ratio (HAC, 1 lag) — N = 51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Maturity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9047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β_USDT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8775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p_USDT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β_USDC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p_USDC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310128"/>
            <a:ext cx="100584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3337560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Wald 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087"/>
                </a:solidFill>
                <a:latin typeface="Calibri"/>
              </a:rPr>
              <a:t>4-Week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9047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−1.225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8775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0.010**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503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+0.452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8231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0.060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3611880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3639312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0.001***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087"/>
                </a:solidFill>
                <a:latin typeface="Calibri"/>
              </a:rPr>
              <a:t>8-Week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9047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−1.553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8775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0.007***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8503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+0.145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8231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0.516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3913632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79592" y="3941064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0.003***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087"/>
                </a:solidFill>
                <a:latin typeface="Calibri"/>
              </a:rPr>
              <a:t>13-Week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304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9047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−1.366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8775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0.003***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8503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+0.338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8231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0.131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60" y="4215384"/>
            <a:ext cx="1005840" cy="2743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79592" y="424281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0.000***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087"/>
                </a:solidFill>
                <a:latin typeface="Calibri"/>
              </a:rPr>
              <a:t>26-Week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6304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9047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−1.587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8775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087"/>
                </a:solidFill>
                <a:latin typeface="Calibri"/>
              </a:rPr>
              <a:t>0.000***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8503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−0.016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8231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0.937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79592" y="45445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3087"/>
                </a:solidFill>
                <a:latin typeface="Calibri"/>
              </a:rPr>
              <a:t>0.001***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983480"/>
            <a:ext cx="9464040" cy="71323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02920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USDT: negative and significant at ALL FOUR maturities  |  USDC: insignificant at all four  |  Wald test rejects β_USDT = β_USDC (p &lt; 0.004 everywhere)
→ Reserve-composition channel confirmed.  This does NOT change β₁ = −7.57*** or q* = 13% — it validates the mechanism behind them.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5760720"/>
            <a:ext cx="9464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Note: Bid-cover data from TreasuryDirect API (4/8/13/26-week auctions). Issuer supply growth from daily panel month-end values. Same controls as main regression.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Intuition vs. Results — Where They Converge &amp; Diverge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Honest assessment of what the data can and cannot tell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960120"/>
          <a:ext cx="8961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1920240"/>
                <a:gridCol w="914400"/>
                <a:gridCol w="30175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Intuition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Matched?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Reason if not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β₁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Negative (supply buys T-bills)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−7.57***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Buffer-ratio spec; decomposed n.s. due to multicollinearity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q*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Low buffer = fragility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Sign flips at 13%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q* significance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Statistically confirmed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 = 0.406 (suggestive)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N=51 limits power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Sharp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Gradual transition (γ*=29.8)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Corrected spread reveals gradual regime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Event study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Clear CAR signal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Noisy/insignificant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FOMC contamination; only 3 events; use raw spread instead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3977639"/>
            <a:ext cx="93268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9052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The regression (β₁ = −7.57***) is our STRONGEST evidence — buffer-ratio spec.   Fragility channel B×ΔlnS = −7.52** (p=0.019) now significant at 5% with corrected spread.
Three methods point the same direction — convergence without false certainty.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Policy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From empirical threshold to regulatory reference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960120"/>
            <a:ext cx="2971800" cy="2011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024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722"/>
                </a:solidFill>
                <a:latin typeface="Calibri"/>
              </a:rPr>
              <a:t>MiCA (EU,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146304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Mandates liquid reserve requirements for 'significant' e-money tokens. Our q* = 13% provides an empirically grounded floor.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960120"/>
            <a:ext cx="2971800" cy="2011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024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722"/>
                </a:solidFill>
                <a:latin typeface="Calibri"/>
              </a:rPr>
              <a:t>GENIUS Act (US, 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146304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Requires stablecoin issuers to hold cash or near-cash reserves. Our CI [3.1%, 14.5%] maps to a regulatory range, not a precise floor.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960120"/>
            <a:ext cx="2971800" cy="2011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024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722"/>
                </a:solidFill>
                <a:latin typeface="Calibri"/>
              </a:rPr>
              <a:t>Market trajectory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46304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Supply growing toward $1–2T. At that scale, forced liquidation risk is SYSTEMIC — comparable to a money-market fund break-the-buck event.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54680"/>
            <a:ext cx="932688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2004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Direct Regulatory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61188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Our estimate: require cash/near-cash ≥ 13% of supply outstanding.   Caveat: 90% CI [3.1%, 14.5%] — this is a range, not a precise floor.   Interpretation: anything below 3% is clearly under-reserved; above 14.5% is clearly adequate.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70832"/>
            <a:ext cx="93268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16552"/>
            <a:ext cx="9052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First paper to provide an empirical threshold directly relevant to reserve legislation.
As attestation data accumulates, this estimate will sharpen.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Summary: Three Convergent Lines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Each method is individually limited; together they point to the same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960120"/>
            <a:ext cx="2926080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987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81328"/>
            <a:ext cx="29260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Calibri"/>
              </a:rPr>
              <a:t>β₁ = −7.57***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029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3087"/>
                </a:solidFill>
                <a:latin typeface="Calibri"/>
              </a:rPr>
              <a:t>p = 0.004  (buffer-ratio spec)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292608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Privilege amplification confirmed.
1-SD supply growth → 30 bps spread compression.
B×ΔlnS = −7.52** (p=0.019): fragility channel
now significant at 5%.
VIX and rate controls; HAC s.e.
STRONGEST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960120"/>
            <a:ext cx="29260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987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 Hansen 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1481328"/>
            <a:ext cx="29260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q* = 13%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2029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C0392B"/>
                </a:solidFill>
                <a:latin typeface="Calibri"/>
              </a:rPr>
              <a:t>Bootstrap CI [3.1%, 14.5%]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01568" y="2359152"/>
            <a:ext cx="292608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Threshold identified independently by
Hansen grid search AND LSTAR (c* = 14.9%).
Sign flip: β = −2.80 (low) → +1.63 (high).
p = 0.406 — suggestive, not confirmed.
N = 51 limits power.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960120"/>
            <a:ext cx="292608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987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 Event Study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8816" y="1481328"/>
            <a:ext cx="29260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4536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All CARs insignificant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4536" y="2029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Calibri"/>
              </a:rPr>
              <a:t>−15 to −2 bps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28816" y="2359152"/>
            <a:ext cx="292608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Directionally consistent.
FOMC contamination in 2 of 3 events.
SVB = flight-to-safety, not mechanism.
LUNA: 14.0 bps (corrected spread).
Qualitative context only.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37760"/>
            <a:ext cx="93268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9052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E87722"/>
                </a:solidFill>
                <a:latin typeface="Calibri"/>
              </a:rPr>
              <a:t>"All three methods point to the same conclusion: stablecoins amplify the exorbitant privilege, with a fragility threshold near 13% liquid buffer."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Honest accounting of constraints and the research agenda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7722"/>
                </a:solidFill>
                <a:latin typeface="Calibri"/>
              </a:rPr>
              <a:t>Slide 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2952" y="822960"/>
            <a:ext cx="2286000" cy="6035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02952" y="82296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94392" y="914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β₁ = −7.57***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104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7722"/>
                </a:solidFill>
                <a:latin typeface="Calibri"/>
              </a:rPr>
              <a:t>p = 0.004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2788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q* =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722"/>
                </a:solidFill>
                <a:latin typeface="Calibri"/>
              </a:rPr>
              <a:t>Bootstrap CI
[3.1%, 14.5%]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3931920"/>
            <a:ext cx="201168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3 convergent
methods:
β₁ ✓
q* ✓
Event study
(directional)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960120"/>
            <a:ext cx="4297680" cy="41148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005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50876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47218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N = 51 months limits statistical power
for threshold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4884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1226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Liquid buffer L forward-filled for 13 months
(Tether quarterly attestation lag)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5234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Endogeneity not fully resolved
(Granger test addresses but doesn't solve)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9242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Only 3 stress events;
FOMC contamination in 2 of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3250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Sample covers 2020–2024 only;
may not generalize to other regimes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960120"/>
            <a:ext cx="466344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005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A"/>
                </a:solidFill>
                <a:latin typeface="Calibri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508760"/>
            <a:ext cx="201168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4904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Longer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1737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As weekly/monthly attestations accumulate, N grows → power improves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194560"/>
            <a:ext cx="201168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176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Better identification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2423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Instrument for supply growth (e.g., regulatory announcements)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880360"/>
            <a:ext cx="201168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28620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Non-USD ecosystems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108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Euro stablecoins, CBDC interactions — broader privilege question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566160"/>
            <a:ext cx="201168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3547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High-frequency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7947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Daily spread + daily supply → better event identification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4251960"/>
            <a:ext cx="201168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42336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Cross-country comparison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480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Does same mechanism operate for EUR-denominated safe assets?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12080"/>
            <a:ext cx="932688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2578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722"/>
                </a:solidFill>
                <a:latin typeface="Calibri"/>
              </a:rPr>
              <a:t>This paper is the first step. The research agenda is clear and tractable.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Stablecoins and the Exorbitant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87722"/>
                </a:solidFill>
                <a:latin typeface="Calibri"/>
              </a:rPr>
              <a:t>Safe-Asset Demand and Its Systemic Fragility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3200400" cy="82296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762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7722"/>
                </a:solidFill>
                <a:latin typeface="Calibri"/>
              </a:rPr>
              <a:t>β₁ = −7.57***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p = 0.004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3200400" cy="82296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762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7722"/>
                </a:solidFill>
                <a:latin typeface="Calibri"/>
              </a:rPr>
              <a:t>q* = 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Bootstrap CI [3.1%, 14.5%]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48840"/>
            <a:ext cx="3200400" cy="822960"/>
          </a:xfrm>
          <a:prstGeom prst="rect">
            <a:avLst/>
          </a:prstGeom>
          <a:solidFill>
            <a:srgbClr val="002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762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7722"/>
                </a:solidFill>
                <a:latin typeface="Calibri"/>
              </a:rPr>
              <a:t>3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regression + threshold + event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Mireu Kim   Sara Chekroune   Oybek Ibragimov   Jade Zhu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Alexandre Godefroy   Baptiste Degand   Minjin Kim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7722"/>
                </a:solidFill>
                <a:latin typeface="Calibri"/>
              </a:rPr>
              <a:t>Yonsei GSIS  |  Topics in International Finance  |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87722"/>
                </a:solidFill>
                <a:latin typeface="Calibri"/>
              </a:rPr>
              <a:t>github.com/stablecoin-privilege-research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