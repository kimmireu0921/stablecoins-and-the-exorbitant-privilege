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2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6"/>
  </p:normalViewPr>
  <p:slideViewPr>
    <p:cSldViewPr snapToGrid="0" snapToObjects="1">
      <p:cViewPr>
        <p:scale>
          <a:sx n="88" d="100"/>
          <a:sy n="88" d="100"/>
        </p:scale>
        <p:origin x="200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24BC8E-F562-8D4F-BDA7-CD249A78F686}" type="datetimeFigureOut">
              <a:rPr kumimoji="1" lang="ko-KR" altLang="en-US" smtClean="0"/>
              <a:t>2026. 6. 2.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639903-DE06-8246-845B-A354BD01FF6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16082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원, 그래픽, 스크린샷, 그래픽 디자인이(가) 표시된 사진&#10;&#10;자동 생성된 설명"/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detail="2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0"/>
            <a:ext cx="4809898" cy="6856214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-1" y="1879560"/>
            <a:ext cx="12188826" cy="2576274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>
              <a:defRPr/>
            </a:pPr>
            <a:r>
              <a:rPr lang="en-US" altLang="ko-KR" sz="2400" dirty="0">
                <a:solidFill>
                  <a:prstClr val="white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STABLECOINS AND THE EXORBITANT PRIVILEGE</a:t>
            </a:r>
          </a:p>
          <a:p>
            <a:pPr algn="ctr" defTabSz="914400" latinLnBrk="1">
              <a:defRPr/>
            </a:pPr>
            <a:endParaRPr lang="ko-KR" altLang="en-US" sz="2400" dirty="0">
              <a:solidFill>
                <a:prstClr val="white"/>
              </a:solidFill>
              <a:latin typeface="Hiragino Kaku Gothic Std W8" panose="020B0800000000000000" pitchFamily="34" charset="-128"/>
              <a:ea typeface="Malgun Gothic" panose="020B0503020000020004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4095" y="5560060"/>
            <a:ext cx="58426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>
                <a:solidFill>
                  <a:schemeClr val="bg1"/>
                </a:solidFill>
              </a:rPr>
              <a:t>Yonsei GSIS 2026-1 </a:t>
            </a:r>
          </a:p>
          <a:p>
            <a:r>
              <a:rPr lang="en-US" altLang="ko-KR" sz="1800" b="1" dirty="0">
                <a:solidFill>
                  <a:schemeClr val="bg1"/>
                </a:solidFill>
              </a:rPr>
              <a:t>Topics in International Finance</a:t>
            </a:r>
            <a:endParaRPr lang="en-US" altLang="ko-KR" sz="1800" dirty="0">
              <a:solidFill>
                <a:schemeClr val="bg1"/>
              </a:solidFill>
            </a:endParaRPr>
          </a:p>
          <a:p>
            <a:r>
              <a:rPr lang="en-US" altLang="ko-KR" b="1" dirty="0">
                <a:solidFill>
                  <a:srgbClr val="FFFFFF"/>
                </a:solidFill>
              </a:rPr>
              <a:t>Mireu Kim · Sara Chekroune · Oybek Ibragimov · e  Alexandre Godefroy · Baptiste Degand · </a:t>
            </a:r>
            <a:r>
              <a:rPr lang="en-US" altLang="ko-KR" b="1" dirty="0" err="1">
                <a:solidFill>
                  <a:srgbClr val="FFFFFF"/>
                </a:solidFill>
              </a:rPr>
              <a:t>Minjin</a:t>
            </a:r>
            <a:r>
              <a:rPr lang="en-US" altLang="ko-KR" b="1" dirty="0">
                <a:solidFill>
                  <a:srgbClr val="FFFFFF"/>
                </a:solidFill>
              </a:rPr>
              <a:t> Kim </a:t>
            </a:r>
            <a:endParaRPr lang="en-US" altLang="ko-KR" sz="18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What Is a Stablecoin?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A programmatic, rule-bound channel for US dollar safe-asset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2 / 16</a:t>
            </a:r>
          </a:p>
        </p:txBody>
      </p:sp>
      <p:pic>
        <p:nvPicPr>
          <p:cNvPr id="7" name="Picture 6" descr="fig_stablecoi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8448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Exorbitant Privilege — What Finance Already Knows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Stablecoins as a new, algorithmic channel for this classic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669280" cy="1188720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Gourinchas &amp; Rey (2007)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0759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US earns more on foreign assets than it pays on liabilities → structural borrowing advantage. Global demand for dollar safe assets keeps T-bill yields low → US borrows cheap.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86000"/>
            <a:ext cx="5669280" cy="1143000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331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Mechanism: OIS-Treasury Spread as Our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3347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T-bill yield minus OIS ≈ 0 in normal times.
NEGATIVE spread = T-bills MORE expensive than risk-free = extreme privilege.
Normal range: 10–50 bps.   10 bps IS economically large.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66160"/>
            <a:ext cx="5669280" cy="12344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The New Channel: Stablecoins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13632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Not a central bank, not a fund manager — an ALGORITHM that must buy T-bills as supply grows. Combined supply ~$300B → ~$150B in T-bills.
Programmatic, rule-bound, and growing fast.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960120"/>
            <a:ext cx="5760720" cy="3840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722"/>
                </a:solidFill>
                <a:latin typeface="Calibri"/>
              </a:rPr>
              <a:t>How the Privilege Works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645920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1645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Global investors want safe dollar 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267712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22677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26771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They buy US T-bills → demand pushes yields 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889504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63640" y="288950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88950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OIS-Treasury spread compresses (or goes negative)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511296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63640" y="351129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51129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US Treasury borrows at below-market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133088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3640" y="4133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1330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Stablecoins: algorithmic, always-on version of step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120640"/>
            <a:ext cx="11640312" cy="5943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516636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Key insight: Stablecoins create a NEW demand channel for T-bills — one that is larger, faster, and more rule-bound than sovereign reserve managers.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New Triffin Dilemma — Our Core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Same mechanism, two faces: supply growth amplifies OR undermines the privilege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4 / 16</a:t>
            </a:r>
          </a:p>
        </p:txBody>
      </p:sp>
      <p:pic>
        <p:nvPicPr>
          <p:cNvPr id="7" name="Picture 6" descr="fig_triffin_dile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9041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Literature &amp; Our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We fill a gap no existing paper has addressed empirically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5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960120"/>
          <a:ext cx="9601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we build 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Key insight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Safe-asset demand &amp; privilege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Maggiori (2017)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Exorbitant privilege from risk-sharing equilibrium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Crisis zone mechanism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Cole &amp; Kehoe (2000)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Run dynamics when fundamentals enter crisis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 banking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Gorton &amp; Zhang (2021)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Stablecoins = wildcat banking, uninsured deposits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Reserve adequacy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Jeanne &amp; Rancière (2011)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Optimal buffers against sudden stops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 regulation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Duffie (2022)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Reserve composition is first-order concern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794760"/>
            <a:ext cx="5394960" cy="100584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38679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OUR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1970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No paper has connected reserve adequacy → sovereign bond spreads empirically. We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3794760"/>
            <a:ext cx="630936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0" y="386791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A4A"/>
                </a:solidFill>
                <a:latin typeface="Calibri"/>
              </a:rPr>
              <a:t>OUR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197096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First empirical threshold for stablecoin liquid reserves that separates privilege-amplification from forced-liquidation regimes.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983480"/>
            <a:ext cx="11640312" cy="6400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722"/>
                </a:solidFill>
                <a:latin typeface="Calibri"/>
              </a:rPr>
              <a:t>β₁ = −6.02***  |  q* = 13%  |  Three convergent methods: OLS regression  +  Hansen threshold  +  LSTAR nonlinear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Data &amp; The OIS-Treasury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Monthly panel 2020–2024; spread from FRED; stablecoin supply from DeFiLlama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6 / 16</a:t>
            </a:r>
          </a:p>
        </p:txBody>
      </p:sp>
      <p:pic>
        <p:nvPicPr>
          <p:cNvPr id="7" name="Picture 6" descr="fi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589520" cy="555893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955279" y="960120"/>
            <a:ext cx="3977639" cy="56692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92439" y="1051560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Reading the Spread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55448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59" y="159105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Normal range:  10–50 bps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187452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10 bps IS economically large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260604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59" y="264261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March 2023:  −8.6 bps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92608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T-bills MORE expensive than risk-free
= extreme flight-to-safety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365760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38159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LUNA May 2022:  +76 bps peak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397764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Spread WIDENED during crypto stress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9" y="470916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8159" y="474573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Our measure:  OIS minus T-bill yield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≈ 0 in normal times;
negative = extreme privilege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5760720"/>
            <a:ext cx="3794760" cy="5943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59" y="583387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3 stress events marked:
LUNA/UST   USDC/SVB   USDT Mar 2023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for β₁ — The Privilege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Before seeing the result: what should happen mechanically?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7 / 16</a:t>
            </a:r>
          </a:p>
        </p:txBody>
      </p:sp>
      <p:pic>
        <p:nvPicPr>
          <p:cNvPr id="7" name="Picture 6" descr="fig_beta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48166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166360"/>
            <a:ext cx="11640312" cy="6400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If stablecoins truly act as a safe-asset demand channel, β₁ must be NEGATIVE — supply growth compresses the spread.   We test this with N = 51 monthly observations.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Main Result: β₁ = −6.02***   (THE KEY FINDING)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Table 2 — OLS with HAC standard errors, N = 51 monthly observations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8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960120"/>
          <a:ext cx="932687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Coeff.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Std. Err.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Δln(Supply)  β₁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−6.02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2.07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0.006**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Supply growth → spread compression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VIX  β₂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+0.043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0.032*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Global risk-off widens spread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ΔFed Funds  β₃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+0.18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0.213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Rate changes (partially absorbed)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Baseline spread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R²  =  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Regression explains 50% of variance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383280"/>
            <a:ext cx="6858000" cy="1463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456432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Calibri"/>
              </a:rPr>
              <a:t>Economic Magnitude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858768"/>
            <a:ext cx="6583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1-SD supply growth (4 pp)  ×  β₁  =  −6.02  →  24 bps spread compression
This is larger than a typical FOMC surprise effect on T-bill spreads.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83280"/>
            <a:ext cx="4617720" cy="14630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52360" y="3456432"/>
            <a:ext cx="4343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Intuition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858768"/>
            <a:ext cx="4343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β₁ &lt; 0  ✓  (supply growth compresses spread)
VIX &gt; 0  ✓  (risk-off widens spread)
MATCHES theoretical prediction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029200"/>
            <a:ext cx="11640312" cy="7315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50749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1">
                <a:solidFill>
                  <a:srgbClr val="E87722"/>
                </a:solidFill>
                <a:latin typeface="Calibri"/>
              </a:rPr>
              <a:t>"A one-standard-deviation increase in stablecoin supply growth compresses the OIS-Treasury spread by 24 basis points — confirming H1"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for the Threshold — Why Should There Be a Regime Break?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Low buffer = forced liquidation risk; high buffer = orderly redemption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9 / 16</a:t>
            </a:r>
          </a:p>
        </p:txBody>
      </p:sp>
      <p:pic>
        <p:nvPicPr>
          <p:cNvPr id="7" name="Picture 6" descr="fig_threshold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3039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960120"/>
            <a:ext cx="3657600" cy="56692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58200" y="1051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The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554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When liquid buffer L is LOW: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8836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A redemption wave forces rapid T-bill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2128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Spread dynamics flip 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651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When liquid buffer L is HIGH: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98094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Issuer can absorb redemptions from cash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3101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T-bill holdings untouched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639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Privilege channel continues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0782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Critical threshold: L* ≈ 13%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4074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Hansen grid search confirms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7365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LSTAR c* = 13.1% (convergent)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Threshold Result: q* = 13%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Hansen (2000) grid search + LSTAR convergent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−6.02***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[3.2%,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pic>
        <p:nvPicPr>
          <p:cNvPr id="17" name="Picture 16" descr="threshold_s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5303520" cy="2980024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669280" y="960120"/>
          <a:ext cx="77724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Low-buffer  (N=38)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High-buffer  (N=13)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β_ΔlnS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−6.97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+1.26  ← SIGN FLIP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(Hansen)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0.1301 (13.0%)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LSTAR c*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0.1310 (13.1%)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convergent validity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Bootstrap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0.260 (suggestive)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N=51 limits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TRIM stability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13% at TRIM 15/20/25%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 across trimming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669280" y="3566160"/>
            <a:ext cx="4069080" cy="10058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0" y="3611880"/>
            <a:ext cx="3886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Why p = 0.260?   N = 51 monthly obs.   Bootstrap
distribution is wide — 90% CI [3.2%, 14.5%].
Direction confirmed; magnitude suggestive.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29200"/>
            <a:ext cx="9464040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074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Hansen threshold at 13% replicated by independent LSTAR estimation (c* = 13.1%).
Convergent validity across two methods strengthens our confidence.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Event Study: Raw Spread Around Stress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Showing raw daily OIS-Treasury spread — NOT CARs (corrected approach)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−6.02***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[3.2%,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Calibri"/>
              </a:rPr>
              <a:t>Panel A: LUNA/UST — May 2022</a:t>
            </a:r>
          </a:p>
        </p:txBody>
      </p:sp>
      <p:pic>
        <p:nvPicPr>
          <p:cNvPr id="18" name="Picture 17" descr="fig_event_raw_l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61872"/>
            <a:ext cx="4846320" cy="222513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914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Calibri"/>
              </a:rPr>
              <a:t>Panel B: SVB / USDC — March 2023</a:t>
            </a:r>
          </a:p>
        </p:txBody>
      </p:sp>
      <p:pic>
        <p:nvPicPr>
          <p:cNvPr id="20" name="Picture 19" descr="fig_event_raw_sv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61872"/>
            <a:ext cx="4846320" cy="219795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2880" y="5074920"/>
            <a:ext cx="9509760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5120640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LUNA: spread barely moved — FOMC hike 5 days prior contaminates inference.
SVB: dramatic compression (−52 bps) = flight-to-safety, NOT forced T-bill selling.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vs. Results — Where They Converge &amp; Diverge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assessment of what the data can and cannot tell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−6.02***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[3.2%,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74320" y="960120"/>
          <a:ext cx="9052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Intuition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β₁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−6.02***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Matched — supply growth does buy T-bills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Low buffer = fragile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Sign flip at 13%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Matched in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significance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Confirmed statistically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 = 0.260 (suggestive)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 = 51 too small for power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Event study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Clear CAR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All insignificant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FOMC contamination + N = 3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SVB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High buffer protects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Spread −52 bps (flight-safety)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Flight-to-safety, not stablecoin mechanism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LUNA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Low buffer causes widening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Signal present but weak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FOMC +50bps only 5 days before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274320" y="4297680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4343400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The regression is our STRONGEST evidence.   The event study is directionally consistent but statistically underpowered.
Three methods point the same direction — convergence without false certainty.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Policy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From empirical threshold to regulatory reference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−6.02***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[3.2%,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MiCA (EU, 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Mandates liquid reserve requirements for 'significant' e-money tokens. Our q* = 13% provides an empirically grounded floor.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6616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GENIUS Act (US,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Requires stablecoin issuers to hold cash or near-cash reserves. Our CI [3.2%, 14.5%] maps to a regulatory range, not a precise floor.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Market trajectory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Supply growing toward $1–2T. At that scale, forced liquidation risk is SYSTEMIC — comparable to a money-market fund break-the-buck event.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54680"/>
            <a:ext cx="9326880" cy="10972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32004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Direct Regulatory 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3611880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Our estimate: require cash/near-cash ≥ 13% of supply outstanding.   Caveat: 90% CI [3.2%, 14.5%] — this is a range, not a precise floor.   Interpretation: anything below 3% is clearly under-reserved; above 14.5% is clearly adequate.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370832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416552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First paper to provide an empirical threshold directly relevant to reserve legislation.
As attestation data accumulates, this estimate will sharpen.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Summary: Three Convergent Lines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Each method is individually limited; together they point to the same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−6.02***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[3.2%,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2926080" cy="5029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1.  Regression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Calibri"/>
              </a:rPr>
              <a:t>β₁ = −6.02***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3087"/>
                </a:solidFill>
                <a:latin typeface="Calibri"/>
              </a:rPr>
              <a:t>p = 0.006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Privilege amplification confirmed.
1-SD supply growth → 24 bps spread compression.
VIX and rate controls included.
HAC standard errors.
STRONGEST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1568" y="960120"/>
            <a:ext cx="292608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93008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2.  Hansen Threshold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01568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47288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  <a:latin typeface="Calibri"/>
              </a:rPr>
              <a:t>q* = 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C0392B"/>
                </a:solidFill>
                <a:latin typeface="Calibri"/>
              </a:rPr>
              <a:t>Bootstrap CI [3.2%, 14.5%]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01568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93008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Threshold identified independently by
Hansen grid search AND LSTAR (c* = 13.1%).
Sign flip confirmed at 13%.
p = 0.260 — suggestive, not confirmed.
N = 51 limits power.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28816" y="960120"/>
            <a:ext cx="2926080" cy="5029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0256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3.  Event Study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28816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74536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6666"/>
                </a:solidFill>
                <a:latin typeface="Calibri"/>
              </a:rPr>
              <a:t>All CARs insignificant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4536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66666"/>
                </a:solidFill>
                <a:latin typeface="Calibri"/>
              </a:rPr>
              <a:t>−15 to −2 bps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28816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20256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Directionally consistent.
FOMC contamination in 2 of 3 events.
SVB = flight-to-safety, not mechanism.
LUNA = most relevant window.
Qualitative context only.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937760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E87722"/>
                </a:solidFill>
                <a:latin typeface="Calibri"/>
              </a:rPr>
              <a:t>"All three methods point to the same conclusion: stablecoins amplify the exorbitant privilege, with a fragility threshold near 13% liquid buffer."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accounting of constraints and the research agenda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−6.02***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[3.2%,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4297680" cy="411480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100584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Limitations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50876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147218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N = 51 months limits statistical power
for threshold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14884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11226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Liquid buffer L forward-filled for 13 months
(Tether quarterly attestation lag)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78892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275234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Endogeneity not fully resolved
(Granger test addresses but doesn't solve)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39242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Only 3 stress events;
FOMC contamination in 2 of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06908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403250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Sample covers 2020–2024 only;
may not generalize to other regimes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960120"/>
            <a:ext cx="4663440" cy="4114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10058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4A"/>
                </a:solidFill>
                <a:latin typeface="Calibri"/>
              </a:rPr>
              <a:t>Next Steps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15087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20640" y="14904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Longer sample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17373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As weekly/monthly attestations accumulate, N grows → power improves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1945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20640" y="21762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Better identification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24231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Instrument for supply growth (e.g., regulatory announcements)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28803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120640" y="2862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Non-USD ecosystems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089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Euro stablecoins, CBDC interactions — broader privilege question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35661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120640" y="35478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High-frequency 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37947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Daily spread + daily supply → better event identification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2519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20640" y="42336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Cross-country comparison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44805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Does same mechanism operate for EUR-denominated safe assets?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212080"/>
            <a:ext cx="9326880" cy="5486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" y="52578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This paper is the first step. The research agenda is clear and tractable.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원, 그래픽, 스크린샷, 그래픽 디자인이(가) 표시된 사진&#10;&#10;자동 생성된 설명"/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detail="2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0"/>
            <a:ext cx="4809898" cy="6856214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-1" y="1879560"/>
            <a:ext cx="12188826" cy="2576274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>
              <a:defRPr/>
            </a:pPr>
            <a:r>
              <a:rPr lang="en-US" altLang="ko-KR" sz="2400" dirty="0">
                <a:solidFill>
                  <a:prstClr val="white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STABLECOINS AND THE EXORBITANT PRIVILEGE</a:t>
            </a:r>
          </a:p>
          <a:p>
            <a:pPr algn="ctr" defTabSz="914400" latinLnBrk="1">
              <a:defRPr/>
            </a:pPr>
            <a:endParaRPr lang="ko-KR" altLang="en-US" sz="2400" dirty="0">
              <a:solidFill>
                <a:prstClr val="white"/>
              </a:solidFill>
              <a:latin typeface="Hiragino Kaku Gothic Std W8" panose="020B0800000000000000" pitchFamily="34" charset="-128"/>
              <a:ea typeface="Malgun Gothic" panose="020B0503020000020004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4095" y="5560060"/>
            <a:ext cx="58426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>
                <a:solidFill>
                  <a:schemeClr val="bg1"/>
                </a:solidFill>
              </a:rPr>
              <a:t>Yonsei GSIS 2026-1 </a:t>
            </a:r>
          </a:p>
          <a:p>
            <a:r>
              <a:rPr lang="en-US" altLang="ko-KR" sz="1800" b="1" dirty="0">
                <a:solidFill>
                  <a:schemeClr val="bg1"/>
                </a:solidFill>
              </a:rPr>
              <a:t>Topics in International Finance</a:t>
            </a:r>
            <a:endParaRPr lang="en-US" altLang="ko-KR" sz="1800" dirty="0">
              <a:solidFill>
                <a:schemeClr val="bg1"/>
              </a:solidFill>
            </a:endParaRPr>
          </a:p>
          <a:p>
            <a:r>
              <a:rPr lang="en-US" altLang="ko-KR" b="1" dirty="0">
                <a:solidFill>
                  <a:srgbClr val="FFFFFF"/>
                </a:solidFill>
              </a:rPr>
              <a:t>Mireu Kim · Sara Chekroune · Oybek Ibragimov · e  Alexandre Godefroy · Baptiste Degand · </a:t>
            </a:r>
            <a:r>
              <a:rPr lang="en-US" altLang="ko-KR" b="1" dirty="0" err="1">
                <a:solidFill>
                  <a:srgbClr val="FFFFFF"/>
                </a:solidFill>
              </a:rPr>
              <a:t>Minjin</a:t>
            </a:r>
            <a:r>
              <a:rPr lang="en-US" altLang="ko-KR" b="1" dirty="0">
                <a:solidFill>
                  <a:srgbClr val="FFFFFF"/>
                </a:solidFill>
              </a:rPr>
              <a:t> Kim </a:t>
            </a:r>
            <a:endParaRPr lang="en-US" altLang="ko-KR" sz="18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2078</Words>
  <Application>Microsoft Macintosh PowerPoint</Application>
  <PresentationFormat>사용자 지정</PresentationFormat>
  <Paragraphs>275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맑은 고딕</vt:lpstr>
      <vt:lpstr>Hiragino Kaku Gothic Std W8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김미르</cp:lastModifiedBy>
  <cp:revision>2</cp:revision>
  <dcterms:created xsi:type="dcterms:W3CDTF">2013-01-27T09:14:16Z</dcterms:created>
  <dcterms:modified xsi:type="dcterms:W3CDTF">2026-06-02T05:12:49Z</dcterms:modified>
  <cp:category/>
</cp:coreProperties>
</file>