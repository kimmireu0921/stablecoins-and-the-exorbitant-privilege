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1"/>
  </p:normalViewPr>
  <p:slideViewPr>
    <p:cSldViewPr snapToGrid="0" snapToObjects="1">
      <p:cViewPr varScale="1">
        <p:scale>
          <a:sx n="109" d="100"/>
          <a:sy n="109" d="100"/>
        </p:scale>
        <p:origin x="60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7408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/>
              <a:t>Good [morning/afternoon] everyone.</a:t>
            </a:r>
          </a:p>
          <a:p>
            <a:r>
              <a:rPr sz="1200"/>
              <a:t>Today we are presenting the final version of our paper on stablecoins and the exorbitant privilege.</a:t>
            </a:r>
          </a:p>
          <a:p>
            <a:r>
              <a:rPr sz="1200"/>
              <a:t>Since our June 16 presentation, we received detailed feedback from Professor Hur, which led us to</a:t>
            </a:r>
          </a:p>
          <a:p>
            <a:r>
              <a:rPr sz="1200"/>
              <a:t>substantially revise our main specification. Today's presentation focuses on those changes and the</a:t>
            </a:r>
          </a:p>
          <a:p>
            <a:r>
              <a:rPr sz="1200"/>
              <a:t>final results.</a:t>
            </a:r>
          </a:p>
          <a:p>
            <a:r>
              <a:rPr sz="1200"/>
              <a:t>We have 30 minutes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/>
              <a:t>Walk through the agenda briefly — about 30 seconds.</a:t>
            </a:r>
          </a:p>
          <a:p>
            <a:r>
              <a:rPr sz="1200"/>
              <a:t>Key message: this is not a from-scratch presentation. We are showing you what changed</a:t>
            </a:r>
          </a:p>
          <a:p>
            <a:r>
              <a:rPr sz="1200"/>
              <a:t>since the last presentation and why those changes matter.</a:t>
            </a:r>
          </a:p>
          <a:p>
            <a:r>
              <a:rPr sz="1200"/>
              <a:t>The methodology revision is the heart of today's talk (slides 3–7).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/>
              <a:t>Briefly recap where we were at the June 16 presentation.</a:t>
            </a:r>
          </a:p>
          <a:p>
            <a:r>
              <a:rPr sz="1200"/>
              <a:t>Our previous main result was β₃ = −4.385 (p = 0.001) in the symmetric threshold spec at L &lt; 4%.</a:t>
            </a:r>
          </a:p>
          <a:p>
            <a:r>
              <a:rPr sz="1200"/>
              <a:t>The sign is negative — spread compression when supply grows in low-buffer states.</a:t>
            </a:r>
          </a:p>
          <a:p>
            <a:r>
              <a:rPr sz="1200"/>
              <a:t>But the theory predicts WIDENING during redemption episodes, not compression during growth.</a:t>
            </a:r>
          </a:p>
          <a:p>
            <a:r>
              <a:rPr sz="1200"/>
              <a:t>The issue: ΔlnS combines both inflows (new supply, T-bill purchases) and outflows (redemptions,</a:t>
            </a:r>
          </a:p>
          <a:p>
            <a:r>
              <a:rPr sz="1200"/>
              <a:t>possible T-bill sales) in a single coefficient. The forced-sale channel only operates for outflows.</a:t>
            </a:r>
          </a:p>
          <a:p>
            <a:r>
              <a:rPr sz="1200"/>
              <a:t>Professor Hur identified this and proposed the fix: separate inflows from outflows.</a:t>
            </a:r>
          </a:p>
          <a:p>
            <a:endParaRPr sz="1200"/>
          </a:p>
          <a:p>
            <a:r>
              <a:rPr sz="1200"/>
              <a:t>Also note: all 9 low-buffer observations (L &lt; 4%) are from USDT in a single 9-month window</a:t>
            </a:r>
          </a:p>
          <a:p>
            <a:r>
              <a:rPr sz="1200"/>
              <a:t>(mid-2025 to early 2026). That single-issuer concern is also addressed in the new specification.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/>
              <a:t>Professor Hur sent this feedback after reviewing our June 16 presentation.</a:t>
            </a:r>
          </a:p>
          <a:p>
            <a:r>
              <a:rPr sz="1200"/>
              <a:t>He provided the exact specification to implement: Inflow = max(ΔlnS, 0), Outflow = max(−ΔlnS, 0),</a:t>
            </a:r>
          </a:p>
          <a:p>
            <a:r>
              <a:rPr sz="1200"/>
              <a:t>and the key threshold Low12 = 1[L &lt; 0.12].</a:t>
            </a:r>
          </a:p>
          <a:p>
            <a:endParaRPr sz="1200"/>
          </a:p>
          <a:p>
            <a:r>
              <a:rPr sz="1200"/>
              <a:t>Importantly, he also told us the expected result: β₅ = +7.55, p = 0.065.</a:t>
            </a:r>
          </a:p>
          <a:p>
            <a:r>
              <a:rPr sz="1200"/>
              <a:t>When we ran our updated code, we got β₅ = +7.552, p = 0.065 — an exact match.</a:t>
            </a:r>
          </a:p>
          <a:p>
            <a:endParaRPr sz="1200"/>
          </a:p>
          <a:p>
            <a:r>
              <a:rPr sz="1200"/>
              <a:t>He also asked us to move the primary threshold from L &lt; 4% to L &lt; 12%,</a:t>
            </a:r>
          </a:p>
          <a:p>
            <a:r>
              <a:rPr sz="1200"/>
              <a:t>because L &lt; 12% gives 6 identifying observations across both issuers (not just 2 or 9 from USDT).</a:t>
            </a:r>
          </a:p>
          <a:p>
            <a:endParaRPr sz="1200"/>
          </a:p>
          <a:p>
            <a:r>
              <a:rPr sz="1200"/>
              <a:t>The key framing he provided: 'The evidence is strongest when we allow for asymmetry.'</a:t>
            </a:r>
          </a:p>
          <a:p>
            <a:r>
              <a:rPr sz="1200"/>
              <a:t>This is now the opening framing of our Section 3.3.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/>
              <a:t>The asymmetric specification is the core methodological innovation of the revised paper.</a:t>
            </a:r>
          </a:p>
          <a:p>
            <a:endParaRPr sz="1200"/>
          </a:p>
          <a:p>
            <a:r>
              <a:rPr sz="1200"/>
              <a:t>Instead of treating all supply changes as the same (ΔlnS), we decompose them:</a:t>
            </a:r>
          </a:p>
          <a:p>
            <a:r>
              <a:rPr sz="1200"/>
              <a:t>  - Inflow = max(ΔlnS, 0): supply expansions — issuer buys T-bills, orderly</a:t>
            </a:r>
          </a:p>
          <a:p>
            <a:r>
              <a:rPr sz="1200"/>
              <a:t>  - Outflow = max(−ΔlnS, 0): supply contractions (redemptions) — may require T-bill sales</a:t>
            </a:r>
          </a:p>
          <a:p>
            <a:endParaRPr sz="1200"/>
          </a:p>
          <a:p>
            <a:r>
              <a:rPr sz="1200"/>
              <a:t>The key interaction is β₅: Low × Outflow.</a:t>
            </a:r>
          </a:p>
          <a:p>
            <a:r>
              <a:rPr sz="1200"/>
              <a:t>If β₅ &gt; 0 and significant, it means: outflows in low-buffer states widen the OIS-Treasury spread.</a:t>
            </a:r>
          </a:p>
          <a:p>
            <a:r>
              <a:rPr sz="1200"/>
              <a:t>That is the forced-sale channel.</a:t>
            </a:r>
          </a:p>
          <a:p>
            <a:endParaRPr sz="1200"/>
          </a:p>
          <a:p>
            <a:r>
              <a:rPr sz="1200"/>
              <a:t>β₄ (Low × Inflow) should be insignificant — inflows are orderly regardless of buffer level.</a:t>
            </a:r>
          </a:p>
          <a:p>
            <a:r>
              <a:rPr sz="1200"/>
              <a:t>This asymmetric prediction is directly from the theoretical model (Section 2.1).</a:t>
            </a:r>
          </a:p>
          <a:p>
            <a:endParaRPr sz="1200"/>
          </a:p>
          <a:p>
            <a:r>
              <a:rPr sz="1200"/>
              <a:t>Dependent variable: ΔSpread (first-differenced) — addresses non-stationarity of levels spread.</a:t>
            </a:r>
          </a:p>
          <a:p>
            <a:r>
              <a:rPr sz="1200"/>
              <a:t>N = 100 (102 minus 2 first observations lost to differencing).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/>
              <a:t>This slide explains why we chose L &lt; 12% as the primary threshold rather than L &lt; 10%.</a:t>
            </a:r>
          </a:p>
          <a:p>
            <a:endParaRPr sz="1200"/>
          </a:p>
          <a:p>
            <a:r>
              <a:rPr sz="1200"/>
              <a:t>L &lt; 10% gives a LARGER coefficient (β₅ = +16.92, p &lt; 0.001) — seems more significant.</a:t>
            </a:r>
          </a:p>
          <a:p>
            <a:r>
              <a:rPr sz="1200"/>
              <a:t>BUT: it is identified by only 2 low-buffer outflow observations, both from USDT in early 2026.</a:t>
            </a:r>
          </a:p>
          <a:p>
            <a:r>
              <a:rPr sz="1200"/>
              <a:t>With only 2 data points from a single issuer in one narrow time window, we cannot rule out</a:t>
            </a:r>
          </a:p>
          <a:p>
            <a:r>
              <a:rPr sz="1200"/>
              <a:t>a USDT-specific or macro-regime-specific explanation. This is exploratory.</a:t>
            </a:r>
          </a:p>
          <a:p>
            <a:endParaRPr sz="1200"/>
          </a:p>
          <a:p>
            <a:r>
              <a:rPr sz="1200"/>
              <a:t>L &lt; 12% gives β₅ = +7.55 (p = 0.065) but uses 6 observations spanning:</a:t>
            </a:r>
          </a:p>
          <a:p>
            <a:r>
              <a:rPr sz="1200"/>
              <a:t>  - Both USDT and USDC</a:t>
            </a:r>
          </a:p>
          <a:p>
            <a:r>
              <a:rPr sz="1200"/>
              <a:t>  - Multiple years (2023–2026)</a:t>
            </a:r>
          </a:p>
          <a:p>
            <a:r>
              <a:rPr sz="1200"/>
              <a:t>This is more credible identification. Professor Hur explicitly recommended L &lt; 12% as primary.</a:t>
            </a:r>
          </a:p>
          <a:p>
            <a:endParaRPr sz="1200"/>
          </a:p>
          <a:p>
            <a:r>
              <a:rPr sz="1200"/>
              <a:t>Expected question: why not test more thresholds?</a:t>
            </a:r>
          </a:p>
          <a:p>
            <a:r>
              <a:rPr sz="1200"/>
              <a:t>Answer: we follow the professor's guidance. Also, data sparsity at very low L limits the search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/>
              <a:t>This is Table 3 from the paper — the main result.</a:t>
            </a:r>
          </a:p>
          <a:p>
            <a:endParaRPr sz="1200"/>
          </a:p>
          <a:p>
            <a:r>
              <a:rPr sz="1200"/>
              <a:t>Key numbers to emphasize:</a:t>
            </a:r>
          </a:p>
          <a:p>
            <a:r>
              <a:rPr sz="1200"/>
              <a:t>  PRIMARY (L &lt; 12%): β₅ = +7.552, p = 0.065 — significant at 10% level</a:t>
            </a:r>
          </a:p>
          <a:p>
            <a:r>
              <a:rPr sz="1200"/>
              <a:t>  ROBUSTNESS (L &lt; 10%): β₅ = +16.923, p &lt; 0.001 — but only 2 obs</a:t>
            </a:r>
          </a:p>
          <a:p>
            <a:endParaRPr sz="1200"/>
          </a:p>
          <a:p>
            <a:r>
              <a:rPr sz="1200"/>
              <a:t>Other things to note:</a:t>
            </a:r>
          </a:p>
          <a:p>
            <a:r>
              <a:rPr sz="1200"/>
              <a:t>  - β₁ (Inflow) = +0.518, insignificant — supply expansions have no spread effect</a:t>
            </a:r>
          </a:p>
          <a:p>
            <a:r>
              <a:rPr sz="1200"/>
              <a:t>  - β₄ (Low×Inflow) = −0.335, insignificant — even in low-buffer states, inflows don't move spread</a:t>
            </a:r>
          </a:p>
          <a:p>
            <a:r>
              <a:rPr sz="1200"/>
              <a:t>  - β₃ (Low) = +0.008, insignificant — just being in a low-buffer state doesn't widen the spread</a:t>
            </a:r>
          </a:p>
          <a:p>
            <a:r>
              <a:rPr sz="1200"/>
              <a:t>  - VIX is +0.010*** — risk-off episodes widen spreads, as expected</a:t>
            </a:r>
          </a:p>
          <a:p>
            <a:r>
              <a:rPr sz="1200"/>
              <a:t>  - USDT FE ≈ 0, insignificant in ΔSpread spec — no issuer-level trend in first differences</a:t>
            </a:r>
          </a:p>
          <a:p>
            <a:endParaRPr sz="1200"/>
          </a:p>
          <a:p>
            <a:r>
              <a:rPr sz="1200"/>
              <a:t>N = 100 (not 102): ΔSpread loses the first observation per issuer (2 obs lost total).</a:t>
            </a:r>
          </a:p>
          <a:p>
            <a:endParaRPr sz="1200"/>
          </a:p>
          <a:p>
            <a:r>
              <a:rPr sz="1200"/>
              <a:t>The professor confirmed: his own run gave β₅ = +7.55, p = 0.065. Our result: +7.552, p = 0.065. Exact 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/>
              <a:t>Walk through each box.</a:t>
            </a:r>
          </a:p>
          <a:p>
            <a:endParaRPr sz="1200"/>
          </a:p>
          <a:p>
            <a:r>
              <a:rPr sz="1200"/>
              <a:t>LEFT BOX — magnitude:</a:t>
            </a:r>
          </a:p>
          <a:p>
            <a:r>
              <a:rPr sz="1200"/>
              <a:t>β₅ = +7.55 means: per unit of outflow rate in a low-buffer state, ΔSpread rises 7.55 pp.</a:t>
            </a:r>
          </a:p>
          <a:p>
            <a:r>
              <a:rPr sz="1200"/>
              <a:t>Outflow rate is log-scale; a 5% outflow = 0.05 in the Outflow variable.</a:t>
            </a:r>
          </a:p>
          <a:p>
            <a:r>
              <a:rPr sz="1200"/>
              <a:t>0.05 × 7.55 = 0.378 pp = 37.8 bps. That is comparable to March 2020 dash-for-cash episode.</a:t>
            </a:r>
          </a:p>
          <a:p>
            <a:r>
              <a:rPr sz="1200"/>
              <a:t>IMPORTANT caveat: the identifying outflows are 0.3–2%, not 5%. This is an out-of-sample extrapolation.</a:t>
            </a:r>
          </a:p>
          <a:p>
            <a:endParaRPr sz="1200"/>
          </a:p>
          <a:p>
            <a:r>
              <a:rPr sz="1200"/>
              <a:t>MIDDLE BOX — the asymmetry is a feature, not a bug:</a:t>
            </a:r>
          </a:p>
          <a:p>
            <a:r>
              <a:rPr sz="1200"/>
              <a:t>The inflow coefficients being near zero is the correct result per the theory.</a:t>
            </a:r>
          </a:p>
          <a:p>
            <a:r>
              <a:rPr sz="1200"/>
              <a:t>T-bill purchases during issuance are orderly and don't create spread pressure.</a:t>
            </a:r>
          </a:p>
          <a:p>
            <a:r>
              <a:rPr sz="1200"/>
              <a:t>The point of the asymmetric spec is to isolate the forced-sale effect.</a:t>
            </a:r>
          </a:p>
          <a:p>
            <a:endParaRPr sz="1200"/>
          </a:p>
          <a:p>
            <a:r>
              <a:rPr sz="1200"/>
              <a:t>RIGHT BOX — who the 6 observations are:</a:t>
            </a:r>
          </a:p>
          <a:p>
            <a:r>
              <a:rPr sz="1200"/>
              <a:t>USDC observations come from 2023, when Circle restructured reserves post-SVB.</a:t>
            </a:r>
          </a:p>
          <a:p>
            <a:r>
              <a:rPr sz="1200"/>
              <a:t>USDT observations come from early 2026, at L ≈ 2.6%.</a:t>
            </a:r>
          </a:p>
          <a:p>
            <a:r>
              <a:rPr sz="1200"/>
              <a:t>Having two issuers in different years strengthens credibility substantially.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/>
              <a:t>Two robustness checks to mention.</a:t>
            </a:r>
          </a:p>
          <a:p>
            <a:endParaRPr sz="1200"/>
          </a:p>
          <a:p>
            <a:r>
              <a:rPr sz="1200"/>
              <a:t>CONTINUOUS-L (Sara's suggestion, Appendix A.6):</a:t>
            </a:r>
          </a:p>
          <a:p>
            <a:r>
              <a:rPr sz="1200"/>
              <a:t>Instead of a binary Low indicator, use L itself interacted with Outflow.</a:t>
            </a:r>
          </a:p>
          <a:p>
            <a:r>
              <a:rPr sz="1200"/>
              <a:t>This uses all 100 observations and avoids the sparse-cell criticism.</a:t>
            </a:r>
          </a:p>
          <a:p>
            <a:r>
              <a:rPr sz="1200"/>
              <a:t>Result: β₅ (L × Outflow) = −18.58, p = 0.120.</a:t>
            </a:r>
          </a:p>
          <a:p>
            <a:r>
              <a:rPr sz="1200"/>
              <a:t>Sign is NEGATIVE — correct. Higher buffer dampens outflow-spread link.</a:t>
            </a:r>
          </a:p>
          <a:p>
            <a:r>
              <a:rPr sz="1200"/>
              <a:t>Not significant: the nonlinear effect gets diluted when spread across full L range.</a:t>
            </a:r>
          </a:p>
          <a:p>
            <a:r>
              <a:rPr sz="1200"/>
              <a:t>Break-even: effect hits zero at L ≈ 20% (= 3.774 / 18.579). Consistent with USDT at L=16% in 2022.</a:t>
            </a:r>
          </a:p>
          <a:p>
            <a:endParaRPr sz="1200"/>
          </a:p>
          <a:p>
            <a:r>
              <a:rPr sz="1200"/>
              <a:t>RIGHT TABLE — summary:</a:t>
            </a:r>
          </a:p>
          <a:p>
            <a:r>
              <a:rPr sz="1200"/>
              <a:t>L &lt; 10% is exploratory (2 obs); L &lt; 12% is primary (6 obs).</a:t>
            </a:r>
          </a:p>
          <a:p>
            <a:r>
              <a:rPr sz="1200"/>
              <a:t>Continuous spec is consistent in direction. Inflow coefficients uniformly insignificant as predicted.</a:t>
            </a:r>
          </a:p>
          <a:p>
            <a:r>
              <a:rPr sz="1200"/>
              <a:t>The level-L coefficient (+7.19, p&lt;0.001) in the levels spec is spurious — driven by common trend with spread.</a:t>
            </a:r>
          </a:p>
          <a:p>
            <a:r>
              <a:rPr sz="1200"/>
              <a:t>This is why we use ΔSpread as DV.</a:t>
            </a:r>
          </a:p>
          <a:p>
            <a:endParaRPr sz="1200"/>
          </a:p>
          <a:p>
            <a:r>
              <a:rPr sz="1200"/>
              <a:t>If asked about p = 0.065 being marginal: yes, this is 10% significance. The paper frames results</a:t>
            </a:r>
          </a:p>
          <a:p>
            <a:r>
              <a:rPr sz="1200"/>
              <a:t>as 'suggestive evidence' throughout, which is appropriate given only 6 identifying observations.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/>
              <a:t>CORRECTION FROM EARLIER DRAFT: USDT supply is approximately $187bn (not $144bn).</a:t>
            </a:r>
          </a:p>
          <a:p>
            <a:r>
              <a:rPr sz="1200"/>
              <a:t>Source: 2026-03-31 BDO attestation (Appendix A.1): liquid = $4.75bn Term Repo + $0.107bn Cash = $4.857bn.</a:t>
            </a:r>
          </a:p>
          <a:p>
            <a:r>
              <a:rPr sz="1200"/>
              <a:t>L = 2.6% → total supply = $4.857bn / 0.026 = $186.8bn ≈ $187bn.</a:t>
            </a:r>
          </a:p>
          <a:p>
            <a:r>
              <a:rPr sz="1200"/>
              <a:t>5% of $187bn = $9.3bn outflow.</a:t>
            </a:r>
          </a:p>
          <a:p>
            <a:endParaRPr sz="1200"/>
          </a:p>
          <a:p>
            <a:r>
              <a:rPr sz="1200"/>
              <a:t>Calculation: β₅ × 0.05 = 7.55 × 0.05 = 0.378 pp = 37.8 bps. This matches our paper.</a:t>
            </a:r>
          </a:p>
          <a:p>
            <a:endParaRPr sz="1200"/>
          </a:p>
          <a:p>
            <a:r>
              <a:rPr sz="1200"/>
              <a:t>Context:</a:t>
            </a:r>
          </a:p>
          <a:p>
            <a:r>
              <a:rPr sz="1200"/>
              <a:t>  - The March 2020 dash-for-cash episode widened spreads 30–50 bps. Our number is in that range.</a:t>
            </a:r>
          </a:p>
          <a:p>
            <a:r>
              <a:rPr sz="1200"/>
              <a:t>  - Our sample mean spread is 17 bps — so 38 bps would more than double the typical spread.</a:t>
            </a:r>
          </a:p>
          <a:p>
            <a:r>
              <a:rPr sz="1200"/>
              <a:t>  - HONEST CAVEAT: the actual identifying outflows in our data are only 0.3–2%, not 5%.</a:t>
            </a:r>
          </a:p>
          <a:p>
            <a:r>
              <a:rPr sz="1200"/>
              <a:t>    We are extrapolating well outside the support of our data for the 5% scenario.</a:t>
            </a:r>
          </a:p>
          <a:p>
            <a:r>
              <a:rPr sz="1200"/>
              <a:t>    Frame as: 'order of magnitude if the mechanism were to operate at scale.'</a:t>
            </a:r>
          </a:p>
          <a:p>
            <a:endParaRPr sz="1200"/>
          </a:p>
          <a:p>
            <a:r>
              <a:rPr sz="1200"/>
              <a:t>If asked why we use 5%: it is a round number that roughly matches historical redemption episodes.</a:t>
            </a:r>
          </a:p>
          <a:p>
            <a:r>
              <a:rPr sz="1200"/>
              <a:t>The May 2022 USDT redemption was ~$10bn = ~7% of supply at that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/>
              <a:t>The policy punchline of the paper.</a:t>
            </a:r>
          </a:p>
          <a:p>
            <a:endParaRPr sz="1200"/>
          </a:p>
          <a:p>
            <a:r>
              <a:rPr sz="1200"/>
              <a:t>USDT's liquid buffer has declined from ~16-19% in 2022 to 2.6% in March 2026.</a:t>
            </a:r>
          </a:p>
          <a:p>
            <a:r>
              <a:rPr sz="1200"/>
              <a:t>This is not because Tether has less total backing — it is because supply grew much faster</a:t>
            </a:r>
          </a:p>
          <a:p>
            <a:r>
              <a:rPr sz="1200"/>
              <a:t>than the absolute dollar value of the liquid component (MMF/Term Repo stayed around $5-7bn</a:t>
            </a:r>
          </a:p>
          <a:p>
            <a:r>
              <a:rPr sz="1200"/>
              <a:t>while supply grew from ~$70bn to ~$187bn).</a:t>
            </a:r>
          </a:p>
          <a:p>
            <a:endParaRPr sz="1200"/>
          </a:p>
          <a:p>
            <a:r>
              <a:rPr sz="1200"/>
              <a:t>The 2022 events show the theory in action:</a:t>
            </a:r>
          </a:p>
          <a:p>
            <a:r>
              <a:rPr sz="1200"/>
              <a:t>  - May 2022: $10bn+ in redemptions, USDT at L ≈ 16%. No spread effect. CAR ≈ 0. ✓</a:t>
            </a:r>
          </a:p>
          <a:p>
            <a:r>
              <a:rPr sz="1200"/>
              <a:t>  - November 2022: FTX stress, USDT at L ≈ 19%. No spread effect. CAR ≈ 0. ✓</a:t>
            </a:r>
          </a:p>
          <a:p>
            <a:r>
              <a:rPr sz="1200"/>
              <a:t>Both cases: buffer was high enough to absorb redemptions without forced T-bill sales.</a:t>
            </a:r>
          </a:p>
          <a:p>
            <a:endParaRPr sz="1200"/>
          </a:p>
          <a:p>
            <a:r>
              <a:rPr sz="1200"/>
              <a:t>The key regulatory distinction:</a:t>
            </a:r>
          </a:p>
          <a:p>
            <a:r>
              <a:rPr sz="1200"/>
              <a:t>  Total reserves (T-bills): absorbs solvency risk but NOT redemption liquidity</a:t>
            </a:r>
          </a:p>
          <a:p>
            <a:r>
              <a:rPr sz="1200"/>
              <a:t>  Liquid reserves (cash, MMF): absorbs redemption pressure without T-bill sales</a:t>
            </a:r>
          </a:p>
          <a:p>
            <a:endParaRPr sz="1200"/>
          </a:p>
          <a:p>
            <a:r>
              <a:rPr sz="1200"/>
              <a:t>Current regulation (e.g., EU MiCA) focuses on T-bill quality. Our paper suggests</a:t>
            </a:r>
          </a:p>
          <a:p>
            <a:r>
              <a:rPr sz="1200"/>
              <a:t>the LIQUID buffer composition is the operative variable for systemic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/>
              <a:t>Wrap up the substantive content.</a:t>
            </a:r>
          </a:p>
          <a:p>
            <a:endParaRPr sz="1200"/>
          </a:p>
          <a:p>
            <a:r>
              <a:rPr sz="1200"/>
              <a:t>MAIN FINDING (left box):</a:t>
            </a:r>
          </a:p>
          <a:p>
            <a:r>
              <a:rPr sz="1200"/>
              <a:t>β₅ = +7.55, p = 0.065 at L &lt; 12%. Positive and significant at 10% level.</a:t>
            </a:r>
          </a:p>
          <a:p>
            <a:r>
              <a:rPr sz="1200"/>
              <a:t>This is the forced-sale channel: outflows in low-buffer states widen the T-bill-OIS spread.</a:t>
            </a:r>
          </a:p>
          <a:p>
            <a:r>
              <a:rPr sz="1200"/>
              <a:t>Identified by 6 obs across both issuers. This is suggestive, not definitive.</a:t>
            </a:r>
          </a:p>
          <a:p>
            <a:endParaRPr sz="1200"/>
          </a:p>
          <a:p>
            <a:r>
              <a:rPr sz="1200"/>
              <a:t>WHAT THE DATA CONFIRM (middle box):</a:t>
            </a:r>
          </a:p>
          <a:p>
            <a:r>
              <a:rPr sz="1200"/>
              <a:t>The asymmetric prediction holds: inflows don't matter, outflows in low-buffer states do.</a:t>
            </a:r>
          </a:p>
          <a:p>
            <a:r>
              <a:rPr sz="1200"/>
              <a:t>The continuous spec is directionally consistent. The threshold effect is nonlinear.</a:t>
            </a:r>
          </a:p>
          <a:p>
            <a:endParaRPr sz="1200"/>
          </a:p>
          <a:p>
            <a:r>
              <a:rPr sz="1200"/>
              <a:t>LIMITATIONS (right box — be honest about these):</a:t>
            </a:r>
          </a:p>
          <a:p>
            <a:r>
              <a:rPr sz="1200"/>
              <a:t>6 observations is a small identification cell. p = 0.065 is marginal.</a:t>
            </a:r>
          </a:p>
          <a:p>
            <a:r>
              <a:rPr sz="1200"/>
              <a:t>We cannot fully rule out that the USDC low-buffer period was idiosyncratic to post-SVB restructuring,</a:t>
            </a:r>
          </a:p>
          <a:p>
            <a:r>
              <a:rPr sz="1200"/>
              <a:t>or that the USDT early-2026 observations reflect some macro factor we haven't controlled for.</a:t>
            </a:r>
          </a:p>
          <a:p>
            <a:r>
              <a:rPr sz="1200"/>
              <a:t>The paper consistently uses 'suggestive evidence' — appropriate hedging.</a:t>
            </a:r>
          </a:p>
          <a:p>
            <a:endParaRPr sz="1200"/>
          </a:p>
          <a:p>
            <a:r>
              <a:rPr sz="1200"/>
              <a:t>Overall framing: this is a first empirical test of a novel mechanism. The direction is right,</a:t>
            </a:r>
          </a:p>
          <a:p>
            <a:r>
              <a:rPr sz="1200"/>
              <a:t>the magnitude is economically meaningful, and the identification is plausible. More data will help.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/>
              <a:t>Three honest directions — keep this brief, maybe 90 seconds.</a:t>
            </a:r>
          </a:p>
          <a:p>
            <a:endParaRPr sz="1200"/>
          </a:p>
          <a:p>
            <a:r>
              <a:rPr sz="1200"/>
              <a:t>1. Longer panel: USDT is on a structural trajectory toward lower L as supply grows faster than</a:t>
            </a:r>
          </a:p>
          <a:p>
            <a:r>
              <a:rPr sz="1200"/>
              <a:t>   liquid reserves. More time = more low-buffer outflow observations naturally.</a:t>
            </a:r>
          </a:p>
          <a:p>
            <a:endParaRPr sz="1200"/>
          </a:p>
          <a:p>
            <a:r>
              <a:rPr sz="1200"/>
              <a:t>2. Natural experiment: Circle's shift was regulatory in origin — independent of spread dynamics.</a:t>
            </a:r>
          </a:p>
          <a:p>
            <a:r>
              <a:rPr sz="1200"/>
              <a:t>   This would allow a diff-in-diff or IV approach, avoiding the endogeneity concern.</a:t>
            </a:r>
          </a:p>
          <a:p>
            <a:endParaRPr sz="1200"/>
          </a:p>
          <a:p>
            <a:r>
              <a:rPr sz="1200"/>
              <a:t>3. High-frequency: the monthly panel is forced by quarterly BDO attestations.</a:t>
            </a:r>
          </a:p>
          <a:p>
            <a:r>
              <a:rPr sz="1200"/>
              <a:t>   Daily on-chain data exists (DeFiLlama); intraday T-bill data from the NY Fed might allow</a:t>
            </a:r>
          </a:p>
          <a:p>
            <a:r>
              <a:rPr sz="1200"/>
              <a:t>   testing at daily frequency, which would give ~1500 obs vs. 100.</a:t>
            </a:r>
          </a:p>
          <a:p>
            <a:endParaRPr sz="1200"/>
          </a:p>
          <a:p>
            <a:r>
              <a:rPr sz="1200"/>
              <a:t>All three are plausible follow-ups for a thesis or future research agenda.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/>
              <a:t>ANTICIPATED QUESTIONS:</a:t>
            </a:r>
          </a:p>
          <a:p>
            <a:endParaRPr sz="1200"/>
          </a:p>
          <a:p>
            <a:r>
              <a:rPr sz="1200"/>
              <a:t>Q: Why is p = 0.065 acceptable? That's only 10% significance.</a:t>
            </a:r>
          </a:p>
          <a:p>
            <a:r>
              <a:rPr sz="1200"/>
              <a:t>A: With only 6 identifying observations, achieving even 10% significance is notable.</a:t>
            </a:r>
          </a:p>
          <a:p>
            <a:r>
              <a:rPr sz="1200"/>
              <a:t>   We consistently describe results as 'suggestive evidence' — appropriate hedging.</a:t>
            </a:r>
          </a:p>
          <a:p>
            <a:r>
              <a:rPr sz="1200"/>
              <a:t>   The directional consistency across threshold values and the continuous-L robustness</a:t>
            </a:r>
          </a:p>
          <a:p>
            <a:r>
              <a:rPr sz="1200"/>
              <a:t>   provide additional support beyond the single p-value.</a:t>
            </a:r>
          </a:p>
          <a:p>
            <a:endParaRPr sz="1200"/>
          </a:p>
          <a:p>
            <a:r>
              <a:rPr sz="1200"/>
              <a:t>Q: How do you know the 6 USDC observations are really about buffer depletion?</a:t>
            </a:r>
          </a:p>
          <a:p>
            <a:r>
              <a:rPr sz="1200"/>
              <a:t>A: Circle's buffer fell below 12% during post-SVB restructuring in 2023.</a:t>
            </a:r>
          </a:p>
          <a:p>
            <a:r>
              <a:rPr sz="1200"/>
              <a:t>   The causal story is plausible: redemption pressure during SVB + low buffer → spread effect.</a:t>
            </a:r>
          </a:p>
          <a:p>
            <a:endParaRPr sz="1200"/>
          </a:p>
          <a:p>
            <a:r>
              <a:rPr sz="1200"/>
              <a:t>Q: Could this just be a VIX effect? SVB and the USDT 2026 period were both high-stress.</a:t>
            </a:r>
          </a:p>
          <a:p>
            <a:r>
              <a:rPr sz="1200"/>
              <a:t>A: We control for VIX directly (γ = +0.010, p &lt; 0.001). The β₅ coefficient is conditional on VIX.</a:t>
            </a:r>
          </a:p>
          <a:p>
            <a:endParaRPr sz="1200"/>
          </a:p>
          <a:p>
            <a:r>
              <a:rPr sz="1200"/>
              <a:t>Q: What does USDT's current buffer of 2.6% mean for systemic risk?</a:t>
            </a:r>
          </a:p>
          <a:p>
            <a:r>
              <a:rPr sz="1200"/>
              <a:t>A: Our paper says this is the regime where the fragility channel is active. No major stress</a:t>
            </a:r>
          </a:p>
          <a:p>
            <a:r>
              <a:rPr sz="1200"/>
              <a:t>   event has occurred yet at this buffer level. The event study (2022) shows no effect at high L.</a:t>
            </a:r>
          </a:p>
          <a:p>
            <a:r>
              <a:rPr sz="1200"/>
              <a:t>   The channel exists in theory and the data — but has not been stress-tested at L = 2.6%.</a:t>
            </a:r>
          </a:p>
          <a:p>
            <a:endParaRPr sz="1200"/>
          </a:p>
          <a:p>
            <a:r>
              <a:rPr sz="1200"/>
              <a:t>NUMBERS TO KNOW BY HEART:</a:t>
            </a:r>
          </a:p>
          <a:p>
            <a:r>
              <a:rPr sz="1200"/>
              <a:t>β₅ = +7.552, p = 0.065, L &lt; 12%, N = 6 low-buffer outflow obs, both USDT + USDC</a:t>
            </a:r>
          </a:p>
          <a:p>
            <a:r>
              <a:rPr sz="1200"/>
              <a:t>β₁ (inflow): insignificant at all specs</a:t>
            </a:r>
          </a:p>
          <a:p>
            <a:r>
              <a:rPr sz="1200"/>
              <a:t>Continuous-L: β₅ = -18.58, p = 0.120, break-even L ≈ 20%</a:t>
            </a:r>
          </a:p>
          <a:p>
            <a:r>
              <a:rPr sz="1200"/>
              <a:t>Event study: CAR ≈ -4.3 bps (May 2022), -2.1 bps (Nov 2022), both p &gt;&gt; 0.05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2468880"/>
          </a:xfrm>
          <a:prstGeom prst="rect">
            <a:avLst/>
          </a:prstGeom>
          <a:solidFill>
            <a:srgbClr val="1F86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Stablecoins and the Exorbitant Privilege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BFD7ED"/>
                </a:solidFill>
              </a:rPr>
              <a:t>Reserve Buffer Adequacy and OIS–Treasury Spread Dynamics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FD7ED"/>
                </a:solidFill>
              </a:rPr>
              <a:t>June 24, 2026  ·  Yonsei GSIS — Topics in International Finance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63440"/>
            <a:ext cx="11247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FFFFFF"/>
                </a:solidFill>
              </a:rPr>
              <a:t>Mireu Mimi Kim · </a:t>
            </a:r>
            <a:r>
              <a:rPr sz="1400" b="0" i="0" dirty="0" err="1">
                <a:solidFill>
                  <a:srgbClr val="FFFFFF"/>
                </a:solidFill>
              </a:rPr>
              <a:t>Minjin</a:t>
            </a:r>
            <a:r>
              <a:rPr sz="1400" b="0" i="0" dirty="0">
                <a:solidFill>
                  <a:srgbClr val="FFFFFF"/>
                </a:solidFill>
              </a:rPr>
              <a:t> Kim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235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BFD7ED"/>
                </a:solidFill>
              </a:rPr>
              <a:t>Advisor: Professor Hur Sewon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Today's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FD7ED"/>
                </a:solidFill>
              </a:rPr>
              <a:t>30 minutes · focus on methodology changes + final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Stablecoins and the Exorbitant Privilege  ·  Yonsei GSIS TIF 2026-1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2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457200" cy="502920"/>
          </a:xfrm>
          <a:prstGeom prst="rect">
            <a:avLst/>
          </a:prstGeom>
          <a:solidFill>
            <a:srgbClr val="1F86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4173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43560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95959"/>
                </a:solidFill>
              </a:rPr>
              <a:t>Quick Recap — where we were (2 min)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29967"/>
            <a:ext cx="457200" cy="502920"/>
          </a:xfrm>
          <a:prstGeom prst="rect">
            <a:avLst/>
          </a:prstGeom>
          <a:solidFill>
            <a:srgbClr val="1F86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2075687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093975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95959"/>
                </a:solidFill>
              </a:rPr>
              <a:t>What changed and why — professor's feedback (5 min)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88336"/>
            <a:ext cx="457200" cy="502920"/>
          </a:xfrm>
          <a:prstGeom prst="rect">
            <a:avLst/>
          </a:prstGeom>
          <a:solidFill>
            <a:srgbClr val="1F86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273405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752344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95959"/>
                </a:solidFill>
              </a:rPr>
              <a:t>New specification — asymmetric threshold model (8 min)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346704"/>
            <a:ext cx="457200" cy="502920"/>
          </a:xfrm>
          <a:prstGeom prst="rect">
            <a:avLst/>
          </a:prstGeom>
          <a:solidFill>
            <a:srgbClr val="1F86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339242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4107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95959"/>
                </a:solidFill>
              </a:rPr>
              <a:t>Results — main finding β₅ = +7.55 (6 min)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005072"/>
            <a:ext cx="457200" cy="502920"/>
          </a:xfrm>
          <a:prstGeom prst="rect">
            <a:avLst/>
          </a:prstGeom>
          <a:solidFill>
            <a:srgbClr val="1F86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4050791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069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95959"/>
                </a:solidFill>
              </a:rPr>
              <a:t>Robustness checks (4 min)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663440"/>
            <a:ext cx="457200" cy="502920"/>
          </a:xfrm>
          <a:prstGeom prst="rect">
            <a:avLst/>
          </a:prstGeom>
          <a:solidFill>
            <a:srgbClr val="1F86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4709159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6.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2744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95959"/>
                </a:solidFill>
              </a:rPr>
              <a:t>Economic magnitude &amp; policy implication (3 min)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321808"/>
            <a:ext cx="457200" cy="502920"/>
          </a:xfrm>
          <a:prstGeom prst="rect">
            <a:avLst/>
          </a:prstGeom>
          <a:solidFill>
            <a:srgbClr val="1F86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53675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7.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385816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95959"/>
                </a:solidFill>
              </a:rPr>
              <a:t>Conclusion &amp; limitations (2 min)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Where We Were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FD7ED"/>
                </a:solidFill>
              </a:rPr>
              <a:t>Previous specification and its limitation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Stablecoins and the Exorbitant Privilege  ·  Yonsei GSIS TIF 2026-1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3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5303520" cy="512064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0000"/>
                </a:solidFill>
              </a:rPr>
              <a:t>Previous Main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564"/>
                </a:solidFill>
              </a:rPr>
              <a:t>Symmetric threshold specification:</a:t>
            </a:r>
          </a:p>
          <a:p>
            <a:pPr algn="l">
              <a:spcBef>
                <a:spcPts val="0"/>
              </a:spcBef>
            </a:pPr>
            <a:r>
              <a:rPr sz="1300" b="0" i="1">
                <a:solidFill>
                  <a:srgbClr val="595959"/>
                </a:solidFill>
              </a:rPr>
              <a:t>
ΔSpread = α + β₁·ΔlnS + β₂·1[L&lt;c] + β₃·1[L&lt;c]·ΔlnS + controls</a:t>
            </a:r>
          </a:p>
          <a:p>
            <a:pPr algn="l">
              <a:spcBef>
                <a:spcPts val="400"/>
              </a:spcBef>
            </a:pPr>
            <a:r>
              <a:rPr sz="1400" b="1" i="0">
                <a:solidFill>
                  <a:srgbClr val="1F3564"/>
                </a:solidFill>
              </a:rPr>
              <a:t>
Key result at L &lt; 4%:</a:t>
            </a:r>
          </a:p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C00000"/>
                </a:solidFill>
              </a:rPr>
              <a:t>β₃ = −4.385  (p = 0.001 ***)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1F3564"/>
                </a:solidFill>
              </a:rPr>
              <a:t>
Problem: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595959"/>
                </a:solidFill>
              </a:rPr>
              <a:t>• Negative sign = spread compression
  when supply grows in low-buffer states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595959"/>
                </a:solidFill>
              </a:rPr>
              <a:t>• Theory predicts spread widening
  during redemption stress — not expansion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595959"/>
                </a:solidFill>
              </a:rPr>
              <a:t>• All 9 low-buffer obs from USDT only
  (mid-2025 to early 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280160"/>
            <a:ext cx="5760720" cy="512064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13716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564"/>
                </a:solidFill>
              </a:rPr>
              <a:t>What the Specification Missed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874519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564"/>
                </a:solidFill>
              </a:rPr>
              <a:t>Supply growth ΔlnS mixes two regimes: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378644"/>
                </a:solidFill>
              </a:rPr>
              <a:t>
Inflows (ΔlnS &gt; 0)
→ new issuance → T-bill purchases
→ orderly, compress spread</a:t>
            </a:r>
          </a:p>
          <a:p>
            <a:pPr algn="l">
              <a:spcBef>
                <a:spcPts val="800"/>
              </a:spcBef>
            </a:pPr>
            <a:r>
              <a:rPr sz="1300" b="0" i="0">
                <a:solidFill>
                  <a:srgbClr val="C00000"/>
                </a:solidFill>
              </a:rPr>
              <a:t>
Outflows (ΔlnS &lt; 0)
→ redemptions → possible T-bill sales
→ spread widening when buffer is low</a:t>
            </a:r>
          </a:p>
          <a:p>
            <a:pPr algn="l">
              <a:spcBef>
                <a:spcPts val="1000"/>
              </a:spcBef>
            </a:pPr>
            <a:r>
              <a:rPr sz="1300" b="0" i="1">
                <a:solidFill>
                  <a:srgbClr val="595959"/>
                </a:solidFill>
              </a:rPr>
              <a:t>
The symmetric spec treats both
the same — masking the asymmetry
the theory predicts.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Professor's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FD7ED"/>
                </a:solidFill>
              </a:rPr>
              <a:t>Email received after the June 16 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Stablecoins and the Exorbitant Privilege  ·  Yonsei GSIS TIF 2026-1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4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11612880" cy="521208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564"/>
                </a:solidFill>
              </a:rPr>
              <a:t>Professor's specification (verbatim):</a:t>
            </a:r>
          </a:p>
          <a:p>
            <a:pPr algn="l">
              <a:spcBef>
                <a:spcPts val="200"/>
              </a:spcBef>
            </a:pPr>
            <a:r>
              <a:rPr sz="1400" b="0" i="1">
                <a:solidFill>
                  <a:srgbClr val="595959"/>
                </a:solidFill>
              </a:rPr>
              <a:t>
"Define:   Inflow = max(ΔlnS, 0)   ·   Outflow = max(−ΔlnS, 0)   ·   Low12 = 1[L &lt; 0.12]"</a:t>
            </a:r>
          </a:p>
          <a:p>
            <a:pPr algn="l">
              <a:spcBef>
                <a:spcPts val="200"/>
              </a:spcBef>
            </a:pPr>
            <a:r>
              <a:rPr sz="1400" b="0" i="1">
                <a:solidFill>
                  <a:srgbClr val="595959"/>
                </a:solidFill>
              </a:rPr>
              <a:t>
"Run:  ΔSpread = α + β₁·Inflow + β₂·Outflow + β₃·Low + β₄·Low×Inflow + β₅·Low×Outflow + controls"</a:t>
            </a:r>
          </a:p>
          <a:p>
            <a:pPr algn="l">
              <a:spcBef>
                <a:spcPts val="200"/>
              </a:spcBef>
            </a:pPr>
            <a:r>
              <a:rPr sz="1400" b="0" i="1">
                <a:solidFill>
                  <a:srgbClr val="1F8697"/>
                </a:solidFill>
              </a:rPr>
              <a:t>
"The coefficient of interest is β₅ (Low×Outflow). I get β₅ = +7.55, p = 0.065."</a:t>
            </a:r>
          </a:p>
          <a:p>
            <a:pPr algn="l">
              <a:spcBef>
                <a:spcPts val="200"/>
              </a:spcBef>
            </a:pPr>
            <a:r>
              <a:rPr sz="1400" b="0" i="1">
                <a:solidFill>
                  <a:srgbClr val="595959"/>
                </a:solidFill>
              </a:rPr>
              <a:t>
"Please also report robustness around the threshold, especially 10% and 12%."</a:t>
            </a:r>
          </a:p>
          <a:p>
            <a:pPr algn="l">
              <a:spcBef>
                <a:spcPts val="200"/>
              </a:spcBef>
            </a:pPr>
            <a:r>
              <a:rPr sz="1400" b="0" i="1">
                <a:solidFill>
                  <a:srgbClr val="1F3564"/>
                </a:solidFill>
              </a:rPr>
              <a:t>
"The evidence is strongest when we allow for asymmetry between stablecoin inflows and outflows."</a:t>
            </a:r>
          </a:p>
          <a:p>
            <a:pPr algn="l">
              <a:spcBef>
                <a:spcPts val="1000"/>
              </a:spcBef>
            </a:pPr>
            <a:r>
              <a:rPr sz="1400" b="1" i="0">
                <a:solidFill>
                  <a:srgbClr val="1F3564"/>
                </a:solidFill>
              </a:rPr>
              <a:t>
What this required us to change: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595959"/>
                </a:solidFill>
              </a:rPr>
              <a:t>✓  Split ΔlnS into Inflow and Outflow components       ✓  Move primary threshold from L &lt; 4%  →  L &lt; 12%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595959"/>
                </a:solidFill>
              </a:rPr>
              <a:t>✓  Focus key hypothesis on β₅ (Low×Outflow), not β₃    ✓  Report both L &lt; 10% and L &lt; 12% side by side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New Specification — Asymmetric Threshold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FD7ED"/>
                </a:solidFill>
              </a:rPr>
              <a:t>Theory-consistent decomposition of supply growth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Stablecoins and the Exorbitant Privilege  ·  Yonsei GSIS TIF 2026-1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5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11612880" cy="1280160"/>
          </a:xfrm>
          <a:prstGeom prst="rect">
            <a:avLst/>
          </a:prstGeom>
          <a:solidFill>
            <a:srgbClr val="E8F4FB"/>
          </a:solidFill>
          <a:ln w="12700">
            <a:solidFill>
              <a:srgbClr val="1F8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1">
                <a:solidFill>
                  <a:srgbClr val="1F3564"/>
                </a:solidFill>
              </a:rPr>
              <a:t>ΔSpread = α + β₁·Inflow + β₂·Outflow + β₃·Low + β₄·Low×Inflow + β₅·Low×Outflow + γ·controls + δ·USDT + ε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743200"/>
            <a:ext cx="3794760" cy="3657600"/>
          </a:xfrm>
          <a:prstGeom prst="rect">
            <a:avLst/>
          </a:prstGeom>
          <a:solidFill>
            <a:srgbClr val="F2F2F2"/>
          </a:solidFill>
          <a:ln w="12700">
            <a:solidFill>
              <a:srgbClr val="378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2788920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78644"/>
                </a:solidFill>
              </a:rPr>
              <a:t>Inflow = max(ΔlnS, 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91840"/>
            <a:ext cx="3611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New stablecoin issuance
→ Issuer purchases T-bills
→ Orderly, no forced sales
→ Expected: β₁ &lt; 0 (spread compression)
   but small and insignificant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2743200"/>
            <a:ext cx="3794760" cy="3657600"/>
          </a:xfrm>
          <a:prstGeom prst="rect">
            <a:avLst/>
          </a:prstGeom>
          <a:solidFill>
            <a:srgbClr val="F2F2F2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43399" y="2788920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0000"/>
                </a:solidFill>
              </a:rPr>
              <a:t>Outflow = max(−ΔlnS, 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399" y="3291840"/>
            <a:ext cx="3611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Redemptions
→ Issuer needs cash to pay
→ Can use liquid buffer OR sell T-bills
→ Forced sales only if L is low
→ Expected: β₅ &gt; 0 in low-buffer state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743200"/>
            <a:ext cx="3794760" cy="3657600"/>
          </a:xfrm>
          <a:prstGeom prst="rect">
            <a:avLst/>
          </a:prstGeom>
          <a:solidFill>
            <a:srgbClr val="F2F2F2"/>
          </a:solidFill>
          <a:ln w="12700">
            <a:solidFill>
              <a:srgbClr val="1F3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2788920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564"/>
                </a:solidFill>
              </a:rPr>
              <a:t>Low = 1[L &lt; c]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291840"/>
            <a:ext cx="3611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Low liquid buffer indicator
→ c = 12% (primary)
→ c = 10% (robustness)
Activates the forced-sale channel:
when buffer depleted, any outflow
requires T-bill liquidation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7972" y="19888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 dirty="0">
                <a:solidFill>
                  <a:srgbClr val="1F8697"/>
                </a:solidFill>
              </a:rPr>
              <a:t>Key coefficient: β₅  —  positive and significant → forced-sale channel confirmed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Why L &lt; 12%?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FD7ED"/>
                </a:solidFill>
              </a:rPr>
              <a:t>Choosing the primary threshold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Stablecoins and the Exorbitant Privilege  ·  Yonsei GSIS TIF 2026-1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6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320040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" y="1399032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66160" y="1325880"/>
            <a:ext cx="3657600" cy="5029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39312" y="1399032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 &lt; 10%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1325880"/>
            <a:ext cx="4572000" cy="5029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88352" y="1399032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 &lt; 12%  ★ Primary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828800"/>
            <a:ext cx="3200400" cy="612647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1965960"/>
            <a:ext cx="3063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</a:rPr>
              <a:t>β₅ (Low×Outflow)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1828800"/>
            <a:ext cx="3657600" cy="612647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0" y="1965960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0000"/>
                </a:solidFill>
              </a:rPr>
              <a:t>+16.923***  (p &lt; 0.001)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1828800"/>
            <a:ext cx="4572000" cy="612647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06640" y="1965960"/>
            <a:ext cx="4434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78644"/>
                </a:solidFill>
              </a:rPr>
              <a:t>+7.552*  (p = 0.065)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487168"/>
            <a:ext cx="3200400" cy="612647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2624327"/>
            <a:ext cx="3063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</a:rPr>
              <a:t>Low-buffer outflow obs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66160" y="2487168"/>
            <a:ext cx="3657600" cy="612647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0" y="2624327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95959"/>
                </a:solidFill>
              </a:rP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2487168"/>
            <a:ext cx="4572000" cy="612647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06640" y="2624327"/>
            <a:ext cx="4434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95959"/>
                </a:solidFill>
              </a:rPr>
              <a:t>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145536"/>
            <a:ext cx="3200400" cy="612647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3282696"/>
            <a:ext cx="3063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</a:rPr>
              <a:t>Issuers covered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66160" y="3145536"/>
            <a:ext cx="3657600" cy="612647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0" y="3282696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95959"/>
                </a:solidFill>
              </a:rPr>
              <a:t>USDT only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0" y="3145536"/>
            <a:ext cx="4572000" cy="612647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06640" y="3282696"/>
            <a:ext cx="4434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95959"/>
                </a:solidFill>
              </a:rPr>
              <a:t>USDT + USDC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803904"/>
            <a:ext cx="3200400" cy="612647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3941064"/>
            <a:ext cx="3063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</a:rPr>
              <a:t>Time span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66160" y="3803904"/>
            <a:ext cx="3657600" cy="612647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57600" y="3941064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95959"/>
                </a:solidFill>
              </a:rPr>
              <a:t>Early 2026 only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0" y="3803904"/>
            <a:ext cx="4572000" cy="612647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06640" y="3941064"/>
            <a:ext cx="4434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95959"/>
                </a:solidFill>
              </a:rPr>
              <a:t>2023 – 2026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462272"/>
            <a:ext cx="3200400" cy="612647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5760" y="4599432"/>
            <a:ext cx="3063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</a:rPr>
              <a:t>Reliability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66160" y="4462272"/>
            <a:ext cx="3657600" cy="612647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57600" y="4599432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00000"/>
                </a:solidFill>
              </a:rPr>
              <a:t>⚠  Exploratory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0" y="4462272"/>
            <a:ext cx="4572000" cy="612647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406640" y="4599432"/>
            <a:ext cx="4434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78644"/>
                </a:solidFill>
              </a:rPr>
              <a:t>✓  More defensible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598932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95959"/>
                </a:solidFill>
              </a:rPr>
              <a:t>L &lt; 12% is selected as the primary result: 6 observations, both issuers,
multiple years — a more credible identification basis than 2 observations from a single issuer.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Main Result — Table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FD7ED"/>
                </a:solidFill>
              </a:rPr>
              <a:t>Asymmetric Threshold Panel (DV = ΔSpread)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Stablecoins and the Exorbitant Privilege  ·  Yonsei GSIS TIF 2026-1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7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98448"/>
            <a:ext cx="3840480" cy="438912"/>
          </a:xfrm>
          <a:prstGeom prst="rect">
            <a:avLst/>
          </a:prstGeom>
          <a:solidFill>
            <a:srgbClr val="2E4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" y="1344168"/>
            <a:ext cx="3730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Variable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298448"/>
            <a:ext cx="3657600" cy="438912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79392" y="1344168"/>
            <a:ext cx="3547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 &lt; 10%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1298448"/>
            <a:ext cx="4480560" cy="438912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28431" y="1344168"/>
            <a:ext cx="4370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 &lt; 12%  ★ Primary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737360"/>
            <a:ext cx="3840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1828800"/>
            <a:ext cx="3703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β₁  Inflow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1737360"/>
            <a:ext cx="3657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97679" y="1828800"/>
            <a:ext cx="3520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</a:rPr>
              <a:t>+0.507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79" y="1737360"/>
            <a:ext cx="4480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19" y="1828800"/>
            <a:ext cx="4343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</a:rPr>
              <a:t>+0.518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212848"/>
            <a:ext cx="3840480" cy="438912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2304288"/>
            <a:ext cx="3703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β₂  Outflow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2212848"/>
            <a:ext cx="3657600" cy="438912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97679" y="2304288"/>
            <a:ext cx="3520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</a:rPr>
              <a:t>−0.043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79" y="2212848"/>
            <a:ext cx="4480560" cy="438912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19" y="2304288"/>
            <a:ext cx="4343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</a:rPr>
              <a:t>−0.081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688336"/>
            <a:ext cx="3840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2779776"/>
            <a:ext cx="3703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β₃  Low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2688336"/>
            <a:ext cx="3657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97679" y="2779776"/>
            <a:ext cx="3520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</a:rPr>
              <a:t>+0.035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79" y="2688336"/>
            <a:ext cx="4480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19" y="2779776"/>
            <a:ext cx="4343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</a:rPr>
              <a:t>+0.008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163824"/>
            <a:ext cx="3840480" cy="438912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3255264"/>
            <a:ext cx="3703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β₄  Low × Inflow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40" y="3163824"/>
            <a:ext cx="3657600" cy="438912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297679" y="3255264"/>
            <a:ext cx="3520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</a:rPr>
              <a:t>−0.923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55279" y="3163824"/>
            <a:ext cx="4480560" cy="438912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046719" y="3255264"/>
            <a:ext cx="4343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</a:rPr>
              <a:t>−0.335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639312"/>
            <a:ext cx="3840480" cy="438912"/>
          </a:xfrm>
          <a:prstGeom prst="rect">
            <a:avLst/>
          </a:prstGeom>
          <a:solidFill>
            <a:srgbClr val="FFFFCC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5760" y="3730752"/>
            <a:ext cx="3703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564"/>
                </a:solidFill>
              </a:rPr>
              <a:t>β₅  Low × Outflow  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3639312"/>
            <a:ext cx="3657600" cy="438912"/>
          </a:xfrm>
          <a:prstGeom prst="rect">
            <a:avLst/>
          </a:prstGeom>
          <a:solidFill>
            <a:srgbClr val="FFFFCC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297679" y="3730752"/>
            <a:ext cx="3520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0000"/>
                </a:solidFill>
              </a:rPr>
              <a:t>+16.923***  (p &lt; 0.001)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55279" y="3639312"/>
            <a:ext cx="4480560" cy="438912"/>
          </a:xfrm>
          <a:prstGeom prst="rect">
            <a:avLst/>
          </a:prstGeom>
          <a:solidFill>
            <a:srgbClr val="FFFFCC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046719" y="3730752"/>
            <a:ext cx="4343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78644"/>
                </a:solidFill>
              </a:rPr>
              <a:t>+7.552*  (p = 0.065)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4114800"/>
            <a:ext cx="3840480" cy="438912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4206240"/>
            <a:ext cx="3703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VIX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06240" y="4114800"/>
            <a:ext cx="3657600" cy="438912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297679" y="4206240"/>
            <a:ext cx="3520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</a:rPr>
              <a:t>+0.010***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55279" y="4114800"/>
            <a:ext cx="4480560" cy="438912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046719" y="4206240"/>
            <a:ext cx="4343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</a:rPr>
              <a:t>+0.010***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4590288"/>
            <a:ext cx="3840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65760" y="4681727"/>
            <a:ext cx="3703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ΔlnN*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06240" y="4590288"/>
            <a:ext cx="3657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297679" y="4681727"/>
            <a:ext cx="3520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</a:rPr>
              <a:t>+0.050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955279" y="4590288"/>
            <a:ext cx="4480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046719" y="4681727"/>
            <a:ext cx="4343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</a:rPr>
              <a:t>+0.084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5065776"/>
            <a:ext cx="3840480" cy="438912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65760" y="5157216"/>
            <a:ext cx="3703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USDT FE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06240" y="5065776"/>
            <a:ext cx="3657600" cy="438912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297679" y="5157216"/>
            <a:ext cx="3520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</a:rPr>
              <a:t>−0.009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955279" y="5065776"/>
            <a:ext cx="4480560" cy="438912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046719" y="5157216"/>
            <a:ext cx="4343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</a:rPr>
              <a:t>+0.001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5541264"/>
            <a:ext cx="3840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65760" y="5632704"/>
            <a:ext cx="3703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206240" y="5541264"/>
            <a:ext cx="3657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297679" y="5632704"/>
            <a:ext cx="3520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</a:rPr>
              <a:t>100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955279" y="5541264"/>
            <a:ext cx="4480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046719" y="5632704"/>
            <a:ext cx="4343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</a:rPr>
              <a:t>100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6016752"/>
            <a:ext cx="3840480" cy="438912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65760" y="6108192"/>
            <a:ext cx="3703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Low-buffer outflow obs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06240" y="6016752"/>
            <a:ext cx="3657600" cy="438912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297679" y="6108192"/>
            <a:ext cx="3520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</a:rPr>
              <a:t>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955279" y="6016752"/>
            <a:ext cx="4480560" cy="438912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046719" y="6108192"/>
            <a:ext cx="4343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</a:rPr>
              <a:t>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74320" y="6492240"/>
            <a:ext cx="3840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65760" y="6583679"/>
            <a:ext cx="3703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R²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206240" y="6492240"/>
            <a:ext cx="3657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297679" y="6583679"/>
            <a:ext cx="3520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</a:rPr>
              <a:t>0.141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955279" y="6492240"/>
            <a:ext cx="4480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046719" y="6583679"/>
            <a:ext cx="4343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</a:rPr>
              <a:t>0.119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4320" y="644652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AAAAAA"/>
                </a:solidFill>
              </a:rPr>
              <a:t>SE clustered by month. Controls: VIX, ΔlnN*, USDT issuer dummy. *** p&lt;0.01  * p&lt;0.10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Interpreting β₅ = +7.55  (p = 0.065)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FD7ED"/>
                </a:solidFill>
              </a:rPr>
              <a:t>The forced-sale channel — what does it mean?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Stablecoins and the Exorbitant Privilege  ·  Yonsei GSIS TIF 2026-1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8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3794760" cy="5212080"/>
          </a:xfrm>
          <a:prstGeom prst="rect">
            <a:avLst/>
          </a:prstGeom>
          <a:solidFill>
            <a:srgbClr val="F2F2F2"/>
          </a:solidFill>
          <a:ln w="12700">
            <a:solidFill>
              <a:srgbClr val="1F8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3794760" cy="438912"/>
          </a:xfrm>
          <a:prstGeom prst="rect">
            <a:avLst/>
          </a:prstGeom>
          <a:solidFill>
            <a:srgbClr val="1F86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325880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What β₅ = +7.55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828800"/>
            <a:ext cx="3593592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A 1-unit increase in monthly outflow rate
(i.e., 100% of supply redeemed in one month)
in a low-buffer state (L &lt; 12%) is associated
with a +7.55 pp increase in ΔSpread.
More practically: a 5% monthly outflow
at current buffer L = 2.6% →
+7.55 × 0.05 ≈ +0.378 pp = +38 bps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280160"/>
            <a:ext cx="3794760" cy="5212080"/>
          </a:xfrm>
          <a:prstGeom prst="rect">
            <a:avLst/>
          </a:prstGeom>
          <a:solidFill>
            <a:srgbClr val="F2F2F2"/>
          </a:solidFill>
          <a:ln w="12700">
            <a:solidFill>
              <a:srgbClr val="378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51959" y="1280160"/>
            <a:ext cx="3794760" cy="438912"/>
          </a:xfrm>
          <a:prstGeom prst="rect">
            <a:avLst/>
          </a:prstGeom>
          <a:solidFill>
            <a:srgbClr val="378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43399" y="1325880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Why inflow coefficients are insignificant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1828800"/>
            <a:ext cx="3593592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β₁ and β₄ are uniformly near zero.
New issuance requires orderly T-bill purchases
— spread compression is smooth.
Forced T-bill sales during redemptions
are discontinuous when buffer hits zero.
This asymmetry is exactly what
the theoretical model predicts.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280160"/>
            <a:ext cx="3794760" cy="5212080"/>
          </a:xfrm>
          <a:prstGeom prst="rect">
            <a:avLst/>
          </a:prstGeom>
          <a:solidFill>
            <a:srgbClr val="F2F2F2"/>
          </a:solidFill>
          <a:ln w="12700">
            <a:solidFill>
              <a:srgbClr val="1F3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1280160"/>
            <a:ext cx="3794760" cy="438912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1325880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What the 6 observations 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1828800"/>
            <a:ext cx="3593592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Low-buffer (L &lt; 12%) outflow months:
• USDC: several months in 2023
  (Circle's buffer fell below 12%
   during post-SVB reserve restructuring)
• USDT: Q1 2026
  (L ≈ 2.6–3.0%, Term Repo structure)
Both issuers, multiple years → more
credible than a single-issuer result.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Robustness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FD7ED"/>
                </a:solidFill>
              </a:rPr>
              <a:t>Continuous-L specification and Sara's suggestion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Stablecoins and the Exorbitant Privilege  ·  Yonsei GSIS TIF 2026-1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9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5486400" cy="5212080"/>
          </a:xfrm>
          <a:prstGeom prst="rect">
            <a:avLst/>
          </a:prstGeom>
          <a:solidFill>
            <a:srgbClr val="F2F2F2"/>
          </a:solidFill>
          <a:ln w="12700">
            <a:solidFill>
              <a:srgbClr val="1F8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8697"/>
                </a:solidFill>
              </a:rPr>
              <a:t>Continuous-L Asymmetric Spec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1907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</a:rPr>
              <a:t>(Sara's suggestion — addresses sparse-cell concern)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0312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564"/>
                </a:solidFill>
              </a:rPr>
              <a:t>Replace binary Low with continuous L × Outflow:</a:t>
            </a:r>
          </a:p>
          <a:p>
            <a:pPr algn="l">
              <a:spcBef>
                <a:spcPts val="200"/>
              </a:spcBef>
            </a:pPr>
            <a:r>
              <a:rPr sz="1400" b="1" i="0">
                <a:solidFill>
                  <a:srgbClr val="1F3564"/>
                </a:solidFill>
              </a:rPr>
              <a:t>
β₅ (L × Outflow) = −18.58  (p = 0.120)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595959"/>
                </a:solidFill>
              </a:rPr>
              <a:t>
Sign is correct — higher buffer reduces
outflow-spread sensitivity.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595959"/>
                </a:solidFill>
              </a:rPr>
              <a:t>
Break-even: outflow effect → 0 at L ≈ 20%
(consistent with USDT surviving May 2022
redemptions at L ≈ 16%)</a:t>
            </a:r>
          </a:p>
          <a:p>
            <a:pPr algn="l">
              <a:spcBef>
                <a:spcPts val="400"/>
              </a:spcBef>
            </a:pPr>
            <a:r>
              <a:rPr sz="1300" b="0" i="1">
                <a:solidFill>
                  <a:srgbClr val="595959"/>
                </a:solidFill>
              </a:rPr>
              <a:t>
Not significant (p = 0.12): nonlinear effect
is diluted when averaged across full L range.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378644"/>
                </a:solidFill>
              </a:rPr>
              <a:t>
✓  Direction consistent with threshold spec
✓  Confirms relationship is nonlinear,
    not proportional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280160"/>
            <a:ext cx="5577840" cy="5212080"/>
          </a:xfrm>
          <a:prstGeom prst="rect">
            <a:avLst/>
          </a:prstGeom>
          <a:solidFill>
            <a:srgbClr val="F2F2F2"/>
          </a:solidFill>
          <a:ln w="12700">
            <a:solidFill>
              <a:srgbClr val="1F3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3258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564"/>
                </a:solidFill>
              </a:rPr>
              <a:t>Summary of Robustness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564"/>
                </a:solidFill>
              </a:rPr>
              <a:t>L &lt; 10%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β₅ = +16.92 (p&lt;0.001)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61320" y="182880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8000"/>
                </a:solidFill>
              </a:rPr>
              <a:t>⚠  2 obs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7432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564"/>
                </a:solidFill>
              </a:rPr>
              <a:t>L &lt; 12% 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743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β₅ = +7.55  (p=0.065)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61320" y="274320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8644"/>
                </a:solidFill>
              </a:rPr>
              <a:t>✓  Primary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6576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564"/>
                </a:solidFill>
              </a:rPr>
              <a:t>Continuous 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657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β₅ = −18.58 (p=0.120)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61320" y="365760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8644"/>
                </a:solidFill>
              </a:rPr>
              <a:t>✓  Sign correct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5720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564"/>
                </a:solidFill>
              </a:rPr>
              <a:t>Inflow coeff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572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Uniformly insig.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61320" y="457200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8644"/>
                </a:solidFill>
              </a:rPr>
              <a:t>✓  As predicted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4864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564"/>
                </a:solidFill>
              </a:rPr>
              <a:t>Levels spec 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5486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β₃ = +7.19 (p&lt;0.001)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61320" y="548640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</a:rPr>
              <a:t>✗  Spurious trend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Economic Magnitude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FD7ED"/>
                </a:solidFill>
              </a:rPr>
              <a:t>Is +7.55 bps/unit large enough to matter?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Stablecoins and the Exorbitant Privilege  ·  Yonsei GSIS TIF 2026-1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10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11612880" cy="1920240"/>
          </a:xfrm>
          <a:prstGeom prst="rect">
            <a:avLst/>
          </a:prstGeom>
          <a:solidFill>
            <a:srgbClr val="FFF0CC"/>
          </a:solidFill>
          <a:ln w="12700">
            <a:solidFill>
              <a:srgbClr val="C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35331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564"/>
                </a:solidFill>
              </a:rPr>
              <a:t>Scenario: 5% monthly outflow from USDT at current L = 2.6%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5564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</a:rPr>
              <a:t>USDT supply ≈ $187bn  (2026-03-31: $4.86bn liquid / 2.6%)  →  5% outflow ≈ $9.3bn redeemed in one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00000"/>
                </a:solidFill>
              </a:rPr>
              <a:t>β₅ × Outflow = +7.55 × 0.05 = +0.378 pp = +37.8 bps increase in ΔSpread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83280"/>
            <a:ext cx="11612880" cy="310896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34564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564"/>
                </a:solidFill>
              </a:rPr>
              <a:t>Context: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404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564"/>
                </a:solidFill>
              </a:rPr>
              <a:t>• March 2020 'dash-for-cash':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84048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0000"/>
                </a:solidFill>
              </a:rPr>
              <a:t>OIS–Treasury spread widened ~30–50 bps in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6227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564"/>
                </a:solidFill>
              </a:rPr>
              <a:t>• Sample mean spread: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4462272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</a:rPr>
              <a:t>≈ 17 bps (our sample, Jan 2022–Mar 2026)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84064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564"/>
                </a:solidFill>
              </a:rPr>
              <a:t>• Identifying outflows in data: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5084064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8000"/>
                </a:solidFill>
              </a:rPr>
              <a:t>Range 0.3–2% of supply — not 5%; +38 bps extrapolates far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705856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564"/>
                </a:solidFill>
              </a:rPr>
              <a:t>• Honest caveat: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5705856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</a:rPr>
              <a:t>The +38 bps is order-of-magnitude, not a forecast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Policy Implication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FD7ED"/>
                </a:solidFill>
              </a:rPr>
              <a:t>What the buffer decline means for regulation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Stablecoins and the Exorbitant Privilege  ·  Yonsei GSIS TIF 2026-1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11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28016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F3564"/>
                </a:solidFill>
              </a:rPr>
              <a:t>USDT Liquid Buffer L — Historical Trajectory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37360"/>
            <a:ext cx="2651760" cy="502920"/>
          </a:xfrm>
          <a:prstGeom prst="rect">
            <a:avLst/>
          </a:prstGeom>
          <a:solidFill>
            <a:srgbClr val="378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2022
L ≈ 16–19%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06040"/>
            <a:ext cx="2651760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378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697480"/>
            <a:ext cx="2468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High buffer
May 2022 redemptions
($10bn+) absorbed
without T-bill sales
CAR ≈ 0  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737360"/>
            <a:ext cx="2651760" cy="502920"/>
          </a:xfrm>
          <a:prstGeom prst="rect">
            <a:avLst/>
          </a:prstGeom>
          <a:solidFill>
            <a:srgbClr val="C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83280" y="17830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2024
L ≈ 5–6%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2606040"/>
            <a:ext cx="2651760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C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83280" y="2697480"/>
            <a:ext cx="2468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Moderate buffer
Buffer declining as
supply grows faster
than MMF holdings
Approaching threshold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737360"/>
            <a:ext cx="265176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17830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2025
L ≈ 3–4%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606040"/>
            <a:ext cx="2651760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0" y="2697480"/>
            <a:ext cx="2468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Low buffer
MMF → Term Repos
All identified
low-buffer outflow
obs from here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737360"/>
            <a:ext cx="265176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35440" y="17830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2026
L = 2.6%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2606040"/>
            <a:ext cx="2651760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35440" y="2697480"/>
            <a:ext cx="2468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Below 12% threshold
In the regime where
β₅ is identified
No major stress
event yet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598932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1">
                <a:solidFill>
                  <a:srgbClr val="1F3564"/>
                </a:solidFill>
              </a:rPr>
              <a:t>Regulatory implication: frameworks focused on T-bill backing ratio (1:1 reserve) miss the
liquidity composition question. L — Cash + MMF/Term Repo, not T-bills — is the operative variable.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FD7ED"/>
                </a:solidFill>
              </a:rPr>
              <a:t>What we find and how strongly we can claim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Stablecoins and the Exorbitant Privilege  ·  Yonsei GSIS TIF 2026-1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12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3794760" cy="5212080"/>
          </a:xfrm>
          <a:prstGeom prst="rect">
            <a:avLst/>
          </a:prstGeom>
          <a:solidFill>
            <a:srgbClr val="F2F2F2"/>
          </a:solidFill>
          <a:ln w="12700">
            <a:solidFill>
              <a:srgbClr val="1F8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3794760" cy="457200"/>
          </a:xfrm>
          <a:prstGeom prst="rect">
            <a:avLst/>
          </a:prstGeom>
          <a:solidFill>
            <a:srgbClr val="1F86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32588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Main Finding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874519"/>
            <a:ext cx="359359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Supply contractions in low-buffer states (L &lt; 12%) are associated with OIS–Treasury spread increases.
β₅ = +7.55  (p = 0.065)
Identified by 6 low-buffer outflow observations spanning both USDT and USDC.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280160"/>
            <a:ext cx="3794760" cy="5212080"/>
          </a:xfrm>
          <a:prstGeom prst="rect">
            <a:avLst/>
          </a:prstGeom>
          <a:solidFill>
            <a:srgbClr val="F2F2F2"/>
          </a:solidFill>
          <a:ln w="12700">
            <a:solidFill>
              <a:srgbClr val="378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51959" y="1280160"/>
            <a:ext cx="3794760" cy="457200"/>
          </a:xfrm>
          <a:prstGeom prst="rect">
            <a:avLst/>
          </a:prstGeom>
          <a:solidFill>
            <a:srgbClr val="378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43399" y="132588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What the Data Confirm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1874519"/>
            <a:ext cx="359359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✓  Inflow coefficients uniformly insignificant — consistent with asymmetric theory
✓  Continuous-L spec has correct sign (β₅ = −18.58) — confirms nonlinearity
✓  L &lt; 10% gives larger effect but only 2 obs — exploratory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280160"/>
            <a:ext cx="3794760" cy="5212080"/>
          </a:xfrm>
          <a:prstGeom prst="rect">
            <a:avLst/>
          </a:prstGeom>
          <a:solidFill>
            <a:srgbClr val="F2F2F2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1280160"/>
            <a:ext cx="379476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132588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Limitations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1874519"/>
            <a:ext cx="359359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⚠  Only 6 identifying observations — result is suggestive, not definitive
⚠  Cannot rule out USDT-specific or macro-regime confound
⚠  Economic magnitude extrapolates beyond observed outflow range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Directions for Future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FD7ED"/>
                </a:solidFill>
              </a:rPr>
              <a:t>What would strengthen identification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Stablecoins and the Exorbitant Privilege  ·  Yonsei GSIS TIF 2026-1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13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594360" cy="1371600"/>
          </a:xfrm>
          <a:prstGeom prst="rect">
            <a:avLst/>
          </a:prstGeom>
          <a:solidFill>
            <a:srgbClr val="1F86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1737360"/>
            <a:ext cx="594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1371600"/>
            <a:ext cx="1097280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14173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564"/>
                </a:solidFill>
              </a:rPr>
              <a:t>Longer panel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84708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Each additional year at current USDT buffer (L ≈ 2–3%) generates new low-buffer episodes.
Even 2 more years roughly doubles identifying observations, substantially improving power.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017520"/>
            <a:ext cx="594360" cy="1371600"/>
          </a:xfrm>
          <a:prstGeom prst="rect">
            <a:avLst/>
          </a:prstGeom>
          <a:solidFill>
            <a:srgbClr val="1F86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3383279"/>
            <a:ext cx="594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017520"/>
            <a:ext cx="1097280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" y="3063239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564"/>
                </a:solidFill>
              </a:rPr>
              <a:t>Quasi-exogenous variation in reserve composition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49300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Circle's post-SVB shift to exclusively cash and T-bill holdings provides a natural experiment:
composition changed for regulatory reasons unrelated to spread dynamics — cleaner identification.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663440"/>
            <a:ext cx="594360" cy="1371600"/>
          </a:xfrm>
          <a:prstGeom prst="rect">
            <a:avLst/>
          </a:prstGeom>
          <a:solidFill>
            <a:srgbClr val="1F86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4320" y="5029200"/>
            <a:ext cx="594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4663440"/>
            <a:ext cx="1097280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4709159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564"/>
                </a:solidFill>
              </a:rPr>
              <a:t>Higher-frequency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5138927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Daily or weekly on-chain supply flows + intraday T-bill quote data would test whether the
mechanism operates at transaction frequency, rather than monthly frequency forced by attestation availability.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88952" cy="2103120"/>
          </a:xfrm>
          <a:prstGeom prst="rect">
            <a:avLst/>
          </a:prstGeom>
          <a:solidFill>
            <a:srgbClr val="1F86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BFD7ED"/>
                </a:solidFill>
              </a:rPr>
              <a:t>Questions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FD7ED"/>
                </a:solidFill>
              </a:rPr>
              <a:t>Key numbers to remember: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</a:rPr>
              <a:t>β₅ = +7.55  (p = 0.065)  ·  L &lt; 12%  ·  N = 6 low-buffer outflow </a:t>
            </a:r>
            <a:r>
              <a:rPr sz="1600" b="1" i="0" dirty="0" err="1">
                <a:solidFill>
                  <a:srgbClr val="FFFFFF"/>
                </a:solidFill>
              </a:rPr>
              <a:t>obs</a:t>
            </a:r>
            <a:r>
              <a:rPr sz="1600" b="1" i="0" dirty="0">
                <a:solidFill>
                  <a:srgbClr val="FFFFFF"/>
                </a:solidFill>
              </a:rPr>
              <a:t>  ·  Both issuers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Replication: https://github.com/kimmireu0921/Stablecoins-and-the-Exorbitant-Privilege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FD7ED"/>
                </a:solidFill>
              </a:rPr>
              <a:t>Mireu Mimi Kim · Sara Ambre Chekroune · Oybek Ibragimov · Jade Zhu
Alexandre Godefroy · Baptiste Degand · Minjin Kim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4609</Words>
  <Application>Microsoft Macintosh PowerPoint</Application>
  <PresentationFormat>사용자 지정</PresentationFormat>
  <Paragraphs>429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김미르</cp:lastModifiedBy>
  <cp:revision>2</cp:revision>
  <dcterms:created xsi:type="dcterms:W3CDTF">2013-01-27T09:14:16Z</dcterms:created>
  <dcterms:modified xsi:type="dcterms:W3CDTF">2026-06-23T07:20:04Z</dcterms:modified>
  <cp:category/>
</cp:coreProperties>
</file>