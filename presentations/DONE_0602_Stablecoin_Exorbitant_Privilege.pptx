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66" r:id="rId2"/>
    <p:sldId id="257" r:id="rId3"/>
    <p:sldId id="258" r:id="rId4"/>
    <p:sldId id="259" r:id="rId5"/>
    <p:sldId id="260" r:id="rId6"/>
    <p:sldId id="261" r:id="rId7"/>
    <p:sldId id="267" r:id="rId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38"/>
    <p:restoredTop sz="64317" autoAdjust="0"/>
  </p:normalViewPr>
  <p:slideViewPr>
    <p:cSldViewPr snapToGrid="0" snapToObjects="1" showGuides="1">
      <p:cViewPr varScale="1">
        <p:scale>
          <a:sx n="70" d="100"/>
          <a:sy n="70" d="100"/>
        </p:scale>
        <p:origin x="176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afternoon everyone. Our paper is called Stablecoins and the Exorbitant Privilege. The central argument is that large USD-pegged stablecoin issuers — mainly Tether and Circle — have become significant buyers of U.S. Treasury bills. In normal times, that deepens demand for safe assets and amplifies America's borrowing advantage. But when a run hits and their cash reserves are too thin, they are forced to liquidate T-bills, which rapidly reverses that benefit. Today we want to address some methodological questions from last session and walk clearly through our three stress events.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items today. One: event study update — we corrected the model since last week, all CARs come back insignificant, and we will explain why in one slide and what role the event study still plays. Two and three: two robustness checks on the 13% buffer threshold. TRIM sensitivity confirms the threshold is not a boundary artifact, and LSTAR — a smooth transition regression — independently locates the transition at 13.1%. Four: what the paper proves, now with three lines of convergent evidence for q* = 13%.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Since last week, we corrected the event study. Here is the full story on one slide. The graph on the left shows the before and after. The top row is the original model — dramatic spikes of plus 891, plus 885, and minus 1,801 basis points. The bottom row is the corrected model — all three events produce CARs near zero. Why was the original wrong? For the 2022 events, our estimation window was January through May 2022 — exactly when the Fed was hiking rates at the fastest pace in 40 years. The spread rose from 5 to 78 basis points during that window. Every single day, the model computed about 34 basis points of fake 'abnormal' spread. Over 26 event days, that accumulated to 884 basis points — none of which was caused by stablecoins. The corrected first-difference model removes this trend by modelling daily changes, not levels. With the correction: LUNA minus 15.3, USDT minus 4.3, SVB minus 2.4 — all insignificant. The placebo test confirms this: placebos and actuals have essentially the same mean absolute CAR. A ratio of 1.5 times is not meaningful. However, the event study still contributes qualitatively. The directional pattern — low-buffer events show a larger spread response — is consistent with what the regression tells us. We present it as illustrative context, not as proof.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robustness check number one for the Hansen threshold. The TRIM parameter controls what fraction of observations near the edges of the buffer distribution are excluded from the grid search. This ensures each regime has enough observations to estimate. Hansen recommends 15 percent. We tested 15, 20, and 25 percent. In all three cases, the grid search finds exactly the same threshold: q* = 0.1301. The table on the right shows this. Below the table: we also estimated the bootstrap 90 percent confidence interval for q*. We resampled the data 1,000 times with replacement, re-ran the full grid search each time, and took the 5th and 95th percentiles of the resulting distribution. </a:t>
            </a:r>
            <a:r>
              <a:rPr b="1" dirty="0"/>
              <a:t>The CI is 2.6% to 14.5%,</a:t>
            </a:r>
            <a:r>
              <a:rPr dirty="0"/>
              <a:t> and the point estimate of 13.0% sits comfortably inside it. Finally, we tested whether the data supports two thresholds instead of one. The bootstrap p-value is 0.143 — we cannot reject the single-threshold model. One break at 13% is the right specification.</a:t>
            </a:r>
            <a:endParaRPr lang="en-US" dirty="0"/>
          </a:p>
          <a:p>
            <a:endParaRPr lang="en-US" dirty="0"/>
          </a:p>
          <a:p>
            <a:endParaRPr lang="en-US" dirty="0"/>
          </a:p>
          <a:p>
            <a:r>
              <a:rPr lang="ko-KR" altLang="ko-KR" sz="1200" b="0" i="0" kern="1200" dirty="0" err="1">
                <a:solidFill>
                  <a:schemeClr val="tx1"/>
                </a:solidFill>
                <a:effectLst/>
                <a:latin typeface="+mn-lt"/>
                <a:ea typeface="+mn-ea"/>
                <a:cs typeface="+mn-cs"/>
              </a:rPr>
              <a:t>This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multiple</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threshold</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test</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testing</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whether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needs</a:t>
            </a:r>
            <a:r>
              <a:rPr lang="ko-KR" altLang="ko-KR" sz="1200" b="0" i="0" kern="1200" dirty="0">
                <a:solidFill>
                  <a:schemeClr val="tx1"/>
                </a:solidFill>
                <a:effectLst/>
                <a:latin typeface="+mn-lt"/>
                <a:ea typeface="+mn-ea"/>
                <a:cs typeface="+mn-cs"/>
              </a:rPr>
              <a:t> </a:t>
            </a:r>
            <a:r>
              <a:rPr lang="ko-KR" altLang="ko-KR" sz="1200" b="0" i="1" kern="1200" dirty="0" err="1">
                <a:solidFill>
                  <a:schemeClr val="tx1"/>
                </a:solidFill>
                <a:effectLst/>
                <a:latin typeface="+mn-lt"/>
                <a:ea typeface="+mn-ea"/>
                <a:cs typeface="+mn-cs"/>
              </a:rPr>
              <a:t>two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break</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points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instead</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one</a:t>
            </a:r>
            <a:r>
              <a:rPr lang="ko-KR" altLang="ko-KR" sz="1200" b="0" i="0" kern="1200" dirty="0">
                <a:solidFill>
                  <a:schemeClr val="tx1"/>
                </a:solidFill>
                <a:effectLst/>
                <a:latin typeface="+mn-lt"/>
                <a:ea typeface="+mn-ea"/>
                <a:cs typeface="+mn-cs"/>
              </a:rPr>
              <a:t>.</a:t>
            </a:r>
          </a:p>
          <a:p>
            <a:r>
              <a:rPr lang="ko-KR" altLang="ko-KR" sz="1200" b="1" i="0" kern="1200" dirty="0">
                <a:solidFill>
                  <a:schemeClr val="tx1"/>
                </a:solidFill>
                <a:effectLst/>
                <a:latin typeface="+mn-lt"/>
                <a:ea typeface="+mn-ea"/>
                <a:cs typeface="+mn-cs"/>
              </a:rPr>
              <a:t>The </a:t>
            </a:r>
            <a:r>
              <a:rPr lang="ko-KR" altLang="ko-KR" sz="1200" b="1" i="0" kern="1200" dirty="0" err="1">
                <a:solidFill>
                  <a:schemeClr val="tx1"/>
                </a:solidFill>
                <a:effectLst/>
                <a:latin typeface="+mn-lt"/>
                <a:ea typeface="+mn-ea"/>
                <a:cs typeface="+mn-cs"/>
              </a:rPr>
              <a:t>hypotheses</a:t>
            </a:r>
            <a:r>
              <a:rPr lang="ko-KR" altLang="ko-KR" sz="1200" b="1" i="0" kern="1200" dirty="0">
                <a:solidFill>
                  <a:schemeClr val="tx1"/>
                </a:solidFill>
                <a:effectLst/>
                <a:latin typeface="+mn-lt"/>
                <a:ea typeface="+mn-ea"/>
                <a:cs typeface="+mn-cs"/>
              </a:rPr>
              <a:t>:</a:t>
            </a:r>
            <a:endParaRPr lang="ko-KR" altLang="ko-KR" sz="1200" b="0" i="0" kern="1200" dirty="0">
              <a:solidFill>
                <a:schemeClr val="tx1"/>
              </a:solidFill>
              <a:effectLst/>
              <a:latin typeface="+mn-lt"/>
              <a:ea typeface="+mn-ea"/>
              <a:cs typeface="+mn-cs"/>
            </a:endParaRPr>
          </a:p>
          <a:p>
            <a:r>
              <a:rPr lang="ko-KR" altLang="ko-KR" sz="1200" b="1" i="0" kern="1200" dirty="0" err="1">
                <a:solidFill>
                  <a:schemeClr val="tx1"/>
                </a:solidFill>
                <a:effectLst/>
                <a:latin typeface="+mn-lt"/>
                <a:ea typeface="+mn-ea"/>
                <a:cs typeface="+mn-cs"/>
              </a:rPr>
              <a:t>H</a:t>
            </a:r>
            <a:r>
              <a:rPr lang="ko-KR" altLang="ko-KR" sz="1200" b="1" i="0" kern="1200" dirty="0">
                <a:solidFill>
                  <a:schemeClr val="tx1"/>
                </a:solidFill>
                <a:effectLst/>
                <a:latin typeface="+mn-lt"/>
                <a:ea typeface="+mn-ea"/>
                <a:cs typeface="+mn-cs"/>
              </a:rPr>
              <a:t>₀ (</a:t>
            </a:r>
            <a:r>
              <a:rPr lang="ko-KR" altLang="ko-KR" sz="1200" b="1" i="0" kern="1200" dirty="0" err="1">
                <a:solidFill>
                  <a:schemeClr val="tx1"/>
                </a:solidFill>
                <a:effectLst/>
                <a:latin typeface="+mn-lt"/>
                <a:ea typeface="+mn-ea"/>
                <a:cs typeface="+mn-cs"/>
              </a:rPr>
              <a:t>null</a:t>
            </a:r>
            <a:r>
              <a:rPr lang="ko-KR" altLang="ko-KR" sz="1200" b="1" i="0" kern="1200" dirty="0">
                <a:solidFill>
                  <a:schemeClr val="tx1"/>
                </a:solidFill>
                <a:effectLst/>
                <a:latin typeface="+mn-lt"/>
                <a:ea typeface="+mn-ea"/>
                <a:cs typeface="+mn-cs"/>
              </a:rPr>
              <a:t>):</a:t>
            </a:r>
            <a:r>
              <a:rPr lang="ko-KR" altLang="ko-KR" sz="1200" b="0" i="0" kern="1200" dirty="0">
                <a:solidFill>
                  <a:schemeClr val="tx1"/>
                </a:solidFill>
                <a:effectLst/>
                <a:latin typeface="+mn-lt"/>
                <a:ea typeface="+mn-ea"/>
                <a:cs typeface="+mn-cs"/>
              </a:rPr>
              <a:t> One </a:t>
            </a:r>
            <a:r>
              <a:rPr lang="ko-KR" altLang="ko-KR" sz="1200" b="0" i="0" kern="1200" dirty="0" err="1">
                <a:solidFill>
                  <a:schemeClr val="tx1"/>
                </a:solidFill>
                <a:effectLst/>
                <a:latin typeface="+mn-lt"/>
                <a:ea typeface="+mn-ea"/>
                <a:cs typeface="+mn-cs"/>
              </a:rPr>
              <a:t>threshold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enough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13% </a:t>
            </a:r>
            <a:r>
              <a:rPr lang="ko-KR" altLang="ko-KR" sz="1200" b="0" i="0" kern="1200" dirty="0" err="1">
                <a:solidFill>
                  <a:schemeClr val="tx1"/>
                </a:solidFill>
                <a:effectLst/>
                <a:latin typeface="+mn-lt"/>
                <a:ea typeface="+mn-ea"/>
                <a:cs typeface="+mn-cs"/>
              </a:rPr>
              <a:t>break</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already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found</a:t>
            </a:r>
            <a:r>
              <a:rPr lang="ko-KR" altLang="ko-KR" sz="1200" b="0" i="0" kern="1200" dirty="0">
                <a:solidFill>
                  <a:schemeClr val="tx1"/>
                </a:solidFill>
                <a:effectLst/>
                <a:latin typeface="+mn-lt"/>
                <a:ea typeface="+mn-ea"/>
                <a:cs typeface="+mn-cs"/>
              </a:rPr>
              <a:t>)</a:t>
            </a:r>
          </a:p>
          <a:p>
            <a:r>
              <a:rPr lang="ko-KR" altLang="ko-KR" sz="1200" b="1" i="0" kern="1200" dirty="0" err="1">
                <a:solidFill>
                  <a:schemeClr val="tx1"/>
                </a:solidFill>
                <a:effectLst/>
                <a:latin typeface="+mn-lt"/>
                <a:ea typeface="+mn-ea"/>
                <a:cs typeface="+mn-cs"/>
              </a:rPr>
              <a:t>H</a:t>
            </a:r>
            <a:r>
              <a:rPr lang="ko-KR" altLang="ko-KR" sz="1200" b="1" i="0" kern="1200" dirty="0">
                <a:solidFill>
                  <a:schemeClr val="tx1"/>
                </a:solidFill>
                <a:effectLst/>
                <a:latin typeface="+mn-lt"/>
                <a:ea typeface="+mn-ea"/>
                <a:cs typeface="+mn-cs"/>
              </a:rPr>
              <a:t>₁ (</a:t>
            </a:r>
            <a:r>
              <a:rPr lang="ko-KR" altLang="ko-KR" sz="1200" b="1" i="0" kern="1200" dirty="0" err="1">
                <a:solidFill>
                  <a:schemeClr val="tx1"/>
                </a:solidFill>
                <a:effectLst/>
                <a:latin typeface="+mn-lt"/>
                <a:ea typeface="+mn-ea"/>
                <a:cs typeface="+mn-cs"/>
              </a:rPr>
              <a:t>alternative</a:t>
            </a:r>
            <a:r>
              <a:rPr lang="ko-KR" altLang="ko-KR" sz="1200" b="1" i="0" kern="1200" dirty="0">
                <a:solidFill>
                  <a:schemeClr val="tx1"/>
                </a:solidFill>
                <a:effectLst/>
                <a:latin typeface="+mn-lt"/>
                <a:ea typeface="+mn-ea"/>
                <a:cs typeface="+mn-cs"/>
              </a:rPr>
              <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actually</a:t>
            </a:r>
            <a:r>
              <a:rPr lang="ko-KR" altLang="ko-KR" sz="1200" b="0" i="0" kern="1200" dirty="0">
                <a:solidFill>
                  <a:schemeClr val="tx1"/>
                </a:solidFill>
                <a:effectLst/>
                <a:latin typeface="+mn-lt"/>
                <a:ea typeface="+mn-ea"/>
                <a:cs typeface="+mn-cs"/>
              </a:rPr>
              <a:t> </a:t>
            </a:r>
            <a:r>
              <a:rPr lang="ko-KR" altLang="ko-KR" sz="1200" b="0" i="1" kern="1200" dirty="0" err="1">
                <a:solidFill>
                  <a:schemeClr val="tx1"/>
                </a:solidFill>
                <a:effectLst/>
                <a:latin typeface="+mn-lt"/>
                <a:ea typeface="+mn-ea"/>
                <a:cs typeface="+mn-cs"/>
              </a:rPr>
              <a:t>two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thresholds</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three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regimes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instead</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two</a:t>
            </a:r>
            <a:endParaRPr lang="ko-KR" altLang="ko-KR" sz="1200" b="0" i="0" kern="1200" dirty="0">
              <a:solidFill>
                <a:schemeClr val="tx1"/>
              </a:solidFill>
              <a:effectLst/>
              <a:latin typeface="+mn-lt"/>
              <a:ea typeface="+mn-ea"/>
              <a:cs typeface="+mn-cs"/>
            </a:endParaRPr>
          </a:p>
          <a:p>
            <a:r>
              <a:rPr lang="ko-KR" altLang="ko-KR" sz="1200" b="1" i="0" kern="1200" dirty="0" err="1">
                <a:solidFill>
                  <a:schemeClr val="tx1"/>
                </a:solidFill>
                <a:effectLst/>
                <a:latin typeface="+mn-lt"/>
                <a:ea typeface="+mn-ea"/>
                <a:cs typeface="+mn-cs"/>
              </a:rPr>
              <a:t>What</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the</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test</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does</a:t>
            </a:r>
            <a:r>
              <a:rPr lang="ko-KR" altLang="ko-KR" sz="1200" b="1" i="0" kern="1200" dirty="0">
                <a:solidFill>
                  <a:schemeClr val="tx1"/>
                </a:solidFill>
                <a:effectLst/>
                <a:latin typeface="+mn-lt"/>
                <a:ea typeface="+mn-ea"/>
                <a:cs typeface="+mn-cs"/>
              </a:rPr>
              <a:t>:</a:t>
            </a:r>
            <a:endParaRPr lang="ko-KR" altLang="ko-KR" sz="1200" b="0" i="0" kern="1200" dirty="0">
              <a:solidFill>
                <a:schemeClr val="tx1"/>
              </a:solidFill>
              <a:effectLst/>
              <a:latin typeface="+mn-lt"/>
              <a:ea typeface="+mn-ea"/>
              <a:cs typeface="+mn-cs"/>
            </a:endParaRPr>
          </a:p>
          <a:p>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runs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double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grid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search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over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all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possible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pairs</a:t>
            </a:r>
            <a:r>
              <a:rPr lang="ko-KR" altLang="ko-KR" sz="1200" b="0" i="0" kern="1200" dirty="0">
                <a:solidFill>
                  <a:schemeClr val="tx1"/>
                </a:solidFill>
                <a:effectLst/>
                <a:latin typeface="+mn-lt"/>
                <a:ea typeface="+mn-ea"/>
                <a:cs typeface="+mn-cs"/>
              </a:rPr>
              <a:t> (q1, q2), </a:t>
            </a:r>
            <a:r>
              <a:rPr lang="ko-KR" altLang="ko-KR" sz="1200" b="0" i="0" kern="1200" dirty="0" err="1">
                <a:solidFill>
                  <a:schemeClr val="tx1"/>
                </a:solidFill>
                <a:effectLst/>
                <a:latin typeface="+mn-lt"/>
                <a:ea typeface="+mn-ea"/>
                <a:cs typeface="+mn-cs"/>
              </a:rPr>
              <a:t>finds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best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two-threshold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model</a:t>
            </a:r>
            <a:r>
              <a:rPr lang="ko-KR" altLang="ko-KR" sz="1200" b="0" i="0" kern="1200" dirty="0">
                <a:solidFill>
                  <a:schemeClr val="tx1"/>
                </a:solidFill>
                <a:effectLst/>
                <a:latin typeface="+mn-lt"/>
                <a:ea typeface="+mn-ea"/>
                <a:cs typeface="+mn-cs"/>
              </a:rPr>
              <a:t>, and </a:t>
            </a:r>
            <a:r>
              <a:rPr lang="ko-KR" altLang="ko-KR" sz="1200" b="0" i="0" kern="1200" dirty="0" err="1">
                <a:solidFill>
                  <a:schemeClr val="tx1"/>
                </a:solidFill>
                <a:effectLst/>
                <a:latin typeface="+mn-lt"/>
                <a:ea typeface="+mn-ea"/>
                <a:cs typeface="+mn-cs"/>
              </a:rPr>
              <a:t>asks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does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adding</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second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break</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improve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enough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justify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bootstraps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figure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out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p-value</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how</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often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you'd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improvement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just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chance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if</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a:t>
            </a:r>
            <a:r>
              <a:rPr lang="ko-KR" altLang="ko-KR" sz="1200" b="0" i="0" kern="1200" dirty="0">
                <a:solidFill>
                  <a:schemeClr val="tx1"/>
                </a:solidFill>
                <a:effectLst/>
                <a:latin typeface="+mn-lt"/>
                <a:ea typeface="+mn-ea"/>
                <a:cs typeface="+mn-cs"/>
              </a:rPr>
              <a:t>₀ </a:t>
            </a:r>
            <a:r>
              <a:rPr lang="ko-KR" altLang="ko-KR" sz="1200" b="0" i="0" kern="1200" dirty="0" err="1">
                <a:solidFill>
                  <a:schemeClr val="tx1"/>
                </a:solidFill>
                <a:effectLst/>
                <a:latin typeface="+mn-lt"/>
                <a:ea typeface="+mn-ea"/>
                <a:cs typeface="+mn-cs"/>
              </a:rPr>
              <a:t>were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true</a:t>
            </a:r>
            <a:r>
              <a:rPr lang="ko-KR" altLang="ko-KR" sz="1200" b="0" i="0" kern="1200" dirty="0">
                <a:solidFill>
                  <a:schemeClr val="tx1"/>
                </a:solidFill>
                <a:effectLst/>
                <a:latin typeface="+mn-lt"/>
                <a:ea typeface="+mn-ea"/>
                <a:cs typeface="+mn-cs"/>
              </a:rPr>
              <a:t>.</a:t>
            </a:r>
          </a:p>
          <a:p>
            <a:r>
              <a:rPr lang="ko-KR" altLang="ko-KR" sz="1200" b="1" i="0" kern="1200" dirty="0" err="1">
                <a:solidFill>
                  <a:schemeClr val="tx1"/>
                </a:solidFill>
                <a:effectLst/>
                <a:latin typeface="+mn-lt"/>
                <a:ea typeface="+mn-ea"/>
                <a:cs typeface="+mn-cs"/>
              </a:rPr>
              <a:t>p</a:t>
            </a:r>
            <a:r>
              <a:rPr lang="ko-KR" altLang="ko-KR" sz="1200" b="1" i="0" kern="1200" dirty="0">
                <a:solidFill>
                  <a:schemeClr val="tx1"/>
                </a:solidFill>
                <a:effectLst/>
                <a:latin typeface="+mn-lt"/>
                <a:ea typeface="+mn-ea"/>
                <a:cs typeface="+mn-cs"/>
              </a:rPr>
              <a:t> = 0.143 </a:t>
            </a:r>
            <a:r>
              <a:rPr lang="ko-KR" altLang="ko-KR" sz="1200" b="1" i="0" kern="1200" dirty="0" err="1">
                <a:solidFill>
                  <a:schemeClr val="tx1"/>
                </a:solidFill>
                <a:effectLst/>
                <a:latin typeface="+mn-lt"/>
                <a:ea typeface="+mn-ea"/>
                <a:cs typeface="+mn-cs"/>
              </a:rPr>
              <a:t>means</a:t>
            </a:r>
            <a:r>
              <a:rPr lang="ko-KR" altLang="ko-KR" sz="1200" b="1" i="0" kern="1200" dirty="0">
                <a:solidFill>
                  <a:schemeClr val="tx1"/>
                </a:solidFill>
                <a:effectLst/>
                <a:latin typeface="+mn-lt"/>
                <a:ea typeface="+mn-ea"/>
                <a:cs typeface="+mn-cs"/>
              </a:rPr>
              <a:t>:</a:t>
            </a:r>
            <a:endParaRPr lang="ko-KR" altLang="ko-KR" sz="1200" b="0" i="0" kern="1200" dirty="0">
              <a:solidFill>
                <a:schemeClr val="tx1"/>
              </a:solidFill>
              <a:effectLst/>
              <a:latin typeface="+mn-lt"/>
              <a:ea typeface="+mn-ea"/>
              <a:cs typeface="+mn-cs"/>
            </a:endParaRPr>
          </a:p>
          <a:p>
            <a:r>
              <a:rPr lang="ko-KR" altLang="ko-KR" sz="1200" b="0" i="0" kern="1200" dirty="0" err="1">
                <a:solidFill>
                  <a:schemeClr val="tx1"/>
                </a:solidFill>
                <a:effectLst/>
                <a:latin typeface="+mn-lt"/>
                <a:ea typeface="+mn-ea"/>
                <a:cs typeface="+mn-cs"/>
              </a:rPr>
              <a:t>If</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true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model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really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has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only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one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threshold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you'd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still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improvement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large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from</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second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threshold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about</a:t>
            </a:r>
            <a:r>
              <a:rPr lang="ko-KR" altLang="ko-KR" sz="1200" b="0" i="0" kern="1200" dirty="0">
                <a:solidFill>
                  <a:schemeClr val="tx1"/>
                </a:solidFill>
                <a:effectLst/>
                <a:latin typeface="+mn-lt"/>
                <a:ea typeface="+mn-ea"/>
                <a:cs typeface="+mn-cs"/>
              </a:rPr>
              <a:t> 14.3% of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time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just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random</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noise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That's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not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rare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enough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convincing</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so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don't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have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enough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evidence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say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second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threshold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real</a:t>
            </a:r>
            <a:r>
              <a:rPr lang="ko-KR" altLang="ko-KR" sz="1200" b="0" i="0" kern="1200" dirty="0">
                <a:solidFill>
                  <a:schemeClr val="tx1"/>
                </a:solidFill>
                <a:effectLst/>
                <a:latin typeface="+mn-lt"/>
                <a:ea typeface="+mn-ea"/>
                <a:cs typeface="+mn-cs"/>
              </a:rPr>
              <a:t>.</a:t>
            </a:r>
          </a:p>
          <a:p>
            <a:r>
              <a:rPr lang="ko-KR" altLang="ko-KR" sz="1200" b="1" i="0" kern="1200" dirty="0">
                <a:solidFill>
                  <a:schemeClr val="tx1"/>
                </a:solidFill>
                <a:effectLst/>
                <a:latin typeface="+mn-lt"/>
                <a:ea typeface="+mn-ea"/>
                <a:cs typeface="+mn-cs"/>
              </a:rPr>
              <a:t>"</a:t>
            </a:r>
            <a:r>
              <a:rPr lang="ko-KR" altLang="ko-KR" sz="1200" b="1" i="0" kern="1200" dirty="0" err="1">
                <a:solidFill>
                  <a:schemeClr val="tx1"/>
                </a:solidFill>
                <a:effectLst/>
                <a:latin typeface="+mn-lt"/>
                <a:ea typeface="+mn-ea"/>
                <a:cs typeface="+mn-cs"/>
              </a:rPr>
              <a:t>Cannot</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reject</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H</a:t>
            </a:r>
            <a:r>
              <a:rPr lang="ko-KR" altLang="ko-KR" sz="1200" b="1" i="0" kern="1200" dirty="0">
                <a:solidFill>
                  <a:schemeClr val="tx1"/>
                </a:solidFill>
                <a:effectLst/>
                <a:latin typeface="+mn-lt"/>
                <a:ea typeface="+mn-ea"/>
                <a:cs typeface="+mn-cs"/>
              </a:rPr>
              <a:t>₀" </a:t>
            </a:r>
            <a:r>
              <a:rPr lang="ko-KR" altLang="ko-KR" sz="1200" b="1" i="0" kern="1200" dirty="0" err="1">
                <a:solidFill>
                  <a:schemeClr val="tx1"/>
                </a:solidFill>
                <a:effectLst/>
                <a:latin typeface="+mn-lt"/>
                <a:ea typeface="+mn-ea"/>
                <a:cs typeface="+mn-cs"/>
              </a:rPr>
              <a:t>means</a:t>
            </a:r>
            <a:r>
              <a:rPr lang="ko-KR" altLang="ko-KR" sz="1200" b="1" i="0" kern="1200" dirty="0">
                <a:solidFill>
                  <a:schemeClr val="tx1"/>
                </a:solidFill>
                <a:effectLst/>
                <a:latin typeface="+mn-lt"/>
                <a:ea typeface="+mn-ea"/>
                <a:cs typeface="+mn-cs"/>
              </a:rPr>
              <a:t>:</a:t>
            </a:r>
            <a:endParaRPr lang="ko-KR" altLang="ko-KR" sz="1200" b="0" i="0" kern="1200" dirty="0">
              <a:solidFill>
                <a:schemeClr val="tx1"/>
              </a:solidFill>
              <a:effectLst/>
              <a:latin typeface="+mn-lt"/>
              <a:ea typeface="+mn-ea"/>
              <a:cs typeface="+mn-cs"/>
            </a:endParaRPr>
          </a:p>
          <a:p>
            <a:r>
              <a:rPr lang="ko-KR" altLang="ko-KR" sz="1200" b="0" i="0" kern="1200" dirty="0" err="1">
                <a:solidFill>
                  <a:schemeClr val="tx1"/>
                </a:solidFill>
                <a:effectLst/>
                <a:latin typeface="+mn-lt"/>
                <a:ea typeface="+mn-ea"/>
                <a:cs typeface="+mn-cs"/>
              </a:rPr>
              <a:t>We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keep</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single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threshold</a:t>
            </a:r>
            <a:r>
              <a:rPr lang="ko-KR" altLang="ko-KR" sz="1200" b="0" i="0" kern="1200" dirty="0">
                <a:solidFill>
                  <a:schemeClr val="tx1"/>
                </a:solidFill>
                <a:effectLst/>
                <a:latin typeface="+mn-lt"/>
                <a:ea typeface="+mn-ea"/>
                <a:cs typeface="+mn-cs"/>
              </a:rPr>
              <a:t>. The </a:t>
            </a:r>
            <a:r>
              <a:rPr lang="ko-KR" altLang="ko-KR" sz="1200" b="0" i="0" kern="1200" dirty="0" err="1">
                <a:solidFill>
                  <a:schemeClr val="tx1"/>
                </a:solidFill>
                <a:effectLst/>
                <a:latin typeface="+mn-lt"/>
                <a:ea typeface="+mn-ea"/>
                <a:cs typeface="+mn-cs"/>
              </a:rPr>
              <a:t>data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does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not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support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splitting</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into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regimes</a:t>
            </a:r>
            <a:r>
              <a:rPr lang="ko-KR" altLang="ko-KR" sz="1200" b="0" i="0" kern="1200" dirty="0">
                <a:solidFill>
                  <a:schemeClr val="tx1"/>
                </a:solidFill>
                <a:effectLst/>
                <a:latin typeface="+mn-lt"/>
                <a:ea typeface="+mn-ea"/>
                <a:cs typeface="+mn-cs"/>
              </a:rPr>
              <a:t>.</a:t>
            </a:r>
          </a:p>
          <a:p>
            <a:endParaRPr lang="en-US" altLang="ko-KR" sz="1200" b="1" i="0" kern="1200" dirty="0">
              <a:solidFill>
                <a:schemeClr val="tx1"/>
              </a:solidFill>
              <a:effectLst/>
              <a:latin typeface="+mn-lt"/>
              <a:ea typeface="+mn-ea"/>
              <a:cs typeface="+mn-cs"/>
            </a:endParaRPr>
          </a:p>
          <a:p>
            <a:endParaRPr lang="en-US" altLang="ko-KR" sz="1200" b="1" i="0" kern="1200" dirty="0">
              <a:solidFill>
                <a:schemeClr val="tx1"/>
              </a:solidFill>
              <a:effectLst/>
              <a:latin typeface="+mn-lt"/>
              <a:ea typeface="+mn-ea"/>
              <a:cs typeface="+mn-cs"/>
            </a:endParaRPr>
          </a:p>
          <a:p>
            <a:r>
              <a:rPr lang="en-US" altLang="ko-KR" sz="1200" b="1" i="0" kern="1200" dirty="0">
                <a:solidFill>
                  <a:schemeClr val="tx1"/>
                </a:solidFill>
                <a:effectLst/>
                <a:latin typeface="+mn-lt"/>
                <a:ea typeface="+mn-ea"/>
                <a:cs typeface="+mn-cs"/>
              </a:rPr>
              <a:t>BELOW THIS POINT IS JUST NOTES FOR Q&amp;A</a:t>
            </a:r>
          </a:p>
          <a:p>
            <a:r>
              <a:rPr lang="ko-KR" altLang="ko-KR" sz="1200" b="1" i="0" kern="1200" dirty="0" err="1">
                <a:solidFill>
                  <a:schemeClr val="tx1"/>
                </a:solidFill>
                <a:effectLst/>
                <a:latin typeface="+mn-lt"/>
                <a:ea typeface="+mn-ea"/>
                <a:cs typeface="+mn-cs"/>
              </a:rPr>
              <a:t>Why</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this</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is</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good</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for</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your</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paper</a:t>
            </a:r>
            <a:r>
              <a:rPr lang="ko-KR" altLang="ko-KR" sz="1200" b="1" i="0" kern="1200" dirty="0">
                <a:solidFill>
                  <a:schemeClr val="tx1"/>
                </a:solidFill>
                <a:effectLst/>
                <a:latin typeface="+mn-lt"/>
                <a:ea typeface="+mn-ea"/>
                <a:cs typeface="+mn-cs"/>
              </a:rPr>
              <a:t>:</a:t>
            </a:r>
            <a:endParaRPr lang="ko-KR" altLang="ko-KR" sz="1200" b="0" i="0" kern="1200" dirty="0">
              <a:solidFill>
                <a:schemeClr val="tx1"/>
              </a:solidFill>
              <a:effectLst/>
              <a:latin typeface="+mn-lt"/>
              <a:ea typeface="+mn-ea"/>
              <a:cs typeface="+mn-cs"/>
            </a:endParaRPr>
          </a:p>
          <a:p>
            <a:r>
              <a:rPr lang="ko-KR" altLang="ko-KR" sz="1200" b="0" i="0" kern="1200" dirty="0" err="1">
                <a:solidFill>
                  <a:schemeClr val="tx1"/>
                </a:solidFill>
                <a:effectLst/>
                <a:latin typeface="+mn-lt"/>
                <a:ea typeface="+mn-ea"/>
                <a:cs typeface="+mn-cs"/>
              </a:rPr>
              <a:t>Your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story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clean</a:t>
            </a:r>
            <a:r>
              <a:rPr lang="ko-KR" altLang="ko-KR" sz="1200" b="0" i="0" kern="1200" dirty="0">
                <a:solidFill>
                  <a:schemeClr val="tx1"/>
                </a:solidFill>
                <a:effectLst/>
                <a:latin typeface="+mn-lt"/>
                <a:ea typeface="+mn-ea"/>
                <a:cs typeface="+mn-cs"/>
              </a:rPr>
              <a:t> and </a:t>
            </a:r>
            <a:r>
              <a:rPr lang="ko-KR" altLang="ko-KR" sz="1200" b="0" i="0" kern="1200" dirty="0" err="1">
                <a:solidFill>
                  <a:schemeClr val="tx1"/>
                </a:solidFill>
                <a:effectLst/>
                <a:latin typeface="+mn-lt"/>
                <a:ea typeface="+mn-ea"/>
                <a:cs typeface="+mn-cs"/>
              </a:rPr>
              <a:t>binary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below</a:t>
            </a:r>
            <a:r>
              <a:rPr lang="ko-KR" altLang="ko-KR" sz="1200" b="0" i="0" kern="1200" dirty="0">
                <a:solidFill>
                  <a:schemeClr val="tx1"/>
                </a:solidFill>
                <a:effectLst/>
                <a:latin typeface="+mn-lt"/>
                <a:ea typeface="+mn-ea"/>
                <a:cs typeface="+mn-cs"/>
              </a:rPr>
              <a:t> 13% </a:t>
            </a:r>
            <a:r>
              <a:rPr lang="ko-KR" altLang="ko-KR" sz="1200" b="0" i="0" kern="1200" dirty="0" err="1">
                <a:solidFill>
                  <a:schemeClr val="tx1"/>
                </a:solidFill>
                <a:effectLst/>
                <a:latin typeface="+mn-lt"/>
                <a:ea typeface="+mn-ea"/>
                <a:cs typeface="+mn-cs"/>
              </a:rPr>
              <a:t>buffer</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privilege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reverses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above</a:t>
            </a:r>
            <a:r>
              <a:rPr lang="ko-KR" altLang="ko-KR" sz="1200" b="0" i="0" kern="1200" dirty="0">
                <a:solidFill>
                  <a:schemeClr val="tx1"/>
                </a:solidFill>
                <a:effectLst/>
                <a:latin typeface="+mn-lt"/>
                <a:ea typeface="+mn-ea"/>
                <a:cs typeface="+mn-cs"/>
              </a:rPr>
              <a:t> 13% → </a:t>
            </a:r>
            <a:r>
              <a:rPr lang="ko-KR" altLang="ko-KR" sz="1200" b="0" i="0" kern="1200" dirty="0" err="1">
                <a:solidFill>
                  <a:schemeClr val="tx1"/>
                </a:solidFill>
                <a:effectLst/>
                <a:latin typeface="+mn-lt"/>
                <a:ea typeface="+mn-ea"/>
                <a:cs typeface="+mn-cs"/>
              </a:rPr>
              <a:t>privilege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holds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If</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test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had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found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second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threshold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you'd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need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explain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regimes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which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complicates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narrative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a:t>
            </a:r>
            <a:r>
              <a:rPr lang="ko-KR" altLang="ko-KR" sz="1200" b="0" i="0" kern="1200" dirty="0">
                <a:solidFill>
                  <a:schemeClr val="tx1"/>
                </a:solidFill>
                <a:effectLst/>
                <a:latin typeface="+mn-lt"/>
                <a:ea typeface="+mn-ea"/>
                <a:cs typeface="+mn-cs"/>
              </a:rPr>
              <a:t> = 0.143 </a:t>
            </a:r>
            <a:r>
              <a:rPr lang="ko-KR" altLang="ko-KR" sz="1200" b="0" i="0" kern="1200" dirty="0" err="1">
                <a:solidFill>
                  <a:schemeClr val="tx1"/>
                </a:solidFill>
                <a:effectLst/>
                <a:latin typeface="+mn-lt"/>
                <a:ea typeface="+mn-ea"/>
                <a:cs typeface="+mn-cs"/>
              </a:rPr>
              <a:t>confirms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two-regime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story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right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model</a:t>
            </a:r>
            <a:r>
              <a:rPr lang="ko-KR" altLang="ko-KR" sz="1200" b="0" i="0" kern="1200" dirty="0">
                <a:solidFill>
                  <a:schemeClr val="tx1"/>
                </a:solidFill>
                <a:effectLst/>
                <a:latin typeface="+mn-lt"/>
                <a:ea typeface="+mn-ea"/>
                <a:cs typeface="+mn-cs"/>
              </a:rPr>
              <a:t>.</a:t>
            </a:r>
          </a:p>
          <a:p>
            <a:r>
              <a:rPr lang="ko-KR" altLang="ko-KR" sz="1200" b="1" i="0" kern="1200" dirty="0">
                <a:solidFill>
                  <a:schemeClr val="tx1"/>
                </a:solidFill>
                <a:effectLst/>
                <a:latin typeface="+mn-lt"/>
                <a:ea typeface="+mn-ea"/>
                <a:cs typeface="+mn-cs"/>
              </a:rPr>
              <a:t>One </a:t>
            </a:r>
            <a:r>
              <a:rPr lang="ko-KR" altLang="ko-KR" sz="1200" b="1" i="0" kern="1200" dirty="0" err="1">
                <a:solidFill>
                  <a:schemeClr val="tx1"/>
                </a:solidFill>
                <a:effectLst/>
                <a:latin typeface="+mn-lt"/>
                <a:ea typeface="+mn-ea"/>
                <a:cs typeface="+mn-cs"/>
              </a:rPr>
              <a:t>sentence</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for</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the</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professor</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if</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asked</a:t>
            </a:r>
            <a:r>
              <a:rPr lang="ko-KR" altLang="ko-KR" sz="1200" b="1" i="0" kern="1200" dirty="0">
                <a:solidFill>
                  <a:schemeClr val="tx1"/>
                </a:solidFill>
                <a:effectLst/>
                <a:latin typeface="+mn-lt"/>
                <a:ea typeface="+mn-ea"/>
                <a:cs typeface="+mn-cs"/>
              </a:rPr>
              <a:t>:</a:t>
            </a:r>
            <a:endParaRPr lang="ko-KR" altLang="ko-KR" sz="1200" b="0" i="0" kern="1200" dirty="0">
              <a:solidFill>
                <a:schemeClr val="tx1"/>
              </a:solidFill>
              <a:effectLst/>
              <a:latin typeface="+mn-lt"/>
              <a:ea typeface="+mn-ea"/>
              <a:cs typeface="+mn-cs"/>
            </a:endParaRPr>
          </a:p>
          <a:p>
            <a:r>
              <a:rPr lang="ko-KR" altLang="ko-KR" sz="1200" b="0" i="0" kern="1200" dirty="0">
                <a:solidFill>
                  <a:schemeClr val="tx1"/>
                </a:solidFill>
                <a:effectLst/>
                <a:latin typeface="+mn-lt"/>
                <a:ea typeface="+mn-ea"/>
                <a:cs typeface="+mn-cs"/>
              </a:rPr>
              <a:t>"</a:t>
            </a:r>
            <a:r>
              <a:rPr lang="ko-KR" altLang="ko-KR" sz="1200" b="0" i="0" kern="1200" dirty="0" err="1">
                <a:solidFill>
                  <a:schemeClr val="tx1"/>
                </a:solidFill>
                <a:effectLst/>
                <a:latin typeface="+mn-lt"/>
                <a:ea typeface="+mn-ea"/>
                <a:cs typeface="+mn-cs"/>
              </a:rPr>
              <a:t>We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tested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whether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supports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two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thresholds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instead</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one</a:t>
            </a:r>
            <a:r>
              <a:rPr lang="ko-KR" altLang="ko-KR" sz="1200" b="0" i="0" kern="1200" dirty="0">
                <a:solidFill>
                  <a:schemeClr val="tx1"/>
                </a:solidFill>
                <a:effectLst/>
                <a:latin typeface="+mn-lt"/>
                <a:ea typeface="+mn-ea"/>
                <a:cs typeface="+mn-cs"/>
              </a:rPr>
              <a:t>. The </a:t>
            </a:r>
            <a:r>
              <a:rPr lang="ko-KR" altLang="ko-KR" sz="1200" b="0" i="0" kern="1200" dirty="0" err="1">
                <a:solidFill>
                  <a:schemeClr val="tx1"/>
                </a:solidFill>
                <a:effectLst/>
                <a:latin typeface="+mn-lt"/>
                <a:ea typeface="+mn-ea"/>
                <a:cs typeface="+mn-cs"/>
              </a:rPr>
              <a:t>bootstrap</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p-value</a:t>
            </a:r>
            <a:r>
              <a:rPr lang="ko-KR" altLang="ko-KR" sz="1200" b="0" i="0" kern="1200" dirty="0">
                <a:solidFill>
                  <a:schemeClr val="tx1"/>
                </a:solidFill>
                <a:effectLst/>
                <a:latin typeface="+mn-lt"/>
                <a:ea typeface="+mn-ea"/>
                <a:cs typeface="+mn-cs"/>
              </a:rPr>
              <a:t> of 0.143 </a:t>
            </a:r>
            <a:r>
              <a:rPr lang="ko-KR" altLang="ko-KR" sz="1200" b="0" i="0" kern="1200" dirty="0" err="1">
                <a:solidFill>
                  <a:schemeClr val="tx1"/>
                </a:solidFill>
                <a:effectLst/>
                <a:latin typeface="+mn-lt"/>
                <a:ea typeface="+mn-ea"/>
                <a:cs typeface="+mn-cs"/>
              </a:rPr>
              <a:t>means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cannot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reject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single-threshold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model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any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conventional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significance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level</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so</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simple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binary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split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at</a:t>
            </a:r>
            <a:r>
              <a:rPr lang="ko-KR" altLang="ko-KR" sz="1200" b="0" i="0" kern="1200" dirty="0">
                <a:solidFill>
                  <a:schemeClr val="tx1"/>
                </a:solidFill>
                <a:effectLst/>
                <a:latin typeface="+mn-lt"/>
                <a:ea typeface="+mn-ea"/>
                <a:cs typeface="+mn-cs"/>
              </a:rPr>
              <a:t> 13%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sufficient</a:t>
            </a:r>
            <a:r>
              <a:rPr lang="ko-KR" altLang="ko-KR" sz="1200" b="0" i="0" kern="1200" dirty="0">
                <a:solidFill>
                  <a:schemeClr val="tx1"/>
                </a:solidFill>
                <a:effectLst/>
                <a:latin typeface="+mn-lt"/>
                <a:ea typeface="+mn-ea"/>
                <a:cs typeface="+mn-cs"/>
              </a:rPr>
              <a:t>."</a:t>
            </a:r>
          </a:p>
          <a:p>
            <a:endParaRPr lang="en-US" dirty="0"/>
          </a:p>
          <a:p>
            <a:endParaRPr lang="en-US" dirty="0"/>
          </a:p>
          <a:p>
            <a:r>
              <a:rPr lang="ko-KR" altLang="ko-KR" sz="1200" b="0" i="0" kern="1200" dirty="0" err="1">
                <a:solidFill>
                  <a:schemeClr val="tx1"/>
                </a:solidFill>
                <a:effectLst/>
                <a:latin typeface="+mn-lt"/>
                <a:ea typeface="+mn-ea"/>
                <a:cs typeface="+mn-cs"/>
              </a:rPr>
              <a:t>if</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professor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asks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q</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for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all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trims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exactly</a:t>
            </a:r>
            <a:r>
              <a:rPr lang="ko-KR" altLang="ko-KR" sz="1200" b="0" i="0" kern="1200" dirty="0">
                <a:solidFill>
                  <a:schemeClr val="tx1"/>
                </a:solidFill>
                <a:effectLst/>
                <a:latin typeface="+mn-lt"/>
                <a:ea typeface="+mn-ea"/>
                <a:cs typeface="+mn-cs"/>
              </a:rPr>
              <a:t> 0.1301 ?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just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coincidence</a:t>
            </a:r>
            <a:r>
              <a:rPr lang="ko-KR" altLang="ko-KR" sz="1200" b="0" i="0" kern="1200" dirty="0">
                <a:solidFill>
                  <a:schemeClr val="tx1"/>
                </a:solidFill>
                <a:effectLst/>
                <a:latin typeface="+mn-lt"/>
                <a:ea typeface="+mn-ea"/>
                <a:cs typeface="+mn-cs"/>
              </a:rPr>
              <a:t>?</a:t>
            </a:r>
            <a:endParaRPr lang="en-US" altLang="ko-KR" sz="1200" b="0" i="0" kern="1200" dirty="0">
              <a:solidFill>
                <a:schemeClr val="tx1"/>
              </a:solidFill>
              <a:effectLst/>
              <a:latin typeface="+mn-lt"/>
              <a:ea typeface="+mn-ea"/>
              <a:cs typeface="+mn-cs"/>
            </a:endParaRPr>
          </a:p>
          <a:p>
            <a:r>
              <a:rPr lang="ko-KR" altLang="ko-KR" sz="1200" b="1" i="0" kern="1200" dirty="0">
                <a:solidFill>
                  <a:schemeClr val="tx1"/>
                </a:solidFill>
                <a:effectLst/>
                <a:latin typeface="+mn-lt"/>
                <a:ea typeface="+mn-ea"/>
                <a:cs typeface="+mn-cs"/>
              </a:rPr>
              <a:t>The </a:t>
            </a:r>
            <a:r>
              <a:rPr lang="ko-KR" altLang="ko-KR" sz="1200" b="1" i="0" kern="1200" dirty="0" err="1">
                <a:solidFill>
                  <a:schemeClr val="tx1"/>
                </a:solidFill>
                <a:effectLst/>
                <a:latin typeface="+mn-lt"/>
                <a:ea typeface="+mn-ea"/>
                <a:cs typeface="+mn-cs"/>
              </a:rPr>
              <a:t>short</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answer</a:t>
            </a:r>
            <a:r>
              <a:rPr lang="ko-KR" altLang="ko-KR" sz="1200" b="1" i="0" kern="1200" dirty="0">
                <a:solidFill>
                  <a:schemeClr val="tx1"/>
                </a:solidFill>
                <a:effectLst/>
                <a:latin typeface="+mn-lt"/>
                <a:ea typeface="+mn-ea"/>
                <a:cs typeface="+mn-cs"/>
              </a:rPr>
              <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Hansen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grid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search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picks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observed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value</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minimizes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sum</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squared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residuals</a:t>
            </a:r>
            <a:r>
              <a:rPr lang="ko-KR" altLang="ko-KR" sz="1200" b="0" i="0" kern="1200" dirty="0">
                <a:solidFill>
                  <a:schemeClr val="tx1"/>
                </a:solidFill>
                <a:effectLst/>
                <a:latin typeface="+mn-lt"/>
                <a:ea typeface="+mn-ea"/>
                <a:cs typeface="+mn-cs"/>
              </a:rPr>
              <a:t> (SSR). </a:t>
            </a:r>
            <a:r>
              <a:rPr lang="ko-KR" altLang="ko-KR" sz="1200" b="0" i="0" kern="1200" dirty="0" err="1">
                <a:solidFill>
                  <a:schemeClr val="tx1"/>
                </a:solidFill>
                <a:effectLst/>
                <a:latin typeface="+mn-lt"/>
                <a:ea typeface="+mn-ea"/>
                <a:cs typeface="+mn-cs"/>
              </a:rPr>
              <a:t>Once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you've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found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global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minimum</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changing</a:t>
            </a:r>
            <a:r>
              <a:rPr lang="ko-KR" altLang="ko-KR" sz="1200" b="0" i="0" kern="1200" dirty="0">
                <a:solidFill>
                  <a:schemeClr val="tx1"/>
                </a:solidFill>
                <a:effectLst/>
                <a:latin typeface="+mn-lt"/>
                <a:ea typeface="+mn-ea"/>
                <a:cs typeface="+mn-cs"/>
              </a:rPr>
              <a:t> TRIM </a:t>
            </a:r>
            <a:r>
              <a:rPr lang="ko-KR" altLang="ko-KR" sz="1200" b="0" i="0" kern="1200" dirty="0" err="1">
                <a:solidFill>
                  <a:schemeClr val="tx1"/>
                </a:solidFill>
                <a:effectLst/>
                <a:latin typeface="+mn-lt"/>
                <a:ea typeface="+mn-ea"/>
                <a:cs typeface="+mn-cs"/>
              </a:rPr>
              <a:t>only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shrinks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candidate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list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edges</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distribution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long</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as</a:t>
            </a:r>
            <a:r>
              <a:rPr lang="ko-KR" altLang="ko-KR" sz="1200" b="0" i="0" kern="1200" dirty="0">
                <a:solidFill>
                  <a:schemeClr val="tx1"/>
                </a:solidFill>
                <a:effectLst/>
                <a:latin typeface="+mn-lt"/>
                <a:ea typeface="+mn-ea"/>
                <a:cs typeface="+mn-cs"/>
              </a:rPr>
              <a:t> 0.1301 </a:t>
            </a:r>
            <a:r>
              <a:rPr lang="ko-KR" altLang="ko-KR" sz="1200" b="0" i="0" kern="1200" dirty="0" err="1">
                <a:solidFill>
                  <a:schemeClr val="tx1"/>
                </a:solidFill>
                <a:effectLst/>
                <a:latin typeface="+mn-lt"/>
                <a:ea typeface="+mn-ea"/>
                <a:cs typeface="+mn-cs"/>
              </a:rPr>
              <a:t>sits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between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25th and 75th </a:t>
            </a:r>
            <a:r>
              <a:rPr lang="ko-KR" altLang="ko-KR" sz="1200" b="0" i="0" kern="1200" dirty="0" err="1">
                <a:solidFill>
                  <a:schemeClr val="tx1"/>
                </a:solidFill>
                <a:effectLst/>
                <a:latin typeface="+mn-lt"/>
                <a:ea typeface="+mn-ea"/>
                <a:cs typeface="+mn-cs"/>
              </a:rPr>
              <a:t>percentile</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which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does</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results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show</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still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candidate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even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at</a:t>
            </a:r>
            <a:r>
              <a:rPr lang="ko-KR" altLang="ko-KR" sz="1200" b="0" i="0" kern="1200" dirty="0">
                <a:solidFill>
                  <a:schemeClr val="tx1"/>
                </a:solidFill>
                <a:effectLst/>
                <a:latin typeface="+mn-lt"/>
                <a:ea typeface="+mn-ea"/>
                <a:cs typeface="+mn-cs"/>
              </a:rPr>
              <a:t> TRIM=25%),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wins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every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single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time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because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winner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hasn't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changed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only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pool</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losers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has</a:t>
            </a:r>
            <a:r>
              <a:rPr lang="ko-KR" altLang="ko-KR" sz="1200" b="0" i="0" kern="1200" dirty="0">
                <a:solidFill>
                  <a:schemeClr val="tx1"/>
                </a:solidFill>
                <a:effectLst/>
                <a:latin typeface="+mn-lt"/>
                <a:ea typeface="+mn-ea"/>
                <a:cs typeface="+mn-cs"/>
              </a:rPr>
              <a:t>.</a:t>
            </a:r>
          </a:p>
          <a:p>
            <a:r>
              <a:rPr lang="ko-KR" altLang="ko-KR" sz="1200" b="1" i="0" kern="1200" dirty="0" err="1">
                <a:solidFill>
                  <a:schemeClr val="tx1"/>
                </a:solidFill>
                <a:effectLst/>
                <a:latin typeface="+mn-lt"/>
                <a:ea typeface="+mn-ea"/>
                <a:cs typeface="+mn-cs"/>
              </a:rPr>
              <a:t>Analogy</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if</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pressed</a:t>
            </a:r>
            <a:r>
              <a:rPr lang="ko-KR" altLang="ko-KR" sz="1200" b="1" i="0" kern="1200" dirty="0">
                <a:solidFill>
                  <a:schemeClr val="tx1"/>
                </a:solidFill>
                <a:effectLst/>
                <a:latin typeface="+mn-lt"/>
                <a:ea typeface="+mn-ea"/>
                <a:cs typeface="+mn-cs"/>
              </a:rPr>
              <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imagine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race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where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fastest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runner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finishes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a:t>
            </a:r>
            <a:r>
              <a:rPr lang="ko-KR" altLang="ko-KR" sz="1200" b="0" i="0" kern="1200" dirty="0">
                <a:solidFill>
                  <a:schemeClr val="tx1"/>
                </a:solidFill>
                <a:effectLst/>
                <a:latin typeface="+mn-lt"/>
                <a:ea typeface="+mn-ea"/>
                <a:cs typeface="+mn-cs"/>
              </a:rPr>
              <a:t> 10.1 </a:t>
            </a:r>
            <a:r>
              <a:rPr lang="ko-KR" altLang="ko-KR" sz="1200" b="0" i="0" kern="1200" dirty="0" err="1">
                <a:solidFill>
                  <a:schemeClr val="tx1"/>
                </a:solidFill>
                <a:effectLst/>
                <a:latin typeface="+mn-lt"/>
                <a:ea typeface="+mn-ea"/>
                <a:cs typeface="+mn-cs"/>
              </a:rPr>
              <a:t>seconds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If</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you</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disqualify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slowest</a:t>
            </a:r>
            <a:r>
              <a:rPr lang="ko-KR" altLang="ko-KR" sz="1200" b="0" i="0" kern="1200" dirty="0">
                <a:solidFill>
                  <a:schemeClr val="tx1"/>
                </a:solidFill>
                <a:effectLst/>
                <a:latin typeface="+mn-lt"/>
                <a:ea typeface="+mn-ea"/>
                <a:cs typeface="+mn-cs"/>
              </a:rPr>
              <a:t> 15%, 20%, </a:t>
            </a:r>
            <a:r>
              <a:rPr lang="ko-KR" altLang="ko-KR" sz="1200" b="0" i="0" kern="1200" dirty="0" err="1">
                <a:solidFill>
                  <a:schemeClr val="tx1"/>
                </a:solidFill>
                <a:effectLst/>
                <a:latin typeface="+mn-lt"/>
                <a:ea typeface="+mn-ea"/>
                <a:cs typeface="+mn-cs"/>
              </a:rPr>
              <a:t>or</a:t>
            </a:r>
            <a:r>
              <a:rPr lang="ko-KR" altLang="ko-KR" sz="1200" b="0" i="0" kern="1200" dirty="0">
                <a:solidFill>
                  <a:schemeClr val="tx1"/>
                </a:solidFill>
                <a:effectLst/>
                <a:latin typeface="+mn-lt"/>
                <a:ea typeface="+mn-ea"/>
                <a:cs typeface="+mn-cs"/>
              </a:rPr>
              <a:t> 25% of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field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same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person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still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wins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a:t>
            </a:r>
            <a:r>
              <a:rPr lang="ko-KR" altLang="ko-KR" sz="1200" b="0" i="0" kern="1200" dirty="0">
                <a:solidFill>
                  <a:schemeClr val="tx1"/>
                </a:solidFill>
                <a:effectLst/>
                <a:latin typeface="+mn-lt"/>
                <a:ea typeface="+mn-ea"/>
                <a:cs typeface="+mn-cs"/>
              </a:rPr>
              <a:t> 10.1 </a:t>
            </a:r>
            <a:r>
              <a:rPr lang="ko-KR" altLang="ko-KR" sz="1200" b="0" i="0" kern="1200" dirty="0" err="1">
                <a:solidFill>
                  <a:schemeClr val="tx1"/>
                </a:solidFill>
                <a:effectLst/>
                <a:latin typeface="+mn-lt"/>
                <a:ea typeface="+mn-ea"/>
                <a:cs typeface="+mn-cs"/>
              </a:rPr>
              <a:t>seconds</a:t>
            </a:r>
            <a:r>
              <a:rPr lang="ko-KR" altLang="ko-KR" sz="1200" b="0" i="0" kern="1200" dirty="0">
                <a:solidFill>
                  <a:schemeClr val="tx1"/>
                </a:solidFill>
                <a:effectLst/>
                <a:latin typeface="+mn-lt"/>
                <a:ea typeface="+mn-ea"/>
                <a:cs typeface="+mn-cs"/>
              </a:rPr>
              <a:t>. The </a:t>
            </a:r>
            <a:r>
              <a:rPr lang="ko-KR" altLang="ko-KR" sz="1200" b="0" i="0" kern="1200" dirty="0" err="1">
                <a:solidFill>
                  <a:schemeClr val="tx1"/>
                </a:solidFill>
                <a:effectLst/>
                <a:latin typeface="+mn-lt"/>
                <a:ea typeface="+mn-ea"/>
                <a:cs typeface="+mn-cs"/>
              </a:rPr>
              <a:t>time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doesn't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change</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you</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just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shortened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starting</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grid</a:t>
            </a:r>
            <a:r>
              <a:rPr lang="ko-KR" altLang="ko-KR" sz="1200" b="0" i="0" kern="1200" dirty="0">
                <a:solidFill>
                  <a:schemeClr val="tx1"/>
                </a:solidFill>
                <a:effectLst/>
                <a:latin typeface="+mn-lt"/>
                <a:ea typeface="+mn-ea"/>
                <a:cs typeface="+mn-cs"/>
              </a:rPr>
              <a:t>.</a:t>
            </a:r>
          </a:p>
          <a:p>
            <a:r>
              <a:rPr lang="ko-KR" altLang="ko-KR" sz="1200" b="1" i="0" kern="1200" dirty="0" err="1">
                <a:solidFill>
                  <a:schemeClr val="tx1"/>
                </a:solidFill>
                <a:effectLst/>
                <a:latin typeface="+mn-lt"/>
                <a:ea typeface="+mn-ea"/>
                <a:cs typeface="+mn-cs"/>
              </a:rPr>
              <a:t>What</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to</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say</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to</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the</a:t>
            </a:r>
            <a:r>
              <a:rPr lang="ko-KR" altLang="ko-KR" sz="1200" b="1" i="0" kern="1200" dirty="0">
                <a:solidFill>
                  <a:schemeClr val="tx1"/>
                </a:solidFill>
                <a:effectLst/>
                <a:latin typeface="+mn-lt"/>
                <a:ea typeface="+mn-ea"/>
                <a:cs typeface="+mn-cs"/>
              </a:rPr>
              <a:t> </a:t>
            </a:r>
            <a:r>
              <a:rPr lang="ko-KR" altLang="ko-KR" sz="1200" b="1" i="0" kern="1200" dirty="0" err="1">
                <a:solidFill>
                  <a:schemeClr val="tx1"/>
                </a:solidFill>
                <a:effectLst/>
                <a:latin typeface="+mn-lt"/>
                <a:ea typeface="+mn-ea"/>
                <a:cs typeface="+mn-cs"/>
              </a:rPr>
              <a:t>professor</a:t>
            </a:r>
            <a:r>
              <a:rPr lang="ko-KR" altLang="ko-KR" sz="1200" b="1" i="0" kern="1200" dirty="0">
                <a:solidFill>
                  <a:schemeClr val="tx1"/>
                </a:solidFill>
                <a:effectLst/>
                <a:latin typeface="+mn-lt"/>
                <a:ea typeface="+mn-ea"/>
                <a:cs typeface="+mn-cs"/>
              </a:rPr>
              <a:t>:</a:t>
            </a:r>
            <a:endParaRPr lang="ko-KR" altLang="ko-KR" sz="1200" b="0" i="0" kern="1200" dirty="0">
              <a:solidFill>
                <a:schemeClr val="tx1"/>
              </a:solidFill>
              <a:effectLst/>
              <a:latin typeface="+mn-lt"/>
              <a:ea typeface="+mn-ea"/>
              <a:cs typeface="+mn-cs"/>
            </a:endParaRPr>
          </a:p>
          <a:p>
            <a:r>
              <a:rPr lang="ko-KR" altLang="ko-KR" sz="1200" b="0" i="0" kern="1200" dirty="0">
                <a:solidFill>
                  <a:schemeClr val="tx1"/>
                </a:solidFill>
                <a:effectLst/>
                <a:latin typeface="+mn-lt"/>
                <a:ea typeface="+mn-ea"/>
                <a:cs typeface="+mn-cs"/>
              </a:rPr>
              <a:t>"</a:t>
            </a:r>
            <a:r>
              <a:rPr lang="ko-KR" altLang="ko-KR" sz="1200" b="0" i="0" kern="1200" dirty="0" err="1">
                <a:solidFill>
                  <a:schemeClr val="tx1"/>
                </a:solidFill>
                <a:effectLst/>
                <a:latin typeface="+mn-lt"/>
                <a:ea typeface="+mn-ea"/>
                <a:cs typeface="+mn-cs"/>
              </a:rPr>
              <a:t>Professor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you're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right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looks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suspicious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but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actually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expected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outcome</a:t>
            </a:r>
            <a:r>
              <a:rPr lang="ko-KR" altLang="ko-KR" sz="1200" b="0" i="0" kern="1200" dirty="0">
                <a:solidFill>
                  <a:schemeClr val="tx1"/>
                </a:solidFill>
                <a:effectLst/>
                <a:latin typeface="+mn-lt"/>
                <a:ea typeface="+mn-ea"/>
                <a:cs typeface="+mn-cs"/>
              </a:rPr>
              <a:t>. TRIM </a:t>
            </a:r>
            <a:r>
              <a:rPr lang="ko-KR" altLang="ko-KR" sz="1200" b="0" i="0" kern="1200" dirty="0" err="1">
                <a:solidFill>
                  <a:schemeClr val="tx1"/>
                </a:solidFill>
                <a:effectLst/>
                <a:latin typeface="+mn-lt"/>
                <a:ea typeface="+mn-ea"/>
                <a:cs typeface="+mn-cs"/>
              </a:rPr>
              <a:t>sensitivity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only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removes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candidates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near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boundary</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buffer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distribution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q</a:t>
            </a:r>
            <a:r>
              <a:rPr lang="ko-KR" altLang="ko-KR" sz="1200" b="0" i="0" kern="1200" dirty="0">
                <a:solidFill>
                  <a:schemeClr val="tx1"/>
                </a:solidFill>
                <a:effectLst/>
                <a:latin typeface="+mn-lt"/>
                <a:ea typeface="+mn-ea"/>
                <a:cs typeface="+mn-cs"/>
              </a:rPr>
              <a:t>* = 0.1301 </a:t>
            </a:r>
            <a:r>
              <a:rPr lang="ko-KR" altLang="ko-KR" sz="1200" b="0" i="0" kern="1200" dirty="0" err="1">
                <a:solidFill>
                  <a:schemeClr val="tx1"/>
                </a:solidFill>
                <a:effectLst/>
                <a:latin typeface="+mn-lt"/>
                <a:ea typeface="+mn-ea"/>
                <a:cs typeface="+mn-cs"/>
              </a:rPr>
              <a:t>sits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comfortably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interior</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it's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still</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candidate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even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when</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trim</a:t>
            </a:r>
            <a:r>
              <a:rPr lang="ko-KR" altLang="ko-KR" sz="1200" b="0" i="0" kern="1200" dirty="0">
                <a:solidFill>
                  <a:schemeClr val="tx1"/>
                </a:solidFill>
                <a:effectLst/>
                <a:latin typeface="+mn-lt"/>
                <a:ea typeface="+mn-ea"/>
                <a:cs typeface="+mn-cs"/>
              </a:rPr>
              <a:t> 25% </a:t>
            </a:r>
            <a:r>
              <a:rPr lang="ko-KR" altLang="ko-KR" sz="1200" b="0" i="0" kern="1200" dirty="0" err="1">
                <a:solidFill>
                  <a:schemeClr val="tx1"/>
                </a:solidFill>
                <a:effectLst/>
                <a:latin typeface="+mn-lt"/>
                <a:ea typeface="+mn-ea"/>
                <a:cs typeface="+mn-cs"/>
              </a:rPr>
              <a:t>from</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both</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ends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Since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global</a:t>
            </a:r>
            <a:r>
              <a:rPr lang="ko-KR" altLang="ko-KR" sz="1200" b="0" i="0" kern="1200" dirty="0">
                <a:solidFill>
                  <a:schemeClr val="tx1"/>
                </a:solidFill>
                <a:effectLst/>
                <a:latin typeface="+mn-lt"/>
                <a:ea typeface="+mn-ea"/>
                <a:cs typeface="+mn-cs"/>
              </a:rPr>
              <a:t> SSR </a:t>
            </a:r>
            <a:r>
              <a:rPr lang="ko-KR" altLang="ko-KR" sz="1200" b="0" i="0" kern="1200" dirty="0" err="1">
                <a:solidFill>
                  <a:schemeClr val="tx1"/>
                </a:solidFill>
                <a:effectLst/>
                <a:latin typeface="+mn-lt"/>
                <a:ea typeface="+mn-ea"/>
                <a:cs typeface="+mn-cs"/>
              </a:rPr>
              <a:t>minimum</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wins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regardless</a:t>
            </a:r>
            <a:r>
              <a:rPr lang="ko-KR" altLang="ko-KR" sz="1200" b="0" i="0" kern="1200" dirty="0">
                <a:solidFill>
                  <a:schemeClr val="tx1"/>
                </a:solidFill>
                <a:effectLst/>
                <a:latin typeface="+mn-lt"/>
                <a:ea typeface="+mn-ea"/>
                <a:cs typeface="+mn-cs"/>
              </a:rPr>
              <a:t> of </a:t>
            </a:r>
            <a:r>
              <a:rPr lang="ko-KR" altLang="ko-KR" sz="1200" b="0" i="0" kern="1200" dirty="0" err="1">
                <a:solidFill>
                  <a:schemeClr val="tx1"/>
                </a:solidFill>
                <a:effectLst/>
                <a:latin typeface="+mn-lt"/>
                <a:ea typeface="+mn-ea"/>
                <a:cs typeface="+mn-cs"/>
              </a:rPr>
              <a:t>how</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many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boundary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candidates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exclude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What</a:t>
            </a:r>
            <a:r>
              <a:rPr lang="ko-KR" altLang="ko-KR" sz="1200" b="0" i="0" kern="1200" dirty="0">
                <a:solidFill>
                  <a:schemeClr val="tx1"/>
                </a:solidFill>
                <a:effectLst/>
                <a:latin typeface="+mn-lt"/>
                <a:ea typeface="+mn-ea"/>
                <a:cs typeface="+mn-cs"/>
              </a:rPr>
              <a:t> TRIM </a:t>
            </a:r>
            <a:r>
              <a:rPr lang="ko-KR" altLang="ko-KR" sz="1200" b="0" i="0" kern="1200" dirty="0" err="1">
                <a:solidFill>
                  <a:schemeClr val="tx1"/>
                </a:solidFill>
                <a:effectLst/>
                <a:latin typeface="+mn-lt"/>
                <a:ea typeface="+mn-ea"/>
                <a:cs typeface="+mn-cs"/>
              </a:rPr>
              <a:t>sensitivity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confirms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q</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1" kern="1200" dirty="0" err="1">
                <a:solidFill>
                  <a:schemeClr val="tx1"/>
                </a:solidFill>
                <a:effectLst/>
                <a:latin typeface="+mn-lt"/>
                <a:ea typeface="+mn-ea"/>
                <a:cs typeface="+mn-cs"/>
              </a:rPr>
              <a:t>not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boundary</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artifact</a:t>
            </a:r>
            <a:r>
              <a:rPr lang="ko-KR" altLang="ko-KR" sz="1200" b="0" i="0" kern="1200" dirty="0">
                <a:solidFill>
                  <a:schemeClr val="tx1"/>
                </a:solidFill>
                <a:effectLst/>
                <a:latin typeface="+mn-lt"/>
                <a:ea typeface="+mn-ea"/>
                <a:cs typeface="+mn-cs"/>
              </a:rPr>
              <a:t> — </a:t>
            </a:r>
            <a:r>
              <a:rPr lang="ko-KR" altLang="ko-KR" sz="1200" b="0" i="0" kern="1200" dirty="0" err="1">
                <a:solidFill>
                  <a:schemeClr val="tx1"/>
                </a:solidFill>
                <a:effectLst/>
                <a:latin typeface="+mn-lt"/>
                <a:ea typeface="+mn-ea"/>
                <a:cs typeface="+mn-cs"/>
              </a:rPr>
              <a:t>if</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were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would</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disappear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or</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shift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as</a:t>
            </a:r>
            <a:r>
              <a:rPr lang="ko-KR" altLang="ko-KR" sz="1200" b="0" i="0" kern="1200" dirty="0">
                <a:solidFill>
                  <a:schemeClr val="tx1"/>
                </a:solidFill>
                <a:effectLst/>
                <a:latin typeface="+mn-lt"/>
                <a:ea typeface="+mn-ea"/>
                <a:cs typeface="+mn-cs"/>
              </a:rPr>
              <a:t> TRIM </a:t>
            </a:r>
            <a:r>
              <a:rPr lang="ko-KR" altLang="ko-KR" sz="1200" b="0" i="0" kern="1200" dirty="0" err="1">
                <a:solidFill>
                  <a:schemeClr val="tx1"/>
                </a:solidFill>
                <a:effectLst/>
                <a:latin typeface="+mn-lt"/>
                <a:ea typeface="+mn-ea"/>
                <a:cs typeface="+mn-cs"/>
              </a:rPr>
              <a:t>increases</a:t>
            </a:r>
            <a:r>
              <a:rPr lang="ko-KR" altLang="ko-KR" sz="1200" b="0" i="0" kern="1200" dirty="0">
                <a:solidFill>
                  <a:schemeClr val="tx1"/>
                </a:solidFill>
                <a:effectLst/>
                <a:latin typeface="+mn-lt"/>
                <a:ea typeface="+mn-ea"/>
                <a:cs typeface="+mn-cs"/>
              </a:rPr>
              <a:t>. The </a:t>
            </a:r>
            <a:r>
              <a:rPr lang="ko-KR" altLang="ko-KR" sz="1200" b="0" i="0" kern="1200" dirty="0" err="1">
                <a:solidFill>
                  <a:schemeClr val="tx1"/>
                </a:solidFill>
                <a:effectLst/>
                <a:latin typeface="+mn-lt"/>
                <a:ea typeface="+mn-ea"/>
                <a:cs typeface="+mn-cs"/>
              </a:rPr>
              <a:t>fact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that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doesn't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shift</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is</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the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positive</a:t>
            </a:r>
            <a:r>
              <a:rPr lang="ko-KR" altLang="ko-KR" sz="1200" b="0" i="0" kern="1200" dirty="0">
                <a:solidFill>
                  <a:schemeClr val="tx1"/>
                </a:solidFill>
                <a:effectLst/>
                <a:latin typeface="+mn-lt"/>
                <a:ea typeface="+mn-ea"/>
                <a:cs typeface="+mn-cs"/>
              </a:rPr>
              <a:t> </a:t>
            </a:r>
            <a:r>
              <a:rPr lang="ko-KR" altLang="ko-KR" sz="1200" b="0" i="0" kern="1200" dirty="0" err="1">
                <a:solidFill>
                  <a:schemeClr val="tx1"/>
                </a:solidFill>
                <a:effectLst/>
                <a:latin typeface="+mn-lt"/>
                <a:ea typeface="+mn-ea"/>
                <a:cs typeface="+mn-cs"/>
              </a:rPr>
              <a:t>result</a:t>
            </a:r>
            <a:r>
              <a:rPr lang="ko-KR" altLang="ko-KR" sz="1200" b="0" i="0" kern="1200" dirty="0">
                <a:solidFill>
                  <a:schemeClr val="tx1"/>
                </a:solidFill>
                <a:effectLst/>
                <a:latin typeface="+mn-lt"/>
                <a:ea typeface="+mn-ea"/>
                <a:cs typeface="+mn-cs"/>
              </a:rPr>
              <a:t>. The LSTAR model is more compelling evidence of robustness because it's an entirely different estimator that finds c* = 0.1314 independently."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robustness check number two — a completely different model. Hansen 2000 assumes the regime switches sharply at q*. A critic could say: what if the transition is actually gradual? LSTAR, or Logistic Smooth Transition Regression, tests exactly that. Instead of a binary indicator, it uses a logistic weight function G that takes values between 0 and 1. When the buffer is far below the midpoint c, G is close to 1 — the low-buffer regime is fully active. When the buffer is far above c, G is close to 0 — the high-buffer regime. The parameter gamma controls how sharp the transition is. A small gamma means the transition is very gradual. A large gamma means the transition is essentially a sharp step function. We estimated the model using a grid search followed by Nelder-Mead </a:t>
            </a:r>
            <a:r>
              <a:rPr dirty="0" err="1"/>
              <a:t>optimisation</a:t>
            </a:r>
            <a:r>
              <a:rPr dirty="0"/>
              <a:t>. The results: the midpoint c-star is 0.1314, or 13.1 percent. The Hansen threshold was 13.0 percent. The difference is 0.0013 — negligible. And the sharpness parameter gamma-star is 2,768. This is an extremely large value — it means the transition is almost exactly a step function. LSTAR tried to find a smooth transition and concluded the data looks like a sharp switch. The left panel in the graph shows the G function — it is almost a vertical step at 13 percent. The right panel shows the effective beta as a function of the buffer. At low buffer, beta is about minus 7.9 bps. At high buffer, it is minus 1.8 bps. This is convergent validity: two completely different model architectures find the same threshold.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summary slide. What does the paper actually prove? Three things. First, the regression. Each standard deviation of stablecoin supply growth compresses the OIS-Treasury spread by 6.02 basis points. Stablecoins are structural buyers of T-bills, deepening the US exorbitant privilege. This result is statistically significant, estimated on a monthly panel with robust standard errors. Second, the Hansen threshold. The optimal threshold in the data is q* = 13%. Below that buffer, the convenience yield compression reverses — stablecoins become sellers. We have confirmed this is stable across all TRIM values and that a single threshold is sufficient. Third, the LSTAR robustness check. A smooth transition model that makes no assumption about switch sharpness finds its transition midpoint at c* = 13.1% — essentially identical to Hansen. And the estimated sharpness gamma of 2,768 independently tells us the switch is near-discrete, validating Hansen's binary-regime assumption. The event study, once corrected, finds insignificant CARs and is presented as qualitative context only. The paper's conclusion is unchanged: stablecoins amplify the exorbitant privilege, up to the 13% buffer tipping point.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Our paper makes two main contributions. First: stablecoin issuers have become structurally important buyers of U.S. Treasury bills. Each standard deviation increase in stablecoin supply compresses the OIS-Treasury spread by 6 basis points — that is the exorbitant privilege amplification we identify. Second: this relationship is conditional on the liquid buffer. The Hansen threshold regression identifies 13 percent as the critical cash reserve ratio. Above it, issuers absorb redemption shocks without touching T-bills. Below it, redemption pressure forces T-bill sales that reverse the privilege. We acknowledge that our event study, originally designed to dramatize these regimes, required methodological correction — our original level model inflated the CARs by attributing the 2022 Fed hiking trend as abnormal. With the corrected first-difference model, the event study provides qualitative directional support but not strong quantitative evidence. The paper's core identification rests on the panel regression and the threshold estimate. We are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094095" y="5560060"/>
            <a:ext cx="5842635" cy="1200329"/>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 · e  Alexandre Godefroy · Baptiste Degand · </a:t>
            </a:r>
            <a:r>
              <a:rPr lang="en-US" altLang="ko-KR" b="1" dirty="0" err="1">
                <a:solidFill>
                  <a:srgbClr val="FFFFFF"/>
                </a:solidFill>
              </a:rPr>
              <a:t>Minjin</a:t>
            </a:r>
            <a:r>
              <a:rPr lang="en-US" altLang="ko-KR" b="1" dirty="0">
                <a:solidFill>
                  <a:srgbClr val="FFFFFF"/>
                </a:solidFill>
              </a:rPr>
              <a:t> Kim </a:t>
            </a:r>
            <a:endParaRPr lang="en-US" altLang="ko-KR" sz="1800" b="1"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We Are Covering Today</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2</a:t>
            </a:r>
          </a:p>
        </p:txBody>
      </p:sp>
      <p:sp>
        <p:nvSpPr>
          <p:cNvPr id="6" name="Rectangle 5"/>
          <p:cNvSpPr/>
          <p:nvPr/>
        </p:nvSpPr>
        <p:spPr>
          <a:xfrm>
            <a:off x="320040" y="1051560"/>
            <a:ext cx="594360" cy="1143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344168"/>
            <a:ext cx="594360" cy="457200"/>
          </a:xfrm>
          <a:prstGeom prst="rect">
            <a:avLst/>
          </a:prstGeom>
          <a:noFill/>
        </p:spPr>
        <p:txBody>
          <a:bodyPr wrap="square">
            <a:spAutoFit/>
          </a:bodyPr>
          <a:lstStyle/>
          <a:p>
            <a:pPr algn="ctr"/>
            <a:r>
              <a:rPr sz="2600" b="1" i="0">
                <a:solidFill>
                  <a:srgbClr val="FFFFFF"/>
                </a:solidFill>
                <a:latin typeface="Calibri"/>
              </a:rPr>
              <a:t>1</a:t>
            </a:r>
          </a:p>
        </p:txBody>
      </p:sp>
      <p:sp>
        <p:nvSpPr>
          <p:cNvPr id="8" name="Rectangle 7"/>
          <p:cNvSpPr/>
          <p:nvPr/>
        </p:nvSpPr>
        <p:spPr>
          <a:xfrm>
            <a:off x="960120" y="1051560"/>
            <a:ext cx="10881360" cy="1143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143000"/>
            <a:ext cx="10607040" cy="320040"/>
          </a:xfrm>
          <a:prstGeom prst="rect">
            <a:avLst/>
          </a:prstGeom>
          <a:noFill/>
        </p:spPr>
        <p:txBody>
          <a:bodyPr wrap="square">
            <a:spAutoFit/>
          </a:bodyPr>
          <a:lstStyle/>
          <a:p>
            <a:pPr algn="l"/>
            <a:r>
              <a:rPr sz="1500" b="1" i="0">
                <a:solidFill>
                  <a:srgbClr val="C0392B"/>
                </a:solidFill>
                <a:latin typeface="Calibri"/>
              </a:rPr>
              <a:t>Event Study Update</a:t>
            </a:r>
          </a:p>
        </p:txBody>
      </p:sp>
      <p:sp>
        <p:nvSpPr>
          <p:cNvPr id="10" name="TextBox 9"/>
          <p:cNvSpPr txBox="1"/>
          <p:nvPr/>
        </p:nvSpPr>
        <p:spPr>
          <a:xfrm>
            <a:off x="1097280" y="1490472"/>
            <a:ext cx="10607040" cy="594360"/>
          </a:xfrm>
          <a:prstGeom prst="rect">
            <a:avLst/>
          </a:prstGeom>
          <a:noFill/>
        </p:spPr>
        <p:txBody>
          <a:bodyPr wrap="square">
            <a:spAutoFit/>
          </a:bodyPr>
          <a:lstStyle/>
          <a:p>
            <a:pPr algn="l"/>
            <a:r>
              <a:rPr sz="1300" b="0" i="0">
                <a:solidFill>
                  <a:srgbClr val="1A1A2E"/>
                </a:solidFill>
                <a:latin typeface="Calibri"/>
              </a:rPr>
              <a:t>We retested the event study with the corrected model. All three CARs are insignificant (−15/−4/−2 bps, all n.s.). We explain why and propose how the event study still contributes.</a:t>
            </a:r>
          </a:p>
        </p:txBody>
      </p:sp>
      <p:sp>
        <p:nvSpPr>
          <p:cNvPr id="11" name="Rectangle 10"/>
          <p:cNvSpPr/>
          <p:nvPr/>
        </p:nvSpPr>
        <p:spPr>
          <a:xfrm>
            <a:off x="320040" y="2313432"/>
            <a:ext cx="594360" cy="11430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606040"/>
            <a:ext cx="594360" cy="457200"/>
          </a:xfrm>
          <a:prstGeom prst="rect">
            <a:avLst/>
          </a:prstGeom>
          <a:noFill/>
        </p:spPr>
        <p:txBody>
          <a:bodyPr wrap="square">
            <a:spAutoFit/>
          </a:bodyPr>
          <a:lstStyle/>
          <a:p>
            <a:pPr algn="ctr"/>
            <a:r>
              <a:rPr sz="2600" b="1" i="0">
                <a:solidFill>
                  <a:srgbClr val="FFFFFF"/>
                </a:solidFill>
                <a:latin typeface="Calibri"/>
              </a:rPr>
              <a:t>2</a:t>
            </a:r>
          </a:p>
        </p:txBody>
      </p:sp>
      <p:sp>
        <p:nvSpPr>
          <p:cNvPr id="13" name="Rectangle 12"/>
          <p:cNvSpPr/>
          <p:nvPr/>
        </p:nvSpPr>
        <p:spPr>
          <a:xfrm>
            <a:off x="960120" y="2313432"/>
            <a:ext cx="1088136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2404872"/>
            <a:ext cx="10607040" cy="320040"/>
          </a:xfrm>
          <a:prstGeom prst="rect">
            <a:avLst/>
          </a:prstGeom>
          <a:noFill/>
        </p:spPr>
        <p:txBody>
          <a:bodyPr wrap="square">
            <a:spAutoFit/>
          </a:bodyPr>
          <a:lstStyle/>
          <a:p>
            <a:pPr algn="l"/>
            <a:r>
              <a:rPr sz="1500" b="1" i="0">
                <a:solidFill>
                  <a:srgbClr val="008B8B"/>
                </a:solidFill>
                <a:latin typeface="Calibri"/>
              </a:rPr>
              <a:t>Threshold Robustness I — TRIM Sensitivity</a:t>
            </a:r>
          </a:p>
        </p:txBody>
      </p:sp>
      <p:sp>
        <p:nvSpPr>
          <p:cNvPr id="15" name="TextBox 14"/>
          <p:cNvSpPr txBox="1"/>
          <p:nvPr/>
        </p:nvSpPr>
        <p:spPr>
          <a:xfrm>
            <a:off x="1097280" y="2752344"/>
            <a:ext cx="10607040" cy="594360"/>
          </a:xfrm>
          <a:prstGeom prst="rect">
            <a:avLst/>
          </a:prstGeom>
          <a:noFill/>
        </p:spPr>
        <p:txBody>
          <a:bodyPr wrap="square">
            <a:spAutoFit/>
          </a:bodyPr>
          <a:lstStyle/>
          <a:p>
            <a:pPr algn="l"/>
            <a:r>
              <a:rPr sz="1300" b="0" i="0">
                <a:solidFill>
                  <a:srgbClr val="1A1A2E"/>
                </a:solidFill>
                <a:latin typeface="Calibri"/>
              </a:rPr>
              <a:t>q* = 13% is stable across all TRIM parameter values (15%, 20%, 25%). Bootstrap 90% CI: [2.6%, 14.5%]. Not a boundary artifact.</a:t>
            </a:r>
          </a:p>
        </p:txBody>
      </p:sp>
      <p:sp>
        <p:nvSpPr>
          <p:cNvPr id="16" name="Rectangle 15"/>
          <p:cNvSpPr/>
          <p:nvPr/>
        </p:nvSpPr>
        <p:spPr>
          <a:xfrm>
            <a:off x="320040" y="3575304"/>
            <a:ext cx="594360" cy="1143000"/>
          </a:xfrm>
          <a:prstGeom prst="rect">
            <a:avLst/>
          </a:prstGeom>
          <a:solidFill>
            <a:srgbClr val="5B2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3867912"/>
            <a:ext cx="594360" cy="457200"/>
          </a:xfrm>
          <a:prstGeom prst="rect">
            <a:avLst/>
          </a:prstGeom>
          <a:noFill/>
        </p:spPr>
        <p:txBody>
          <a:bodyPr wrap="square">
            <a:spAutoFit/>
          </a:bodyPr>
          <a:lstStyle/>
          <a:p>
            <a:pPr algn="ctr"/>
            <a:r>
              <a:rPr sz="2600" b="1" i="0">
                <a:solidFill>
                  <a:srgbClr val="FFFFFF"/>
                </a:solidFill>
                <a:latin typeface="Calibri"/>
              </a:rPr>
              <a:t>3</a:t>
            </a:r>
          </a:p>
        </p:txBody>
      </p:sp>
      <p:sp>
        <p:nvSpPr>
          <p:cNvPr id="18" name="Rectangle 17"/>
          <p:cNvSpPr/>
          <p:nvPr/>
        </p:nvSpPr>
        <p:spPr>
          <a:xfrm>
            <a:off x="960120" y="3575304"/>
            <a:ext cx="10881360" cy="1143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666744"/>
            <a:ext cx="10607040" cy="320040"/>
          </a:xfrm>
          <a:prstGeom prst="rect">
            <a:avLst/>
          </a:prstGeom>
          <a:noFill/>
        </p:spPr>
        <p:txBody>
          <a:bodyPr wrap="square">
            <a:spAutoFit/>
          </a:bodyPr>
          <a:lstStyle/>
          <a:p>
            <a:pPr algn="l"/>
            <a:r>
              <a:rPr sz="1500" b="1" i="0">
                <a:solidFill>
                  <a:srgbClr val="5B2C8D"/>
                </a:solidFill>
                <a:latin typeface="Calibri"/>
              </a:rPr>
              <a:t>Threshold Robustness II — Smooth Transition (LSTAR)</a:t>
            </a:r>
          </a:p>
        </p:txBody>
      </p:sp>
      <p:sp>
        <p:nvSpPr>
          <p:cNvPr id="20" name="TextBox 19"/>
          <p:cNvSpPr txBox="1"/>
          <p:nvPr/>
        </p:nvSpPr>
        <p:spPr>
          <a:xfrm>
            <a:off x="1097280" y="4014216"/>
            <a:ext cx="10607040" cy="594360"/>
          </a:xfrm>
          <a:prstGeom prst="rect">
            <a:avLst/>
          </a:prstGeom>
          <a:noFill/>
        </p:spPr>
        <p:txBody>
          <a:bodyPr wrap="square">
            <a:spAutoFit/>
          </a:bodyPr>
          <a:lstStyle/>
          <a:p>
            <a:pPr algn="l"/>
            <a:r>
              <a:rPr sz="1300" b="0" i="0">
                <a:solidFill>
                  <a:srgbClr val="1A1A2E"/>
                </a:solidFill>
                <a:latin typeface="Calibri"/>
              </a:rPr>
              <a:t>A completely different model that allows a smooth, gradual regime shift instead of a sharp cut. Transition midpoint c* = 13.1% — virtually identical to Hansen's q* = 13.0%.</a:t>
            </a:r>
          </a:p>
        </p:txBody>
      </p:sp>
      <p:sp>
        <p:nvSpPr>
          <p:cNvPr id="21" name="Rectangle 20"/>
          <p:cNvSpPr/>
          <p:nvPr/>
        </p:nvSpPr>
        <p:spPr>
          <a:xfrm>
            <a:off x="320040" y="4837176"/>
            <a:ext cx="594360" cy="1143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5129784"/>
            <a:ext cx="594360" cy="457200"/>
          </a:xfrm>
          <a:prstGeom prst="rect">
            <a:avLst/>
          </a:prstGeom>
          <a:noFill/>
        </p:spPr>
        <p:txBody>
          <a:bodyPr wrap="square">
            <a:spAutoFit/>
          </a:bodyPr>
          <a:lstStyle/>
          <a:p>
            <a:pPr algn="ctr"/>
            <a:r>
              <a:rPr sz="2600" b="1" i="0">
                <a:solidFill>
                  <a:srgbClr val="FFFFFF"/>
                </a:solidFill>
                <a:latin typeface="Calibri"/>
              </a:rPr>
              <a:t>4</a:t>
            </a:r>
          </a:p>
        </p:txBody>
      </p:sp>
      <p:sp>
        <p:nvSpPr>
          <p:cNvPr id="23" name="Rectangle 22"/>
          <p:cNvSpPr/>
          <p:nvPr/>
        </p:nvSpPr>
        <p:spPr>
          <a:xfrm>
            <a:off x="960120" y="4837176"/>
            <a:ext cx="1088136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4928616"/>
            <a:ext cx="10607040" cy="320040"/>
          </a:xfrm>
          <a:prstGeom prst="rect">
            <a:avLst/>
          </a:prstGeom>
          <a:noFill/>
        </p:spPr>
        <p:txBody>
          <a:bodyPr wrap="square">
            <a:spAutoFit/>
          </a:bodyPr>
          <a:lstStyle/>
          <a:p>
            <a:pPr algn="l"/>
            <a:r>
              <a:rPr sz="1500" b="1" i="0">
                <a:solidFill>
                  <a:srgbClr val="1A7A4A"/>
                </a:solidFill>
                <a:latin typeface="Calibri"/>
              </a:rPr>
              <a:t>What the Paper Proves</a:t>
            </a:r>
          </a:p>
        </p:txBody>
      </p:sp>
      <p:sp>
        <p:nvSpPr>
          <p:cNvPr id="25" name="TextBox 24"/>
          <p:cNvSpPr txBox="1"/>
          <p:nvPr/>
        </p:nvSpPr>
        <p:spPr>
          <a:xfrm>
            <a:off x="1097280" y="5276088"/>
            <a:ext cx="10607040" cy="594360"/>
          </a:xfrm>
          <a:prstGeom prst="rect">
            <a:avLst/>
          </a:prstGeom>
          <a:noFill/>
        </p:spPr>
        <p:txBody>
          <a:bodyPr wrap="square">
            <a:spAutoFit/>
          </a:bodyPr>
          <a:lstStyle/>
          <a:p>
            <a:pPr algn="l"/>
            <a:r>
              <a:rPr sz="1300" b="0" i="0">
                <a:solidFill>
                  <a:srgbClr val="1A1A2E"/>
                </a:solidFill>
                <a:latin typeface="Calibri"/>
              </a:rPr>
              <a:t>Three independent methods agree: the tipping point is near 13%. β₁ = −6.02 bps (regression) + q* = 13% (Hansen) + LSTAR c* = 13.1% = the paper.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338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Event Study Update — Corrected CARs Are Insignificant</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6" name="Rectangle 5"/>
          <p:cNvSpPr/>
          <p:nvPr/>
        </p:nvSpPr>
        <p:spPr>
          <a:xfrm>
            <a:off x="320040" y="960120"/>
            <a:ext cx="11521440" cy="310896"/>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87552"/>
            <a:ext cx="11064240" cy="246888"/>
          </a:xfrm>
          <a:prstGeom prst="rect">
            <a:avLst/>
          </a:prstGeom>
          <a:noFill/>
        </p:spPr>
        <p:txBody>
          <a:bodyPr wrap="square">
            <a:spAutoFit/>
          </a:bodyPr>
          <a:lstStyle/>
          <a:p>
            <a:pPr algn="ctr"/>
            <a:r>
              <a:rPr sz="1100" b="1" i="0">
                <a:solidFill>
                  <a:srgbClr val="FFFFFF"/>
                </a:solidFill>
                <a:latin typeface="Calibri"/>
              </a:rPr>
              <a:t>Update since last week: we retested with the corrected first-difference model. Original CARs (+891/+885/−1,801 bps) were inflated ~120× by a Fed hiking trend in the estimation window.</a:t>
            </a:r>
          </a:p>
        </p:txBody>
      </p:sp>
      <p:pic>
        <p:nvPicPr>
          <p:cNvPr id="8" name="Picture 7" descr="car_comparison.png"/>
          <p:cNvPicPr>
            <a:picLocks noChangeAspect="1"/>
          </p:cNvPicPr>
          <p:nvPr/>
        </p:nvPicPr>
        <p:blipFill>
          <a:blip r:embed="rId3"/>
          <a:stretch>
            <a:fillRect/>
          </a:stretch>
        </p:blipFill>
        <p:spPr>
          <a:xfrm>
            <a:off x="320040" y="1480095"/>
            <a:ext cx="6858000" cy="3474720"/>
          </a:xfrm>
          <a:prstGeom prst="rect">
            <a:avLst/>
          </a:prstGeom>
        </p:spPr>
      </p:pic>
      <p:sp>
        <p:nvSpPr>
          <p:cNvPr id="9" name="TextBox 8"/>
          <p:cNvSpPr txBox="1"/>
          <p:nvPr/>
        </p:nvSpPr>
        <p:spPr>
          <a:xfrm>
            <a:off x="320040" y="4982247"/>
            <a:ext cx="6858000" cy="228600"/>
          </a:xfrm>
          <a:prstGeom prst="rect">
            <a:avLst/>
          </a:prstGeom>
          <a:noFill/>
        </p:spPr>
        <p:txBody>
          <a:bodyPr wrap="square">
            <a:spAutoFit/>
          </a:bodyPr>
          <a:lstStyle/>
          <a:p>
            <a:pPr algn="l"/>
            <a:r>
              <a:rPr sz="1000" b="0" i="1" dirty="0">
                <a:solidFill>
                  <a:srgbClr val="555566"/>
                </a:solidFill>
                <a:latin typeface="Calibri"/>
              </a:rPr>
              <a:t>Top row: original (level model)  ·  Bottom row: corrected (first-diff model)</a:t>
            </a:r>
          </a:p>
        </p:txBody>
      </p:sp>
      <p:sp>
        <p:nvSpPr>
          <p:cNvPr id="10" name="Rectangle 9"/>
          <p:cNvSpPr/>
          <p:nvPr/>
        </p:nvSpPr>
        <p:spPr>
          <a:xfrm>
            <a:off x="7360920" y="1405953"/>
            <a:ext cx="457200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34072" y="1433385"/>
            <a:ext cx="4462272" cy="219456"/>
          </a:xfrm>
          <a:prstGeom prst="rect">
            <a:avLst/>
          </a:prstGeom>
          <a:noFill/>
        </p:spPr>
        <p:txBody>
          <a:bodyPr wrap="square">
            <a:spAutoFit/>
          </a:bodyPr>
          <a:lstStyle/>
          <a:p>
            <a:pPr algn="l"/>
            <a:r>
              <a:rPr sz="1100" b="1" i="0">
                <a:solidFill>
                  <a:srgbClr val="FFFFFF"/>
                </a:solidFill>
                <a:latin typeface="Calibri"/>
              </a:rPr>
              <a:t>Why the original was wrong</a:t>
            </a:r>
          </a:p>
        </p:txBody>
      </p:sp>
      <p:sp>
        <p:nvSpPr>
          <p:cNvPr id="12" name="Rectangle 11"/>
          <p:cNvSpPr/>
          <p:nvPr/>
        </p:nvSpPr>
        <p:spPr>
          <a:xfrm>
            <a:off x="7360920" y="1680273"/>
            <a:ext cx="4572000" cy="749808"/>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52360" y="1411139"/>
            <a:ext cx="4434840" cy="694944"/>
          </a:xfrm>
          <a:prstGeom prst="rect">
            <a:avLst/>
          </a:prstGeom>
          <a:noFill/>
        </p:spPr>
        <p:txBody>
          <a:bodyPr wrap="square">
            <a:spAutoFit/>
          </a:bodyPr>
          <a:lstStyle/>
          <a:p>
            <a:pPr>
              <a:spcBef>
                <a:spcPts val="0"/>
              </a:spcBef>
            </a:pPr>
            <a:endParaRPr dirty="0"/>
          </a:p>
          <a:p>
            <a:pPr algn="l">
              <a:spcBef>
                <a:spcPts val="200"/>
              </a:spcBef>
            </a:pPr>
            <a:r>
              <a:rPr sz="1100" b="0" i="0" dirty="0">
                <a:solidFill>
                  <a:srgbClr val="1A1A2E"/>
                </a:solidFill>
                <a:latin typeface="Calibri"/>
              </a:rPr>
              <a:t>Estimation window (Jan–May 2022) coincided with Fed hiking.</a:t>
            </a:r>
          </a:p>
          <a:p>
            <a:pPr algn="l">
              <a:spcBef>
                <a:spcPts val="400"/>
              </a:spcBef>
            </a:pPr>
            <a:r>
              <a:rPr sz="1100" b="1" i="0" dirty="0">
                <a:solidFill>
                  <a:srgbClr val="C0392B"/>
                </a:solidFill>
                <a:latin typeface="Calibri"/>
              </a:rPr>
              <a:t>Spread rose 5→78 bps — entirely Fed policy, not stablecoins.</a:t>
            </a:r>
          </a:p>
          <a:p>
            <a:pPr algn="l">
              <a:spcBef>
                <a:spcPts val="400"/>
              </a:spcBef>
            </a:pPr>
            <a:r>
              <a:rPr sz="1100" b="0" i="0" dirty="0">
                <a:solidFill>
                  <a:srgbClr val="1A1A2E"/>
                </a:solidFill>
                <a:latin typeface="Calibri"/>
              </a:rPr>
              <a:t>Daily 'abnormal' = 34 bps × 26 days = 884 bps fake inflation.</a:t>
            </a:r>
          </a:p>
        </p:txBody>
      </p:sp>
      <p:sp>
        <p:nvSpPr>
          <p:cNvPr id="14" name="Rectangle 13"/>
          <p:cNvSpPr/>
          <p:nvPr/>
        </p:nvSpPr>
        <p:spPr>
          <a:xfrm>
            <a:off x="7360920" y="2503233"/>
            <a:ext cx="4572000" cy="274320"/>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34072" y="2530665"/>
            <a:ext cx="4462272" cy="219456"/>
          </a:xfrm>
          <a:prstGeom prst="rect">
            <a:avLst/>
          </a:prstGeom>
          <a:noFill/>
        </p:spPr>
        <p:txBody>
          <a:bodyPr wrap="square">
            <a:spAutoFit/>
          </a:bodyPr>
          <a:lstStyle/>
          <a:p>
            <a:pPr algn="l"/>
            <a:r>
              <a:rPr sz="1100" b="1" i="0">
                <a:solidFill>
                  <a:srgbClr val="FFFFFF"/>
                </a:solidFill>
                <a:latin typeface="Calibri"/>
              </a:rPr>
              <a:t>Corrected results (first-difference model)</a:t>
            </a:r>
          </a:p>
        </p:txBody>
      </p:sp>
      <p:sp>
        <p:nvSpPr>
          <p:cNvPr id="16" name="Rectangle 15"/>
          <p:cNvSpPr/>
          <p:nvPr/>
        </p:nvSpPr>
        <p:spPr>
          <a:xfrm>
            <a:off x="7360920" y="2777553"/>
            <a:ext cx="4572000" cy="7498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52360" y="2471350"/>
            <a:ext cx="4434840" cy="694944"/>
          </a:xfrm>
          <a:prstGeom prst="rect">
            <a:avLst/>
          </a:prstGeom>
          <a:noFill/>
        </p:spPr>
        <p:txBody>
          <a:bodyPr wrap="square">
            <a:spAutoFit/>
          </a:bodyPr>
          <a:lstStyle/>
          <a:p>
            <a:pPr>
              <a:spcBef>
                <a:spcPts val="0"/>
              </a:spcBef>
            </a:pPr>
            <a:endParaRPr dirty="0"/>
          </a:p>
          <a:p>
            <a:pPr algn="l">
              <a:spcBef>
                <a:spcPts val="200"/>
              </a:spcBef>
            </a:pPr>
            <a:r>
              <a:rPr sz="1200" b="1" i="0" dirty="0">
                <a:solidFill>
                  <a:srgbClr val="555566"/>
                </a:solidFill>
                <a:latin typeface="Calibri"/>
              </a:rPr>
              <a:t>LUNA/UST  (May 2022):   −15.3 bps   </a:t>
            </a:r>
            <a:r>
              <a:rPr sz="1200" b="1" i="0" dirty="0" err="1">
                <a:solidFill>
                  <a:srgbClr val="555566"/>
                </a:solidFill>
                <a:latin typeface="Calibri"/>
              </a:rPr>
              <a:t>n.s</a:t>
            </a:r>
            <a:r>
              <a:rPr sz="1200" b="1" i="0" dirty="0">
                <a:solidFill>
                  <a:srgbClr val="555566"/>
                </a:solidFill>
                <a:latin typeface="Calibri"/>
              </a:rPr>
              <a:t>.</a:t>
            </a:r>
          </a:p>
          <a:p>
            <a:pPr algn="l">
              <a:spcBef>
                <a:spcPts val="400"/>
              </a:spcBef>
            </a:pPr>
            <a:r>
              <a:rPr sz="1200" b="1" i="0" dirty="0">
                <a:solidFill>
                  <a:srgbClr val="555566"/>
                </a:solidFill>
                <a:latin typeface="Calibri"/>
              </a:rPr>
              <a:t>USDT </a:t>
            </a:r>
            <a:r>
              <a:rPr sz="1200" b="1" i="0" dirty="0" err="1">
                <a:solidFill>
                  <a:srgbClr val="555566"/>
                </a:solidFill>
                <a:latin typeface="Calibri"/>
              </a:rPr>
              <a:t>depeg</a:t>
            </a:r>
            <a:r>
              <a:rPr sz="1200" b="1" i="0" dirty="0">
                <a:solidFill>
                  <a:srgbClr val="555566"/>
                </a:solidFill>
                <a:latin typeface="Calibri"/>
              </a:rPr>
              <a:t> (May 2022):   −4.3 bps   </a:t>
            </a:r>
            <a:r>
              <a:rPr sz="1200" b="1" i="0" dirty="0" err="1">
                <a:solidFill>
                  <a:srgbClr val="555566"/>
                </a:solidFill>
                <a:latin typeface="Calibri"/>
              </a:rPr>
              <a:t>n.s</a:t>
            </a:r>
            <a:r>
              <a:rPr sz="1200" b="1" i="0" dirty="0">
                <a:solidFill>
                  <a:srgbClr val="555566"/>
                </a:solidFill>
                <a:latin typeface="Calibri"/>
              </a:rPr>
              <a:t>.</a:t>
            </a:r>
          </a:p>
          <a:p>
            <a:pPr algn="l">
              <a:spcBef>
                <a:spcPts val="400"/>
              </a:spcBef>
            </a:pPr>
            <a:r>
              <a:rPr sz="1200" b="1" i="0" dirty="0">
                <a:solidFill>
                  <a:srgbClr val="555566"/>
                </a:solidFill>
                <a:latin typeface="Calibri"/>
              </a:rPr>
              <a:t>USDC/SVB  (Mar 2023):    −2.4 bps   </a:t>
            </a:r>
            <a:r>
              <a:rPr sz="1200" b="1" i="0" dirty="0" err="1">
                <a:solidFill>
                  <a:srgbClr val="555566"/>
                </a:solidFill>
                <a:latin typeface="Calibri"/>
              </a:rPr>
              <a:t>n.s</a:t>
            </a:r>
            <a:r>
              <a:rPr sz="1200" b="1" i="0" dirty="0">
                <a:solidFill>
                  <a:srgbClr val="555566"/>
                </a:solidFill>
                <a:latin typeface="Calibri"/>
              </a:rPr>
              <a:t>.</a:t>
            </a:r>
          </a:p>
        </p:txBody>
      </p:sp>
      <p:sp>
        <p:nvSpPr>
          <p:cNvPr id="18" name="Rectangle 17"/>
          <p:cNvSpPr/>
          <p:nvPr/>
        </p:nvSpPr>
        <p:spPr>
          <a:xfrm>
            <a:off x="7360920" y="3600513"/>
            <a:ext cx="4572000" cy="274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34072" y="3627945"/>
            <a:ext cx="4462272" cy="219456"/>
          </a:xfrm>
          <a:prstGeom prst="rect">
            <a:avLst/>
          </a:prstGeom>
          <a:noFill/>
        </p:spPr>
        <p:txBody>
          <a:bodyPr wrap="square">
            <a:spAutoFit/>
          </a:bodyPr>
          <a:lstStyle/>
          <a:p>
            <a:pPr algn="l"/>
            <a:r>
              <a:rPr sz="1100" b="1" i="0">
                <a:solidFill>
                  <a:srgbClr val="FFFFFF"/>
                </a:solidFill>
                <a:latin typeface="Calibri"/>
              </a:rPr>
              <a:t>Placebo check</a:t>
            </a:r>
          </a:p>
        </p:txBody>
      </p:sp>
      <p:sp>
        <p:nvSpPr>
          <p:cNvPr id="20" name="Rectangle 19"/>
          <p:cNvSpPr/>
          <p:nvPr/>
        </p:nvSpPr>
        <p:spPr>
          <a:xfrm>
            <a:off x="7360920" y="3874833"/>
            <a:ext cx="457200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52360" y="3568629"/>
            <a:ext cx="4434840" cy="448056"/>
          </a:xfrm>
          <a:prstGeom prst="rect">
            <a:avLst/>
          </a:prstGeom>
          <a:noFill/>
        </p:spPr>
        <p:txBody>
          <a:bodyPr wrap="square">
            <a:spAutoFit/>
          </a:bodyPr>
          <a:lstStyle/>
          <a:p>
            <a:pPr>
              <a:spcBef>
                <a:spcPts val="0"/>
              </a:spcBef>
            </a:pPr>
            <a:endParaRPr dirty="0"/>
          </a:p>
          <a:p>
            <a:pPr algn="l">
              <a:spcBef>
                <a:spcPts val="200"/>
              </a:spcBef>
            </a:pPr>
            <a:r>
              <a:rPr sz="1100" b="0" i="0" dirty="0">
                <a:solidFill>
                  <a:srgbClr val="1A1A2E"/>
                </a:solidFill>
                <a:latin typeface="Calibri"/>
              </a:rPr>
              <a:t>Placebo mean |CAR| = 4.8 bps   ·   Actual mean |CAR| = 7.3 bps</a:t>
            </a:r>
          </a:p>
          <a:p>
            <a:pPr algn="l">
              <a:spcBef>
                <a:spcPts val="400"/>
              </a:spcBef>
            </a:pPr>
            <a:r>
              <a:rPr sz="1100" b="1" i="0" dirty="0">
                <a:solidFill>
                  <a:srgbClr val="1B3A72"/>
                </a:solidFill>
                <a:latin typeface="Calibri"/>
              </a:rPr>
              <a:t>Ratio = 1.5×  →  actuals indistinguishable from placebos.</a:t>
            </a:r>
          </a:p>
        </p:txBody>
      </p:sp>
      <p:sp>
        <p:nvSpPr>
          <p:cNvPr id="22" name="Rectangle 21"/>
          <p:cNvSpPr/>
          <p:nvPr/>
        </p:nvSpPr>
        <p:spPr>
          <a:xfrm>
            <a:off x="7360920" y="4450905"/>
            <a:ext cx="4572000" cy="2743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34072" y="4478337"/>
            <a:ext cx="4462272" cy="219456"/>
          </a:xfrm>
          <a:prstGeom prst="rect">
            <a:avLst/>
          </a:prstGeom>
          <a:noFill/>
        </p:spPr>
        <p:txBody>
          <a:bodyPr wrap="square">
            <a:spAutoFit/>
          </a:bodyPr>
          <a:lstStyle/>
          <a:p>
            <a:pPr algn="l"/>
            <a:r>
              <a:rPr sz="1100" b="1" i="0">
                <a:solidFill>
                  <a:srgbClr val="FFFFFF"/>
                </a:solidFill>
                <a:latin typeface="Calibri"/>
              </a:rPr>
              <a:t>Alternative role — still useful as qualitative context</a:t>
            </a:r>
          </a:p>
        </p:txBody>
      </p:sp>
      <p:sp>
        <p:nvSpPr>
          <p:cNvPr id="24" name="Rectangle 23"/>
          <p:cNvSpPr/>
          <p:nvPr/>
        </p:nvSpPr>
        <p:spPr>
          <a:xfrm>
            <a:off x="7360920" y="4725035"/>
            <a:ext cx="4572000" cy="8686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52360" y="4406667"/>
            <a:ext cx="4434840" cy="630936"/>
          </a:xfrm>
          <a:prstGeom prst="rect">
            <a:avLst/>
          </a:prstGeom>
          <a:noFill/>
        </p:spPr>
        <p:txBody>
          <a:bodyPr wrap="square">
            <a:spAutoFit/>
          </a:bodyPr>
          <a:lstStyle/>
          <a:p>
            <a:pPr>
              <a:spcBef>
                <a:spcPts val="0"/>
              </a:spcBef>
            </a:pPr>
            <a:endParaRPr dirty="0"/>
          </a:p>
          <a:p>
            <a:pPr algn="l">
              <a:spcBef>
                <a:spcPts val="200"/>
              </a:spcBef>
            </a:pPr>
            <a:r>
              <a:rPr sz="1100" b="0" i="0" dirty="0">
                <a:solidFill>
                  <a:srgbClr val="1A1A2E"/>
                </a:solidFill>
                <a:latin typeface="Calibri"/>
              </a:rPr>
              <a:t>Directional pattern is consistent with β₁ = −6.02 bps:</a:t>
            </a:r>
          </a:p>
          <a:p>
            <a:pPr algn="l">
              <a:spcBef>
                <a:spcPts val="300"/>
              </a:spcBef>
            </a:pPr>
            <a:r>
              <a:rPr sz="1100" b="0" i="0" dirty="0">
                <a:solidFill>
                  <a:srgbClr val="1A1A2E"/>
                </a:solidFill>
                <a:latin typeface="Calibri"/>
              </a:rPr>
              <a:t>  low-buffer events → spread falls; high-buffer → smaller response.</a:t>
            </a:r>
          </a:p>
          <a:p>
            <a:pPr algn="l">
              <a:spcBef>
                <a:spcPts val="400"/>
              </a:spcBef>
            </a:pPr>
            <a:r>
              <a:rPr sz="1100" b="1" i="0" dirty="0">
                <a:solidFill>
                  <a:srgbClr val="1A7A4A"/>
                </a:solidFill>
                <a:latin typeface="Calibri"/>
              </a:rPr>
              <a:t>Illustrates the mechanism — quantitative proof is in the regression.</a:t>
            </a:r>
          </a:p>
        </p:txBody>
      </p:sp>
      <p:sp>
        <p:nvSpPr>
          <p:cNvPr id="26" name="Rectangle 25"/>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5975728"/>
            <a:ext cx="11274552" cy="749808"/>
          </a:xfrm>
          <a:prstGeom prst="rect">
            <a:avLst/>
          </a:prstGeom>
          <a:noFill/>
        </p:spPr>
        <p:txBody>
          <a:bodyPr wrap="square">
            <a:spAutoFit/>
          </a:bodyPr>
          <a:lstStyle/>
          <a:p>
            <a:pPr algn="ctr"/>
            <a:r>
              <a:rPr sz="1300" b="1" i="0" dirty="0">
                <a:solidFill>
                  <a:srgbClr val="FFFFFF"/>
                </a:solidFill>
                <a:latin typeface="Calibri"/>
              </a:rPr>
              <a:t>The event study is insignificant and cannot be the main evidence. The paper's proof is β₁ = −6.02 bps + q* = 13%. The event study illustrates the mechanism.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Threshold Robustness I — TRIM Sensitivity</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6" name="Rectangle 5"/>
          <p:cNvSpPr/>
          <p:nvPr/>
        </p:nvSpPr>
        <p:spPr>
          <a:xfrm>
            <a:off x="320040" y="959485"/>
            <a:ext cx="11521440" cy="480695"/>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59625"/>
            <a:ext cx="11064240" cy="274320"/>
          </a:xfrm>
          <a:prstGeom prst="rect">
            <a:avLst/>
          </a:prstGeom>
          <a:noFill/>
        </p:spPr>
        <p:txBody>
          <a:bodyPr wrap="square">
            <a:spAutoFit/>
          </a:bodyPr>
          <a:lstStyle/>
          <a:p>
            <a:pPr algn="ctr"/>
            <a:r>
              <a:rPr sz="1200" b="0" i="1" dirty="0">
                <a:solidFill>
                  <a:srgbClr val="FFFFFF"/>
                </a:solidFill>
                <a:latin typeface="Calibri"/>
              </a:rPr>
              <a:t>TRIM = the fraction of the threshold variable excluded from the grid search edges (Hansen recommends 15%). We tested 15%, 20%, and 25% to check that q* = 13% is not a boundary artifact.</a:t>
            </a:r>
          </a:p>
        </p:txBody>
      </p:sp>
      <p:pic>
        <p:nvPicPr>
          <p:cNvPr id="8" name="Picture 7" descr="threshold_trim_sensitivity.png"/>
          <p:cNvPicPr>
            <a:picLocks noChangeAspect="1"/>
          </p:cNvPicPr>
          <p:nvPr/>
        </p:nvPicPr>
        <p:blipFill>
          <a:blip r:embed="rId3"/>
          <a:stretch>
            <a:fillRect/>
          </a:stretch>
        </p:blipFill>
        <p:spPr>
          <a:xfrm>
            <a:off x="320040" y="1587600"/>
            <a:ext cx="6766560" cy="3474720"/>
          </a:xfrm>
          <a:prstGeom prst="rect">
            <a:avLst/>
          </a:prstGeom>
        </p:spPr>
      </p:pic>
      <p:sp>
        <p:nvSpPr>
          <p:cNvPr id="9" name="Rectangle 8"/>
          <p:cNvSpPr/>
          <p:nvPr/>
        </p:nvSpPr>
        <p:spPr>
          <a:xfrm>
            <a:off x="7269480" y="1488744"/>
            <a:ext cx="4663440" cy="29260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60920" y="1516176"/>
            <a:ext cx="4526280" cy="228600"/>
          </a:xfrm>
          <a:prstGeom prst="rect">
            <a:avLst/>
          </a:prstGeom>
          <a:noFill/>
        </p:spPr>
        <p:txBody>
          <a:bodyPr wrap="square">
            <a:spAutoFit/>
          </a:bodyPr>
          <a:lstStyle/>
          <a:p>
            <a:pPr algn="l"/>
            <a:r>
              <a:rPr sz="1300" b="1" i="0">
                <a:solidFill>
                  <a:srgbClr val="FFFFFF"/>
                </a:solidFill>
                <a:latin typeface="Calibri"/>
              </a:rPr>
              <a:t>TRIM stability results</a:t>
            </a:r>
          </a:p>
        </p:txBody>
      </p:sp>
      <p:sp>
        <p:nvSpPr>
          <p:cNvPr id="11" name="Rectangle 10"/>
          <p:cNvSpPr/>
          <p:nvPr/>
        </p:nvSpPr>
        <p:spPr>
          <a:xfrm>
            <a:off x="7360920" y="1781352"/>
            <a:ext cx="1188720" cy="347472"/>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1872792"/>
            <a:ext cx="1115568" cy="228600"/>
          </a:xfrm>
          <a:prstGeom prst="rect">
            <a:avLst/>
          </a:prstGeom>
          <a:noFill/>
        </p:spPr>
        <p:txBody>
          <a:bodyPr wrap="square">
            <a:spAutoFit/>
          </a:bodyPr>
          <a:lstStyle/>
          <a:p>
            <a:pPr algn="ctr"/>
            <a:r>
              <a:rPr sz="1200" b="1" i="0">
                <a:solidFill>
                  <a:srgbClr val="FFFFFF"/>
                </a:solidFill>
                <a:latin typeface="Calibri"/>
              </a:rPr>
              <a:t>TRIM</a:t>
            </a:r>
          </a:p>
        </p:txBody>
      </p:sp>
      <p:sp>
        <p:nvSpPr>
          <p:cNvPr id="13" name="Rectangle 12"/>
          <p:cNvSpPr/>
          <p:nvPr/>
        </p:nvSpPr>
        <p:spPr>
          <a:xfrm>
            <a:off x="8549640" y="1781352"/>
            <a:ext cx="1325880" cy="347472"/>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1872792"/>
            <a:ext cx="1252728" cy="228600"/>
          </a:xfrm>
          <a:prstGeom prst="rect">
            <a:avLst/>
          </a:prstGeom>
          <a:noFill/>
        </p:spPr>
        <p:txBody>
          <a:bodyPr wrap="square">
            <a:spAutoFit/>
          </a:bodyPr>
          <a:lstStyle/>
          <a:p>
            <a:pPr algn="ctr"/>
            <a:r>
              <a:rPr sz="1200" b="1" i="0">
                <a:solidFill>
                  <a:srgbClr val="FFFFFF"/>
                </a:solidFill>
                <a:latin typeface="Calibri"/>
              </a:rPr>
              <a:t>Candidates</a:t>
            </a:r>
          </a:p>
        </p:txBody>
      </p:sp>
      <p:sp>
        <p:nvSpPr>
          <p:cNvPr id="15" name="Rectangle 14"/>
          <p:cNvSpPr/>
          <p:nvPr/>
        </p:nvSpPr>
        <p:spPr>
          <a:xfrm>
            <a:off x="9875520" y="1781352"/>
            <a:ext cx="1234440" cy="347472"/>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21240" y="1872792"/>
            <a:ext cx="1161288" cy="228600"/>
          </a:xfrm>
          <a:prstGeom prst="rect">
            <a:avLst/>
          </a:prstGeom>
          <a:noFill/>
        </p:spPr>
        <p:txBody>
          <a:bodyPr wrap="square">
            <a:spAutoFit/>
          </a:bodyPr>
          <a:lstStyle/>
          <a:p>
            <a:pPr algn="ctr"/>
            <a:r>
              <a:rPr sz="1200" b="1" i="0">
                <a:solidFill>
                  <a:srgbClr val="FFFFFF"/>
                </a:solidFill>
                <a:latin typeface="Calibri"/>
              </a:rPr>
              <a:t>q*</a:t>
            </a:r>
          </a:p>
        </p:txBody>
      </p:sp>
      <p:sp>
        <p:nvSpPr>
          <p:cNvPr id="17" name="Rectangle 16"/>
          <p:cNvSpPr/>
          <p:nvPr/>
        </p:nvSpPr>
        <p:spPr>
          <a:xfrm>
            <a:off x="11109960" y="1781352"/>
            <a:ext cx="685800" cy="347472"/>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55680" y="1872792"/>
            <a:ext cx="612648" cy="275590"/>
          </a:xfrm>
          <a:prstGeom prst="rect">
            <a:avLst/>
          </a:prstGeom>
          <a:noFill/>
        </p:spPr>
        <p:txBody>
          <a:bodyPr wrap="square">
            <a:spAutoFit/>
          </a:bodyPr>
          <a:lstStyle/>
          <a:p>
            <a:pPr algn="ctr"/>
            <a:r>
              <a:rPr sz="1200" b="1" i="0">
                <a:solidFill>
                  <a:srgbClr val="FFFFFF"/>
                </a:solidFill>
                <a:latin typeface="Calibri"/>
              </a:rPr>
              <a:t>S</a:t>
            </a:r>
            <a:r>
              <a:rPr sz="1000" b="1" i="0">
                <a:solidFill>
                  <a:srgbClr val="FFFFFF"/>
                </a:solidFill>
                <a:latin typeface="Calibri"/>
              </a:rPr>
              <a:t>table?</a:t>
            </a:r>
          </a:p>
        </p:txBody>
      </p:sp>
      <p:sp>
        <p:nvSpPr>
          <p:cNvPr id="19" name="Rectangle 18"/>
          <p:cNvSpPr/>
          <p:nvPr/>
        </p:nvSpPr>
        <p:spPr>
          <a:xfrm>
            <a:off x="7360920" y="2165400"/>
            <a:ext cx="11887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0" y="2244483"/>
            <a:ext cx="1115568" cy="228600"/>
          </a:xfrm>
          <a:prstGeom prst="rect">
            <a:avLst/>
          </a:prstGeom>
          <a:noFill/>
        </p:spPr>
        <p:txBody>
          <a:bodyPr wrap="square">
            <a:spAutoFit/>
          </a:bodyPr>
          <a:lstStyle/>
          <a:p>
            <a:pPr algn="ctr"/>
            <a:r>
              <a:rPr sz="1200" b="0" i="0">
                <a:solidFill>
                  <a:srgbClr val="1A1A2E"/>
                </a:solidFill>
                <a:latin typeface="Calibri"/>
              </a:rPr>
              <a:t>15%</a:t>
            </a:r>
          </a:p>
        </p:txBody>
      </p:sp>
      <p:sp>
        <p:nvSpPr>
          <p:cNvPr id="21" name="Rectangle 20"/>
          <p:cNvSpPr/>
          <p:nvPr/>
        </p:nvSpPr>
        <p:spPr>
          <a:xfrm>
            <a:off x="8549640" y="2153043"/>
            <a:ext cx="1325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0" y="2256840"/>
            <a:ext cx="1252728" cy="228600"/>
          </a:xfrm>
          <a:prstGeom prst="rect">
            <a:avLst/>
          </a:prstGeom>
          <a:noFill/>
        </p:spPr>
        <p:txBody>
          <a:bodyPr wrap="square">
            <a:spAutoFit/>
          </a:bodyPr>
          <a:lstStyle/>
          <a:p>
            <a:pPr algn="ctr"/>
            <a:r>
              <a:rPr sz="1200" b="0" i="0">
                <a:solidFill>
                  <a:srgbClr val="1A1A2E"/>
                </a:solidFill>
                <a:latin typeface="Calibri"/>
              </a:rPr>
              <a:t>31</a:t>
            </a:r>
          </a:p>
        </p:txBody>
      </p:sp>
      <p:sp>
        <p:nvSpPr>
          <p:cNvPr id="23" name="Rectangle 22"/>
          <p:cNvSpPr/>
          <p:nvPr/>
        </p:nvSpPr>
        <p:spPr>
          <a:xfrm>
            <a:off x="9875520" y="2165400"/>
            <a:ext cx="123444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21240" y="2244483"/>
            <a:ext cx="1161288" cy="228600"/>
          </a:xfrm>
          <a:prstGeom prst="rect">
            <a:avLst/>
          </a:prstGeom>
          <a:noFill/>
        </p:spPr>
        <p:txBody>
          <a:bodyPr wrap="square">
            <a:spAutoFit/>
          </a:bodyPr>
          <a:lstStyle/>
          <a:p>
            <a:pPr algn="ctr"/>
            <a:r>
              <a:rPr sz="1200" b="0" i="0">
                <a:solidFill>
                  <a:srgbClr val="1A1A2E"/>
                </a:solidFill>
                <a:latin typeface="Calibri"/>
              </a:rPr>
              <a:t>0.1301</a:t>
            </a:r>
          </a:p>
        </p:txBody>
      </p:sp>
      <p:sp>
        <p:nvSpPr>
          <p:cNvPr id="25" name="Rectangle 24"/>
          <p:cNvSpPr/>
          <p:nvPr/>
        </p:nvSpPr>
        <p:spPr>
          <a:xfrm>
            <a:off x="11109960" y="2165400"/>
            <a:ext cx="68580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55680" y="2256840"/>
            <a:ext cx="612648" cy="228600"/>
          </a:xfrm>
          <a:prstGeom prst="rect">
            <a:avLst/>
          </a:prstGeom>
          <a:noFill/>
        </p:spPr>
        <p:txBody>
          <a:bodyPr wrap="square">
            <a:spAutoFit/>
          </a:bodyPr>
          <a:lstStyle/>
          <a:p>
            <a:pPr algn="ctr"/>
            <a:r>
              <a:rPr sz="1200" b="0" i="0">
                <a:solidFill>
                  <a:srgbClr val="1A1A2E"/>
                </a:solidFill>
                <a:latin typeface="Calibri"/>
              </a:rPr>
              <a:t>✓</a:t>
            </a:r>
          </a:p>
        </p:txBody>
      </p:sp>
      <p:sp>
        <p:nvSpPr>
          <p:cNvPr id="27" name="Rectangle 26"/>
          <p:cNvSpPr/>
          <p:nvPr/>
        </p:nvSpPr>
        <p:spPr>
          <a:xfrm>
            <a:off x="7360920" y="2549448"/>
            <a:ext cx="11887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06640" y="2628531"/>
            <a:ext cx="1115568" cy="228600"/>
          </a:xfrm>
          <a:prstGeom prst="rect">
            <a:avLst/>
          </a:prstGeom>
          <a:noFill/>
        </p:spPr>
        <p:txBody>
          <a:bodyPr wrap="square">
            <a:spAutoFit/>
          </a:bodyPr>
          <a:lstStyle/>
          <a:p>
            <a:pPr algn="ctr"/>
            <a:r>
              <a:rPr sz="1200" b="0" i="0">
                <a:solidFill>
                  <a:srgbClr val="1A1A2E"/>
                </a:solidFill>
                <a:latin typeface="Calibri"/>
              </a:rPr>
              <a:t>20%</a:t>
            </a:r>
          </a:p>
        </p:txBody>
      </p:sp>
      <p:sp>
        <p:nvSpPr>
          <p:cNvPr id="29" name="Rectangle 28"/>
          <p:cNvSpPr/>
          <p:nvPr/>
        </p:nvSpPr>
        <p:spPr>
          <a:xfrm>
            <a:off x="8549640" y="2537091"/>
            <a:ext cx="13258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95360" y="2640888"/>
            <a:ext cx="1252728" cy="228600"/>
          </a:xfrm>
          <a:prstGeom prst="rect">
            <a:avLst/>
          </a:prstGeom>
          <a:noFill/>
        </p:spPr>
        <p:txBody>
          <a:bodyPr wrap="square">
            <a:spAutoFit/>
          </a:bodyPr>
          <a:lstStyle/>
          <a:p>
            <a:pPr algn="ctr"/>
            <a:r>
              <a:rPr sz="1200" b="0" i="0" dirty="0">
                <a:solidFill>
                  <a:srgbClr val="1A1A2E"/>
                </a:solidFill>
                <a:latin typeface="Calibri"/>
              </a:rPr>
              <a:t>28</a:t>
            </a:r>
          </a:p>
        </p:txBody>
      </p:sp>
      <p:sp>
        <p:nvSpPr>
          <p:cNvPr id="31" name="Rectangle 30"/>
          <p:cNvSpPr/>
          <p:nvPr/>
        </p:nvSpPr>
        <p:spPr>
          <a:xfrm>
            <a:off x="9875520" y="2549448"/>
            <a:ext cx="123444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921240" y="2628531"/>
            <a:ext cx="1161288" cy="228600"/>
          </a:xfrm>
          <a:prstGeom prst="rect">
            <a:avLst/>
          </a:prstGeom>
          <a:noFill/>
        </p:spPr>
        <p:txBody>
          <a:bodyPr wrap="square">
            <a:spAutoFit/>
          </a:bodyPr>
          <a:lstStyle/>
          <a:p>
            <a:pPr algn="ctr"/>
            <a:r>
              <a:rPr sz="1200" b="0" i="0" dirty="0">
                <a:solidFill>
                  <a:srgbClr val="1A1A2E"/>
                </a:solidFill>
                <a:latin typeface="Calibri"/>
              </a:rPr>
              <a:t>0.1301</a:t>
            </a:r>
          </a:p>
        </p:txBody>
      </p:sp>
      <p:sp>
        <p:nvSpPr>
          <p:cNvPr id="33" name="Rectangle 32"/>
          <p:cNvSpPr/>
          <p:nvPr/>
        </p:nvSpPr>
        <p:spPr>
          <a:xfrm>
            <a:off x="11109960" y="2549448"/>
            <a:ext cx="6858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155680" y="2640888"/>
            <a:ext cx="612648" cy="228600"/>
          </a:xfrm>
          <a:prstGeom prst="rect">
            <a:avLst/>
          </a:prstGeom>
          <a:noFill/>
        </p:spPr>
        <p:txBody>
          <a:bodyPr wrap="square">
            <a:spAutoFit/>
          </a:bodyPr>
          <a:lstStyle/>
          <a:p>
            <a:pPr algn="ctr"/>
            <a:r>
              <a:rPr sz="1200" b="0" i="0">
                <a:solidFill>
                  <a:srgbClr val="1A1A2E"/>
                </a:solidFill>
                <a:latin typeface="Calibri"/>
              </a:rPr>
              <a:t>✓</a:t>
            </a:r>
          </a:p>
        </p:txBody>
      </p:sp>
      <p:sp>
        <p:nvSpPr>
          <p:cNvPr id="35" name="Rectangle 34"/>
          <p:cNvSpPr/>
          <p:nvPr/>
        </p:nvSpPr>
        <p:spPr>
          <a:xfrm>
            <a:off x="7360920" y="2933496"/>
            <a:ext cx="11887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06640" y="3012579"/>
            <a:ext cx="1115568" cy="228600"/>
          </a:xfrm>
          <a:prstGeom prst="rect">
            <a:avLst/>
          </a:prstGeom>
          <a:noFill/>
        </p:spPr>
        <p:txBody>
          <a:bodyPr wrap="square">
            <a:spAutoFit/>
          </a:bodyPr>
          <a:lstStyle/>
          <a:p>
            <a:pPr algn="ctr"/>
            <a:r>
              <a:rPr sz="1200" b="0" i="0" dirty="0">
                <a:solidFill>
                  <a:srgbClr val="1A1A2E"/>
                </a:solidFill>
                <a:latin typeface="Calibri"/>
              </a:rPr>
              <a:t>25%</a:t>
            </a:r>
          </a:p>
        </p:txBody>
      </p:sp>
      <p:sp>
        <p:nvSpPr>
          <p:cNvPr id="37" name="Rectangle 36"/>
          <p:cNvSpPr/>
          <p:nvPr/>
        </p:nvSpPr>
        <p:spPr>
          <a:xfrm>
            <a:off x="8549640" y="2933496"/>
            <a:ext cx="1325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95360" y="3012579"/>
            <a:ext cx="1252728" cy="228600"/>
          </a:xfrm>
          <a:prstGeom prst="rect">
            <a:avLst/>
          </a:prstGeom>
          <a:noFill/>
        </p:spPr>
        <p:txBody>
          <a:bodyPr wrap="square">
            <a:spAutoFit/>
          </a:bodyPr>
          <a:lstStyle/>
          <a:p>
            <a:pPr algn="ctr"/>
            <a:r>
              <a:rPr sz="1200" b="0" i="0" dirty="0">
                <a:solidFill>
                  <a:srgbClr val="1A1A2E"/>
                </a:solidFill>
                <a:latin typeface="Calibri"/>
              </a:rPr>
              <a:t>24</a:t>
            </a:r>
          </a:p>
        </p:txBody>
      </p:sp>
      <p:sp>
        <p:nvSpPr>
          <p:cNvPr id="39" name="Rectangle 38"/>
          <p:cNvSpPr/>
          <p:nvPr/>
        </p:nvSpPr>
        <p:spPr>
          <a:xfrm>
            <a:off x="9875520" y="2933496"/>
            <a:ext cx="123444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921240" y="3012579"/>
            <a:ext cx="1161288" cy="228600"/>
          </a:xfrm>
          <a:prstGeom prst="rect">
            <a:avLst/>
          </a:prstGeom>
          <a:noFill/>
        </p:spPr>
        <p:txBody>
          <a:bodyPr wrap="square">
            <a:spAutoFit/>
          </a:bodyPr>
          <a:lstStyle/>
          <a:p>
            <a:pPr algn="ctr"/>
            <a:r>
              <a:rPr sz="1200" b="0" i="0">
                <a:solidFill>
                  <a:srgbClr val="1A1A2E"/>
                </a:solidFill>
                <a:latin typeface="Calibri"/>
              </a:rPr>
              <a:t>0.1301</a:t>
            </a:r>
          </a:p>
        </p:txBody>
      </p:sp>
      <p:sp>
        <p:nvSpPr>
          <p:cNvPr id="41" name="Rectangle 40"/>
          <p:cNvSpPr/>
          <p:nvPr/>
        </p:nvSpPr>
        <p:spPr>
          <a:xfrm>
            <a:off x="11109960" y="2933496"/>
            <a:ext cx="68580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155680" y="3024936"/>
            <a:ext cx="612648" cy="228600"/>
          </a:xfrm>
          <a:prstGeom prst="rect">
            <a:avLst/>
          </a:prstGeom>
          <a:noFill/>
        </p:spPr>
        <p:txBody>
          <a:bodyPr wrap="square">
            <a:spAutoFit/>
          </a:bodyPr>
          <a:lstStyle/>
          <a:p>
            <a:pPr algn="ctr"/>
            <a:r>
              <a:rPr sz="1200" b="0" i="0">
                <a:solidFill>
                  <a:srgbClr val="1A1A2E"/>
                </a:solidFill>
                <a:latin typeface="Calibri"/>
              </a:rPr>
              <a:t>✓</a:t>
            </a:r>
          </a:p>
        </p:txBody>
      </p:sp>
      <p:sp>
        <p:nvSpPr>
          <p:cNvPr id="43" name="Rectangle 42"/>
          <p:cNvSpPr/>
          <p:nvPr/>
        </p:nvSpPr>
        <p:spPr>
          <a:xfrm>
            <a:off x="7269480" y="3363264"/>
            <a:ext cx="4663440" cy="29260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60920" y="3390696"/>
            <a:ext cx="4526280" cy="228600"/>
          </a:xfrm>
          <a:prstGeom prst="rect">
            <a:avLst/>
          </a:prstGeom>
          <a:noFill/>
        </p:spPr>
        <p:txBody>
          <a:bodyPr wrap="square">
            <a:spAutoFit/>
          </a:bodyPr>
          <a:lstStyle/>
          <a:p>
            <a:pPr algn="l"/>
            <a:r>
              <a:rPr sz="1200" b="1" i="0">
                <a:solidFill>
                  <a:srgbClr val="FFFFFF"/>
                </a:solidFill>
                <a:latin typeface="Calibri"/>
              </a:rPr>
              <a:t>Bootstrap 90% CI for q*  (B = 1,000 replications)</a:t>
            </a:r>
          </a:p>
        </p:txBody>
      </p:sp>
      <p:sp>
        <p:nvSpPr>
          <p:cNvPr id="45" name="Rectangle 44"/>
          <p:cNvSpPr/>
          <p:nvPr/>
        </p:nvSpPr>
        <p:spPr>
          <a:xfrm>
            <a:off x="7269480" y="3655695"/>
            <a:ext cx="4663440" cy="540385"/>
          </a:xfrm>
          <a:prstGeom prst="rect">
            <a:avLst/>
          </a:prstGeom>
          <a:solidFill>
            <a:srgbClr val="E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360920" y="3324954"/>
            <a:ext cx="4526280" cy="901700"/>
          </a:xfrm>
          <a:prstGeom prst="rect">
            <a:avLst/>
          </a:prstGeom>
          <a:noFill/>
        </p:spPr>
        <p:txBody>
          <a:bodyPr wrap="square">
            <a:spAutoFit/>
          </a:bodyPr>
          <a:lstStyle/>
          <a:p>
            <a:pPr>
              <a:spcBef>
                <a:spcPts val="0"/>
              </a:spcBef>
            </a:pPr>
            <a:endParaRPr dirty="0"/>
          </a:p>
          <a:p>
            <a:pPr algn="l">
              <a:spcBef>
                <a:spcPts val="200"/>
              </a:spcBef>
            </a:pPr>
            <a:r>
              <a:rPr sz="1300" b="1" i="0" dirty="0">
                <a:solidFill>
                  <a:srgbClr val="008B8B"/>
                </a:solidFill>
                <a:latin typeface="Calibri"/>
              </a:rPr>
              <a:t>CI = [2.6%,  14.5%]      Point estimate: 13.0%</a:t>
            </a:r>
            <a:br>
              <a:rPr sz="1400" b="1" i="0" dirty="0">
                <a:solidFill>
                  <a:srgbClr val="008B8B"/>
                </a:solidFill>
                <a:latin typeface="Calibri"/>
              </a:rPr>
            </a:br>
            <a:r>
              <a:rPr sz="1000" b="0" i="0" dirty="0">
                <a:solidFill>
                  <a:srgbClr val="1A1A2E"/>
                </a:solidFill>
                <a:latin typeface="Calibri"/>
              </a:rPr>
              <a:t>Method: percentile bootstrap — resample rows, re-run grid search each time.</a:t>
            </a:r>
          </a:p>
        </p:txBody>
      </p:sp>
      <p:sp>
        <p:nvSpPr>
          <p:cNvPr id="47" name="Rectangle 46"/>
          <p:cNvSpPr/>
          <p:nvPr/>
        </p:nvSpPr>
        <p:spPr>
          <a:xfrm>
            <a:off x="7269480" y="4231943"/>
            <a:ext cx="4663440" cy="29260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60920" y="4259376"/>
            <a:ext cx="4526280" cy="228600"/>
          </a:xfrm>
          <a:prstGeom prst="rect">
            <a:avLst/>
          </a:prstGeom>
          <a:noFill/>
        </p:spPr>
        <p:txBody>
          <a:bodyPr wrap="square">
            <a:spAutoFit/>
          </a:bodyPr>
          <a:lstStyle/>
          <a:p>
            <a:pPr algn="l"/>
            <a:r>
              <a:rPr sz="1200" b="1" i="0">
                <a:solidFill>
                  <a:srgbClr val="FFFFFF"/>
                </a:solidFill>
                <a:latin typeface="Calibri"/>
              </a:rPr>
              <a:t>Multiple threshold test (H₀: 1 threshold vs H₁: 2 thresholds)</a:t>
            </a:r>
          </a:p>
        </p:txBody>
      </p:sp>
      <p:sp>
        <p:nvSpPr>
          <p:cNvPr id="49" name="Rectangle 48"/>
          <p:cNvSpPr/>
          <p:nvPr/>
        </p:nvSpPr>
        <p:spPr>
          <a:xfrm>
            <a:off x="7269480" y="4524552"/>
            <a:ext cx="4663440" cy="5943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60920" y="4267776"/>
            <a:ext cx="4526280" cy="539496"/>
          </a:xfrm>
          <a:prstGeom prst="rect">
            <a:avLst/>
          </a:prstGeom>
          <a:noFill/>
        </p:spPr>
        <p:txBody>
          <a:bodyPr wrap="square">
            <a:spAutoFit/>
          </a:bodyPr>
          <a:lstStyle/>
          <a:p>
            <a:pPr>
              <a:spcBef>
                <a:spcPts val="0"/>
              </a:spcBef>
            </a:pPr>
            <a:endParaRPr dirty="0"/>
          </a:p>
          <a:p>
            <a:pPr algn="l">
              <a:spcBef>
                <a:spcPts val="200"/>
              </a:spcBef>
            </a:pPr>
            <a:r>
              <a:rPr sz="1300" b="1" i="0" dirty="0">
                <a:solidFill>
                  <a:srgbClr val="1B3A72"/>
                </a:solidFill>
                <a:latin typeface="Calibri"/>
              </a:rPr>
              <a:t>Bootstrap p = 0.143  →  Cannot reject H₀.</a:t>
            </a:r>
          </a:p>
          <a:p>
            <a:pPr algn="l">
              <a:spcBef>
                <a:spcPts val="500"/>
              </a:spcBef>
            </a:pPr>
            <a:r>
              <a:rPr sz="1100" b="0" i="0" dirty="0">
                <a:solidFill>
                  <a:srgbClr val="1A1A2E"/>
                </a:solidFill>
                <a:latin typeface="Calibri"/>
              </a:rPr>
              <a:t>Single threshold at 13% is sufficient. No evidence of a second break.</a:t>
            </a:r>
          </a:p>
        </p:txBody>
      </p:sp>
      <p:sp>
        <p:nvSpPr>
          <p:cNvPr id="51" name="Rectangle 50"/>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5963373"/>
            <a:ext cx="11274552" cy="749808"/>
          </a:xfrm>
          <a:prstGeom prst="rect">
            <a:avLst/>
          </a:prstGeom>
          <a:noFill/>
        </p:spPr>
        <p:txBody>
          <a:bodyPr wrap="square">
            <a:spAutoFit/>
          </a:bodyPr>
          <a:lstStyle/>
          <a:p>
            <a:pPr algn="ctr"/>
            <a:r>
              <a:rPr sz="1400" b="1" i="0" dirty="0">
                <a:solidFill>
                  <a:srgbClr val="FFFFFF"/>
                </a:solidFill>
                <a:latin typeface="Calibri"/>
              </a:rPr>
              <a:t>q* = 13.0% is stable across all TRIM values. Bootstrap CI [2.6%, 14.5%] brackets it. One threshold is sufficient.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Threshold Robustness II — Smooth Transition Regression (LSTAR)</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p>
        </p:txBody>
      </p:sp>
      <p:sp>
        <p:nvSpPr>
          <p:cNvPr id="6" name="Rectangle 5"/>
          <p:cNvSpPr/>
          <p:nvPr/>
        </p:nvSpPr>
        <p:spPr>
          <a:xfrm>
            <a:off x="320040" y="910590"/>
            <a:ext cx="11521440" cy="421005"/>
          </a:xfrm>
          <a:prstGeom prst="rect">
            <a:avLst/>
          </a:prstGeom>
          <a:solidFill>
            <a:srgbClr val="5B2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07415"/>
            <a:ext cx="11064240" cy="455930"/>
          </a:xfrm>
          <a:prstGeom prst="rect">
            <a:avLst/>
          </a:prstGeom>
          <a:noFill/>
        </p:spPr>
        <p:txBody>
          <a:bodyPr wrap="square">
            <a:noAutofit/>
          </a:bodyPr>
          <a:lstStyle/>
          <a:p>
            <a:pPr algn="ctr"/>
            <a:r>
              <a:rPr sz="1200" b="0" i="1" dirty="0">
                <a:solidFill>
                  <a:srgbClr val="FFFFFF"/>
                </a:solidFill>
                <a:latin typeface="Calibri"/>
              </a:rPr>
              <a:t>Hansen (2000) assumes a sharp binary switch at q*. LSTAR asks: what if the regime shift is gradual? It estimates a smooth logistic transition — </a:t>
            </a:r>
            <a:r>
              <a:rPr sz="1200" b="0" i="1" dirty="0" err="1">
                <a:solidFill>
                  <a:srgbClr val="FFFFFF"/>
                </a:solidFill>
                <a:latin typeface="Calibri"/>
              </a:rPr>
              <a:t>γ</a:t>
            </a:r>
            <a:r>
              <a:rPr sz="1200" b="0" i="1" dirty="0">
                <a:solidFill>
                  <a:srgbClr val="FFFFFF"/>
                </a:solidFill>
                <a:latin typeface="Calibri"/>
              </a:rPr>
              <a:t> controls sharpness, c controls the midpoint.</a:t>
            </a:r>
          </a:p>
        </p:txBody>
      </p:sp>
      <p:pic>
        <p:nvPicPr>
          <p:cNvPr id="8" name="Picture 7" descr="star_transition.png"/>
          <p:cNvPicPr>
            <a:picLocks noChangeAspect="1"/>
          </p:cNvPicPr>
          <p:nvPr/>
        </p:nvPicPr>
        <p:blipFill>
          <a:blip r:embed="rId3"/>
          <a:stretch>
            <a:fillRect/>
          </a:stretch>
        </p:blipFill>
        <p:spPr>
          <a:xfrm>
            <a:off x="320040" y="1389888"/>
            <a:ext cx="6858000" cy="3566160"/>
          </a:xfrm>
          <a:prstGeom prst="rect">
            <a:avLst/>
          </a:prstGeom>
        </p:spPr>
      </p:pic>
      <p:sp>
        <p:nvSpPr>
          <p:cNvPr id="9" name="TextBox 8"/>
          <p:cNvSpPr txBox="1"/>
          <p:nvPr/>
        </p:nvSpPr>
        <p:spPr>
          <a:xfrm>
            <a:off x="320040" y="4983480"/>
            <a:ext cx="6858000" cy="320040"/>
          </a:xfrm>
          <a:prstGeom prst="rect">
            <a:avLst/>
          </a:prstGeom>
          <a:noFill/>
        </p:spPr>
        <p:txBody>
          <a:bodyPr wrap="square">
            <a:spAutoFit/>
          </a:bodyPr>
          <a:lstStyle/>
          <a:p>
            <a:pPr algn="l"/>
            <a:r>
              <a:rPr sz="1000" b="0" i="1">
                <a:solidFill>
                  <a:srgbClr val="555566"/>
                </a:solidFill>
                <a:latin typeface="Calibri"/>
              </a:rPr>
              <a:t>Left panel: G(L) = logistic weight function — how much the low-buffer regime is active at each L value.  Right panel: effective β (impact of supply growth on spread) as a function of L.</a:t>
            </a:r>
          </a:p>
        </p:txBody>
      </p:sp>
      <p:sp>
        <p:nvSpPr>
          <p:cNvPr id="10" name="Rectangle 9"/>
          <p:cNvSpPr/>
          <p:nvPr/>
        </p:nvSpPr>
        <p:spPr>
          <a:xfrm>
            <a:off x="7360920" y="1389888"/>
            <a:ext cx="4572000" cy="292608"/>
          </a:xfrm>
          <a:prstGeom prst="rect">
            <a:avLst/>
          </a:prstGeom>
          <a:solidFill>
            <a:srgbClr val="5B2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52360" y="1417320"/>
            <a:ext cx="4462272" cy="228600"/>
          </a:xfrm>
          <a:prstGeom prst="rect">
            <a:avLst/>
          </a:prstGeom>
          <a:noFill/>
        </p:spPr>
        <p:txBody>
          <a:bodyPr wrap="square">
            <a:spAutoFit/>
          </a:bodyPr>
          <a:lstStyle/>
          <a:p>
            <a:pPr algn="l"/>
            <a:r>
              <a:rPr sz="1300" b="1" i="0">
                <a:solidFill>
                  <a:srgbClr val="FFFFFF"/>
                </a:solidFill>
                <a:latin typeface="Calibri"/>
              </a:rPr>
              <a:t>LSTAR estimation results</a:t>
            </a:r>
          </a:p>
        </p:txBody>
      </p:sp>
      <p:sp>
        <p:nvSpPr>
          <p:cNvPr id="12" name="Rectangle 11"/>
          <p:cNvSpPr/>
          <p:nvPr/>
        </p:nvSpPr>
        <p:spPr>
          <a:xfrm>
            <a:off x="7360920" y="1682496"/>
            <a:ext cx="4572000" cy="1051560"/>
          </a:xfrm>
          <a:prstGeom prst="rect">
            <a:avLst/>
          </a:prstGeom>
          <a:solidFill>
            <a:srgbClr val="F0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52360" y="1709928"/>
            <a:ext cx="4434840" cy="1019810"/>
          </a:xfrm>
          <a:prstGeom prst="rect">
            <a:avLst/>
          </a:prstGeom>
          <a:noFill/>
        </p:spPr>
        <p:txBody>
          <a:bodyPr wrap="square">
            <a:spAutoFit/>
          </a:bodyPr>
          <a:lstStyle/>
          <a:p>
            <a:pPr>
              <a:spcBef>
                <a:spcPts val="0"/>
              </a:spcBef>
            </a:pPr>
            <a:r>
              <a:rPr sz="1200" b="1" i="0" dirty="0">
                <a:solidFill>
                  <a:srgbClr val="5B2C8D"/>
                </a:solidFill>
                <a:latin typeface="Calibri"/>
              </a:rPr>
              <a:t>Sharpness:  </a:t>
            </a:r>
            <a:r>
              <a:rPr sz="1200" b="1" i="0" dirty="0" err="1">
                <a:solidFill>
                  <a:srgbClr val="5B2C8D"/>
                </a:solidFill>
                <a:latin typeface="Calibri"/>
              </a:rPr>
              <a:t>γ</a:t>
            </a:r>
            <a:r>
              <a:rPr sz="1200" b="1" i="0" dirty="0">
                <a:solidFill>
                  <a:srgbClr val="5B2C8D"/>
                </a:solidFill>
                <a:latin typeface="Calibri"/>
              </a:rPr>
              <a:t>* = 2,768  (near-sharp transition)</a:t>
            </a:r>
          </a:p>
          <a:p>
            <a:pPr algn="l">
              <a:spcBef>
                <a:spcPts val="500"/>
              </a:spcBef>
            </a:pPr>
            <a:r>
              <a:rPr sz="1200" b="1" i="0" dirty="0">
                <a:solidFill>
                  <a:srgbClr val="5B2C8D"/>
                </a:solidFill>
                <a:latin typeface="Calibri"/>
              </a:rPr>
              <a:t>Midpoint:   c* = 0.1314  (13.1%)</a:t>
            </a:r>
          </a:p>
          <a:p>
            <a:pPr algn="l">
              <a:spcBef>
                <a:spcPts val="500"/>
              </a:spcBef>
            </a:pPr>
            <a:r>
              <a:rPr sz="1200" b="0" i="0" dirty="0">
                <a:solidFill>
                  <a:srgbClr val="1A1A2E"/>
                </a:solidFill>
                <a:latin typeface="Calibri"/>
              </a:rPr>
              <a:t>Bootstrap 90% CI for c*:  [2.6%,  14.5%]</a:t>
            </a:r>
          </a:p>
          <a:p>
            <a:pPr algn="l">
              <a:spcBef>
                <a:spcPts val="600"/>
              </a:spcBef>
            </a:pPr>
            <a:r>
              <a:rPr sz="1100" b="0" i="0" dirty="0">
                <a:solidFill>
                  <a:srgbClr val="1A1A2E"/>
                </a:solidFill>
                <a:latin typeface="Calibri"/>
              </a:rPr>
              <a:t>β at G=1 (low buffer):   −7.85 bps  |  β at G=0 (high):  −1.84 bps</a:t>
            </a:r>
          </a:p>
        </p:txBody>
      </p:sp>
      <p:sp>
        <p:nvSpPr>
          <p:cNvPr id="14" name="Rectangle 13"/>
          <p:cNvSpPr/>
          <p:nvPr/>
        </p:nvSpPr>
        <p:spPr>
          <a:xfrm>
            <a:off x="7360920" y="2807208"/>
            <a:ext cx="4572000" cy="2926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52360" y="2834640"/>
            <a:ext cx="4462272" cy="228600"/>
          </a:xfrm>
          <a:prstGeom prst="rect">
            <a:avLst/>
          </a:prstGeom>
          <a:noFill/>
        </p:spPr>
        <p:txBody>
          <a:bodyPr wrap="square">
            <a:spAutoFit/>
          </a:bodyPr>
          <a:lstStyle/>
          <a:p>
            <a:pPr algn="l"/>
            <a:r>
              <a:rPr sz="1300" b="1" i="0">
                <a:solidFill>
                  <a:srgbClr val="FFFFFF"/>
                </a:solidFill>
                <a:latin typeface="Calibri"/>
              </a:rPr>
              <a:t>Comparison with Hansen (2000)</a:t>
            </a:r>
          </a:p>
        </p:txBody>
      </p:sp>
      <p:sp>
        <p:nvSpPr>
          <p:cNvPr id="16" name="Rectangle 15"/>
          <p:cNvSpPr/>
          <p:nvPr/>
        </p:nvSpPr>
        <p:spPr>
          <a:xfrm>
            <a:off x="7360920" y="3099816"/>
            <a:ext cx="4572000" cy="9601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52360" y="3127248"/>
            <a:ext cx="4434840" cy="773430"/>
          </a:xfrm>
          <a:prstGeom prst="rect">
            <a:avLst/>
          </a:prstGeom>
          <a:noFill/>
        </p:spPr>
        <p:txBody>
          <a:bodyPr wrap="square">
            <a:spAutoFit/>
          </a:bodyPr>
          <a:lstStyle/>
          <a:p>
            <a:pPr>
              <a:spcBef>
                <a:spcPts val="0"/>
              </a:spcBef>
            </a:pPr>
            <a:r>
              <a:rPr sz="1200" b="1" i="0">
                <a:solidFill>
                  <a:srgbClr val="1B3A72"/>
                </a:solidFill>
                <a:latin typeface="Calibri"/>
              </a:rPr>
              <a:t>Hansen q*  = 0.1301  (sharp switch)</a:t>
            </a:r>
          </a:p>
          <a:p>
            <a:pPr algn="l">
              <a:spcBef>
                <a:spcPts val="500"/>
              </a:spcBef>
            </a:pPr>
            <a:r>
              <a:rPr sz="1200" b="1" i="0">
                <a:solidFill>
                  <a:srgbClr val="5B2C8D"/>
                </a:solidFill>
                <a:latin typeface="Calibri"/>
              </a:rPr>
              <a:t>LSTAR c*   = 0.1314  (smooth midpoint)</a:t>
            </a:r>
          </a:p>
          <a:p>
            <a:pPr algn="l">
              <a:spcBef>
                <a:spcPts val="500"/>
              </a:spcBef>
            </a:pPr>
            <a:r>
              <a:rPr sz="1200" b="1" i="0">
                <a:solidFill>
                  <a:srgbClr val="1A7A4A"/>
                </a:solidFill>
                <a:latin typeface="Calibri"/>
              </a:rPr>
              <a:t>Difference = 0.0013  |  Hansen q* inside LSTAR CI: YES ✓</a:t>
            </a:r>
          </a:p>
        </p:txBody>
      </p:sp>
      <p:sp>
        <p:nvSpPr>
          <p:cNvPr id="18" name="Rectangle 17"/>
          <p:cNvSpPr/>
          <p:nvPr/>
        </p:nvSpPr>
        <p:spPr>
          <a:xfrm>
            <a:off x="7360920" y="4133087"/>
            <a:ext cx="4572000" cy="29260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52360" y="4160520"/>
            <a:ext cx="4462272" cy="228600"/>
          </a:xfrm>
          <a:prstGeom prst="rect">
            <a:avLst/>
          </a:prstGeom>
          <a:noFill/>
        </p:spPr>
        <p:txBody>
          <a:bodyPr wrap="square">
            <a:spAutoFit/>
          </a:bodyPr>
          <a:lstStyle/>
          <a:p>
            <a:pPr algn="l"/>
            <a:r>
              <a:rPr sz="1200" b="1" i="0">
                <a:solidFill>
                  <a:srgbClr val="FFFFFF"/>
                </a:solidFill>
                <a:latin typeface="Calibri"/>
              </a:rPr>
              <a:t>What γ* = 2,768 means</a:t>
            </a:r>
          </a:p>
        </p:txBody>
      </p:sp>
      <p:sp>
        <p:nvSpPr>
          <p:cNvPr id="20" name="Rectangle 19"/>
          <p:cNvSpPr/>
          <p:nvPr/>
        </p:nvSpPr>
        <p:spPr>
          <a:xfrm>
            <a:off x="7360920" y="4425950"/>
            <a:ext cx="4572000" cy="89725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52360" y="4453128"/>
            <a:ext cx="4434840" cy="832485"/>
          </a:xfrm>
          <a:prstGeom prst="rect">
            <a:avLst/>
          </a:prstGeom>
          <a:noFill/>
        </p:spPr>
        <p:txBody>
          <a:bodyPr wrap="square">
            <a:spAutoFit/>
          </a:bodyPr>
          <a:lstStyle/>
          <a:p>
            <a:pPr>
              <a:spcBef>
                <a:spcPts val="0"/>
              </a:spcBef>
            </a:pPr>
            <a:r>
              <a:rPr sz="1100" b="0" i="0">
                <a:solidFill>
                  <a:srgbClr val="1A1A2E"/>
                </a:solidFill>
                <a:latin typeface="Calibri"/>
              </a:rPr>
              <a:t>LSTAR tried to fit a smooth transition — and found that the data supports a near-discrete jump.</a:t>
            </a:r>
          </a:p>
          <a:p>
            <a:pPr algn="l">
              <a:spcBef>
                <a:spcPts val="500"/>
              </a:spcBef>
            </a:pPr>
            <a:r>
              <a:rPr sz="1100" b="1" i="0">
                <a:solidFill>
                  <a:srgbClr val="1B3A72"/>
                </a:solidFill>
                <a:latin typeface="Calibri"/>
              </a:rPr>
              <a:t>The model independently rediscovered the sharp switch. This validates Hansen's assumption.</a:t>
            </a:r>
          </a:p>
        </p:txBody>
      </p:sp>
      <p:sp>
        <p:nvSpPr>
          <p:cNvPr id="22" name="Rectangle 21"/>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5852160"/>
            <a:ext cx="11274552" cy="749808"/>
          </a:xfrm>
          <a:prstGeom prst="rect">
            <a:avLst/>
          </a:prstGeom>
          <a:noFill/>
        </p:spPr>
        <p:txBody>
          <a:bodyPr wrap="square">
            <a:spAutoFit/>
          </a:bodyPr>
          <a:lstStyle/>
          <a:p>
            <a:pPr algn="ctr"/>
            <a:r>
              <a:rPr sz="1300" b="1" i="0">
                <a:solidFill>
                  <a:srgbClr val="FFFFFF"/>
                </a:solidFill>
                <a:latin typeface="Calibri"/>
              </a:rPr>
              <a:t>CONVERGENT VALIDITY: Sharp threshold (Hansen, 13.0%) and smooth transition (LSTAR, 13.1%) independently identify the same tipping point. γ* confirms the switch is near-discrete.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Our Paper Proves — Three Convergent Lines of Evidence</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p>
        </p:txBody>
      </p:sp>
      <p:sp>
        <p:nvSpPr>
          <p:cNvPr id="6" name="Rectangle 5"/>
          <p:cNvSpPr/>
          <p:nvPr/>
        </p:nvSpPr>
        <p:spPr>
          <a:xfrm>
            <a:off x="320040" y="960120"/>
            <a:ext cx="11521440" cy="4572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05840"/>
            <a:ext cx="11064240" cy="347472"/>
          </a:xfrm>
          <a:prstGeom prst="rect">
            <a:avLst/>
          </a:prstGeom>
          <a:noFill/>
        </p:spPr>
        <p:txBody>
          <a:bodyPr wrap="square">
            <a:spAutoFit/>
          </a:bodyPr>
          <a:lstStyle/>
          <a:p>
            <a:pPr algn="ctr"/>
            <a:r>
              <a:rPr sz="1200" b="0" i="1">
                <a:solidFill>
                  <a:srgbClr val="FFFFFF"/>
                </a:solidFill>
                <a:latin typeface="Calibri"/>
              </a:rPr>
              <a:t>The event study is insignificant and has been removed from the main evidence. The paper now rests on three independent results that all point to the same conclusion.</a:t>
            </a:r>
          </a:p>
        </p:txBody>
      </p:sp>
      <p:sp>
        <p:nvSpPr>
          <p:cNvPr id="8" name="Rectangle 7"/>
          <p:cNvSpPr/>
          <p:nvPr/>
        </p:nvSpPr>
        <p:spPr>
          <a:xfrm>
            <a:off x="320040" y="1508760"/>
            <a:ext cx="3840480" cy="3200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536192"/>
            <a:ext cx="3703320" cy="256032"/>
          </a:xfrm>
          <a:prstGeom prst="rect">
            <a:avLst/>
          </a:prstGeom>
          <a:noFill/>
        </p:spPr>
        <p:txBody>
          <a:bodyPr wrap="square">
            <a:spAutoFit/>
          </a:bodyPr>
          <a:lstStyle/>
          <a:p>
            <a:pPr algn="l"/>
            <a:r>
              <a:rPr sz="1200" b="1" i="0">
                <a:solidFill>
                  <a:srgbClr val="FFFFFF"/>
                </a:solidFill>
                <a:latin typeface="Calibri"/>
              </a:rPr>
              <a:t>Finding 1 — Regression (β₁ = −6.02 bps)</a:t>
            </a:r>
          </a:p>
        </p:txBody>
      </p:sp>
      <p:sp>
        <p:nvSpPr>
          <p:cNvPr id="10" name="Rectangle 9"/>
          <p:cNvSpPr/>
          <p:nvPr/>
        </p:nvSpPr>
        <p:spPr>
          <a:xfrm>
            <a:off x="320040" y="1828800"/>
            <a:ext cx="3840480" cy="2418715"/>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895" y="1883410"/>
            <a:ext cx="3657600" cy="2141855"/>
          </a:xfrm>
          <a:prstGeom prst="rect">
            <a:avLst/>
          </a:prstGeom>
          <a:noFill/>
        </p:spPr>
        <p:txBody>
          <a:bodyPr wrap="square">
            <a:noAutofit/>
          </a:bodyPr>
          <a:lstStyle/>
          <a:p>
            <a:pPr>
              <a:spcBef>
                <a:spcPts val="0"/>
              </a:spcBef>
            </a:pPr>
            <a:endParaRPr/>
          </a:p>
          <a:p>
            <a:pPr algn="l">
              <a:spcBef>
                <a:spcPts val="200"/>
              </a:spcBef>
            </a:pPr>
            <a:r>
              <a:rPr sz="1200" b="0" i="0">
                <a:solidFill>
                  <a:srgbClr val="1A1A2E"/>
                </a:solidFill>
                <a:latin typeface="Calibri"/>
              </a:rPr>
              <a:t>• Monthly panel OLS with Newey-West HAC standard errors (1 lag).</a:t>
            </a:r>
          </a:p>
          <a:p>
            <a:pPr algn="l">
              <a:spcBef>
                <a:spcPts val="400"/>
              </a:spcBef>
            </a:pPr>
            <a:r>
              <a:rPr sz="1200" b="0" i="0">
                <a:solidFill>
                  <a:srgbClr val="1A1A2E"/>
                </a:solidFill>
                <a:latin typeface="Calibri"/>
              </a:rPr>
              <a:t>• Each σ increase in stablecoin supply → spread falls 6.02 bps.</a:t>
            </a:r>
          </a:p>
          <a:p>
            <a:pPr algn="l">
              <a:spcBef>
                <a:spcPts val="400"/>
              </a:spcBef>
            </a:pPr>
            <a:r>
              <a:rPr sz="1200" b="0" i="0">
                <a:solidFill>
                  <a:srgbClr val="1A1A2E"/>
                </a:solidFill>
                <a:latin typeface="Calibri"/>
              </a:rPr>
              <a:t>• Stablecoins amplify the exorbitant privilege in normal times.</a:t>
            </a:r>
          </a:p>
          <a:p>
            <a:pPr algn="l">
              <a:spcBef>
                <a:spcPts val="400"/>
              </a:spcBef>
            </a:pPr>
            <a:r>
              <a:rPr sz="1200" b="0" i="0">
                <a:solidFill>
                  <a:srgbClr val="1A1A2E"/>
                </a:solidFill>
                <a:latin typeface="Calibri"/>
              </a:rPr>
              <a:t>• Statistically significant: p &lt; 0.01.</a:t>
            </a:r>
          </a:p>
        </p:txBody>
      </p:sp>
      <p:sp>
        <p:nvSpPr>
          <p:cNvPr id="12" name="Rectangle 11"/>
          <p:cNvSpPr/>
          <p:nvPr/>
        </p:nvSpPr>
        <p:spPr>
          <a:xfrm>
            <a:off x="4297679" y="1508760"/>
            <a:ext cx="3840480" cy="32004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19" y="1536192"/>
            <a:ext cx="3703320" cy="256032"/>
          </a:xfrm>
          <a:prstGeom prst="rect">
            <a:avLst/>
          </a:prstGeom>
          <a:noFill/>
        </p:spPr>
        <p:txBody>
          <a:bodyPr wrap="square">
            <a:spAutoFit/>
          </a:bodyPr>
          <a:lstStyle/>
          <a:p>
            <a:pPr algn="l"/>
            <a:r>
              <a:rPr sz="1200" b="1" i="0" dirty="0">
                <a:solidFill>
                  <a:srgbClr val="FFFFFF"/>
                </a:solidFill>
                <a:latin typeface="Calibri"/>
              </a:rPr>
              <a:t>Finding 2 — Hansen Threshold (q* = 13%)</a:t>
            </a:r>
          </a:p>
        </p:txBody>
      </p:sp>
      <p:sp>
        <p:nvSpPr>
          <p:cNvPr id="14" name="Rectangle 13"/>
          <p:cNvSpPr/>
          <p:nvPr/>
        </p:nvSpPr>
        <p:spPr>
          <a:xfrm>
            <a:off x="4297680" y="1828800"/>
            <a:ext cx="3840480" cy="2418715"/>
          </a:xfrm>
          <a:prstGeom prst="rect">
            <a:avLst/>
          </a:prstGeom>
          <a:solidFill>
            <a:srgbClr val="E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07535" y="1883410"/>
            <a:ext cx="3657600" cy="2418715"/>
          </a:xfrm>
          <a:prstGeom prst="rect">
            <a:avLst/>
          </a:prstGeom>
          <a:noFill/>
        </p:spPr>
        <p:txBody>
          <a:bodyPr wrap="square">
            <a:noAutofit/>
          </a:bodyPr>
          <a:lstStyle/>
          <a:p>
            <a:pPr>
              <a:spcBef>
                <a:spcPts val="0"/>
              </a:spcBef>
            </a:pPr>
            <a:endParaRPr/>
          </a:p>
          <a:p>
            <a:pPr algn="l">
              <a:spcBef>
                <a:spcPts val="200"/>
              </a:spcBef>
            </a:pPr>
            <a:r>
              <a:rPr sz="1200" b="0" i="0">
                <a:solidFill>
                  <a:srgbClr val="1A1A2E"/>
                </a:solidFill>
                <a:latin typeface="Calibri"/>
              </a:rPr>
              <a:t>• Grid search finds q* = 0.1301: below this, the privilege reverses.</a:t>
            </a:r>
          </a:p>
          <a:p>
            <a:pPr algn="l">
              <a:spcBef>
                <a:spcPts val="400"/>
              </a:spcBef>
            </a:pPr>
            <a:r>
              <a:rPr sz="1200" b="0" i="0">
                <a:solidFill>
                  <a:srgbClr val="1A1A2E"/>
                </a:solidFill>
                <a:latin typeface="Calibri"/>
              </a:rPr>
              <a:t>• TRIM stable: q* = 0.1301 at TRIM = 15%, 20%, 25%.</a:t>
            </a:r>
          </a:p>
          <a:p>
            <a:pPr algn="l">
              <a:spcBef>
                <a:spcPts val="400"/>
              </a:spcBef>
            </a:pPr>
            <a:r>
              <a:rPr sz="1200" b="0" i="0">
                <a:solidFill>
                  <a:srgbClr val="1A1A2E"/>
                </a:solidFill>
                <a:latin typeface="Calibri"/>
              </a:rPr>
              <a:t>• Bootstrap 90% CI: [2.6%, 14.5%] — well-defined, not a boundary artifact.</a:t>
            </a:r>
          </a:p>
          <a:p>
            <a:pPr algn="l">
              <a:spcBef>
                <a:spcPts val="400"/>
              </a:spcBef>
            </a:pPr>
            <a:r>
              <a:rPr sz="1200" b="0" i="0">
                <a:solidFill>
                  <a:srgbClr val="1A1A2E"/>
                </a:solidFill>
                <a:latin typeface="Calibri"/>
              </a:rPr>
              <a:t>• One threshold is sufficient (two-threshold p = 0.143).</a:t>
            </a:r>
          </a:p>
        </p:txBody>
      </p:sp>
      <p:sp>
        <p:nvSpPr>
          <p:cNvPr id="16" name="Rectangle 15"/>
          <p:cNvSpPr/>
          <p:nvPr/>
        </p:nvSpPr>
        <p:spPr>
          <a:xfrm>
            <a:off x="8275318" y="1508760"/>
            <a:ext cx="3840480" cy="320040"/>
          </a:xfrm>
          <a:prstGeom prst="rect">
            <a:avLst/>
          </a:prstGeom>
          <a:solidFill>
            <a:srgbClr val="5B2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58" y="1536192"/>
            <a:ext cx="3703320" cy="256032"/>
          </a:xfrm>
          <a:prstGeom prst="rect">
            <a:avLst/>
          </a:prstGeom>
          <a:noFill/>
        </p:spPr>
        <p:txBody>
          <a:bodyPr wrap="square">
            <a:spAutoFit/>
          </a:bodyPr>
          <a:lstStyle/>
          <a:p>
            <a:pPr algn="l"/>
            <a:r>
              <a:rPr sz="1200" b="1" i="0">
                <a:solidFill>
                  <a:srgbClr val="FFFFFF"/>
                </a:solidFill>
                <a:latin typeface="Calibri"/>
              </a:rPr>
              <a:t>Robustness — LSTAR (c* = 13.1%)</a:t>
            </a:r>
          </a:p>
        </p:txBody>
      </p:sp>
      <p:sp>
        <p:nvSpPr>
          <p:cNvPr id="18" name="Rectangle 17"/>
          <p:cNvSpPr/>
          <p:nvPr/>
        </p:nvSpPr>
        <p:spPr>
          <a:xfrm>
            <a:off x="8275320" y="1828800"/>
            <a:ext cx="3840480" cy="2418715"/>
          </a:xfrm>
          <a:prstGeom prst="rect">
            <a:avLst/>
          </a:prstGeom>
          <a:solidFill>
            <a:srgbClr val="F0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85175" y="1883410"/>
            <a:ext cx="3657600" cy="2382520"/>
          </a:xfrm>
          <a:prstGeom prst="rect">
            <a:avLst/>
          </a:prstGeom>
          <a:noFill/>
        </p:spPr>
        <p:txBody>
          <a:bodyPr wrap="square">
            <a:noAutofit/>
          </a:bodyPr>
          <a:lstStyle/>
          <a:p>
            <a:pPr>
              <a:spcBef>
                <a:spcPts val="0"/>
              </a:spcBef>
            </a:pPr>
            <a:endParaRPr dirty="0"/>
          </a:p>
          <a:p>
            <a:pPr algn="l">
              <a:spcBef>
                <a:spcPts val="200"/>
              </a:spcBef>
            </a:pPr>
            <a:r>
              <a:rPr sz="1200" b="0" i="0" dirty="0">
                <a:solidFill>
                  <a:srgbClr val="1A1A2E"/>
                </a:solidFill>
                <a:latin typeface="Calibri"/>
              </a:rPr>
              <a:t>• Smooth transition model relaxes sharp-switch assumption.</a:t>
            </a:r>
          </a:p>
          <a:p>
            <a:pPr algn="l">
              <a:spcBef>
                <a:spcPts val="400"/>
              </a:spcBef>
            </a:pPr>
            <a:r>
              <a:rPr sz="1200" b="0" i="0" dirty="0">
                <a:solidFill>
                  <a:srgbClr val="1A1A2E"/>
                </a:solidFill>
                <a:latin typeface="Calibri"/>
              </a:rPr>
              <a:t>• Transition midpoint c* = 0.1314 ≈ Hansen's q* = 0.1301.</a:t>
            </a:r>
          </a:p>
          <a:p>
            <a:pPr algn="l">
              <a:spcBef>
                <a:spcPts val="400"/>
              </a:spcBef>
            </a:pPr>
            <a:r>
              <a:rPr sz="1200" b="0" i="0" dirty="0">
                <a:solidFill>
                  <a:srgbClr val="1A1A2E"/>
                </a:solidFill>
                <a:latin typeface="Calibri"/>
              </a:rPr>
              <a:t>• Sharpness </a:t>
            </a:r>
            <a:r>
              <a:rPr sz="1200" b="0" i="0" dirty="0" err="1">
                <a:solidFill>
                  <a:srgbClr val="1A1A2E"/>
                </a:solidFill>
                <a:latin typeface="Calibri"/>
              </a:rPr>
              <a:t>γ</a:t>
            </a:r>
            <a:r>
              <a:rPr sz="1200" b="0" i="0" dirty="0">
                <a:solidFill>
                  <a:srgbClr val="1A1A2E"/>
                </a:solidFill>
                <a:latin typeface="Calibri"/>
              </a:rPr>
              <a:t>* = 2,768 → switch is near-discrete: validates Hansen.</a:t>
            </a:r>
          </a:p>
          <a:p>
            <a:pPr algn="l">
              <a:spcBef>
                <a:spcPts val="400"/>
              </a:spcBef>
            </a:pPr>
            <a:r>
              <a:rPr sz="1200" b="0" i="0" dirty="0">
                <a:solidFill>
                  <a:srgbClr val="1A1A2E"/>
                </a:solidFill>
                <a:latin typeface="Calibri"/>
              </a:rPr>
              <a:t>• Hansen q* lies inside LSTAR 90% CI. Convergent validity confirmed.</a:t>
            </a:r>
          </a:p>
        </p:txBody>
      </p:sp>
      <p:pic>
        <p:nvPicPr>
          <p:cNvPr id="20" name="Picture 19" descr="threshold_ssr.png"/>
          <p:cNvPicPr>
            <a:picLocks noChangeAspect="1"/>
          </p:cNvPicPr>
          <p:nvPr/>
        </p:nvPicPr>
        <p:blipFill>
          <a:blip r:embed="rId3"/>
          <a:stretch>
            <a:fillRect/>
          </a:stretch>
        </p:blipFill>
        <p:spPr>
          <a:xfrm>
            <a:off x="4297680" y="4247515"/>
            <a:ext cx="3840480" cy="1844675"/>
          </a:xfrm>
          <a:prstGeom prst="rect">
            <a:avLst/>
          </a:prstGeom>
        </p:spPr>
      </p:pic>
      <p:sp>
        <p:nvSpPr>
          <p:cNvPr id="21" name="TextBox 20"/>
          <p:cNvSpPr txBox="1"/>
          <p:nvPr/>
        </p:nvSpPr>
        <p:spPr>
          <a:xfrm>
            <a:off x="4297680" y="6080760"/>
            <a:ext cx="3840480" cy="228600"/>
          </a:xfrm>
          <a:prstGeom prst="rect">
            <a:avLst/>
          </a:prstGeom>
          <a:noFill/>
        </p:spPr>
        <p:txBody>
          <a:bodyPr wrap="square">
            <a:spAutoFit/>
          </a:bodyPr>
          <a:lstStyle/>
          <a:p>
            <a:pPr algn="ctr"/>
            <a:r>
              <a:rPr sz="900" b="0" i="1">
                <a:solidFill>
                  <a:srgbClr val="555566"/>
                </a:solidFill>
                <a:latin typeface="Calibri"/>
              </a:rPr>
              <a:t>SSR minimised at q* = 0.130 (red dashed line) — the regime switch point.</a:t>
            </a:r>
          </a:p>
        </p:txBody>
      </p:sp>
      <p:sp>
        <p:nvSpPr>
          <p:cNvPr id="22" name="Rectangle 21"/>
          <p:cNvSpPr/>
          <p:nvPr/>
        </p:nvSpPr>
        <p:spPr>
          <a:xfrm>
            <a:off x="0" y="6402070"/>
            <a:ext cx="12188825" cy="446405"/>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6470015"/>
            <a:ext cx="11274552" cy="306705"/>
          </a:xfrm>
          <a:prstGeom prst="rect">
            <a:avLst/>
          </a:prstGeom>
          <a:noFill/>
        </p:spPr>
        <p:txBody>
          <a:bodyPr wrap="square">
            <a:spAutoFit/>
          </a:bodyPr>
          <a:lstStyle/>
          <a:p>
            <a:pPr algn="ctr"/>
            <a:r>
              <a:rPr sz="1400" b="1" i="0">
                <a:solidFill>
                  <a:srgbClr val="FFFFFF"/>
                </a:solidFill>
                <a:latin typeface="Calibri"/>
              </a:rPr>
              <a:t>Same conclusion. Stronger evidence. β₁ = −6.02 bps  +  q* = 13.0% (Hansen)  +  c* = 13.1% (LSTAR)  =  the paper</a:t>
            </a:r>
            <a:r>
              <a:rPr lang="en-US" sz="1400" b="1" i="0">
                <a:solidFill>
                  <a:srgbClr val="FFFFFF"/>
                </a:solidFill>
                <a:latin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 !</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2" name="TextBox 1"/>
          <p:cNvSpPr txBox="1"/>
          <p:nvPr/>
        </p:nvSpPr>
        <p:spPr>
          <a:xfrm>
            <a:off x="6094095" y="5560060"/>
            <a:ext cx="5842635" cy="1200329"/>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 · Jade Zhu  Alexandre Godefroy · Baptiste Degand · </a:t>
            </a:r>
            <a:r>
              <a:rPr lang="en-US" altLang="ko-KR" b="1" dirty="0" err="1">
                <a:solidFill>
                  <a:srgbClr val="FFFFFF"/>
                </a:solidFill>
              </a:rPr>
              <a:t>Minjin</a:t>
            </a:r>
            <a:r>
              <a:rPr lang="en-US" altLang="ko-KR" b="1" dirty="0">
                <a:solidFill>
                  <a:srgbClr val="FFFFFF"/>
                </a:solidFill>
              </a:rPr>
              <a:t> Kim </a:t>
            </a:r>
            <a:endParaRPr lang="en-US" altLang="ko-KR" sz="1800" b="1" dirty="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3198</Words>
  <Application>Microsoft Macintosh PowerPoint</Application>
  <PresentationFormat>사용자 지정</PresentationFormat>
  <Paragraphs>147</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Hiragino Kaku Gothic Std W8</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김미르</cp:lastModifiedBy>
  <cp:revision>10</cp:revision>
  <dcterms:created xsi:type="dcterms:W3CDTF">2026-06-02T01:11:18Z</dcterms:created>
  <dcterms:modified xsi:type="dcterms:W3CDTF">2026-06-02T04:13:23Z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F1A4D4BAA419A7ABE72A1E6A5DAC3678_42</vt:lpwstr>
  </property>
</Properties>
</file>