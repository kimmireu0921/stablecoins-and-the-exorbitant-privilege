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73" r:id="rId7"/>
    <p:sldId id="260" r:id="rId8"/>
    <p:sldId id="261" r:id="rId9"/>
    <p:sldId id="262" r:id="rId10"/>
    <p:sldId id="271" r:id="rId11"/>
    <p:sldId id="27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0" userDrawn="1">
          <p15:clr>
            <a:srgbClr val="A4A3A4"/>
          </p15:clr>
        </p15:guide>
        <p15:guide id="2" pos="2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/>
    <p:restoredTop sz="94698"/>
  </p:normalViewPr>
  <p:slideViewPr>
    <p:cSldViewPr snapToGrid="0" snapToObjects="1" showGuides="1">
      <p:cViewPr varScale="1">
        <p:scale>
          <a:sx n="118" d="100"/>
          <a:sy n="118" d="100"/>
        </p:scale>
        <p:origin x="288" y="200"/>
      </p:cViewPr>
      <p:guideLst>
        <p:guide orient="horz" pos="2150"/>
        <p:guide pos="284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601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9DB2D6"/>
                </a:solidFill>
                <a:latin typeface="Calibri"/>
              </a:rPr>
              <a:t>YONSEI GSIS   |   TOPICS IN INTERNATIONAL FINANCE</a:t>
            </a:r>
            <a:endParaRPr sz="1200" b="1">
              <a:solidFill>
                <a:srgbClr val="9DB2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635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600" b="1" dirty="0">
                <a:solidFill>
                  <a:srgbClr val="FFFFFF"/>
                </a:solidFill>
                <a:latin typeface="Georgia" panose="02040502050405090303"/>
              </a:rPr>
              <a:t>Stablecoins and the Exorbitant Privilege</a:t>
            </a:r>
            <a:endParaRPr sz="3600" b="1" dirty="0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398853"/>
            <a:ext cx="10058400" cy="755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ko-KR" sz="2000" i="1" strike="sngStrike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altLang="ko-KR" sz="2000" strike="sngStrike" dirty="0"/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000" b="0" dirty="0">
                <a:solidFill>
                  <a:srgbClr val="CADCFC"/>
                </a:solidFill>
                <a:latin typeface="Georgia" panose="02040502050405090303"/>
              </a:rPr>
              <a:t>A Reserve-Composition Channel in the T-Bill Market</a:t>
            </a:r>
            <a:endParaRPr sz="2000" b="0" dirty="0">
              <a:solidFill>
                <a:srgbClr val="CADCFC"/>
              </a:solidFill>
              <a:latin typeface="Georgia" panose="020405020504050903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3640872"/>
            <a:ext cx="10332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Chekroune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Oybek Ibragimov   ·   Jade Zhu   ·   Alexandre Godefroy   ·   Baptiste Degand   ·  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Minjin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Kim</a:t>
            </a:r>
            <a:endParaRPr lang="en-US" altLang="ko-KR" sz="1300" dirty="0"/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3291840" cy="73152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Bid-cover ↓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USDT supply weakens
T-bill auction demand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291840" cy="73152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USDT ≠ USDC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A reserve-composition
channel, issuer-specific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13816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297680"/>
            <a:ext cx="3291840" cy="73152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Robust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Survives every
stress-test we ran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MOTIVATION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Question — A Structural Fact, Then a Test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Stablecoin issuers have quietly become major buyers of US Treasury bills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33832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The structural fact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issuers hold their reserves largely in short-term US Treasuries. USDT alone is now one of the largest holders of T-bills in the world — by construction.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57400"/>
            <a:ext cx="82296" cy="33832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The mechanism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When USDT grows, it mechanically buys T-bills. This is programmatic, rule-bound demand for US government debt — a candidate channel of the 'exorbitant privilege'.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57400"/>
            <a:ext cx="82296" cy="33832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The question</a:t>
            </a:r>
            <a:endParaRPr sz="17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Does this demand actually show up in the US Treasury market? We test it against T-bill auction demand (bid-cover) and stress-test every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2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Changed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rebuilt the analysis around the professor's corrections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15544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Specification</a:t>
            </a:r>
            <a:endParaRPr sz="16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Exploit the panel: each issuer (USDT, USDC) a separate observation. Stop combining Treasury and liquid reserves; drop θ (θ + L ≈ 1, collinear). Show the estimating equation on every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15544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Data construction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Replace forward-filling of the quarterly reserve attestations with a time-weighted linear interpolation between consecutive attestation dates.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82296" cy="15544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Event study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4672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LUNA · Celsius · FTX · BUSD studied. Drop SVB — confounded by the simultaneous banking crisis. Events disagree in sign; pooled p = 0.43 → motivation only, not identification.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199632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703320"/>
            <a:ext cx="82296" cy="155448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5B8DEF"/>
                </a:solidFill>
                <a:latin typeface="Georgia" panose="02040502050405090303"/>
              </a:rPr>
              <a:t>Focus</a:t>
            </a:r>
            <a:endParaRPr sz="1600" b="1">
              <a:solidFill>
                <a:srgbClr val="5B8DEF"/>
              </a:solidFill>
              <a:latin typeface="Georgia" panose="020405020504050903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55664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Re-centre the analysis on the bid-cover ratio as a stationary, directly observable outcome — and stress-test the new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3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the Re-Run Revealed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3028"/>
            <a:ext cx="11064240" cy="340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re-ran the two headline coefficients under the professor's corrected specification</a:t>
            </a:r>
            <a:endParaRPr lang="en-US" altLang="en-US"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606550"/>
            <a:ext cx="11091545" cy="36290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6550"/>
            <a:ext cx="76200" cy="3602355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606677"/>
            <a:ext cx="1070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Neither Result Survived</a:t>
            </a:r>
            <a:endParaRPr sz="16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1911985"/>
            <a:ext cx="10699750" cy="330898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3294B"/>
                </a:solidFill>
                <a:latin typeface="Calibri"/>
              </a:rPr>
              <a:t>β₁ — Privilege Amplification</a:t>
            </a:r>
            <a:endParaRPr sz="16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33425C"/>
                </a:solidFill>
                <a:latin typeface="Calibri"/>
              </a:rPr>
              <a:t>→  Measures the baseline direct effect of stablecoin supply growth on yield spreads, independent of the buffer level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Before: β₁ = −7.57 (p = 0.004) — statistically significant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1">
                <a:solidFill>
                  <a:srgbClr val="E8A12C"/>
                </a:solidFill>
                <a:latin typeface="Calibri"/>
              </a:rPr>
              <a:t>→  After re-run: β₁ = +2.74 — not significant; sign flipped</a:t>
            </a:r>
            <a:endParaRPr sz="1400" b="1">
              <a:solidFill>
                <a:srgbClr val="E8A12C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3425C"/>
                </a:solidFill>
                <a:latin typeface="Calibri"/>
              </a:rPr>
              <a:t>→  Verdict: amplification claim does not hold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endParaRPr sz="16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600" b="1">
                <a:solidFill>
                  <a:srgbClr val="13294B"/>
                </a:solidFill>
                <a:latin typeface="Calibri"/>
              </a:rPr>
              <a:t>β₄ — Buffer Interaction</a:t>
            </a:r>
            <a:endParaRPr sz="16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33425C"/>
                </a:solidFill>
                <a:latin typeface="Calibri"/>
              </a:rPr>
              <a:t>→  Tests whether the reserve buffer level amplifies or dampens the effect of stablecoin supply growth on spreads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Levels regression: β₄ = −35.89 (p = 0.032) — appeared significant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1">
                <a:solidFill>
                  <a:srgbClr val="E8A12C"/>
                </a:solidFill>
                <a:latin typeface="Calibri"/>
              </a:rPr>
              <a:t>→  First-differenced: β₄ = −107 (p = 0.46) — collapses to insignificance</a:t>
            </a:r>
            <a:endParaRPr sz="14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Result vanishes under differencing — consistent with spurious regression</a:t>
            </a:r>
            <a:endParaRPr sz="14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19090"/>
            <a:ext cx="11091545" cy="98615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409609"/>
            <a:ext cx="10543032" cy="349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What we dropped from the main claims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" y="5744210"/>
            <a:ext cx="10789285" cy="602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β₁ (privilege amplification)   ·   the ≈13% reserve threshold   ·   the LSTAR model</a:t>
            </a:r>
            <a:endParaRPr sz="1600" b="1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β₁ and β₄ lost significance when re-run correctly. The threshold and LSTAR ran only in the (now-invalid) levels regression — we do not carry them forward.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4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2593975"/>
            <a:ext cx="4601210" cy="14852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Why? Diagnosing Spurious Regression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238758"/>
            <a:ext cx="11064240" cy="329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ran three standard tests to confirm the original regression was spurious</a:t>
            </a:r>
            <a:endParaRPr lang="en-US" altLang="en-US"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5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80845"/>
            <a:ext cx="76200" cy="3830955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ADF Unit Root Test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1998980"/>
            <a:ext cx="3289300" cy="33851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Does the variable drift without a stable mean? If yes → non-stationary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Non-stationary variables produce spurious regressions — false significance from shared drift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Spread p = 0.494  ·  Buffer L p = 0.902 → both non-stationary, I(1)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variables drifted down together — coincidence, not causation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228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285" y="1681480"/>
            <a:ext cx="76200" cy="383032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41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Engle–Granger Cointegration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10405" y="1998980"/>
            <a:ext cx="3289300" cy="34093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Even if non-stationary individually, a stable long-run link (cointegration) makes regression valid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Standard rescue — if cointegration holds, levels regression survives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p = 0.120 → cannot reject no cointegration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 stable long-run link — they fell together during 2022–24 hiking, then diverged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7656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6565" y="1689100"/>
            <a:ext cx="76200" cy="3822700"/>
          </a:xfrm>
          <a:prstGeom prst="rect">
            <a:avLst/>
          </a:prstGeom>
          <a:solidFill>
            <a:srgbClr val="E8A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1045" y="1697690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Johansen Test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59445" y="1998980"/>
            <a:ext cx="3289300" cy="34499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Stronger, multivariate cointegration test — checks the full system, not one pair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More reliable in small samples — the definitive confirmation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Fails to reject r = 0 (zero cointegrating vectors)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tests fail → levels regression is spurious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48640" y="5601970"/>
            <a:ext cx="11091545" cy="697865"/>
          </a:xfrm>
          <a:prstGeom prst="rect">
            <a:avLst/>
          </a:prstGeom>
          <a:solidFill>
            <a:srgbClr val="12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40" y="5681680"/>
            <a:ext cx="10791672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All three tests agree: the variables are non-stationary and not cointegrated. The original results were driven by shared drift during the 2022–24 Fed hiking cycle — not a genuine economic relationship.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OUR RESPONSE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Finding the Result That Survives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changed the dependent variable, then tried hard to break the new result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76200" cy="439801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1 · Re-anchor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3253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Problem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200" b="0">
                <a:solidFill>
                  <a:srgbClr val="33425C"/>
                </a:solidFill>
                <a:latin typeface="Calibri"/>
              </a:rPr>
              <a:t>The spread drifts without a stable mean (non-stationary) — regressing on it picks up shared drift, not causation</a:t>
            </a:r>
            <a:endParaRPr lang="en-US" altLang="en-US"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Fix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Switch the outcome variable to the bid-cover ratio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is bid-cover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Bids received per dollar of T-bills offered at auction — a direct, stationary measure of demand strength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it works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It fluctuates around a stable mean → no drift, no spurious regression risk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51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510" y="2057400"/>
            <a:ext cx="82550" cy="438531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2 · Stress-test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36226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Auction size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Large supply mechanically lowers bid-cover; we add offering size as a control to isolate USDT's effect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Interpolated data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Reserve ratios were quarterly, filled in monthly; we re-ran with all interpolated values removed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Fed cycle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USDT and T-bill demand both move with rates; we added Δfedfunds as a control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Placebo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Shuffled USDT supply 2,000 times at random — the real result ranks above 95%+ of random draws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745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745" y="2057400"/>
            <a:ext cx="76200" cy="439801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3 · Converge</a:t>
            </a:r>
            <a:endParaRPr sz="17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335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Independent replication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Each team member reproduced the full analysis independently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Reconciliation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Results aligned across all specifications and all members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Verdict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The bid-cover result survived every check → it becomes the paper's lead finding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6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MAIN RESULT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USDT Supply Growth → Weaker T-Bill Auction Demand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Maturity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USDT (β)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USDC — foil (β)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Wald  USDT≠USDC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4-Week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5B6B82"/>
                </a:solidFill>
                <a:latin typeface="Calibri"/>
              </a:rPr>
              <a:t>-0.61 ns</a:t>
            </a:r>
            <a:endParaRPr sz="1350" b="1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+0.61 ***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0.026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8-Week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-1.33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+0.47 **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13-Week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-1.51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+0.32 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26-Week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-1.53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-0.09 ns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0.001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Reading the result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USDT supply growth predicts lower bid-cover (weaker auction demand); USDC does not. The two issuers differ at every maturity — the reserve-composition signature.</a:t>
            </a:r>
            <a:endParaRPr sz="135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7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ROBUSTNESS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Survives Every Test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result holds with no interpolated data, with auction size controlled, and against a placebo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pic>
        <p:nvPicPr>
          <p:cNvPr id="7" name="Picture 6" descr="bidcover_final_fig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65960"/>
            <a:ext cx="6766560" cy="247112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1965960"/>
            <a:ext cx="4114800" cy="3749039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965960"/>
            <a:ext cx="82296" cy="3749039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37033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Drop the interpolated reserves (θ, L) entirely — result holds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Controlling the Fed rate cycle is the crux: once it is in, USDT is significant at every maturity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Survives the auction-size control (4-week softens; 8/13/26-week strong)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Passes a 2,000-shuffle placebo at 3 of 4 maturities (8/13/26-Week)</a:t>
            </a:r>
            <a:endParaRPr sz="1300" b="0">
              <a:solidFill>
                <a:srgbClr val="1B998B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USDT ≠ USDC at every maturity</a:t>
            </a:r>
            <a:endParaRPr sz="13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8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  <a:endParaRPr sz="1200" b="1">
              <a:solidFill>
                <a:srgbClr val="1B998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</a:rPr>
              <a:t>Specification Ladder — β₁ Stable Across All Specs</a:t>
            </a:r>
            <a:endParaRPr sz="2700" b="1">
              <a:solidFill>
                <a:srgbClr val="13294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A: incl. θ, L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B: drop θ, L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C: B + ln(Offering) ★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−0.72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−1.18 ***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−1.21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−1.47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−1.38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−1.42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−1.67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  <a:endParaRPr sz="1400" b="1">
              <a:solidFill>
                <a:srgbClr val="E8A12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Removing the interpolated reserve controls (A→B) slightly strengthens the result. Adding offering-size control (B→C) barely moves 8/13/26-week. The channel does not depend on any single control choice.</a:t>
            </a:r>
            <a:endParaRPr sz="1350" b="0">
              <a:solidFill>
                <a:srgbClr val="FFFFFF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  <a:endParaRPr sz="900" b="0">
              <a:solidFill>
                <a:srgbClr val="5B6B8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9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  β_USDT shown across three nested specs.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  <a:endParaRPr sz="1200" b="1">
              <a:solidFill>
                <a:srgbClr val="1B998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200" b="1">
                <a:solidFill>
                  <a:srgbClr val="13294B"/>
                </a:solidFill>
              </a:rPr>
              <a:t>Drop-2022 Subsample — Result Strengthens Without Crypto-Crisis Noise</a:t>
            </a:r>
            <a:endParaRPr sz="2200" b="1">
              <a:solidFill>
                <a:srgbClr val="13294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Full sample (N=51)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Drop-2022 (N=39)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Direction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−1.495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−1.129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−0.975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−1.702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  <a:endParaRPr sz="1400" b="1">
              <a:solidFill>
                <a:srgbClr val="E8A12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2022 crypto crises (LUNA, Celsius, FTX) created non-fundamental supply noise. Dropping them: 4-Week and 26-Week strengthen markedly; 8/13-Week remain in the same range. The channel is cleaner in the non-crisis period — consistent with the reserve-composition mechanism.</a:t>
            </a:r>
            <a:endParaRPr sz="1350" b="0">
              <a:solidFill>
                <a:srgbClr val="FFFFFF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  <a:endParaRPr sz="900" b="0">
              <a:solidFill>
                <a:srgbClr val="5B6B8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10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Spec C. N = 51 (full) vs N = 39 (drop-2022). Newey-West HAC(1).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AN HONEST CAVEAT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Frequency, Not Absence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Why the appropriate unit of analysis is the month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At the auction level, no signal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Run auction by auction (N = 1,094), the USDT coefficient is not significant. Taken alone this looks like a non-result.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Why — a frequency mismatch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supply is a monthly series: ~86% of its variation is between months, ~17% within. The same monthly value repeats across ~17 auctions a month, and the pre-auction windows overlap. So N = 1,094 carries only ~51 independent supply observations. The right unit for a monthly regressor is the month — where the effect is significant.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Bottom line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auction-level null is the expected consequence of a frequency mismatch — not evidence against the channel.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11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SUPPORTING EVIDENCE &amp; MOTIVATION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Two Secondary Checks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Daily impulse responses, and an event study used as motivation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86400" cy="3836126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3836126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Daily VAR / impulse response</a:t>
            </a:r>
            <a:endParaRPr sz="1500" b="1">
              <a:solidFill>
                <a:srgbClr val="13294B"/>
              </a:solidFill>
              <a:latin typeface="Georgia" panose="02040502050405090303"/>
            </a:endParaRPr>
          </a:p>
        </p:txBody>
      </p:sp>
      <p:pic>
        <p:nvPicPr>
          <p:cNvPr id="10" name="Picture 9" descr="irf_usdt_usd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06040"/>
            <a:ext cx="50292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749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dirty="0">
                <a:solidFill>
                  <a:srgbClr val="33425C"/>
                </a:solidFill>
                <a:latin typeface="Calibri"/>
              </a:rPr>
              <a:t>USDT supply Granger-causes spread (p = 0.020); day-1 IRF = −0.672 bps, reverting by day 3. USDT/USDC shocks explain 1.3% of spread variance (FEVD, 20-day). Consistent with a real but transient channel — supporting, not primary, evidence.</a:t>
            </a:r>
            <a:endParaRPr sz="1150" b="0" dirty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82296" cy="37033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E8A12C"/>
                </a:solidFill>
                <a:latin typeface="Georgia" panose="02040502050405090303"/>
              </a:rPr>
              <a:t>Multi-event study (motivation)</a:t>
            </a:r>
            <a:endParaRPr sz="1500" b="1">
              <a:solidFill>
                <a:srgbClr val="E8A12C"/>
              </a:solidFill>
              <a:latin typeface="Georgia" panose="02040502050405090303"/>
            </a:endParaRPr>
          </a:p>
        </p:txBody>
      </p:sp>
      <p:pic>
        <p:nvPicPr>
          <p:cNvPr id="15" name="Picture 14" descr="event_study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743200"/>
            <a:ext cx="5074920" cy="15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461772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33425C"/>
                </a:solidFill>
                <a:latin typeface="Calibri"/>
              </a:rPr>
              <a:t>LUNA · Celsius · FTX · BUSD (SVB dropped — confounded). Events disagree in sign; pooled p = 0.43 → no systematic effect. Narrative motivation, not identification.</a:t>
            </a:r>
            <a:endParaRPr sz="11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12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 the Results Had to Change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feedback exposed three constraints that bind any study of this market today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9184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One macro regime</a:t>
            </a:r>
            <a:endParaRPr sz="16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Our 51 months are dominated by a single Fed hiking cycle and its unwind. Trending variables correlate mechanically, so a levels regression flatters any hypothesis — ours included. Removing θ and the forward-fill took away the props; the stationarity tests did the rest.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9184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Reserves are unobserved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Tether attests quarterly: roughly two-thirds of the monthly reserve ratios are interpolation, and the estimated threshold moved 13% → 6.6% just by changing the fill method. The buffer-fragility hypothesis is currently untestable at monthly frequency — not false.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9184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A hard power ceiling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Two issuers, 51 months, no natural experiment. Controls, an issuer foil, and a placebo are the strongest identification available here — and supply shocks still explain only ~1.3% of spread variance. These are limits of the setting, not of the specification.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548640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63270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honest reading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59" y="599846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feedback did not break good results — it revealed which results this data could never have supported.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13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Can — and Cannot — Claim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Drawing the boundary precisely is part of the result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Supported by the data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USDT supply growth is associated with weaker T-bill auction demand — robust to every check we ran</a:t>
            </a:r>
            <a:endParaRPr sz="1350" b="0" dirty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channel is issuer-specific (USDT ≠ USDC), consistent with reserve composition</a:t>
            </a:r>
            <a:endParaRPr sz="1350" b="0" dirty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structural fact: programmatic T-bill purchases at sovereign-holder scale</a:t>
            </a:r>
            <a:endParaRPr sz="1350" b="0" dirty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C1121F"/>
                </a:solidFill>
                <a:latin typeface="Georgia" panose="02040502050405090303"/>
              </a:rPr>
              <a:t>Beyond the data — for now</a:t>
            </a:r>
            <a:endParaRPr sz="17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causal privilege effect in yield levels (β₁): one rate cycle cannot identify it</a:t>
            </a:r>
            <a:endParaRPr sz="135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reserve-buffer threshold (≈13%): reserves are not observed at monthly frequency</a:t>
            </a:r>
            <a:endParaRPr sz="135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Run-scenario fragility: no clean redemption episode in sample (SVB is confounded)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Untested is not rejected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question is ahead of its data — and the data is catching up.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14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Constraints Relax Mechanically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Time, regulation, and scale each remove one of the binding limits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46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Time → regimes</a:t>
            </a:r>
            <a:endParaRPr sz="16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Each year adds 12 observations. By 2030 the sample roughly doubles (~100 months) and spans at least two full rate cycles. Regime variation — not just a larger N — is what separates a real channel from a shared trend.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461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Regulation → real data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The 2025 US stablecoin law (GENIUS) and the EU's MiCA mandate monthly, certified reserve disclosures. θ and L become observed rather than interpolated, and the issuer panel widens as banks and fintechs enter. The buffer hypothesis becomes testable for the first time.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461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Scale → detectability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Combined USDT + USDC supply is ≈ $262B at the end of our sample — already on par with a mid-sized sovereign holder of US debt. Official and industry projections reach $1–2T by 2028–30; at that scale, issuers become marginal price-setters in the bill market.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same test rig, better inputs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Every analysis in this paper is scripted and reproducible — it can simply be re-run as each constraint lifts.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15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Expect — Falsifiable Predictions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Each claim comes with the evidence that would confirm or kill it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82296" cy="242316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B998B"/>
                </a:solidFill>
                <a:latin typeface="Georgia" panose="02040502050405090303"/>
              </a:rPr>
              <a:t>Bid-cover sharpens</a:t>
            </a:r>
            <a:endParaRPr sz="15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If the channel is real, β stays near −1.4 and significance grows with the sample. If it was an artifact of the 2022–23 crypto winter, it attenuates toward zero as those months roll out of the window.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874519"/>
            <a:ext cx="82296" cy="24231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Privilege becomes measurable</a:t>
            </a:r>
            <a:endParaRPr sz="15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Across two or more rate cycles the spread regression becomes estimable in differences. Safe-asset demand-curve logic predicts a small, few-bps compression per $100B of issuance — visible only at scale.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874519"/>
            <a:ext cx="82296" cy="242316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C1121F"/>
                </a:solidFill>
                <a:latin typeface="Georgia" panose="02040502050405090303"/>
              </a:rPr>
              <a:t>Fragility becomes testable</a:t>
            </a:r>
            <a:endParaRPr sz="15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Observed monthly reserves plus the first large redemption under the new regime test the buffer threshold directly. At $1T+ scale a forced bill sale is macro-relevant — the New Triffin question returns.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1091672" cy="1627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8A12C"/>
                </a:solidFill>
                <a:latin typeface="Calibri"/>
              </a:rPr>
              <a:t>EXPECTED PATH</a:t>
            </a:r>
            <a:endParaRPr sz="1100" b="1">
              <a:solidFill>
                <a:srgbClr val="E8A12C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2960" y="5001768"/>
            <a:ext cx="10561320" cy="20116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2026–27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Monthly certified reserve reports begin (GENIUS / MiCA)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547872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2027–28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547872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Sample spans a full easing cycle (~75 months)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72783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2028–29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72783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2–3 years of observed θ, L → threshold test on real data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97696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2030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997696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~100 months, ≥2 cycles, wider issuer panel — full re-run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16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CONCLUSION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Defensible Claim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698480" cy="2103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82296" cy="2103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10149840" cy="1497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>
                <a:solidFill>
                  <a:srgbClr val="13294B"/>
                </a:solidFill>
                <a:latin typeface="Georgia" panose="02040502050405090303"/>
              </a:rPr>
              <a:t>USDT supply growth is associated with lower T-bill auction bid-cover at all maturities, while USDC is not.</a:t>
            </a:r>
            <a:endParaRPr sz="1800" b="1">
              <a:solidFill>
                <a:srgbClr val="13294B"/>
              </a:solidFill>
              <a:latin typeface="Georgia" panose="02040502050405090303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0">
                <a:solidFill>
                  <a:srgbClr val="33425C"/>
                </a:solidFill>
                <a:latin typeface="Georgia" panose="02040502050405090303"/>
              </a:rPr>
              <a:t>Robust to controlling auction size and to removing all interpolated reserve controls, and it passes a 2,000-</a:t>
            </a:r>
            <a:r>
              <a:rPr lang="en-US" altLang="en-US" sz="1450" b="0">
                <a:solidFill>
                  <a:srgbClr val="33425C"/>
                </a:solidFill>
                <a:latin typeface="Georgia" panose="02040502050405090303"/>
              </a:rPr>
              <a:t>shuffle </a:t>
            </a:r>
            <a:r>
              <a:rPr sz="1450" b="0">
                <a:solidFill>
                  <a:srgbClr val="33425C"/>
                </a:solidFill>
                <a:latin typeface="Georgia" panose="02040502050405090303"/>
              </a:rPr>
              <a:t>placebo at 3 of 4 maturities (8/13/26-Week). At the individual-auction frequency the association is not detectable, consistent with stablecoin supply being a monthly-frequency variable.</a:t>
            </a:r>
            <a:endParaRPr sz="1450" b="0">
              <a:solidFill>
                <a:srgbClr val="33425C"/>
              </a:solidFill>
              <a:latin typeface="Georgia" panose="02040502050405090303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The structural privilege channel is real — USDT is a programmatic T-bill buyer</a:t>
            </a:r>
            <a:endParaRPr sz="15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Its imprint is visible in auction demand, not in the spurious levels regression</a:t>
            </a:r>
            <a:endParaRPr sz="15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Stated carefully, the finding survives every robustness check we could devise</a:t>
            </a:r>
            <a:endParaRPr sz="15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17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Georgia" panose="02040502050405090303"/>
              </a:rPr>
              <a:t>A robust result, honestly earned.</a:t>
            </a:r>
            <a:endParaRPr sz="3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USDT supply growth → weaker T-bill auction demand, and USDT ≠ USDC.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Survives offering size, zero interpolated data, the rate-cycle control, and a placebo.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The spurious levels results are dropped; the VAR and event study remain as support.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Diagnosis, stress-testing, and reconciliation were a shared, group effort.</a:t>
            </a:r>
            <a:endParaRPr sz="1700" b="0" dirty="0">
              <a:solidFill>
                <a:srgbClr val="CADCF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14877</Words>
  <Application>WPS Docs</Application>
  <PresentationFormat>사용자 지정</PresentationFormat>
  <Paragraphs>545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5" baseType="lpstr">
      <vt:lpstr>Arial</vt:lpstr>
      <vt:lpstr>SimSun</vt:lpstr>
      <vt:lpstr>Wingdings</vt:lpstr>
      <vt:lpstr>Arial</vt:lpstr>
      <vt:lpstr>Calibri</vt:lpstr>
      <vt:lpstr>Helvetica Neue</vt:lpstr>
      <vt:lpstr>Georgia</vt:lpstr>
      <vt:lpstr>Georgia</vt:lpstr>
      <vt:lpstr>Georgia</vt:lpstr>
      <vt:lpstr>Georgia</vt:lpstr>
      <vt:lpstr>Calibri</vt:lpstr>
      <vt:lpstr>Calibri</vt:lpstr>
      <vt:lpstr>Calibri</vt:lpstr>
      <vt:lpstr>Microsoft YaHei</vt:lpstr>
      <vt:lpstr>汉仪旗黑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OybekIbragimov</cp:lastModifiedBy>
  <cp:revision>10</cp:revision>
  <dcterms:created xsi:type="dcterms:W3CDTF">2026-06-14T13:02:51Z</dcterms:created>
  <dcterms:modified xsi:type="dcterms:W3CDTF">2026-06-14T13:02:51Z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2D01AD1591C18A47E67A2E6AC6E3AAB1_42</vt:lpwstr>
  </property>
  <property fmtid="{D5CDD505-2E9C-101B-9397-08002B2CF9AE}" pid="3" name="KSOProductBuildVer">
    <vt:lpwstr>1033-12.1.25897.25897</vt:lpwstr>
  </property>
</Properties>
</file>