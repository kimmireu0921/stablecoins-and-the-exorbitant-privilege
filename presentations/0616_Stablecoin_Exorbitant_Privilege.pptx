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73" r:id="rId7"/>
    <p:sldId id="260" r:id="rId8"/>
    <p:sldId id="261" r:id="rId9"/>
    <p:sldId id="262" r:id="rId10"/>
    <p:sldId id="271" r:id="rId11"/>
    <p:sldId id="27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0" userDrawn="1">
          <p15:clr>
            <a:srgbClr val="A4A3A4"/>
          </p15:clr>
        </p15:guide>
        <p15:guide id="2" pos="284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98"/>
  </p:normalViewPr>
  <p:slideViewPr>
    <p:cSldViewPr snapToGrid="0" snapToObjects="1" showGuides="1">
      <p:cViewPr varScale="1">
        <p:scale>
          <a:sx n="118" d="100"/>
          <a:sy n="118" d="100"/>
        </p:scale>
        <p:origin x="288" y="200"/>
      </p:cViewPr>
      <p:guideLst>
        <p:guide orient="horz" pos="2150"/>
        <p:guide pos="284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7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7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7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7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7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96012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9DB2D6"/>
                </a:solidFill>
                <a:latin typeface="Calibri"/>
              </a:rPr>
              <a:t>YONSEI GSIS   |   TOPICS IN INTERNATIONAL FINANCE</a:t>
            </a:r>
            <a:endParaRPr sz="1200" b="1">
              <a:solidFill>
                <a:srgbClr val="9DB2D6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332720" cy="6355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600" b="1" dirty="0">
                <a:solidFill>
                  <a:srgbClr val="FFFFFF"/>
                </a:solidFill>
                <a:latin typeface="Georgia" panose="02040502050405090303"/>
              </a:rPr>
              <a:t>Stablecoins and the Exorbitant Privilege</a:t>
            </a:r>
            <a:endParaRPr sz="3600" b="1" dirty="0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398853"/>
            <a:ext cx="10058400" cy="755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05000"/>
              </a:lnSpc>
              <a:spcAft>
                <a:spcPts val="300"/>
              </a:spcAft>
            </a:pPr>
            <a:r>
              <a:rPr lang="en-US" altLang="ko-KR" sz="2000" i="1" strike="sngStrike" dirty="0">
                <a:solidFill>
                  <a:srgbClr val="CADCFC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Safe-Asset Demand and Its Systemic Fragility</a:t>
            </a:r>
            <a:endParaRPr lang="en-US" altLang="ko-KR" sz="2000" strike="sngStrike" dirty="0"/>
          </a:p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000" b="0" dirty="0">
                <a:solidFill>
                  <a:srgbClr val="CADCFC"/>
                </a:solidFill>
                <a:latin typeface="Georgia" panose="02040502050405090303"/>
              </a:rPr>
              <a:t>A Reserve-Composition Channel in the T-Bill Market</a:t>
            </a:r>
            <a:endParaRPr sz="2000" b="0" dirty="0">
              <a:solidFill>
                <a:srgbClr val="CADCFC"/>
              </a:solidFill>
              <a:latin typeface="Georgia" panose="02040502050405090303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640872"/>
            <a:ext cx="1033272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Mireu Kim   ·   Sara </a:t>
            </a:r>
            <a:r>
              <a:rPr lang="en-US" altLang="ko-KR" sz="1300" dirty="0" err="1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Chekroune</a:t>
            </a:r>
            <a:r>
              <a:rPr lang="en-US" altLang="ko-KR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Oybek Ibragimov   ·   Jade Zhu   ·   Alexandre Godefroy   ·   Baptiste Degand   ·   </a:t>
            </a:r>
            <a:r>
              <a:rPr lang="en-US" altLang="ko-KR" sz="1300" dirty="0" err="1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Minjin</a:t>
            </a:r>
            <a:r>
              <a:rPr lang="en-US" altLang="ko-KR" sz="1300" dirty="0">
                <a:solidFill>
                  <a:srgbClr val="C7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Kim</a:t>
            </a:r>
            <a:endParaRPr lang="en-US" altLang="ko-KR" sz="1300" dirty="0"/>
          </a:p>
        </p:txBody>
      </p:sp>
      <p:sp>
        <p:nvSpPr>
          <p:cNvPr id="9" name="Rectangle 8"/>
          <p:cNvSpPr/>
          <p:nvPr/>
        </p:nvSpPr>
        <p:spPr>
          <a:xfrm>
            <a:off x="91440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" y="4297680"/>
            <a:ext cx="3291840" cy="7315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 panose="02040502050405090303"/>
              </a:rPr>
              <a:t>Bid-cover ↓</a:t>
            </a:r>
            <a:endParaRPr sz="2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USDT supply weakens
T-bill auction demand</a:t>
            </a:r>
            <a:endParaRPr sz="120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7200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4297680"/>
            <a:ext cx="3291840" cy="73152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 panose="02040502050405090303"/>
              </a:rPr>
              <a:t>USDT ≠ USDC</a:t>
            </a:r>
            <a:endParaRPr sz="2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66344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A reserve-composition
channel, issuer-specific</a:t>
            </a:r>
            <a:endParaRPr sz="120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138160" y="4297680"/>
            <a:ext cx="3291840" cy="1508760"/>
          </a:xfrm>
          <a:prstGeom prst="rect">
            <a:avLst/>
          </a:prstGeom>
          <a:solidFill>
            <a:srgbClr val="1228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4297680"/>
            <a:ext cx="3291840" cy="73152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4407408"/>
            <a:ext cx="310896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400" b="1">
                <a:solidFill>
                  <a:srgbClr val="FFFFFF"/>
                </a:solidFill>
                <a:latin typeface="Georgia" panose="02040502050405090303"/>
              </a:rPr>
              <a:t>Robust</a:t>
            </a:r>
            <a:endParaRPr sz="2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600" y="5074920"/>
            <a:ext cx="3108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AEC0DD"/>
                </a:solidFill>
                <a:latin typeface="Calibri"/>
              </a:rPr>
              <a:t>Survives every
stress-test we ran</a:t>
            </a:r>
            <a:endParaRPr sz="1200" b="0">
              <a:solidFill>
                <a:srgbClr val="AEC0DD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MOTIVATION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The Question — A Structural Fact, Then a Test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Stablecoin issuers have quietly become major buyers of US Treasury bills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82296" cy="33832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 panose="02040502050405090303"/>
              </a:rPr>
              <a:t>The structural fact</a:t>
            </a:r>
            <a:endParaRPr sz="17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Stablecoin issuers hold their reserves largely in short-term US Treasuries. USDT alone is now one of the largest holders of T-bills in the world — by construction.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57400"/>
            <a:ext cx="82296" cy="33832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 panose="02040502050405090303"/>
              </a:rPr>
              <a:t>The mechanism</a:t>
            </a:r>
            <a:endParaRPr sz="1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When USDT grows, it mechanically buys T-bills. This is programmatic, rule-bound demand for US government debt — a candidate channel of the 'exorbitant privilege'.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19872" y="2057400"/>
            <a:ext cx="3520440" cy="33832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57400"/>
            <a:ext cx="82296" cy="338328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E8A12C"/>
                </a:solidFill>
                <a:latin typeface="Georgia" panose="02040502050405090303"/>
              </a:rPr>
              <a:t>The question</a:t>
            </a:r>
            <a:endParaRPr sz="17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2734056"/>
            <a:ext cx="3044952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Does this demand actually show up in the US Treasury market? We test it against T-bill auction demand (bid-cover) and stress-test every result.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2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AFTER THE PROFESSOR'S FEEDBACK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What We Changed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We rebuilt the analysis around the professor's corrections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15544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B998B"/>
                </a:solidFill>
                <a:latin typeface="Georgia" panose="02040502050405090303"/>
              </a:rPr>
              <a:t>Specification</a:t>
            </a:r>
            <a:endParaRPr sz="16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Exploit the panel: each issuer (USDT, USDC) a separate observation. Stop combining Treasury and liquid reserves; drop θ (θ + L ≈ 1, collinear). Show the estimating equation on every result.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15544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 panose="02040502050405090303"/>
              </a:rPr>
              <a:t>Data construction</a:t>
            </a:r>
            <a:endParaRPr sz="16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Replace forward-filling of the quarterly reserve attestations with a time-weighted linear interpolation between consecutive attestation dates.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03320"/>
            <a:ext cx="82296" cy="155448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86791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 panose="02040502050405090303"/>
              </a:rPr>
              <a:t>Event study</a:t>
            </a:r>
            <a:endParaRPr sz="16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04672" y="437997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LUNA · Celsius · FTX · BUSD studied. Drop SVB — confounded by the simultaneous banking crisis. Events disagree in sign; pooled p = 0.43 → motivation only, not identification.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6199632" y="3703320"/>
            <a:ext cx="5440680" cy="155448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9632" y="3703320"/>
            <a:ext cx="82296" cy="1554480"/>
          </a:xfrm>
          <a:prstGeom prst="rect">
            <a:avLst/>
          </a:prstGeom>
          <a:solidFill>
            <a:srgbClr val="5B8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867911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5B8DEF"/>
                </a:solidFill>
                <a:latin typeface="Georgia" panose="02040502050405090303"/>
              </a:rPr>
              <a:t>Focus</a:t>
            </a:r>
            <a:endParaRPr sz="1600" b="1">
              <a:solidFill>
                <a:srgbClr val="5B8DEF"/>
              </a:solidFill>
              <a:latin typeface="Georgia" panose="02040502050405090303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55664" y="4379976"/>
            <a:ext cx="4965192" cy="7315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Re-centre the analysis on the bid-cover ratio as a stationary, directly observable outcome — and stress-test the new result.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3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AFTER THE PROFESSOR'S FEEDBACK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What the Re-Run Revealed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13028"/>
            <a:ext cx="11064240" cy="34099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lang="en-US" altLang="en-US" sz="1550" b="0">
                <a:solidFill>
                  <a:srgbClr val="5B6B82"/>
                </a:solidFill>
                <a:latin typeface="Georgia" panose="02040502050405090303"/>
              </a:rPr>
              <a:t>We re-ran the two headline coefficients under the professor's corrected specification</a:t>
            </a:r>
            <a:endParaRPr lang="en-US" altLang="en-US"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606550"/>
            <a:ext cx="11091545" cy="36290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6550"/>
            <a:ext cx="76200" cy="3602355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1606677"/>
            <a:ext cx="10700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C1121F"/>
                </a:solidFill>
                <a:latin typeface="Georgia" panose="02040502050405090303"/>
              </a:rPr>
              <a:t>Neither Result Survived</a:t>
            </a:r>
            <a:endParaRPr sz="1600" b="1">
              <a:solidFill>
                <a:srgbClr val="C1121F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1911985"/>
            <a:ext cx="5500000" cy="3308985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β₁ — Privilege Amplification</a:t>
            </a:r>
            <a:endParaRPr sz="1400" b="1">
              <a:solidFill>
                <a:srgbClr val="13294B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425C"/>
                </a:solidFill>
                <a:latin typeface="Calibri"/>
              </a:rPr>
              <a:t>→  Measures the baseline direct effect of stablecoin supply growth on yield spreads, independent of the buffer level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Before: β₁ = −7.57 (p = 0.004) — statistically significant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E8A12C"/>
                </a:solidFill>
                <a:latin typeface="Calibri"/>
              </a:rPr>
              <a:t>→  After re-run: β₁ = +2.74 — not significant; sign flipped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→  Verdict: amplification claim does not hold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200"/>
              </a:spcBef>
              <a:spcAft>
                <a:spcPts val="300"/>
              </a:spcAft>
            </a:pPr>
            <a:r>
              <a:rPr sz="1400" b="1">
                <a:solidFill>
                  <a:srgbClr val="13294B"/>
                </a:solidFill>
                <a:latin typeface="Calibri"/>
              </a:rPr>
              <a:t>β₄ — Buffer Interaction</a:t>
            </a:r>
            <a:endParaRPr sz="1400" b="1">
              <a:solidFill>
                <a:srgbClr val="13294B"/>
              </a:solidFill>
              <a:latin typeface="Calibri"/>
            </a:endParaRPr>
          </a:p>
          <a:p>
            <a:pPr algn="l">
              <a:spcBef>
                <a:spcPts val="200"/>
              </a:spcBef>
            </a:pPr>
            <a:r>
              <a:rPr sz="1200" b="0">
                <a:solidFill>
                  <a:srgbClr val="33425C"/>
                </a:solidFill>
                <a:latin typeface="Calibri"/>
              </a:rPr>
              <a:t>→  Tests whether the reserve buffer level amplifies or dampens the effect of stablecoin supply growth on spreads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Levels regression: β₄ = −35.89 (p = 0.032) — appeared significant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E8A12C"/>
                </a:solidFill>
                <a:latin typeface="Calibri"/>
              </a:rPr>
              <a:t>→  First-differenced: β₄ = −107 (p = 0.46) — collapses to insignificance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Result vanishes under differencing — consistent with spurious regression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5419090"/>
            <a:ext cx="11091545" cy="986155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409609"/>
            <a:ext cx="10543032" cy="3492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 panose="02040502050405090303"/>
              </a:rPr>
              <a:t>What we dropped from the main claims</a:t>
            </a:r>
            <a:endParaRPr sz="16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744210"/>
            <a:ext cx="10789285" cy="60261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β₁ (privilege amplification)   ·   the ≈13% reserve threshold   ·   the LSTAR model</a:t>
            </a:r>
            <a:endParaRPr sz="1600" b="1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β₁ and β₄ lost significance when re-run correctly. The threshold and LSTAR ran only in the (now-invalid) levels regression — we do not carry them forward.</a:t>
            </a:r>
            <a:endParaRPr sz="12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5000"/>
              </a:lnSpc>
              <a:spcAft>
                <a:spcPts val="300"/>
              </a:spcAft>
            </a:pPr>
            <a:r>
              <a:rPr sz="1100" b="0">
                <a:solidFill>
                  <a:srgbClr val="5B6B82"/>
                </a:solidFill>
                <a:latin typeface="Calibri"/>
              </a:rPr>
              <a:t>4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22960" y="1960000"/>
            <a:ext cx="55000" cy="9700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7960" y="2010000"/>
            <a:ext cx="4912225" cy="93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3294B"/>
                </a:solidFill>
                <a:latin typeface="Calibri"/>
              </a:rPr>
              <a:t>① Original  —  before professor's feedback</a:t>
            </a:r>
            <a:endParaRPr sz="1050" b="1">
              <a:solidFill>
                <a:srgbClr val="13294B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Spread = α + β₁·ΔlnS + β₂·θ + β₃·L + β₄·(L×ΔlnS) + controls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C1121F"/>
                </a:solidFill>
                <a:latin typeface="Calibri"/>
              </a:rPr>
              <a:t>β₁ = −7.57   (p = 0.004) ***</a:t>
            </a:r>
            <a:br>
              <a:rPr sz="1200" b="1">
                <a:solidFill>
                  <a:srgbClr val="C1121F"/>
                </a:solidFill>
                <a:latin typeface="Calibri"/>
              </a:rPr>
            </a:br>
            <a:endParaRPr sz="1200" b="1">
              <a:solidFill>
                <a:srgbClr val="C1121F"/>
              </a:solidFill>
              <a:latin typeface="Calibri"/>
              <a:sym typeface="+mn-ea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6422960" y="3060000"/>
            <a:ext cx="55000" cy="107000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67960" y="3110000"/>
            <a:ext cx="4912225" cy="973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1B998B"/>
                </a:solidFill>
                <a:latin typeface="Calibri"/>
              </a:rPr>
              <a:t>② Corrected  —  θ dropped (θ+L≈1, collinear), L kept</a:t>
            </a:r>
            <a:endParaRPr sz="1050" b="1">
              <a:solidFill>
                <a:srgbClr val="1B998B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Spread = α + β₁·ΔlnS + β₃·L + β₄·(L×ΔlnS) + controls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Aft>
                <a:spcPts val="3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β₁ = +2.74   (p = 0.228)   not significant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E8A12C"/>
                </a:solidFill>
                <a:latin typeface="Calibri"/>
              </a:rPr>
              <a:t>β₄ = −35.89  (p = 0.032)   significant in levels</a:t>
            </a:r>
            <a:endParaRPr sz="1200" b="1">
              <a:solidFill>
                <a:srgbClr val="E8A12C"/>
              </a:solidFill>
              <a:latin typeface="Calibr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22960" y="4200000"/>
            <a:ext cx="55000" cy="970000"/>
          </a:xfrm>
          <a:prstGeom prst="rect">
            <a:avLst/>
          </a:prstGeom>
          <a:solidFill>
            <a:srgbClr val="E8A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67960" y="4250000"/>
            <a:ext cx="4912225" cy="7505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1">
                <a:solidFill>
                  <a:srgbClr val="E8A12C"/>
                </a:solidFill>
                <a:latin typeface="Calibri"/>
              </a:rPr>
              <a:t>③ First-differenced  —  L replaced by ΔL (removes drift)</a:t>
            </a:r>
            <a:endParaRPr sz="1050" b="1">
              <a:solidFill>
                <a:srgbClr val="E8A12C"/>
              </a:solidFill>
              <a:latin typeface="Calibri"/>
            </a:endParaRP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ΔSpread = α + β₁·Δ²lnS + β₃·ΔL + β₄·(ΔL×Δ²lnS) + controls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/>
            <a:r>
              <a:rPr sz="1200" b="1">
                <a:solidFill>
                  <a:srgbClr val="C1121F"/>
                </a:solidFill>
                <a:latin typeface="Calibri"/>
                <a:sym typeface="+mn-ea"/>
              </a:rPr>
              <a:t>β₁ = </a:t>
            </a:r>
            <a:r>
              <a:rPr lang="en-US" altLang="en-US" sz="1200" b="1">
                <a:solidFill>
                  <a:srgbClr val="C1121F"/>
                </a:solidFill>
                <a:latin typeface="Calibri"/>
                <a:sym typeface="+mn-ea"/>
              </a:rPr>
              <a:t>0.82 (p = 0.13)             </a:t>
            </a:r>
            <a:r>
              <a:rPr sz="1200" b="1">
                <a:solidFill>
                  <a:srgbClr val="C1121F"/>
                </a:solidFill>
                <a:latin typeface="Calibri"/>
              </a:rPr>
              <a:t>β₄ = −107   (p = 0.46)  </a:t>
            </a:r>
            <a:endParaRPr lang="en-US" altLang="en-US" sz="1200" b="1">
              <a:solidFill>
                <a:srgbClr val="C1121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998B"/>
                </a:solidFill>
                <a:latin typeface="Calibri"/>
              </a:rPr>
              <a:t>AFTER THE PROFESSOR'S FEEDBACK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Why? Diagnosing Spurious Regression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238758"/>
            <a:ext cx="11064240" cy="329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en-US" sz="1550" b="0">
                <a:solidFill>
                  <a:srgbClr val="5B6B82"/>
                </a:solidFill>
                <a:latin typeface="Georgia" panose="02040502050405090303"/>
              </a:rPr>
              <a:t>We ran three standard tests to confirm the original regression was spurious</a:t>
            </a:r>
            <a:endParaRPr lang="en-US" altLang="en-US"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5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48640" y="1677670"/>
            <a:ext cx="3563620" cy="383413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680845"/>
            <a:ext cx="76200" cy="3830955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90705"/>
            <a:ext cx="328957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Georgia" panose="02040502050405090303"/>
              </a:rPr>
              <a:t>ADF Unit Root Test</a:t>
            </a:r>
            <a:endParaRPr sz="14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31520" y="1998980"/>
            <a:ext cx="3289300" cy="338518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What it is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Does the variable drift without a stable mean? If yes → non-stationary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Why we ran it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Non-stationary variables produce spurious regressions — false significance from shared drift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Our result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Spread p = 0.494  ·  Buffer L p = 0.902 → both non-stationary, I(1)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What it means</a:t>
            </a:r>
            <a:endParaRPr sz="1200" b="1">
              <a:solidFill>
                <a:srgbClr val="C1121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Both variables drifted down together — coincidence, not causation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12285" y="1677670"/>
            <a:ext cx="3563620" cy="383413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12285" y="1681480"/>
            <a:ext cx="76200" cy="3830320"/>
          </a:xfrm>
          <a:prstGeom prst="rect">
            <a:avLst/>
          </a:prstGeom>
          <a:solidFill>
            <a:srgbClr val="1B99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5410" y="1690705"/>
            <a:ext cx="328957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Georgia" panose="02040502050405090303"/>
              </a:rPr>
              <a:t>Engle–Granger Cointegration</a:t>
            </a:r>
            <a:endParaRPr sz="14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10405" y="1998980"/>
            <a:ext cx="3289300" cy="340931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What it is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Even if non-stationary individually, a stable long-run link (cointegration) makes regression valid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Why we ran it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Standard rescue — if cointegration holds, levels regression survives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Our result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p = 0.120 → cannot reject no cointegration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What it means</a:t>
            </a:r>
            <a:endParaRPr sz="1200" b="1">
              <a:solidFill>
                <a:srgbClr val="C1121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No stable long-run link — they fell together during 2022–24 hiking, then diverged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8076565" y="1677670"/>
            <a:ext cx="3563620" cy="383413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6565" y="1689100"/>
            <a:ext cx="76200" cy="3822700"/>
          </a:xfrm>
          <a:prstGeom prst="rect">
            <a:avLst/>
          </a:prstGeom>
          <a:solidFill>
            <a:srgbClr val="E8A1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51045" y="1697690"/>
            <a:ext cx="328957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3294B"/>
                </a:solidFill>
                <a:latin typeface="Georgia" panose="02040502050405090303"/>
              </a:rPr>
              <a:t>Johansen Test</a:t>
            </a:r>
            <a:endParaRPr sz="14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59445" y="1998980"/>
            <a:ext cx="3289300" cy="344995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What it is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Stronger, multivariate cointegration test — checks the full system, not one pair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Why we ran it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More reliable in small samples — the definitive confirmation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Our result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Fails to reject r = 0 (zero cointegrating vectors)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200"/>
              </a:spcAft>
            </a:pPr>
            <a:r>
              <a:rPr sz="1200" b="1">
                <a:solidFill>
                  <a:srgbClr val="C1121F"/>
                </a:solidFill>
                <a:latin typeface="Calibri"/>
              </a:rPr>
              <a:t>What it means</a:t>
            </a:r>
            <a:endParaRPr sz="1200" b="1">
              <a:solidFill>
                <a:srgbClr val="C1121F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Both tests fail → levels regression is spurious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8640" y="5601970"/>
            <a:ext cx="11091545" cy="697865"/>
          </a:xfrm>
          <a:prstGeom prst="rect">
            <a:avLst/>
          </a:prstGeom>
          <a:solidFill>
            <a:srgbClr val="12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640" y="5681680"/>
            <a:ext cx="10791672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All three tests agree: the variables are non-stationary and not cointegrated. The original results were driven by shared drift during the 2022–24 Fed hiking cycle — not a genuine economic relationship.</a:t>
            </a:r>
            <a:endParaRPr sz="1200" b="0">
              <a:solidFill>
                <a:srgbClr val="FFFFFF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OUR RESPONSE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Finding the Result That Survives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We changed the dependent variable, then tried hard to break the new result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3520440" cy="439801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76200" cy="439801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 panose="02040502050405090303"/>
              </a:rPr>
              <a:t>1 · Re-anchor</a:t>
            </a:r>
            <a:endParaRPr sz="17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734056"/>
            <a:ext cx="3044952" cy="3253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Problem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</a:t>
            </a:r>
            <a:r>
              <a:rPr lang="en-US" altLang="en-US" sz="1200" b="0">
                <a:solidFill>
                  <a:srgbClr val="33425C"/>
                </a:solidFill>
                <a:latin typeface="Calibri"/>
              </a:rPr>
              <a:t>The spread drifts without a stable mean (non-stationary) — regressing on it picks up shared drift, not causation</a:t>
            </a:r>
            <a:endParaRPr lang="en-US" altLang="en-US"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Fix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Switch the outcome variable to the bid-cover ratio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What is bid-cover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Bids received per dollar of T-bills offered at auction — a direct, stationary measure of demand strength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Why it works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It fluctuates around a stable mean → no drift, no spurious regression risk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510" y="2057400"/>
            <a:ext cx="3520440" cy="439801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510" y="2057400"/>
            <a:ext cx="82550" cy="438531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 panose="02040502050405090303"/>
              </a:rPr>
              <a:t>2 · Stress-test</a:t>
            </a:r>
            <a:endParaRPr sz="1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734056"/>
            <a:ext cx="3044952" cy="36226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Auction size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Large supply mechanically lowers bid-cover; we add offering size as a control to isolate USDT's effect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Interpolated data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Reserve ratios were quarterly, filled in monthly; we re-ran with all interpolated values removed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Fed cycle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USDT and T-bill demand both move with rates; we added Δfedfunds as a control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Placebo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Shuffled USDT supply 2,000 times at random — the real result ranks above 95%+ of random draws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19745" y="2057400"/>
            <a:ext cx="3520440" cy="439801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745" y="2057400"/>
            <a:ext cx="76200" cy="439801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22199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E8A12C"/>
                </a:solidFill>
                <a:latin typeface="Georgia" panose="02040502050405090303"/>
              </a:rPr>
              <a:t>3 · Converge</a:t>
            </a:r>
            <a:endParaRPr sz="17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2734056"/>
            <a:ext cx="3044952" cy="23355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Independent replication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Each team member reproduced the full analysis independently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Reconciliation</a:t>
            </a:r>
            <a:endParaRPr sz="1200" b="1">
              <a:solidFill>
                <a:srgbClr val="1B998B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Results aligned across all specifications and all members</a:t>
            </a:r>
            <a:endParaRPr sz="1200" b="0">
              <a:solidFill>
                <a:srgbClr val="33425C"/>
              </a:solidFill>
              <a:latin typeface="Calibri"/>
            </a:endParaRPr>
          </a:p>
          <a:p>
            <a:pPr algn="l">
              <a:spcBef>
                <a:spcPts val="1100"/>
              </a:spcBef>
              <a:spcAft>
                <a:spcPts val="300"/>
              </a:spcAft>
            </a:pPr>
            <a:r>
              <a:rPr sz="1200" b="1">
                <a:solidFill>
                  <a:srgbClr val="E8A12C"/>
                </a:solidFill>
                <a:latin typeface="Calibri"/>
              </a:rPr>
              <a:t>Verdict</a:t>
            </a:r>
            <a:endParaRPr sz="1200" b="1">
              <a:solidFill>
                <a:srgbClr val="E8A12C"/>
              </a:solidFill>
              <a:latin typeface="Calibri"/>
            </a:endParaRPr>
          </a:p>
          <a:p>
            <a:pPr algn="l"/>
            <a:r>
              <a:rPr sz="1200" b="0">
                <a:solidFill>
                  <a:srgbClr val="33425C"/>
                </a:solidFill>
                <a:latin typeface="Calibri"/>
              </a:rPr>
              <a:t>→  The bid-cover result survived every check → it becomes the paper's lead finding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6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MAIN RESULT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USDT Supply Growth → Weaker T-Bill Auction Demand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Maturity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USDT (β)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USDC — foil (β)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Wald  USDT≠USDC</a:t>
            </a:r>
            <a:endParaRPr sz="1300" b="1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4-Week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5B6B82"/>
                </a:solidFill>
                <a:latin typeface="Calibri"/>
              </a:rPr>
              <a:t>-0.61 ns</a:t>
            </a:r>
            <a:endParaRPr sz="1350" b="1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+0.61 ***</a:t>
            </a:r>
            <a:endParaRPr sz="135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0.026</a:t>
            </a:r>
            <a:endParaRPr sz="1350" b="0">
              <a:solidFill>
                <a:srgbClr val="13294B"/>
              </a:solidFill>
              <a:latin typeface="Calibr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8-Week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-1.33 ***</a:t>
            </a:r>
            <a:endParaRPr sz="135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+0.47 **</a:t>
            </a:r>
            <a:endParaRPr sz="135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0.000</a:t>
            </a:r>
            <a:endParaRPr sz="1350" b="0">
              <a:solidFill>
                <a:srgbClr val="13294B"/>
              </a:solidFill>
              <a:latin typeface="Calibri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13-Week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-1.51 ***</a:t>
            </a:r>
            <a:endParaRPr sz="135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+0.32 *</a:t>
            </a:r>
            <a:endParaRPr sz="135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0.000</a:t>
            </a:r>
            <a:endParaRPr sz="1350" b="0">
              <a:solidFill>
                <a:srgbClr val="13294B"/>
              </a:solidFill>
              <a:latin typeface="Calibri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26-Week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  <a:latin typeface="Calibri"/>
              </a:rPr>
              <a:t>-1.53 ***</a:t>
            </a:r>
            <a:endParaRPr sz="135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  <a:latin typeface="Calibri"/>
              </a:rPr>
              <a:t>-0.09 ns</a:t>
            </a:r>
            <a:endParaRPr sz="135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13294B"/>
                </a:solidFill>
                <a:latin typeface="Calibri"/>
              </a:rPr>
              <a:t>p = 0.001</a:t>
            </a:r>
            <a:endParaRPr sz="1350" b="0">
              <a:solidFill>
                <a:srgbClr val="13294B"/>
              </a:solidFill>
              <a:latin typeface="Calibri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63040" y="4983480"/>
            <a:ext cx="9326880" cy="10515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" y="5129784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 panose="02040502050405090303"/>
              </a:rPr>
              <a:t>Reading the result</a:t>
            </a:r>
            <a:endParaRPr sz="14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37360" y="5495544"/>
            <a:ext cx="87782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  <a:latin typeface="Calibri"/>
              </a:rPr>
              <a:t>USDT supply growth predicts lower bid-cover (weaker auction demand); USDC does not. The two issuers differ at every maturity — the reserve-composition signature.</a:t>
            </a:r>
            <a:endParaRPr sz="135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7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6928" y="1460000"/>
            <a:ext cx="1106424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94B"/>
                </a:solidFill>
              </a:rPr>
              <a:t>BC_{m,t} = αₘ + β_USDT · ΔlnS^USDT_t + β_USDC · ΔlnS^USDC_t + δₘ · ln(Offering_{m,t}) + γ₁ · VIX_t + γ₂ · Δfedfunds_t + ε_t</a:t>
            </a:r>
            <a:endParaRPr sz="1300" b="1">
              <a:solidFill>
                <a:srgbClr val="13294B"/>
              </a:solidFill>
            </a:endParaRPr>
          </a:p>
          <a:p>
            <a:pPr algn="ctr"/>
            <a:r>
              <a:rPr lang="en-US" sz="1050" b="0">
                <a:solidFill>
                  <a:srgbClr val="5B6B82"/>
                </a:solidFill>
              </a:rPr>
              <a:t>Monthly OLS, N = 51, Newey-West HAC(1).</a:t>
            </a:r>
            <a:endParaRPr lang="en-US" sz="1050" b="0">
              <a:solidFill>
                <a:srgbClr val="5B6B8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ROBUSTNESS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What Survives Every Test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The result holds with no interpolated data, with auction size controlled, and against a placebo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pic>
        <p:nvPicPr>
          <p:cNvPr id="7" name="Picture 6" descr="bidcover_final_fig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965960"/>
            <a:ext cx="6766560" cy="24711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543800" y="1965960"/>
            <a:ext cx="4114800" cy="3749039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43800" y="1965960"/>
            <a:ext cx="82296" cy="3749039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0" y="2148840"/>
            <a:ext cx="370332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Drop the interpolated reserves (θ, L) entirely — result holds</a:t>
            </a:r>
            <a:endParaRPr sz="130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Controlling the Fed rate cycle is the crux: once it is in, USDT is significant at every maturity</a:t>
            </a:r>
            <a:endParaRPr sz="130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Survives the auction-size control (4-week softens; 8/13/26-week strong)</a:t>
            </a:r>
            <a:endParaRPr sz="130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Passes a 2,000-shuffle placebo at 3 of 4 maturities (8/13/26-Week)</a:t>
            </a:r>
            <a:endParaRPr sz="1300" b="0">
              <a:solidFill>
                <a:srgbClr val="1B998B"/>
              </a:solidFill>
              <a:latin typeface="Calibri"/>
            </a:endParaRPr>
          </a:p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sz="1300" b="0">
                <a:solidFill>
                  <a:srgbClr val="1B998B"/>
                </a:solidFill>
                <a:latin typeface="Calibri"/>
              </a:rPr>
              <a:t>◆  </a:t>
            </a:r>
            <a:r>
              <a:rPr sz="1300" b="0">
                <a:solidFill>
                  <a:srgbClr val="33425C"/>
                </a:solidFill>
                <a:latin typeface="Calibri"/>
              </a:rPr>
              <a:t>USDT ≠ USDC at every maturity</a:t>
            </a:r>
            <a:endParaRPr sz="13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8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</a:rPr>
              <a:t>ROBUSTNESS</a:t>
            </a:r>
            <a:endParaRPr sz="1200" b="1">
              <a:solidFill>
                <a:srgbClr val="1B99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</a:rPr>
              <a:t>Specification Ladder — β₁ Stable Across All Specs</a:t>
            </a:r>
            <a:endParaRPr sz="2700" b="1">
              <a:solidFill>
                <a:srgbClr val="13294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Maturity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A: incl. θ, L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B: drop θ, L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C: B + ln(Offering) ★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4-Week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−0.72 *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−1.18 ***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−0.61 ns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8-Week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−1.21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−1.47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−1.33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13-Week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−1.38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−1.53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−1.51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26-Week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−1.42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−1.67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−1.53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63040" y="4983480"/>
            <a:ext cx="9326880" cy="10515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" y="5129784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</a:rPr>
              <a:t>Reading the result</a:t>
            </a:r>
            <a:endParaRPr sz="1400" b="1">
              <a:solidFill>
                <a:srgbClr val="E8A12C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37360" y="5495544"/>
            <a:ext cx="87782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</a:rPr>
              <a:t>Removing the interpolated reserve controls (A→B) slightly strengthens the result. Adding offering-size control (B→C) barely moves 8/13/26-week. The channel does not depend on any single control choice.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</a:rPr>
              <a:t>Stablecoins &amp; the Exorbitant Privilege</a:t>
            </a:r>
            <a:endParaRPr sz="900" b="0">
              <a:solidFill>
                <a:srgbClr val="5B6B82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9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6928" y="1460000"/>
            <a:ext cx="1106424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94B"/>
                </a:solidFill>
              </a:rPr>
              <a:t>BC_{m,t} = αₘ + β_USDT · ΔlnS^USDT_t + β_USDC · ΔlnS^USDC_t + δₘ · ln(Offering_{m,t}) + γ₁ · VIX_t + γ₂ · Δfedfunds_t + ε_t</a:t>
            </a:r>
            <a:endParaRPr sz="1300" b="1">
              <a:solidFill>
                <a:srgbClr val="13294B"/>
              </a:solidFill>
            </a:endParaRPr>
          </a:p>
          <a:p>
            <a:pPr algn="ctr"/>
            <a:r>
              <a:rPr lang="en-US" sz="1050" b="0">
                <a:solidFill>
                  <a:srgbClr val="5B6B82"/>
                </a:solidFill>
              </a:rPr>
              <a:t>Monthly OLS, N = 51, Newey-West HAC(1).  β_USDT shown across three nested specs.</a:t>
            </a:r>
            <a:endParaRPr lang="en-US" sz="1050" b="0">
              <a:solidFill>
                <a:srgbClr val="5B6B8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</a:rPr>
              <a:t>ROBUSTNESS</a:t>
            </a:r>
            <a:endParaRPr sz="1200" b="1">
              <a:solidFill>
                <a:srgbClr val="1B998B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200" b="1">
                <a:solidFill>
                  <a:srgbClr val="13294B"/>
                </a:solidFill>
              </a:rPr>
              <a:t>Drop-2022 Subsample — Result Strengthens Without Crypto-Crisis Noise</a:t>
            </a:r>
            <a:endParaRPr sz="2200" b="1">
              <a:solidFill>
                <a:srgbClr val="13294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</a:p>
        </p:txBody>
      </p:sp>
      <p:sp>
        <p:nvSpPr>
          <p:cNvPr id="7" name="Rectangle 6"/>
          <p:cNvSpPr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Maturity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103120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Full sample (N=51)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Drop-2022 (N=39)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00" b="1">
                <a:solidFill>
                  <a:srgbClr val="FFFFFF"/>
                </a:solidFill>
              </a:rPr>
              <a:t>Direction</a:t>
            </a:r>
            <a:endParaRPr sz="1300" b="1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6304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4-Week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0" y="2670048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−0.61 ns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5216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−1.495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670048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Strengthens ↑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8-Week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0" y="3236976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−1.33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5216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−1.129 *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3236976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Stable →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13-Week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0" y="3803904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−1.51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5216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−0.975 *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21040" y="3803904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5B6B82"/>
                </a:solidFill>
              </a:rPr>
              <a:t>Stable →</a:t>
            </a:r>
            <a:endParaRPr sz="1350" b="0">
              <a:solidFill>
                <a:srgbClr val="5B6B82"/>
              </a:solidFill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46304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</a:rPr>
              <a:t>26-Week</a:t>
            </a:r>
            <a:endParaRPr sz="1350" b="0">
              <a:solidFill>
                <a:srgbClr val="33425C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0" y="4370832"/>
            <a:ext cx="219456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−1.53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5216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−1.702 ***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21040" y="4370832"/>
            <a:ext cx="246888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</a:pPr>
            <a:r>
              <a:rPr sz="1350" b="1">
                <a:solidFill>
                  <a:srgbClr val="1B998B"/>
                </a:solidFill>
              </a:rPr>
              <a:t>Strengthens ↑</a:t>
            </a:r>
            <a:endParaRPr sz="1350" b="1">
              <a:solidFill>
                <a:srgbClr val="1B998B"/>
              </a:solidFill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63040" y="4983480"/>
            <a:ext cx="9326880" cy="10515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37360" y="5129784"/>
            <a:ext cx="8778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</a:rPr>
              <a:t>Reading the result</a:t>
            </a:r>
            <a:endParaRPr sz="1400" b="1">
              <a:solidFill>
                <a:srgbClr val="E8A12C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1737360" y="5495544"/>
            <a:ext cx="8778240" cy="4114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350" b="0">
                <a:solidFill>
                  <a:srgbClr val="FFFFFF"/>
                </a:solidFill>
              </a:rPr>
              <a:t>2022 crypto crises (LUNA, Celsius, FTX) created non-fundamental supply noise. Dropping them: 4-Week and 26-Week strengthen markedly; 8/13-Week remain in the same range. The channel is cleaner in the non-crisis period — consistent with the reserve-composition mechanism.</a:t>
            </a:r>
            <a:endParaRPr sz="1350" b="0">
              <a:solidFill>
                <a:srgbClr val="FFFFFF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</a:rPr>
              <a:t>Stablecoins &amp; the Exorbitant Privilege</a:t>
            </a:r>
            <a:endParaRPr sz="900" b="0">
              <a:solidFill>
                <a:srgbClr val="5B6B82"/>
              </a:solidFill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10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66928" y="1460000"/>
            <a:ext cx="1106424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3294B"/>
                </a:solidFill>
              </a:rPr>
              <a:t>BC_{m,t} = αₘ + β_USDT · ΔlnS^USDT_t + β_USDC · ΔlnS^USDC_t + δₘ · ln(Offering_{m,t}) + γ₁ · VIX_t + γ₂ · Δfedfunds_t + ε_t</a:t>
            </a:r>
            <a:endParaRPr sz="1300" b="1">
              <a:solidFill>
                <a:srgbClr val="13294B"/>
              </a:solidFill>
            </a:endParaRPr>
          </a:p>
          <a:p>
            <a:pPr algn="ctr"/>
            <a:r>
              <a:rPr lang="en-US" sz="1050" b="0">
                <a:solidFill>
                  <a:srgbClr val="5B6B82"/>
                </a:solidFill>
              </a:rPr>
              <a:t>Spec C. N = 51 (full) vs N = 39 (drop-2022). Newey-West HAC(1).</a:t>
            </a:r>
            <a:endParaRPr lang="en-US" sz="1050" b="0">
              <a:solidFill>
                <a:srgbClr val="5B6B8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AN HONEST CAVEAT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Frequency, Not Absence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Why the appropriate unit of analysis is the month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00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3294B"/>
                </a:solidFill>
                <a:latin typeface="Georgia" panose="02040502050405090303"/>
              </a:rPr>
              <a:t>At the auction level, no signal</a:t>
            </a:r>
            <a:endParaRPr sz="1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Run auction by auction (N = 1,094), the USDT coefficient is not significant. Taken alone this looks like a non-result.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32004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 panose="02040502050405090303"/>
              </a:rPr>
              <a:t>Why — a frequency mismatch</a:t>
            </a:r>
            <a:endParaRPr sz="17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50" b="0">
                <a:solidFill>
                  <a:srgbClr val="33425C"/>
                </a:solidFill>
                <a:latin typeface="Calibri"/>
              </a:rPr>
              <a:t>Stablecoin supply is a monthly series: ~86% of its variation is between months, ~17% within. The same monthly value repeats across ~17 auctions a month, and the pre-auction windows overlap. So N = 1,094 carries only ~51 independent supply observations. The right unit for a monthly regressor is the month — where the effect is significant.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11091672" cy="822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 panose="02040502050405090303"/>
              </a:rPr>
              <a:t>Bottom line</a:t>
            </a:r>
            <a:endParaRPr sz="14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5952744"/>
            <a:ext cx="10543032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auction-level null is the expected consequence of a frequency mismatch — not evidence against the channel.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11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SUPPORTING EVIDENCE &amp; MOTIVATION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Two Secondary Checks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Daily impulse responses, and an event study used as motivation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965960"/>
            <a:ext cx="5486400" cy="3836126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965960"/>
            <a:ext cx="82296" cy="3836126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031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Georgia" panose="02040502050405090303"/>
              </a:rPr>
              <a:t>Daily VAR / impulse response</a:t>
            </a:r>
            <a:endParaRPr sz="1500" b="1">
              <a:solidFill>
                <a:srgbClr val="13294B"/>
              </a:solidFill>
              <a:latin typeface="Georgia" panose="02040502050405090303"/>
            </a:endParaRPr>
          </a:p>
        </p:txBody>
      </p:sp>
      <p:pic>
        <p:nvPicPr>
          <p:cNvPr id="10" name="Picture 9" descr="irf_usdt_usd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606040"/>
            <a:ext cx="502920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074920"/>
            <a:ext cx="5029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 dirty="0">
                <a:solidFill>
                  <a:srgbClr val="33425C"/>
                </a:solidFill>
                <a:latin typeface="Calibri"/>
              </a:rPr>
              <a:t>USDT supply Granger-causes spread (p = 0.020); day-1 IRF = −0.672 bps, reverting by day 3. USDT/USDC shocks explain 1.3% of spread variance (FEVD, 20-day). Consistent with a real but transient channel — supporting, not primary, evidence.</a:t>
            </a:r>
            <a:endParaRPr sz="1150" b="0" dirty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172200" y="1965960"/>
            <a:ext cx="5486400" cy="37033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965960"/>
            <a:ext cx="82296" cy="370332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E8A12C"/>
                </a:solidFill>
                <a:latin typeface="Georgia" panose="02040502050405090303"/>
              </a:rPr>
              <a:t>Multi-event study (motivation)</a:t>
            </a:r>
            <a:endParaRPr sz="1500" b="1">
              <a:solidFill>
                <a:srgbClr val="E8A12C"/>
              </a:solidFill>
              <a:latin typeface="Georgia" panose="02040502050405090303"/>
            </a:endParaRPr>
          </a:p>
        </p:txBody>
      </p:sp>
      <p:pic>
        <p:nvPicPr>
          <p:cNvPr id="15" name="Picture 14" descr="event_study_mult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743200"/>
            <a:ext cx="5074920" cy="1524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00800" y="4617720"/>
            <a:ext cx="51206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50" b="0">
                <a:solidFill>
                  <a:srgbClr val="33425C"/>
                </a:solidFill>
                <a:latin typeface="Calibri"/>
              </a:rPr>
              <a:t>LUNA · Celsius · FTX · BUSD (SVB dropped — confounded). Events disagree in sign; pooled p = 0.43 → no systematic effect. Narrative motivation, not identification.</a:t>
            </a:r>
            <a:endParaRPr sz="11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12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LIMITATIONS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Why the Results Had to Change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The feedback exposed three constraints that bind any study of this market today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9184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C1121F"/>
                </a:solidFill>
                <a:latin typeface="Georgia" panose="02040502050405090303"/>
              </a:rPr>
              <a:t>One macro regime</a:t>
            </a:r>
            <a:endParaRPr sz="1600" b="1">
              <a:solidFill>
                <a:srgbClr val="C1121F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Our 51 months are dominated by a single Fed hiking cycle and its unwind. Trending variables correlate mechanically, so a levels regression flatters any hypothesis — ours included. Removing θ and the forward-fill took away the props; the stationarity tests did the rest.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11680"/>
            <a:ext cx="82296" cy="329184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 panose="02040502050405090303"/>
              </a:rPr>
              <a:t>Reserves are unobserved</a:t>
            </a:r>
            <a:endParaRPr sz="16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Tether attests quarterly: roughly two-thirds of the monthly reserve ratios are interpolation, and the estimated threshold moved 13% → 6.6% just by changing the fill method. The buffer-fragility hypothesis is currently untestable at monthly frequency — not false.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19872" y="2011680"/>
            <a:ext cx="3520440" cy="329184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11680"/>
            <a:ext cx="82296" cy="329184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 panose="02040502050405090303"/>
              </a:rPr>
              <a:t>A hard power ceiling</a:t>
            </a:r>
            <a:endParaRPr sz="16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2688336"/>
            <a:ext cx="3044952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Two issuers, 51 months, no natural experiment. Controls, an issuer foil, and a placebo are the strongest identification available here — and supply shocks still explain only ~1.3% of spread variance. These are limits of the setting, not of the specification.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548640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63270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 panose="02040502050405090303"/>
              </a:rPr>
              <a:t>The honest reading</a:t>
            </a:r>
            <a:endParaRPr sz="14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599846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feedback did not break good results — it revealed which results this data could never have supported.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13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LIMITATIONS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What We Can — and Cannot — Claim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Drawing the boundary precisely is part of the result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004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1B998B"/>
                </a:solidFill>
                <a:latin typeface="Georgia" panose="02040502050405090303"/>
              </a:rPr>
              <a:t>Supported by the data</a:t>
            </a:r>
            <a:endParaRPr sz="17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dirty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 dirty="0">
                <a:solidFill>
                  <a:srgbClr val="33425C"/>
                </a:solidFill>
                <a:latin typeface="Calibri"/>
              </a:rPr>
              <a:t>USDT supply growth is associated with weaker T-bill auction demand — robust to every check we ran</a:t>
            </a:r>
            <a:endParaRPr sz="1350" b="0" dirty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dirty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 dirty="0">
                <a:solidFill>
                  <a:srgbClr val="33425C"/>
                </a:solidFill>
                <a:latin typeface="Calibri"/>
              </a:rPr>
              <a:t>The channel is issuer-specific (USDT ≠ USDC), consistent with reserve composition</a:t>
            </a:r>
            <a:endParaRPr sz="1350" b="0" dirty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 dirty="0">
                <a:solidFill>
                  <a:srgbClr val="1B998B"/>
                </a:solidFill>
                <a:latin typeface="Calibri"/>
              </a:rPr>
              <a:t>◆  </a:t>
            </a:r>
            <a:r>
              <a:rPr sz="1350" b="0" dirty="0">
                <a:solidFill>
                  <a:srgbClr val="33425C"/>
                </a:solidFill>
                <a:latin typeface="Calibri"/>
              </a:rPr>
              <a:t>The structural fact: programmatic T-bill purchases at sovereign-holder scale</a:t>
            </a:r>
            <a:endParaRPr sz="1350" b="0" dirty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99632" y="2011680"/>
            <a:ext cx="5440680" cy="32004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9632" y="2011680"/>
            <a:ext cx="82296" cy="320040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2176272"/>
            <a:ext cx="4983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700" b="1">
                <a:solidFill>
                  <a:srgbClr val="C1121F"/>
                </a:solidFill>
                <a:latin typeface="Georgia" panose="02040502050405090303"/>
              </a:rPr>
              <a:t>Beyond the data — for now</a:t>
            </a:r>
            <a:endParaRPr sz="1700" b="1">
              <a:solidFill>
                <a:srgbClr val="C1121F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5664" y="2688336"/>
            <a:ext cx="4965192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A causal privilege effect in yield levels (β₁): one rate cycle cannot identify it</a:t>
            </a:r>
            <a:endParaRPr sz="135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A reserve-buffer threshold (≈13%): reserves are not observed at monthly frequency</a:t>
            </a:r>
            <a:endParaRPr sz="135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300" b="0">
                <a:solidFill>
                  <a:srgbClr val="C1121F"/>
                </a:solidFill>
                <a:latin typeface="Calibri"/>
              </a:rPr>
              <a:t>◆  </a:t>
            </a:r>
            <a:r>
              <a:rPr sz="1350" b="0">
                <a:solidFill>
                  <a:srgbClr val="33425C"/>
                </a:solidFill>
                <a:latin typeface="Calibri"/>
              </a:rPr>
              <a:t>Run-scenario fragility: no clean redemption episode in sample (SVB is confounded)</a:t>
            </a:r>
            <a:endParaRPr sz="13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 panose="02040502050405090303"/>
              </a:rPr>
              <a:t>Untested is not rejected</a:t>
            </a:r>
            <a:endParaRPr sz="14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59" y="595274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The question is ahead of its data — and the data is catching up.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14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LOOKING FORWARD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The Constraints Relax Mechanically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Time, regulation, and scale each remove one of the binding limits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82296" cy="324612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B998B"/>
                </a:solidFill>
                <a:latin typeface="Georgia" panose="02040502050405090303"/>
              </a:rPr>
              <a:t>Time → regimes</a:t>
            </a:r>
            <a:endParaRPr sz="16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Each year adds 12 observations. By 2030 the sample roughly doubles (~100 months) and spans at least two full rate cycles. Regime variation — not just a larger N — is what separates a real channel from a shared trend.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2011680"/>
            <a:ext cx="82296" cy="32461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13294B"/>
                </a:solidFill>
                <a:latin typeface="Georgia" panose="02040502050405090303"/>
              </a:rPr>
              <a:t>Regulation → real data</a:t>
            </a:r>
            <a:endParaRPr sz="16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The 2025 US stablecoin law (GENIUS) and the EU's MiCA mandate monthly, certified reserve disclosures. θ and L become observed rather than interpolated, and the issuer panel widens as banks and fintechs enter. The buffer hypothesis becomes testable for the first time.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19872" y="2011680"/>
            <a:ext cx="3520440" cy="3246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2011680"/>
            <a:ext cx="82296" cy="324612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17627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600" b="1">
                <a:solidFill>
                  <a:srgbClr val="E8A12C"/>
                </a:solidFill>
                <a:latin typeface="Georgia" panose="02040502050405090303"/>
              </a:rPr>
              <a:t>Scale → detectability</a:t>
            </a:r>
            <a:endParaRPr sz="16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2688336"/>
            <a:ext cx="3044952" cy="2423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50" b="0">
                <a:solidFill>
                  <a:srgbClr val="33425C"/>
                </a:solidFill>
                <a:latin typeface="Calibri"/>
              </a:rPr>
              <a:t>Combined USDT + USDC supply is ≈ $262B at the end of our sample — already on par with a mid-sized sovereign holder of US debt. Official and industry projections reach $1–2T by 2028–30; at that scale, issuers become marginal price-setters in the bill market.</a:t>
            </a:r>
            <a:endParaRPr sz="125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5586984"/>
            <a:ext cx="1054303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E8A12C"/>
                </a:solidFill>
                <a:latin typeface="Georgia" panose="02040502050405090303"/>
              </a:rPr>
              <a:t>The same test rig, better inputs</a:t>
            </a:r>
            <a:endParaRPr sz="1400" b="1">
              <a:solidFill>
                <a:srgbClr val="E8A12C"/>
              </a:solidFill>
              <a:latin typeface="Georgia" panose="02040502050405090303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2959" y="5952744"/>
            <a:ext cx="1054303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Every analysis in this paper is scripted and reproducible — it can simply be re-run as each constraint lifts.</a:t>
            </a:r>
            <a:endParaRPr sz="1400" b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15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LOOKING FORWARD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What We Expect — Falsifiable Predictions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10642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50" b="0">
                <a:solidFill>
                  <a:srgbClr val="5B6B82"/>
                </a:solidFill>
                <a:latin typeface="Georgia" panose="02040502050405090303"/>
              </a:rPr>
              <a:t>Each claim comes with the evidence that would confirm or kill it</a:t>
            </a:r>
            <a:endParaRPr sz="1550" b="0">
              <a:solidFill>
                <a:srgbClr val="5B6B82"/>
              </a:solidFill>
              <a:latin typeface="Georgia" panose="02040502050405090303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48640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874519"/>
            <a:ext cx="82296" cy="242316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B998B"/>
                </a:solidFill>
                <a:latin typeface="Georgia" panose="02040502050405090303"/>
              </a:rPr>
              <a:t>Bid-cover sharpens</a:t>
            </a:r>
            <a:endParaRPr sz="1500" b="1">
              <a:solidFill>
                <a:srgbClr val="1B998B"/>
              </a:solidFill>
              <a:latin typeface="Georgia" panose="02040502050405090303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4672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If the channel is real, β stays near −1.4 and significance grows with the sample. If it was an artifact of the 2022–23 crypto winter, it attenuates toward zero as those months roll out of the window.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334256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4256" y="1874519"/>
            <a:ext cx="82296" cy="24231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13294B"/>
                </a:solidFill>
                <a:latin typeface="Georgia" panose="02040502050405090303"/>
              </a:rPr>
              <a:t>Privilege becomes measurable</a:t>
            </a:r>
            <a:endParaRPr sz="15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90288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Across two or more rate cycles the spread regression becomes estimable in differences. Safe-asset demand-curve logic predicts a small, few-bps compression per $100B of issuance — visible only at scale.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119872" y="1874519"/>
            <a:ext cx="3520440" cy="24231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19872" y="1874519"/>
            <a:ext cx="82296" cy="2423160"/>
          </a:xfrm>
          <a:prstGeom prst="rect">
            <a:avLst/>
          </a:prstGeom>
          <a:solidFill>
            <a:srgbClr val="C1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39112"/>
            <a:ext cx="3063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500" b="1">
                <a:solidFill>
                  <a:srgbClr val="C1121F"/>
                </a:solidFill>
                <a:latin typeface="Georgia" panose="02040502050405090303"/>
              </a:rPr>
              <a:t>Fragility becomes testable</a:t>
            </a:r>
            <a:endParaRPr sz="1500" b="1">
              <a:solidFill>
                <a:srgbClr val="C1121F"/>
              </a:solidFill>
              <a:latin typeface="Georgia" panose="02040502050405090303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375904" y="2551176"/>
            <a:ext cx="3044952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200" b="0">
                <a:solidFill>
                  <a:srgbClr val="33425C"/>
                </a:solidFill>
                <a:latin typeface="Calibri"/>
              </a:rPr>
              <a:t>Observed monthly reserves plus the first large redemption under the new regime test the buffer threshold directly. At $1T+ scale a forced bill sale is macro-relevant — the New Triffin question returns.</a:t>
            </a:r>
            <a:endParaRPr sz="12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548640" y="4572000"/>
            <a:ext cx="11091672" cy="16276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663440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100" b="1">
                <a:solidFill>
                  <a:srgbClr val="E8A12C"/>
                </a:solidFill>
                <a:latin typeface="Calibri"/>
              </a:rPr>
              <a:t>EXPECTED PATH</a:t>
            </a:r>
            <a:endParaRPr sz="1100" b="1">
              <a:solidFill>
                <a:srgbClr val="E8A12C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22960" y="5001768"/>
            <a:ext cx="10561320" cy="20116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90303"/>
              </a:rPr>
              <a:t>2026–27</a:t>
            </a:r>
            <a:endParaRPr sz="1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22960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Monthly certified reserve reports begin (GENIUS / MiCA)</a:t>
            </a:r>
            <a:endParaRPr sz="105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547872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90303"/>
              </a:rPr>
              <a:t>2027–28</a:t>
            </a:r>
            <a:endParaRPr sz="1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47872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Sample spans a full easing cycle (~75 months)</a:t>
            </a:r>
            <a:endParaRPr sz="105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72783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90303"/>
              </a:rPr>
              <a:t>2028–29</a:t>
            </a:r>
            <a:endParaRPr sz="1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272783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2–3 years of observed θ, L → threshold test on real data</a:t>
            </a:r>
            <a:endParaRPr sz="105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97696" y="5102352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400" b="1">
                <a:solidFill>
                  <a:srgbClr val="FFFFFF"/>
                </a:solidFill>
                <a:latin typeface="Georgia" panose="02040502050405090303"/>
              </a:rPr>
              <a:t>2030</a:t>
            </a:r>
            <a:endParaRPr sz="1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997696" y="5458968"/>
            <a:ext cx="25146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50" b="0">
                <a:solidFill>
                  <a:srgbClr val="AEC0DD"/>
                </a:solidFill>
                <a:latin typeface="Calibri"/>
              </a:rPr>
              <a:t>~100 months, ≥2 cycles, wider issuer panel — full re-run</a:t>
            </a:r>
            <a:endParaRPr sz="1050" b="0">
              <a:solidFill>
                <a:srgbClr val="AEC0DD"/>
              </a:solidFill>
              <a:latin typeface="Calibr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16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10642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1">
                <a:solidFill>
                  <a:srgbClr val="1B998B"/>
                </a:solidFill>
                <a:latin typeface="Calibri"/>
              </a:rPr>
              <a:t>CONCLUSION</a:t>
            </a:r>
            <a:endParaRPr sz="1200" b="1">
              <a:solidFill>
                <a:srgbClr val="1B998B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676656"/>
            <a:ext cx="11064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2700" b="1">
                <a:solidFill>
                  <a:srgbClr val="13294B"/>
                </a:solidFill>
                <a:latin typeface="Georgia" panose="02040502050405090303"/>
              </a:rPr>
              <a:t>The Defensible Claim</a:t>
            </a:r>
            <a:endParaRPr sz="2700" b="1">
              <a:solidFill>
                <a:srgbClr val="13294B"/>
              </a:solidFill>
              <a:latin typeface="Georgia" panose="02040502050405090303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10698480" cy="210312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920240"/>
            <a:ext cx="82296" cy="210312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148840"/>
            <a:ext cx="10149840" cy="149733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800" b="1">
                <a:solidFill>
                  <a:srgbClr val="13294B"/>
                </a:solidFill>
                <a:latin typeface="Georgia" panose="02040502050405090303"/>
              </a:rPr>
              <a:t>USDT supply growth is associated with lower T-bill auction bid-cover at all maturities, while USDC is not.</a:t>
            </a:r>
            <a:endParaRPr sz="1800" b="1">
              <a:solidFill>
                <a:srgbClr val="13294B"/>
              </a:solidFill>
              <a:latin typeface="Georgia" panose="02040502050405090303"/>
            </a:endParaRPr>
          </a:p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450" b="0">
                <a:solidFill>
                  <a:srgbClr val="33425C"/>
                </a:solidFill>
                <a:latin typeface="Georgia" panose="02040502050405090303"/>
              </a:rPr>
              <a:t>Robust to controlling auction size and to removing all interpolated reserve controls, and it passes a 2,000-</a:t>
            </a:r>
            <a:r>
              <a:rPr lang="en-US" altLang="en-US" sz="1450" b="0">
                <a:solidFill>
                  <a:srgbClr val="33425C"/>
                </a:solidFill>
                <a:latin typeface="Georgia" panose="02040502050405090303"/>
              </a:rPr>
              <a:t>shuffle </a:t>
            </a:r>
            <a:r>
              <a:rPr sz="1450" b="0">
                <a:solidFill>
                  <a:srgbClr val="33425C"/>
                </a:solidFill>
                <a:latin typeface="Georgia" panose="02040502050405090303"/>
              </a:rPr>
              <a:t>placebo at 3 of 4 maturities (8/13/26-Week). At the individual-auction frequency the association is not detectable, consistent with stablecoin supply being a monthly-frequency variable.</a:t>
            </a:r>
            <a:endParaRPr sz="1450" b="0">
              <a:solidFill>
                <a:srgbClr val="33425C"/>
              </a:solidFill>
              <a:latin typeface="Georgia" panose="02040502050405090303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1069848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The structural privilege channel is real — USDT is a programmatic T-bill buyer</a:t>
            </a:r>
            <a:endParaRPr sz="150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Its imprint is visible in auction demand, not in the spurious levels regression</a:t>
            </a:r>
            <a:endParaRPr sz="1500" b="0">
              <a:solidFill>
                <a:srgbClr val="33425C"/>
              </a:solidFill>
              <a:latin typeface="Calibri"/>
            </a:endParaRP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400" b="0">
                <a:solidFill>
                  <a:srgbClr val="1B998B"/>
                </a:solidFill>
                <a:latin typeface="Calibri"/>
              </a:rPr>
              <a:t>◆  </a:t>
            </a:r>
            <a:r>
              <a:rPr sz="1500" b="0">
                <a:solidFill>
                  <a:srgbClr val="33425C"/>
                </a:solidFill>
                <a:latin typeface="Calibri"/>
              </a:rPr>
              <a:t>Stated carefully, the finding survives every robustness check we could devise</a:t>
            </a:r>
            <a:endParaRPr sz="1500" b="0">
              <a:solidFill>
                <a:srgbClr val="33425C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6928" y="6455664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900" b="0">
                <a:solidFill>
                  <a:srgbClr val="5B6B82"/>
                </a:solidFill>
                <a:latin typeface="Calibri"/>
              </a:rPr>
              <a:t>Stablecoins &amp; the Exorbitant Privilege</a:t>
            </a:r>
            <a:endParaRPr sz="900" b="0">
              <a:solidFill>
                <a:srgbClr val="5B6B82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B6B82"/>
                </a:solidFill>
                <a:latin typeface="Calibri"/>
              </a:rPr>
              <a:t>17</a:t>
            </a:r>
            <a:endParaRPr sz="1100" b="0">
              <a:solidFill>
                <a:srgbClr val="5B6B82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2880" y="0"/>
            <a:ext cx="91440" cy="6858000"/>
          </a:xfrm>
          <a:prstGeom prst="rect">
            <a:avLst/>
          </a:prstGeom>
          <a:solidFill>
            <a:srgbClr val="E8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3400" b="1">
                <a:solidFill>
                  <a:srgbClr val="FFFFFF"/>
                </a:solidFill>
                <a:latin typeface="Georgia" panose="02040502050405090303"/>
              </a:rPr>
              <a:t>A robust result, honestly earned.</a:t>
            </a:r>
            <a:endParaRPr sz="3400" b="1">
              <a:solidFill>
                <a:srgbClr val="FFFFFF"/>
              </a:solidFill>
              <a:latin typeface="Georgia" panose="02040502050405090303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 dirty="0">
                <a:solidFill>
                  <a:srgbClr val="CADCFC"/>
                </a:solidFill>
                <a:latin typeface="Calibri"/>
              </a:rPr>
              <a:t>USDT supply growth → weaker T-bill auction demand, and USDT ≠ USDC.</a:t>
            </a:r>
            <a:endParaRPr sz="1700" b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 dirty="0">
                <a:solidFill>
                  <a:srgbClr val="CADCFC"/>
                </a:solidFill>
                <a:latin typeface="Calibri"/>
              </a:rPr>
              <a:t>Survives offering size, zero interpolated data, the rate-cycle control, and a placebo.</a:t>
            </a:r>
            <a:endParaRPr sz="1700" b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 dirty="0">
                <a:solidFill>
                  <a:srgbClr val="CADCFC"/>
                </a:solidFill>
                <a:latin typeface="Calibri"/>
              </a:rPr>
              <a:t>The spurious levels results are dropped; the VAR and event study remain as support.</a:t>
            </a:r>
            <a:endParaRPr sz="1700" b="0" dirty="0">
              <a:solidFill>
                <a:srgbClr val="CADCFC"/>
              </a:solidFill>
              <a:latin typeface="Calibri"/>
            </a:endParaRPr>
          </a:p>
          <a:p>
            <a:pPr algn="l">
              <a:lnSpc>
                <a:spcPct val="130000"/>
              </a:lnSpc>
              <a:spcAft>
                <a:spcPts val="300"/>
              </a:spcAft>
            </a:pPr>
            <a:r>
              <a:rPr sz="1700" b="0" dirty="0">
                <a:solidFill>
                  <a:srgbClr val="CADCFC"/>
                </a:solidFill>
                <a:latin typeface="Calibri"/>
              </a:rPr>
              <a:t>Diagnosis, stress-testing, and reconciliation were a shared, group effort.</a:t>
            </a:r>
            <a:endParaRPr sz="1700" b="0" dirty="0">
              <a:solidFill>
                <a:srgbClr val="CADCFC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15371</Words>
  <Application>WPS Docs</Application>
  <PresentationFormat>사용자 지정</PresentationFormat>
  <Paragraphs>557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6" baseType="lpstr">
      <vt:lpstr>Arial</vt:lpstr>
      <vt:lpstr>SimSun</vt:lpstr>
      <vt:lpstr>Wingdings</vt:lpstr>
      <vt:lpstr>Arial</vt:lpstr>
      <vt:lpstr>Calibri</vt:lpstr>
      <vt:lpstr>Helvetica Neue</vt:lpstr>
      <vt:lpstr>Georgia</vt:lpstr>
      <vt:lpstr>Georgia</vt:lpstr>
      <vt:lpstr>Georgia</vt:lpstr>
      <vt:lpstr>Georgia</vt:lpstr>
      <vt:lpstr>Calibri</vt:lpstr>
      <vt:lpstr>Calibri</vt:lpstr>
      <vt:lpstr>Calibri</vt:lpstr>
      <vt:lpstr>Microsoft YaHei</vt:lpstr>
      <vt:lpstr>汉仪旗黑</vt:lpstr>
      <vt:lpstr>Arial Unicode MS</vt:lpstr>
      <vt:lpstr>汉仪书宋二KW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OybekIbragimov</cp:lastModifiedBy>
  <cp:revision>11</cp:revision>
  <dcterms:created xsi:type="dcterms:W3CDTF">2026-06-15T15:08:12Z</dcterms:created>
  <dcterms:modified xsi:type="dcterms:W3CDTF">2026-06-15T15:08:12Z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2D01AD1591C18A47E67A2E6AC6E3AAB1_42</vt:lpwstr>
  </property>
  <property fmtid="{D5CDD505-2E9C-101B-9397-08002B2CF9AE}" pid="3" name="KSOProductBuildVer">
    <vt:lpwstr>1033-12.1.25897.25897</vt:lpwstr>
  </property>
</Properties>
</file>