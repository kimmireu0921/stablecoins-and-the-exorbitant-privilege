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7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7"/>
    <p:restoredTop sz="94698"/>
  </p:normalViewPr>
  <p:slideViewPr>
    <p:cSldViewPr snapToGrid="0" snapToObjects="1">
      <p:cViewPr varScale="1">
        <p:scale>
          <a:sx n="118" d="100"/>
          <a:sy n="118" d="100"/>
        </p:scale>
        <p:origin x="288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9601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9DB2D6"/>
                </a:solidFill>
                <a:latin typeface="Calibri"/>
              </a:rPr>
              <a:t>YONSEI GSIS   |   TOPICS IN INTERNATIONAL FINANCE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332720" cy="6355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600" b="1" dirty="0">
                <a:solidFill>
                  <a:srgbClr val="FFFFFF"/>
                </a:solidFill>
                <a:latin typeface="Georgia"/>
              </a:rPr>
              <a:t>Stablecoins and the Exorbitant Privilege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8853"/>
            <a:ext cx="10058400" cy="755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ko-KR" sz="2000" i="1" strike="sngStrike" dirty="0">
                <a:solidFill>
                  <a:srgbClr val="CADCF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Safe-Asset Demand and Its Systemic Fragility</a:t>
            </a:r>
            <a:endParaRPr lang="en-US" altLang="ko-KR" sz="2000" strike="sngStrike" dirty="0"/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000" b="0" dirty="0">
                <a:solidFill>
                  <a:srgbClr val="CADCFC"/>
                </a:solidFill>
                <a:latin typeface="Georgia"/>
              </a:rPr>
              <a:t>A Reserve-Composition Channel in the T-Bill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40872"/>
            <a:ext cx="1033272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Mireu Kim   ·   Sara </a:t>
            </a:r>
            <a:r>
              <a:rPr lang="en-US" altLang="ko-KR" sz="1300" dirty="0" err="1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Chekroune</a:t>
            </a:r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Oybek Ibragimov   ·   Jade Zhu   ·   Alexandre Godefroy   ·   Baptiste Degand   ·   </a:t>
            </a:r>
            <a:r>
              <a:rPr lang="en-US" altLang="ko-KR" sz="1300" dirty="0" err="1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Minjin</a:t>
            </a:r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Kim</a:t>
            </a:r>
            <a:endParaRPr lang="en-US" altLang="ko-KR" sz="1300" dirty="0"/>
          </a:p>
        </p:txBody>
      </p:sp>
      <p:sp>
        <p:nvSpPr>
          <p:cNvPr id="9" name="Rectangle 8"/>
          <p:cNvSpPr/>
          <p:nvPr/>
        </p:nvSpPr>
        <p:spPr>
          <a:xfrm>
            <a:off x="91440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4400" y="4297680"/>
            <a:ext cx="3291840" cy="73152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Bid-cover 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USDT supply weakens
T-bill auction demand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0" y="4297680"/>
            <a:ext cx="3291840" cy="73152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6344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USDT ≠ USDC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A reserve-composition
channel, issuer-specific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4297680"/>
            <a:ext cx="3291840" cy="73152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Robust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Survives every
stress-test we ran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The Question — A Structural Fact, Then a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Stablecoin issuers have quietly become major buyers of US Treasury bills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82296" cy="33832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/>
              </a:rPr>
              <a:t>The structural 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Stablecoin issuers hold their reserves largely in short-term US Treasuries. USDT alone is now one of the largest holders of T-bills in the world — by construction.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4256" y="2057400"/>
            <a:ext cx="82296" cy="33832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/>
              </a:rPr>
              <a:t>The mechanism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When USDT grows, it mechanically buys T-bills. This is programmatic, rule-bound demand for US government debt — a candidate channel of the 'exorbitant privilege'.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19872" y="2057400"/>
            <a:ext cx="82296" cy="338328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5904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E8A12C"/>
                </a:solidFill>
                <a:latin typeface="Georgia"/>
              </a:rPr>
              <a:t>The 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Does this demand actually show up in the US Treasury market? We test it against T-bill auction demand (bid-cover) and stress-test every result.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What We Changed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We rebuilt the analysis around the professor's corrections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15544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B998B"/>
                </a:solidFill>
                <a:latin typeface="Georgia"/>
              </a:rPr>
              <a:t>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Exploit the panel: each issuer (USDT, USDC) a separate observation. Stop combining Treasury and liquid reserves; drop θ (θ + L ≈ 1, collinear). Show the estimating equation on every result.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15544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/>
              </a:rPr>
              <a:t>Data 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Replace forward-filling of the quarterly reserve attestations with a time-weighted linear interpolation between consecutive attestation dates.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703320"/>
            <a:ext cx="82296" cy="155448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386791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/>
              </a:rPr>
              <a:t>Event study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37997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LUNA · Celsius · FTX · BUSD studied. Drop SVB — confounded by the simultaneous banking crisis. Events disagree in sign; pooled p = 0.43 → motivation only, not identification.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370332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99632" y="3703320"/>
            <a:ext cx="82296" cy="1554480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55664" y="386791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5B8DEF"/>
                </a:solidFill>
                <a:latin typeface="Georgia"/>
              </a:rPr>
              <a:t>Focus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437997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Re-centre the analysis on the bid-cover ratio as a stationary, directly observable outcome — and stress-test the new result.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What the Re-Run Revealed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The original headline results did not survive the corrected specification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2286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22860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C1121F"/>
                </a:solidFill>
                <a:latin typeface="Georgia"/>
              </a:rPr>
              <a:t>The results weakened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Re-run on the corrected panel, β₁ became insignificant. The buffer interaction β₄ flipped sign: −35.89 (p = 0.032) in the levels regression → +8.86 (p = 0.31) under first-differencing. A sign reversal under differencing is the textbook signature of spurious regression.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2286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2286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/>
              </a:rPr>
              <a:t>The diagnosis: spurious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ADF unit root tests: spread p = 0.494, reserve buffer L p = 0.902 — both I(1). Engle–Granger cointegration p = 0.120; Johansen fails to reject r = 0. Both variables trended down together during the 2022–24 Fed hiking cycle. The original result was driven by that shared trend, not a genuine economic channel.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526280"/>
            <a:ext cx="11091672" cy="1143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59" y="46725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/>
              </a:rPr>
              <a:t>What we dropped from the main claims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5038344"/>
            <a:ext cx="10543032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β₁ (privilege amplification)   ·   the ≈13% reserve threshold   ·   the LSTAR model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AEC0DD"/>
                </a:solidFill>
                <a:latin typeface="Calibri"/>
              </a:rPr>
              <a:t>All three are significant only in the spurious levels regression — so we demote them.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OUR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Finding the Result That Survives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We changed the dependent variable, then tried hard to break the new result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82296" cy="33832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/>
              </a:rPr>
              <a:t>1 · Re-anchor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Move from the (non-stationary) spread to T-bill auction demand — the bid-cover ratio. This sidesteps the spurious-regression problem entirely.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4256" y="2057400"/>
            <a:ext cx="82296" cy="33832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/>
              </a:rPr>
              <a:t>2 · Stress-test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Control for auction size; remove the interpolated reserve data; control the Fed cycle; test at the individual-auction level; and run a 2,000-shuffle placebo.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19872" y="2057400"/>
            <a:ext cx="82296" cy="338328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5904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E8A12C"/>
                </a:solidFill>
                <a:latin typeface="Georgia"/>
              </a:rPr>
              <a:t>3 · Converge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Reproduce every check independently and reconcile. The bid-cover result holds throughout — and that becomes the paper's lead.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MAIN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USDT Supply Growth → Weaker T-Bill Auction Demand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Maturity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USDT (β)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USDC — foil (β)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Wald  USDT≠USDC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4-Week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5B6B82"/>
                </a:solidFill>
                <a:latin typeface="Calibri"/>
              </a:rPr>
              <a:t>-0.61 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+0.61 ***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8-Week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-1.33 ***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+0.47 **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13-Week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-1.51 ***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+0.32 *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26-Week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-1.53 ***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-0.09 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/>
              </a:rPr>
              <a:t>Reading the result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USDT supply growth predicts lower bid-cover (weaker auction demand); USDC does not. The two issuers differ at every maturity — the reserve-composition signature.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Monthly OLS, N = 51, Newey-West HAC(1).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What Survives Every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The result holds with no interpolated data, with auction size controlled, and against a placebo</a:t>
            </a:r>
          </a:p>
        </p:txBody>
      </p:sp>
      <p:pic>
        <p:nvPicPr>
          <p:cNvPr id="7" name="Picture 6" descr="bidcover_final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6766560" cy="247112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43800" y="1965960"/>
            <a:ext cx="4114800" cy="3749039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43800" y="1965960"/>
            <a:ext cx="82296" cy="3749039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0" y="2148840"/>
            <a:ext cx="37033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Drop the interpolated reserves (θ, L) entirely — result holds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Controlling the Fed rate cycle is the crux: once it is in, USDT is significant at every maturity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Survives the auction-size control (4-week softens; 8/13/26-week strong)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Passes a 2,000-shuffle placebo at 3 of 4 maturities (8/13/26-Week)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USDT ≠ USDC at every maturity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</a:rPr>
              <a:t>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</a:rPr>
              <a:t>Specification Ladder — β₁ Stable Across All Specs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Maturity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A: incl. θ, 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B: drop θ, 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C: B + ln(Offering) 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4-Week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−0.72 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−1.18 ***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−0.61 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8-Week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−1.21 ***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−1.47 ***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−1.33 ***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13-Week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−1.38 ***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−1.51 ***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26-Week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−1.42 ***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−1.67 ***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</a:rPr>
              <a:t>Reading the result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</a:rPr>
              <a:t>Removing the interpolated reserve controls (A→B) slightly strengthens the result. Adding offering-size control (B→C) barely moves 8/13/26-week. The channel does not depend on any single control choice.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</a:rPr>
              <a:t>Stablecoins &amp; the Exorbitant Privilege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Monthly OLS, N = 51, Newey-West HAC(1).  β_USDT shown across three nested specs.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</a:rPr>
              <a:t>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200" b="1">
                <a:solidFill>
                  <a:srgbClr val="13294B"/>
                </a:solidFill>
              </a:rPr>
              <a:t>Drop-2022 Subsample — Result Strengthens Without Crypto-Crisis Noise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Maturity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Full sample (N=51)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Drop-2022 (N=39)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Direction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4-Week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−0.61 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−1.495 ***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Strengthens 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8-Week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−1.33 ***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−1.129 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Stable 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13-Week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−1.51 ***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−0.975 *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Stable 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26-Week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−1.702 ***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Strengthens 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</a:rPr>
              <a:t>Reading the result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</a:rPr>
              <a:t>2022 crypto crises (LUNA, Celsius, FTX) created non-fundamental supply noise. Dropping them: 4-Week and 26-Week strengthen markedly; 8/13-Week remain in the same range. The channel is cleaner in the non-crisis period — consistent with the reserve-composition mechanism.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</a:rPr>
              <a:t>Stablecoins &amp; the Exorbitant Privilege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</a:rP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Spec C. N = 51 (full) vs N = 39 (drop-2022). Newey-West HAC(1).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AN HONEST CAVEAT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Frequency, Not Absence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Why the appropriate unit of analysis is the month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00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/>
              </a:rPr>
              <a:t>At the auction level, no signal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Run auction by auction (N = 1,094), the USDT coefficient is not significant. Taken alone this looks like a non-result.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32004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/>
              </a:rPr>
              <a:t>Why — a frequency mismatch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Stablecoin supply is a monthly series: ~86% of its variation is between months, ~17% within. The same monthly value repeats across ~17 auctions a month, and the pre-auction windows overlap. So N = 1,094 carries only ~51 independent supply observations. The right unit for a monthly regressor is the month — where the effect is significant.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/>
              </a:rPr>
              <a:t>Bottom 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5952744"/>
            <a:ext cx="1054303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auction-level null is the expected consequence of a frequency mismatch — not evidence against the channel.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SUPPORTING EVIDENCE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Two Secondary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Daily impulse responses, and an event study used as motivation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5486400" cy="3836126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82296" cy="3836126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3294B"/>
                </a:solidFill>
                <a:latin typeface="Georgia"/>
              </a:rPr>
              <a:t>Daily VAR / impulse response</a:t>
            </a:r>
          </a:p>
        </p:txBody>
      </p:sp>
      <p:pic>
        <p:nvPicPr>
          <p:cNvPr id="10" name="Picture 9" descr="irf_usdt_us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06040"/>
            <a:ext cx="502920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07492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dirty="0">
                <a:solidFill>
                  <a:srgbClr val="33425C"/>
                </a:solidFill>
                <a:latin typeface="Calibri"/>
              </a:rPr>
              <a:t>USDT supply Granger-causes spread (p = 0.020); day-1 IRF = −0.672 bps, reverting by day 3. USDT/USDC shocks explain 1.3% of spread variance (FEVD, 20-day). Consistent with a real but transient channel — supporting, not primary,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965960"/>
            <a:ext cx="5486400" cy="37033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72200" y="1965960"/>
            <a:ext cx="82296" cy="370332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E8A12C"/>
                </a:solidFill>
                <a:latin typeface="Georgia"/>
              </a:rPr>
              <a:t>Multi-event study (motivation)</a:t>
            </a:r>
          </a:p>
        </p:txBody>
      </p:sp>
      <p:pic>
        <p:nvPicPr>
          <p:cNvPr id="15" name="Picture 14" descr="event_study_mul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743200"/>
            <a:ext cx="5074920" cy="15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0" y="461772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33425C"/>
                </a:solidFill>
                <a:latin typeface="Calibri"/>
              </a:rPr>
              <a:t>LUNA · Celsius · FTX · BUSD (SVB dropped — confounded). Events disagree in sign; pooled p = 0.43 → no systematic effect. Narrative motivation, not identification.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Why the Results Had to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The feedback exposed three constraints that bind any study of this market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9184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C1121F"/>
                </a:solidFill>
                <a:latin typeface="Georgia"/>
              </a:rPr>
              <a:t>One macro regime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Our 51 months are dominated by a single Fed hiking cycle and its unwind. Trending variables correlate mechanically, so a levels regression flatters any hypothesis — ours included. Removing θ and the forward-fill took away the props; the stationarity tests did the rest.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4256" y="2011680"/>
            <a:ext cx="82296" cy="329184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/>
              </a:rPr>
              <a:t>Reserves are unobserved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Tether attests quarterly: roughly two-thirds of the monthly reserve ratios are interpolation, and the estimated threshold moved 13% → 6.6% just by changing the fill method. The buffer-fragility hypothesis is currently untestable at monthly frequency — not false.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19872" y="2011680"/>
            <a:ext cx="82296" cy="329184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5904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/>
              </a:rPr>
              <a:t>A hard power ceiling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Two issuers, 51 months, no natural experiment. Controls, an issuer foil, and a placebo are the strongest identification available here — and supply shocks still explain only ~1.3% of spread variance. These are limits of the setting, not of the specification.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48640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59" y="563270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/>
              </a:rPr>
              <a:t>The honest reading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99846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feedback did not break good results — it revealed which results this data could never have supported.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What We Can — and Cannot — 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Drawing the boundary precisely is part of the result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004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/>
              </a:rPr>
              <a:t>Supported by the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USDT supply growth is associated with weaker T-bill auction demand — robust to every check we ran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The channel is issuer-specific (USDT ≠ USDC), consistent with reserve composition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The structural fact: programmatic T-bill purchases at sovereign-holder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32004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C1121F"/>
                </a:solidFill>
                <a:latin typeface="Georgia"/>
              </a:rPr>
              <a:t>Beyond the data — for 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A causal privilege effect in yield levels (β₁): one rate cycle cannot identify it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A reserve-buffer threshold (≈13%): reserves are not observed at monthly frequency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Run-scenario fragility: no clean redemption episode in sample (SVB is confounded)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/>
              </a:rPr>
              <a:t>Untested is not rejected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595274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question is ahead of its data — and the data is catching up.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LOOKING FORWARD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The Constraints Relax Mechanically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Time, regulation, and scale each remove one of the binding limits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4612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B998B"/>
                </a:solidFill>
                <a:latin typeface="Georgia"/>
              </a:rPr>
              <a:t>Time → regimes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Each year adds 12 observations. By 2030 the sample roughly doubles (~100 months) and spans at least two full rate cycles. Regime variation — not just a larger N — is what separates a real channel from a shared trend.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4256" y="2011680"/>
            <a:ext cx="82296" cy="324612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/>
              </a:rPr>
              <a:t>Regulation → real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The 2025 US stablecoin law (GENIUS) and the EU's MiCA mandate monthly, certified reserve disclosures. θ and L become observed rather than interpolated, and the issuer panel widens as banks and fintechs enter. The buffer hypothesis becomes testable for the first time.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19872" y="2011680"/>
            <a:ext cx="82296" cy="324612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5904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/>
              </a:rPr>
              <a:t>Scale → detectability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Combined USDT + USDC supply is ≈ $262B at the end of our sample — already on par with a mid-sized sovereign holder of US debt. Official and industry projections reach $1–2T by 2028–30; at that scale, issuers become marginal price-setters in the bill market.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/>
              </a:rPr>
              <a:t>The same test rig, better inputs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95274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Every analysis in this paper is scripted and reproducible — it can simply be re-run as each constraint lifts.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LOOKING FORWARD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What We Expect — Falsifiable Predictions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Each claim comes with the evidence that would confirm or kill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82296" cy="242316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B998B"/>
                </a:solidFill>
                <a:latin typeface="Georgia"/>
              </a:rPr>
              <a:t>Bid-cover sharpens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If the channel is real, β stays near −1.4 and significance grows with the sample. If it was an artifact of the 2022–23 crypto winter, it attenuates toward zero as those months roll out of the window.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4256" y="1874519"/>
            <a:ext cx="82296" cy="24231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3294B"/>
                </a:solidFill>
                <a:latin typeface="Georgia"/>
              </a:rPr>
              <a:t>Privilege becomes measurable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Across two or more rate cycles the spread regression becomes estimable in differences. Safe-asset demand-curve logic predicts a small, few-bps compression per $100B of issuance — visible only at scale.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19872" y="1874519"/>
            <a:ext cx="82296" cy="242316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5904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C1121F"/>
                </a:solidFill>
                <a:latin typeface="Georgia"/>
              </a:rPr>
              <a:t>Fragility becomes testable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Observed monthly reserves plus the first large redemption under the new regime test the buffer threshold directly. At $1T+ scale a forced bill sale is macro-relevant — the New Triffin question returns.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72000"/>
            <a:ext cx="11091672" cy="162763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6634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E8A12C"/>
                </a:solidFill>
                <a:latin typeface="Calibri"/>
              </a:rPr>
              <a:t>EXPECTED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01768"/>
            <a:ext cx="10561320" cy="20116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/>
              </a:rPr>
              <a:t>2026–27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Monthly certified reserve reports begin (GENIUS / MiCA)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/>
              </a:rPr>
              <a:t>2027–28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Sample spans a full easing cycle (~75 months)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3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/>
              </a:rPr>
              <a:t>2028–29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3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2–3 years of observed θ, L → threshold test on real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97696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/>
              </a:rPr>
              <a:t>2030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7696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~100 months, ≥2 cycles, wider issuer panel — full re-run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The Defensible Claim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698480" cy="2103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82296" cy="210312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148840"/>
            <a:ext cx="101498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>
                <a:solidFill>
                  <a:srgbClr val="13294B"/>
                </a:solidFill>
                <a:latin typeface="Georgia"/>
              </a:rPr>
              <a:t>USDT supply growth is associated with lower T-bill auction bid-cover at all maturities, while USDC is not.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50" b="0">
                <a:solidFill>
                  <a:srgbClr val="33425C"/>
                </a:solidFill>
                <a:latin typeface="Georgia"/>
              </a:rPr>
              <a:t>Robust to controlling auction size and to removing all interpolated reserve controls, and it passes a 2,000-iteration placebo at 3 of 4 maturities (8/13/26-Week). At the individual-auction frequency the association is not detectable, consistent with stablecoin supply being a monthly-frequency variable.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106984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The structural privilege channel is real — USDT is a programmatic T-bill buyer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Its imprint is visible in auction demand, not in the spurious levels regression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Stated carefully, the finding survives every robustness check we could devise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400" b="1">
                <a:solidFill>
                  <a:srgbClr val="FFFFFF"/>
                </a:solidFill>
                <a:latin typeface="Georgia"/>
              </a:rPr>
              <a:t>A robust result, honestly earned.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USDT supply growth → weaker T-bill auction demand, and USDT ≠ USDC.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Survives offering size, zero interpolated data, the rate-cycle control, and a placebo.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The spurious levels results are dropped; the VAR and event study remain as support.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Diagnosis, stress-testing, and reconciliation were a shared, group effort.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2483</Words>
  <Application>Microsoft Macintosh PowerPoint</Application>
  <PresentationFormat>사용자 지정</PresentationFormat>
  <Paragraphs>247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1" baseType="lpstr">
      <vt:lpstr>Arial</vt:lpstr>
      <vt:lpstr>Calibri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김미르</cp:lastModifiedBy>
  <cp:revision>3</cp:revision>
  <dcterms:created xsi:type="dcterms:W3CDTF">2013-01-27T09:14:16Z</dcterms:created>
  <dcterms:modified xsi:type="dcterms:W3CDTF">2026-06-13T09:48:51Z</dcterms:modified>
  <cp:category/>
</cp:coreProperties>
</file>