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71" r:id="rId11"/>
    <p:sldId id="27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98"/>
  </p:normalViewPr>
  <p:slideViewPr>
    <p:cSldViewPr snapToGrid="0" snapToObjects="1" showGuides="1">
      <p:cViewPr varScale="1">
        <p:scale>
          <a:sx n="118" d="100"/>
          <a:sy n="118" d="100"/>
        </p:scale>
        <p:origin x="288" y="200"/>
      </p:cViewPr>
      <p:guideLst>
        <p:guide orient="horz" pos="2160"/>
        <p:guide pos="28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  <a:endParaRPr sz="1200" b="1">
              <a:solidFill>
                <a:srgbClr val="9DB2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 panose="02040502050405090303"/>
              </a:rPr>
              <a:t>Stablecoins and the Exorbitant Privilege</a:t>
            </a:r>
            <a:endParaRPr sz="3600" b="1" dirty="0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 panose="02040502050405090303"/>
              </a:rPr>
              <a:t>A Reserve-Composition Channel in the T-Bill Market</a:t>
            </a:r>
            <a:endParaRPr sz="2000" b="0" dirty="0">
              <a:solidFill>
                <a:srgbClr val="CADCFC"/>
              </a:solidFill>
              <a:latin typeface="Georgia" panose="020405020504050903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Bid-cover ↓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USDT ≠ USDC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Robust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Question — A Structural Fact, Then a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Stablecoin issuers have quietly become major buyers of US Treasury bills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The structural fact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The mechanism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The question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Changed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rebuilt the analysis around the professor's corrections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Specification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Data construction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Event study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 panose="02040502050405090303"/>
              </a:rPr>
              <a:t>Focus</a:t>
            </a:r>
            <a:endParaRPr sz="1600" b="1">
              <a:solidFill>
                <a:srgbClr val="5B8DEF"/>
              </a:solidFill>
              <a:latin typeface="Georgia" panose="020405020504050903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the Re-Run Revealed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3028"/>
            <a:ext cx="11064240" cy="340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re-ran the two headline coefficients under the professor's corrected specification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606550"/>
            <a:ext cx="11091545" cy="36290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6550"/>
            <a:ext cx="76200" cy="3602355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06677"/>
            <a:ext cx="1070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Neither Result Survived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1911985"/>
            <a:ext cx="5500000" cy="330898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3294B"/>
                </a:solidFill>
                <a:latin typeface="Calibri"/>
              </a:rPr>
              <a:t>β₁ — Privilege Amplification</a:t>
            </a:r>
            <a:endParaRPr sz="14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425C"/>
                </a:solidFill>
                <a:latin typeface="Calibri"/>
              </a:rPr>
              <a:t>→  Measures the baseline direct effect of stablecoin supply growth on yield spreads, independent of the buffer level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Before: β₁ = −7.57 (p = 0.004) — statistically significant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200" b="1">
                <a:solidFill>
                  <a:srgbClr val="E8A12C"/>
                </a:solidFill>
                <a:latin typeface="Calibri"/>
              </a:rPr>
              <a:t>→  After re-run: β₁ = +2.74 — not significant; sign flipped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→  Verdict: amplification claim does not hold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200"/>
              </a:spcBef>
              <a:spcAft>
                <a:spcPts val="300"/>
              </a:spcAft>
            </a:pPr>
            <a:r>
              <a:rPr sz="1400" b="1">
                <a:solidFill>
                  <a:srgbClr val="13294B"/>
                </a:solidFill>
                <a:latin typeface="Calibri"/>
              </a:rPr>
              <a:t>β₄ — Buffer Interaction</a:t>
            </a:r>
            <a:endParaRPr sz="14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33425C"/>
                </a:solidFill>
                <a:latin typeface="Calibri"/>
              </a:rPr>
              <a:t>→  Tests whether the reserve buffer level amplifies or dampens the effect of stablecoin supply growth on spreads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Levels regression: β₄ = −35.89 (p = 0.032) — appeared significant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200" b="1">
                <a:solidFill>
                  <a:srgbClr val="E8A12C"/>
                </a:solidFill>
                <a:latin typeface="Calibri"/>
              </a:rPr>
              <a:t>→  First-differenced: β₄ = −107 (p = 0.46) — collapses to insignificance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Result vanishes under differencing — consistent with spurious regression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19090"/>
            <a:ext cx="11091545" cy="98615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409609"/>
            <a:ext cx="10543032" cy="349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What we dropped from the main claims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5744210"/>
            <a:ext cx="10789285" cy="602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  <a:endParaRPr sz="1600" b="1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β₁ and β₄ lost significance when re-run correctly. The threshold and LSTAR ran only in the (now-invalid) levels regression — we do not carry them forward.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22960" y="1960000"/>
            <a:ext cx="55000" cy="970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7960" y="2010000"/>
            <a:ext cx="4912225" cy="93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3294B"/>
                </a:solidFill>
                <a:latin typeface="Calibri"/>
              </a:rPr>
              <a:t>① Original  —  before professor's feedback</a:t>
            </a:r>
            <a:endParaRPr sz="1050" b="1">
              <a:solidFill>
                <a:srgbClr val="13294B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Spread = α + β₁·ΔlnS + β₂·θ + β₃·L + β₄·(L×ΔlnS) + controls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200" b="1">
                <a:solidFill>
                  <a:srgbClr val="C1121F"/>
                </a:solidFill>
                <a:latin typeface="Calibri"/>
              </a:rPr>
              <a:t>β₁ = −7.57   (p = 0.004) ***</a:t>
            </a:r>
            <a:br>
              <a:rPr sz="1200" b="1">
                <a:solidFill>
                  <a:srgbClr val="C1121F"/>
                </a:solidFill>
                <a:latin typeface="Calibri"/>
              </a:rPr>
            </a:br>
            <a:endParaRPr sz="1200" b="1">
              <a:solidFill>
                <a:srgbClr val="C1121F"/>
              </a:solidFill>
              <a:latin typeface="Calibri"/>
              <a:sym typeface="+mn-ea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22960" y="3060000"/>
            <a:ext cx="55000" cy="1070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7960" y="3110000"/>
            <a:ext cx="4912225" cy="973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B998B"/>
                </a:solidFill>
                <a:latin typeface="Calibri"/>
              </a:rPr>
              <a:t>② Corrected  —  θ dropped (θ+L≈1, collinear), L kept</a:t>
            </a:r>
            <a:endParaRPr sz="1050" b="1">
              <a:solidFill>
                <a:srgbClr val="1B998B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Spread = α + β₁·ΔlnS + β₃·L + β₄·(L×ΔlnS) + controls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β₁ = +2.74   (p = 0.228)   not significant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1">
                <a:solidFill>
                  <a:srgbClr val="E8A12C"/>
                </a:solidFill>
                <a:latin typeface="Calibri"/>
              </a:rPr>
              <a:t>β₄ = −35.89  (p = 0.032)   significant in levels</a:t>
            </a:r>
            <a:endParaRPr sz="1200" b="1">
              <a:solidFill>
                <a:srgbClr val="E8A12C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22960" y="4200000"/>
            <a:ext cx="55000" cy="9700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7960" y="4250000"/>
            <a:ext cx="4912225" cy="750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E8A12C"/>
                </a:solidFill>
                <a:latin typeface="Calibri"/>
              </a:rPr>
              <a:t>③ First-differenced  —  L replaced by ΔL (removes drift)</a:t>
            </a:r>
            <a:endParaRPr sz="1050" b="1">
              <a:solidFill>
                <a:srgbClr val="E8A12C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ΔSpread = α + β₁·Δ²lnS + β₃·ΔL + β₄·(ΔL×Δ²lnS) + controls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200" b="1">
                <a:solidFill>
                  <a:srgbClr val="C1121F"/>
                </a:solidFill>
                <a:latin typeface="Calibri"/>
                <a:sym typeface="+mn-ea"/>
              </a:rPr>
              <a:t>β₁ = </a:t>
            </a:r>
            <a:r>
              <a:rPr lang="en-US" altLang="en-US" sz="1200" b="1">
                <a:solidFill>
                  <a:srgbClr val="C1121F"/>
                </a:solidFill>
                <a:latin typeface="Calibri"/>
                <a:sym typeface="+mn-ea"/>
              </a:rPr>
              <a:t>0.82 (p = 0.13)             </a:t>
            </a:r>
            <a:r>
              <a:rPr sz="1200" b="1">
                <a:solidFill>
                  <a:srgbClr val="C1121F"/>
                </a:solidFill>
                <a:latin typeface="Calibri"/>
              </a:rPr>
              <a:t>β₄ = −107   (p = 0.46)  </a:t>
            </a:r>
            <a:endParaRPr lang="en-US" altLang="en-US" sz="1200" b="1">
              <a:solidFill>
                <a:srgbClr val="C112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Why? Diagnosing Spurious Regression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38758"/>
            <a:ext cx="11064240" cy="32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ran three standard tests to confirm the original regression was spurious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80845"/>
            <a:ext cx="76200" cy="383095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ADF Unit Root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1998980"/>
            <a:ext cx="3289300" cy="3385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Does the variable drift without a stable mean? If yes → non-stationary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Non-stationary variables produce spurious regressions — false significance from shared drift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Spread p = 0.494  ·  Buffer L p = 0.902 → both non-stationary, I(1)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variables drifted down together — coincidence, not causation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228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285" y="1681480"/>
            <a:ext cx="76200" cy="383032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41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Engle–Granger Cointegration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10405" y="1998980"/>
            <a:ext cx="3289300" cy="34093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Even if non-stationary individually, a stable long-run link (cointegration) makes regression valid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Standard rescue — if cointegration holds, levels regression survives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p = 0.120 → cannot reject no cointegration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 stable long-run link — they fell together during 2022–24 hiking, then diverged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7656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6565" y="1689100"/>
            <a:ext cx="76200" cy="38227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1045" y="1697690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Johansen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59445" y="1998980"/>
            <a:ext cx="3289300" cy="34499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Stronger, multivariate cointegration test — checks the full system, not one pair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More reliable in small samples — the definitive confirmation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Fails to reject r = 0 (zero cointegrating vectors)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tests fail → levels regression is spurious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8640" y="5601970"/>
            <a:ext cx="11091545" cy="697865"/>
          </a:xfrm>
          <a:prstGeom prst="rect">
            <a:avLst/>
          </a:prstGeom>
          <a:solidFill>
            <a:srgbClr val="12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40" y="5681680"/>
            <a:ext cx="10791672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three tests agree: the variables are non-stationary and not cointegrated. The original results were driven by shared drift during the 2022–24 Fed hiking cycle — not a genuine economic relationship.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Finding the Result That Survives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changed the dependent variable, then tried hard to break the new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76200" cy="439801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1 · Re-anchor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3253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Problem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The spread drifts without a stable mean (non-stationary) — regressing on it picks up shared drift, not causation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Fix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Switch the outcome variable to the bid-cover ratio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is bid-cover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Bids received per dollar of T-bills offered at auction — a direct, stationary measure of demand strength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it works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It fluctuates around a stable mean → no drift, no spurious regression risk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51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510" y="2057400"/>
            <a:ext cx="82550" cy="438531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2 · Stress-test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36226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Auction size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Large supply mechanically lowers bid-cover; we add offering size as a control to isolate USDT's effect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Interpolated data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Reserve ratios were quarterly, filled in monthly; we re-ran with all interpolated values removed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Fed cycle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USDT and T-bill demand both move with rates; we added Δfedfunds as a control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Placebo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Shuffled USDT supply 2,000 times at random — the real result ranks above 95%+ of random draws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745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745" y="2057400"/>
            <a:ext cx="76200" cy="439801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3 · Converge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203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altLang="en-US" sz="1200" b="1">
                <a:solidFill>
                  <a:srgbClr val="1B998B"/>
                </a:solidFill>
                <a:latin typeface="Calibri"/>
              </a:rPr>
              <a:t>Cross-verification</a:t>
            </a:r>
            <a:endParaRPr lang="en-US" altLang="en-US"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Each team member ran the full pipeline on their own machine and confirmed results reproduce exactly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lang="en-US" altLang="en-US" sz="1200" b="1">
                <a:solidFill>
                  <a:srgbClr val="1B998B"/>
                </a:solidFill>
                <a:latin typeface="Calibri"/>
              </a:rPr>
              <a:t>Consistency</a:t>
            </a:r>
            <a:endParaRPr lang="en-US" altLang="en-US"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No discrepancies found across any specification or any run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Verdict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The bid-cover result survived every check → it becomes the paper's lead finding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USDT Supply Growth → Weaker T-Bill Auction Demand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  <a:endParaRPr sz="1350" b="1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Reading the result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  <a:endParaRPr sz="135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Survives Every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result holds with no interpolated data, with auction size controlled, and against a placebo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  <a:endParaRPr sz="1300" b="0">
              <a:solidFill>
                <a:srgbClr val="1B998B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  <a:endParaRPr sz="27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  <a:endParaRPr sz="22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Frequency, Not Absence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Why the appropriate unit of analysis is the month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At the auction level, no signal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Why — a frequency mismatch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Bottom line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Two Secondary Checks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Daily impulse responses, and an event study used as motivation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Daily VAR / impulse response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  <a:endParaRPr sz="11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 panose="02040502050405090303"/>
              </a:rPr>
              <a:t>Multi-event study (motivation)</a:t>
            </a:r>
            <a:endParaRPr sz="1500" b="1">
              <a:solidFill>
                <a:srgbClr val="E8A12C"/>
              </a:solidFill>
              <a:latin typeface="Georgia" panose="02040502050405090303"/>
            </a:endParaRP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  <a:endParaRPr sz="11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 the Results Had to Change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feedback exposed three constraints that bind any study of this market today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One macro regime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Reserves are unobserved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A hard power ceiling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honest reading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Can — and Cannot —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Drawing the boundary precisely is part of the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Supported by the data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  <a:endParaRPr sz="13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 panose="02040502050405090303"/>
              </a:rPr>
              <a:t>Beyond the data — for now</a:t>
            </a:r>
            <a:endParaRPr sz="17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Untested is not rejected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Constraints Relax Mechanically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Time, regulation, and scale each remove one of the binding limits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Time → regimes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Regulation → real data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Scale → detectability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same test rig, better inputs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Expect — Falsifiable Predictions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Each claim comes with the evidence that would confirm or kill it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 panose="02040502050405090303"/>
              </a:rPr>
              <a:t>Bid-cover sharpens</a:t>
            </a:r>
            <a:endParaRPr sz="15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Privilege becomes measurable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 panose="02040502050405090303"/>
              </a:rPr>
              <a:t>Fragility becomes testable</a:t>
            </a:r>
            <a:endParaRPr sz="15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  <a:endParaRPr sz="1100" b="1">
              <a:solidFill>
                <a:srgbClr val="E8A12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2026–27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2027–28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2028–29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2030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Defensible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497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 panose="02040502050405090303"/>
              </a:rPr>
              <a:t>USDT supply growth is associated with lower T-bill auction bid-cover at all maturities, while USDC is not.</a:t>
            </a:r>
            <a:endParaRPr sz="1800" b="1">
              <a:solidFill>
                <a:srgbClr val="13294B"/>
              </a:solidFill>
              <a:latin typeface="Georgia" panose="02040502050405090303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Robust to controlling auction size and to removing all interpolated reserve controls, and it passes a 2,000-</a:t>
            </a:r>
            <a:r>
              <a:rPr lang="en-US" altLang="en-US" sz="1450" b="0">
                <a:solidFill>
                  <a:srgbClr val="33425C"/>
                </a:solidFill>
                <a:latin typeface="Georgia" panose="02040502050405090303"/>
              </a:rPr>
              <a:t>shuffle </a:t>
            </a: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placebo at 3 of 4 maturities (8/13/26-Week). At the individual-auction frequency the association is not detectable, consistent with stablecoin supply being a monthly-frequency variable.</a:t>
            </a:r>
            <a:endParaRPr sz="1450" b="0">
              <a:solidFill>
                <a:srgbClr val="33425C"/>
              </a:solidFill>
              <a:latin typeface="Georgia" panose="020405020504050903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  <a:endParaRPr sz="15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 panose="02040502050405090303"/>
              </a:rPr>
              <a:t>A robust result, honestly earned.</a:t>
            </a:r>
            <a:endParaRPr sz="3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  <a:endParaRPr sz="17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15404</Words>
  <Application>WPS Docs</Application>
  <PresentationFormat>사용자 지정</PresentationFormat>
  <Paragraphs>557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6" baseType="lpstr">
      <vt:lpstr>Arial</vt:lpstr>
      <vt:lpstr>SimSun</vt:lpstr>
      <vt:lpstr>Wingdings</vt:lpstr>
      <vt:lpstr>Arial</vt:lpstr>
      <vt:lpstr>Calibri</vt:lpstr>
      <vt:lpstr>Helvetica Neue</vt:lpstr>
      <vt:lpstr>Georgia</vt:lpstr>
      <vt:lpstr>Georgia</vt:lpstr>
      <vt:lpstr>Georgia</vt:lpstr>
      <vt:lpstr>Georgia</vt:lpstr>
      <vt:lpstr>Calibri</vt:lpstr>
      <vt:lpstr>Calibri</vt:lpstr>
      <vt:lpstr>Calibri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OybekIbragimov</cp:lastModifiedBy>
  <cp:revision>12</cp:revision>
  <dcterms:created xsi:type="dcterms:W3CDTF">2026-06-15T15:24:52Z</dcterms:created>
  <dcterms:modified xsi:type="dcterms:W3CDTF">2026-06-15T15:24:52Z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2D01AD1591C18A47E67A2E6AC6E3AAB1_42</vt:lpwstr>
  </property>
  <property fmtid="{D5CDD505-2E9C-101B-9397-08002B2CF9AE}" pid="3" name="KSOProductBuildVer">
    <vt:lpwstr>1033-12.1.25897.25897</vt:lpwstr>
  </property>
</Properties>
</file>