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6"/>
    <p:sldId id="260" r:id="rId7"/>
    <p:sldId id="261" r:id="rId8"/>
    <p:sldId id="262" r:id="rId9"/>
    <p:sldId id="271" r:id="rId10"/>
    <p:sldId id="27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1"/>
    <p:restoredTop sz="94669"/>
  </p:normalViewPr>
  <p:slideViewPr>
    <p:cSldViewPr snapToGrid="0" snapToObjects="1" showGuides="1">
      <p:cViewPr varScale="1">
        <p:scale>
          <a:sx n="102" d="100"/>
          <a:sy n="102" d="100"/>
        </p:scale>
        <p:origin x="216" y="336"/>
      </p:cViewPr>
      <p:guideLst>
        <p:guide orient="horz" pos="2160"/>
        <p:guide pos="284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635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Georgia" panose="02040502050405090303"/>
              </a:rPr>
              <a:t>Stablecoins and the Exorbitant Privilege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98853"/>
            <a:ext cx="10058400" cy="755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ko-KR" sz="2000" i="1" strike="sngStrike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altLang="ko-KR" sz="2000" strike="sngStrike" dirty="0"/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 dirty="0">
                <a:solidFill>
                  <a:srgbClr val="CADCFC"/>
                </a:solidFill>
                <a:latin typeface="Georgia" panose="02040502050405090303"/>
              </a:rPr>
              <a:t>A Reserve-Composition Channel in the T-Bill Market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40872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Chekroune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Oybek Ibragimov   ·   Jade Zhu   ·   Alexandre Godefroy   ·   Baptiste Degand   ·  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Minjin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Kim</a:t>
            </a:r>
            <a:endParaRPr lang="en-US" altLang="ko-KR" sz="1300" dirty="0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Bid-cover 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USDT ≠ USDC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Robust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Question — A Structural Fact, Then a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Stablecoin issuers have quietly become major buyers of US Treasury bills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The structural fact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dirty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The mechanism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The question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Changed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rebuilt the analysis around the professor's corrections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Specification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dirty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</a:t>
            </a:r>
            <a:r>
              <a:rPr sz="1350" b="0" dirty="0" err="1">
                <a:solidFill>
                  <a:srgbClr val="33425C"/>
                </a:solidFill>
                <a:latin typeface="Calibri"/>
              </a:rPr>
              <a:t>θ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 (</a:t>
            </a:r>
            <a:r>
              <a:rPr sz="1350" b="0" dirty="0" err="1">
                <a:solidFill>
                  <a:srgbClr val="33425C"/>
                </a:solidFill>
                <a:latin typeface="Calibri"/>
              </a:rPr>
              <a:t>θ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 + L ≈ 1, collinear). Show the estimating equation on every 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Data 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time-weighted linear interpolation between consecutive attestation dates.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Event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dirty="0">
                <a:solidFill>
                  <a:srgbClr val="33425C"/>
                </a:solidFill>
                <a:latin typeface="Calibri"/>
              </a:rPr>
              <a:t>LUNA · Celsius · FTX · BUSD studied. Drop SVB — confounded by the simultaneous banking crisis. Events disagree in sign; pooled p = 0.43 → motivation only, not identification.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 panose="02040502050405090303"/>
              </a:rPr>
              <a:t>Focus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bid-cover ratio as a stationary, directly observable outcome — and stress-test the new result.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the Re-Run Revealed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113028"/>
            <a:ext cx="11064240" cy="340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altLang="en-US" sz="1550" b="0" dirty="0">
                <a:solidFill>
                  <a:srgbClr val="5B6B82"/>
                </a:solidFill>
                <a:latin typeface="Georgia" panose="02040502050405090303"/>
              </a:rPr>
              <a:t>We re-ran the two headline coefficients under the professor's corrected specification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06550"/>
            <a:ext cx="11091545" cy="36290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6550"/>
            <a:ext cx="76200" cy="3602355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1606677"/>
            <a:ext cx="1070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Neither Result Survived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911985"/>
            <a:ext cx="5500000" cy="3308985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400" b="1" dirty="0">
                <a:solidFill>
                  <a:srgbClr val="13294B"/>
                </a:solidFill>
                <a:latin typeface="Calibri"/>
              </a:rPr>
              <a:t>β₁ — Privilege Amplification</a:t>
            </a:r>
          </a:p>
          <a:p>
            <a:pPr algn="l">
              <a:spcBef>
                <a:spcPts val="200"/>
              </a:spcBef>
            </a:pPr>
            <a:r>
              <a:rPr sz="1200" b="0" dirty="0">
                <a:solidFill>
                  <a:srgbClr val="33425C"/>
                </a:solidFill>
                <a:latin typeface="Calibri"/>
              </a:rPr>
              <a:t>→  Measures the baseline direct effect of stablecoin supply growth on yield spreads, independent of the buffer level</a:t>
            </a:r>
          </a:p>
          <a:p>
            <a:pPr algn="l"/>
            <a:r>
              <a:rPr sz="1200" b="0" dirty="0">
                <a:solidFill>
                  <a:srgbClr val="33425C"/>
                </a:solidFill>
                <a:latin typeface="Calibri"/>
              </a:rPr>
              <a:t>→  Before: β₁ = −7.57 (p = 0.004) — statistically significant</a:t>
            </a:r>
          </a:p>
          <a:p>
            <a:pPr algn="l"/>
            <a:r>
              <a:rPr sz="1200" b="1" dirty="0">
                <a:solidFill>
                  <a:srgbClr val="E8A12C"/>
                </a:solidFill>
                <a:latin typeface="Calibri"/>
              </a:rPr>
              <a:t>→  After re-run: β₁ = +2.74 — not significant; sign flipped</a:t>
            </a:r>
          </a:p>
          <a:p>
            <a:pPr algn="l">
              <a:spcAft>
                <a:spcPts val="200"/>
              </a:spcAft>
            </a:pPr>
            <a:r>
              <a:rPr sz="1200" b="0" dirty="0">
                <a:solidFill>
                  <a:srgbClr val="33425C"/>
                </a:solidFill>
                <a:latin typeface="Calibri"/>
              </a:rPr>
              <a:t>→  Verdict: amplification claim does not hold</a:t>
            </a:r>
          </a:p>
          <a:p>
            <a:pPr algn="l">
              <a:spcBef>
                <a:spcPts val="1200"/>
              </a:spcBef>
              <a:spcAft>
                <a:spcPts val="300"/>
              </a:spcAft>
            </a:pPr>
            <a:r>
              <a:rPr sz="1400" b="1" dirty="0">
                <a:solidFill>
                  <a:srgbClr val="13294B"/>
                </a:solidFill>
                <a:latin typeface="Calibri"/>
              </a:rPr>
              <a:t>β₄ — Buffer Interaction</a:t>
            </a:r>
          </a:p>
          <a:p>
            <a:pPr algn="l">
              <a:spcBef>
                <a:spcPts val="200"/>
              </a:spcBef>
            </a:pPr>
            <a:r>
              <a:rPr sz="1200" b="0" dirty="0">
                <a:solidFill>
                  <a:srgbClr val="33425C"/>
                </a:solidFill>
                <a:latin typeface="Calibri"/>
              </a:rPr>
              <a:t>→  Tests whether the reserve buffer level amplifies or dampens the effect of stablecoin supply growth on spreads</a:t>
            </a:r>
          </a:p>
          <a:p>
            <a:pPr algn="l"/>
            <a:r>
              <a:rPr sz="1200" b="0" dirty="0">
                <a:solidFill>
                  <a:srgbClr val="33425C"/>
                </a:solidFill>
                <a:latin typeface="Calibri"/>
              </a:rPr>
              <a:t>→  Levels regression: β₄ = −35.89 (p = 0.032) — appeared significant</a:t>
            </a:r>
          </a:p>
          <a:p>
            <a:pPr algn="l"/>
            <a:r>
              <a:rPr sz="1200" b="1" dirty="0">
                <a:solidFill>
                  <a:srgbClr val="E8A12C"/>
                </a:solidFill>
                <a:latin typeface="Calibri"/>
              </a:rPr>
              <a:t>→  First-differenced: β₄ = −107 (p = 0.46) — collapses to insignificance</a:t>
            </a:r>
          </a:p>
          <a:p>
            <a:pPr algn="l"/>
            <a:r>
              <a:rPr sz="1200" b="0" dirty="0">
                <a:solidFill>
                  <a:srgbClr val="33425C"/>
                </a:solidFill>
                <a:latin typeface="Calibri"/>
              </a:rPr>
              <a:t>→  Result vanishes under differencing — consistent with spurious regression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19090"/>
            <a:ext cx="11091545" cy="986155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5409609"/>
            <a:ext cx="10543032" cy="349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What we dropped from the main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744210"/>
            <a:ext cx="10789285" cy="602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dirty="0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 dirty="0">
                <a:solidFill>
                  <a:srgbClr val="FFFFFF"/>
                </a:solidFill>
                <a:latin typeface="Calibri"/>
              </a:rPr>
              <a:t>β₁ and β₄ lost significance when re-run correctly. The threshold and LSTAR ran only in the (now-invalid) levels regression — we do not carry them forward.</a:t>
            </a:r>
            <a:endParaRPr sz="12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22960" y="1960000"/>
            <a:ext cx="55000" cy="97000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67960" y="2010000"/>
            <a:ext cx="4912225" cy="93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13294B"/>
                </a:solidFill>
                <a:latin typeface="Calibri"/>
              </a:rPr>
              <a:t>① Original  —  before professor's feedback</a:t>
            </a:r>
          </a:p>
          <a:p>
            <a:pPr algn="l">
              <a:spcAft>
                <a:spcPts val="500"/>
              </a:spcAft>
            </a:pPr>
            <a:r>
              <a:rPr sz="1200" b="0" dirty="0">
                <a:solidFill>
                  <a:srgbClr val="33425C"/>
                </a:solidFill>
                <a:latin typeface="Calibri"/>
              </a:rPr>
              <a:t>Spread = α + β₁·</a:t>
            </a:r>
            <a:r>
              <a:rPr sz="1200" b="0" dirty="0" err="1">
                <a:solidFill>
                  <a:srgbClr val="33425C"/>
                </a:solidFill>
                <a:latin typeface="Calibri"/>
              </a:rPr>
              <a:t>ΔlnS</a:t>
            </a:r>
            <a:r>
              <a:rPr sz="1200" b="0" dirty="0">
                <a:solidFill>
                  <a:srgbClr val="33425C"/>
                </a:solidFill>
                <a:latin typeface="Calibri"/>
              </a:rPr>
              <a:t> + β₂·</a:t>
            </a:r>
            <a:r>
              <a:rPr sz="1200" b="0" dirty="0" err="1">
                <a:solidFill>
                  <a:srgbClr val="33425C"/>
                </a:solidFill>
                <a:latin typeface="Calibri"/>
              </a:rPr>
              <a:t>θ</a:t>
            </a:r>
            <a:r>
              <a:rPr sz="1200" b="0" dirty="0">
                <a:solidFill>
                  <a:srgbClr val="33425C"/>
                </a:solidFill>
                <a:latin typeface="Calibri"/>
              </a:rPr>
              <a:t> + β₃·L + β₄·(</a:t>
            </a:r>
            <a:r>
              <a:rPr sz="1200" b="0" dirty="0" err="1">
                <a:solidFill>
                  <a:srgbClr val="33425C"/>
                </a:solidFill>
                <a:latin typeface="Calibri"/>
              </a:rPr>
              <a:t>L×ΔlnS</a:t>
            </a:r>
            <a:r>
              <a:rPr sz="1200" b="0" dirty="0">
                <a:solidFill>
                  <a:srgbClr val="33425C"/>
                </a:solidFill>
                <a:latin typeface="Calibri"/>
              </a:rPr>
              <a:t>) + controls</a:t>
            </a:r>
          </a:p>
          <a:p>
            <a:pPr algn="l"/>
            <a:r>
              <a:rPr sz="1200" b="1" dirty="0">
                <a:solidFill>
                  <a:srgbClr val="C1121F"/>
                </a:solidFill>
                <a:latin typeface="Calibri"/>
              </a:rPr>
              <a:t>β₁ = −7.57   (p = 0.004) ***</a:t>
            </a:r>
            <a:br>
              <a:rPr sz="1200" b="1" dirty="0">
                <a:solidFill>
                  <a:srgbClr val="C1121F"/>
                </a:solidFill>
                <a:latin typeface="Calibri"/>
              </a:rPr>
            </a:br>
            <a:endParaRPr sz="1200" b="1" dirty="0">
              <a:solidFill>
                <a:srgbClr val="C1121F"/>
              </a:solidFill>
              <a:latin typeface="Calibri"/>
              <a:sym typeface="+mn-ea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22960" y="3060000"/>
            <a:ext cx="55000" cy="107000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567960" y="3110000"/>
            <a:ext cx="4912225" cy="973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1B998B"/>
                </a:solidFill>
                <a:latin typeface="Calibri"/>
              </a:rPr>
              <a:t>② Corrected  —  </a:t>
            </a:r>
            <a:r>
              <a:rPr sz="1050" b="1" dirty="0" err="1">
                <a:solidFill>
                  <a:srgbClr val="1B998B"/>
                </a:solidFill>
                <a:latin typeface="Calibri"/>
              </a:rPr>
              <a:t>θ</a:t>
            </a:r>
            <a:r>
              <a:rPr sz="1050" b="1" dirty="0">
                <a:solidFill>
                  <a:srgbClr val="1B998B"/>
                </a:solidFill>
                <a:latin typeface="Calibri"/>
              </a:rPr>
              <a:t> dropped (θ+L≈1, collinear), L kept</a:t>
            </a:r>
          </a:p>
          <a:p>
            <a:pPr algn="l">
              <a:spcAft>
                <a:spcPts val="500"/>
              </a:spcAft>
            </a:pPr>
            <a:r>
              <a:rPr sz="1200" b="0" dirty="0">
                <a:solidFill>
                  <a:srgbClr val="33425C"/>
                </a:solidFill>
                <a:latin typeface="Calibri"/>
              </a:rPr>
              <a:t>Spread = α + β₁·</a:t>
            </a:r>
            <a:r>
              <a:rPr sz="1200" b="0" dirty="0" err="1">
                <a:solidFill>
                  <a:srgbClr val="33425C"/>
                </a:solidFill>
                <a:latin typeface="Calibri"/>
              </a:rPr>
              <a:t>ΔlnS</a:t>
            </a:r>
            <a:r>
              <a:rPr sz="1200" b="0" dirty="0">
                <a:solidFill>
                  <a:srgbClr val="33425C"/>
                </a:solidFill>
                <a:latin typeface="Calibri"/>
              </a:rPr>
              <a:t> + β₃·L + β₄·(</a:t>
            </a:r>
            <a:r>
              <a:rPr sz="1200" b="0" dirty="0" err="1">
                <a:solidFill>
                  <a:srgbClr val="33425C"/>
                </a:solidFill>
                <a:latin typeface="Calibri"/>
              </a:rPr>
              <a:t>L×ΔlnS</a:t>
            </a:r>
            <a:r>
              <a:rPr sz="1200" b="0" dirty="0">
                <a:solidFill>
                  <a:srgbClr val="33425C"/>
                </a:solidFill>
                <a:latin typeface="Calibri"/>
              </a:rPr>
              <a:t>) + controls</a:t>
            </a:r>
          </a:p>
          <a:p>
            <a:pPr algn="l">
              <a:spcAft>
                <a:spcPts val="300"/>
              </a:spcAft>
            </a:pPr>
            <a:r>
              <a:rPr sz="1200" b="1" dirty="0">
                <a:solidFill>
                  <a:srgbClr val="E8A12C"/>
                </a:solidFill>
                <a:latin typeface="Calibri"/>
              </a:rPr>
              <a:t>β₁ = +2.74   (p = 0.228)   not significant</a:t>
            </a:r>
          </a:p>
          <a:p>
            <a:pPr algn="l"/>
            <a:r>
              <a:rPr sz="1200" b="1" dirty="0">
                <a:solidFill>
                  <a:srgbClr val="E8A12C"/>
                </a:solidFill>
                <a:latin typeface="Calibri"/>
              </a:rPr>
              <a:t>β₄ = −35.89  (p = 0.032)   significant in levels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22960" y="4200000"/>
            <a:ext cx="55000" cy="9700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67960" y="4250000"/>
            <a:ext cx="4912225" cy="7505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050" b="1" dirty="0">
                <a:solidFill>
                  <a:srgbClr val="E8A12C"/>
                </a:solidFill>
                <a:latin typeface="Calibri"/>
              </a:rPr>
              <a:t>③ First-differenced  —  L replaced by ΔL (removes drift)</a:t>
            </a:r>
          </a:p>
          <a:p>
            <a:pPr algn="l">
              <a:spcAft>
                <a:spcPts val="500"/>
              </a:spcAft>
            </a:pPr>
            <a:r>
              <a:rPr sz="1200" b="0" dirty="0">
                <a:solidFill>
                  <a:srgbClr val="33425C"/>
                </a:solidFill>
                <a:latin typeface="Calibri"/>
              </a:rPr>
              <a:t>ΔSpread = α + β₁·Δ²lnS + β₃·ΔL + β₄·(ΔL×Δ²lnS) + controls</a:t>
            </a:r>
          </a:p>
          <a:p>
            <a:pPr algn="l"/>
            <a:r>
              <a:rPr sz="1200" b="1" dirty="0">
                <a:solidFill>
                  <a:srgbClr val="C1121F"/>
                </a:solidFill>
                <a:latin typeface="Calibri"/>
                <a:sym typeface="+mn-ea"/>
              </a:rPr>
              <a:t>β₁ = </a:t>
            </a:r>
            <a:r>
              <a:rPr lang="en-US" altLang="en-US" sz="1200" b="1" dirty="0">
                <a:solidFill>
                  <a:srgbClr val="C1121F"/>
                </a:solidFill>
                <a:latin typeface="Calibri"/>
                <a:sym typeface="+mn-ea"/>
              </a:rPr>
              <a:t>0.82 (p = 0.13)             </a:t>
            </a:r>
            <a:r>
              <a:rPr sz="1200" b="1" dirty="0">
                <a:solidFill>
                  <a:srgbClr val="C1121F"/>
                </a:solidFill>
                <a:latin typeface="Calibri"/>
              </a:rPr>
              <a:t>β₄ = −107   (p = 0.46)  </a:t>
            </a:r>
            <a:endParaRPr lang="en-US" altLang="en-US" sz="1200" b="1" dirty="0">
              <a:solidFill>
                <a:srgbClr val="C1121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Why? Diagnosing Spurious Regression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38758"/>
            <a:ext cx="11064240" cy="329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ran three standard tests to confirm the original regression was spurious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680845"/>
            <a:ext cx="76200" cy="3830955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ADF Unit Root 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98980"/>
            <a:ext cx="3289300" cy="33851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Does the variable drift without a stable mean? If yes → non-stationary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Non-stationary variables produce spurious regressions — false significance from shared drift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Spread p = 0.494  ·  Buffer L p = 0.902 → both non-stationary, I(1)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variables drifted down together — coincidence, not causation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28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12285" y="1681480"/>
            <a:ext cx="76200" cy="383032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9541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Engle–Granger Cointegration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0405" y="1998980"/>
            <a:ext cx="3289300" cy="34093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Even if non-stationary individually, a stable long-run link (cointegration) makes regression valid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Standard rescue — if cointegration holds, levels regression survives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p = 0.120 → cannot reject no cointegration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 stable long-run link — they fell together during 2022–24 hiking, then diverged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7656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76565" y="1689100"/>
            <a:ext cx="76200" cy="38227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1045" y="1697690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Johansen 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9445" y="1998980"/>
            <a:ext cx="3289300" cy="34499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Stronger, multivariate cointegration test — checks the full system, not one pair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More reliable in small samples — the definitive confirmation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Fails to reject r = 0 (zero cointegrating vectors)</a:t>
            </a: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tests fail → levels regression is spurious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601970"/>
            <a:ext cx="11091545" cy="697865"/>
          </a:xfrm>
          <a:prstGeom prst="rect">
            <a:avLst/>
          </a:prstGeom>
          <a:solidFill>
            <a:srgbClr val="12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48640" y="5681680"/>
            <a:ext cx="10791672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All three tests agree: the variables are non-stationary and not cointegrated. The original results were driven by shared drift during the 2022–24 Fed hiking cycle — not a genuine economic relationship.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 dirty="0">
                <a:solidFill>
                  <a:srgbClr val="13294B"/>
                </a:solidFill>
                <a:latin typeface="Georgia" panose="02040502050405090303"/>
              </a:rPr>
              <a:t>Finding the Result That Survives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changed the dependent variable, then tried hard to break the new result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76200" cy="439801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1 · Re-anchor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3253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Problem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The spread drifts without a stable mean (non-stationary) — regressing on it picks up shared drift, not causation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Fix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Switch the outcome variable to the bid-cover ratio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is bid-cover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Bids received per dollar of T-bills offered at auction — a direct, stationary measure of demand strength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it works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It fluctuates around a stable mean → no drift, no spurious regression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51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510" y="2057400"/>
            <a:ext cx="82550" cy="438531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2 · Stress-test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36226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Auction size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Large supply mechanically lowers bid-cover; we add offering size as a control to isolate USDT's effect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Interpolated data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Reserve ratios were quarterly, filled in monthly; we re-ran with all interpolated values removed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Fed cycle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USDT and T-bill demand both move with rates; we added Δfedfunds as a control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Placebo</a:t>
            </a: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Shuffled USDT supply 2,000 times at random — the real result ranks above 95%+ of random draws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745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745" y="2057400"/>
            <a:ext cx="76200" cy="439801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3 · Converge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203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lang="en-US" altLang="en-US" sz="1200" b="1" dirty="0">
                <a:solidFill>
                  <a:srgbClr val="1B998B"/>
                </a:solidFill>
                <a:latin typeface="Calibri"/>
              </a:rPr>
              <a:t>Cross-verification</a:t>
            </a:r>
          </a:p>
          <a:p>
            <a:pPr algn="l"/>
            <a:r>
              <a:rPr sz="1200" b="0" dirty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 dirty="0">
                <a:solidFill>
                  <a:srgbClr val="33425C"/>
                </a:solidFill>
                <a:latin typeface="Calibri"/>
              </a:rPr>
              <a:t>Each team member ran the full pipeline on their own machine and confirmed results reproduce exactly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lang="en-US" altLang="en-US" sz="1200" b="1" dirty="0">
                <a:solidFill>
                  <a:srgbClr val="1B998B"/>
                </a:solidFill>
                <a:latin typeface="Calibri"/>
              </a:rPr>
              <a:t>Consistency</a:t>
            </a:r>
          </a:p>
          <a:p>
            <a:pPr algn="l"/>
            <a:r>
              <a:rPr sz="1200" b="0" dirty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 dirty="0">
                <a:solidFill>
                  <a:srgbClr val="33425C"/>
                </a:solidFill>
                <a:latin typeface="Calibri"/>
              </a:rPr>
              <a:t>No discrepancies found across any specification or any run</a:t>
            </a: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 dirty="0">
                <a:solidFill>
                  <a:srgbClr val="E8A12C"/>
                </a:solidFill>
                <a:latin typeface="Calibri"/>
              </a:rPr>
              <a:t>Verdict</a:t>
            </a:r>
          </a:p>
          <a:p>
            <a:pPr algn="l"/>
            <a:r>
              <a:rPr sz="1200" b="0" dirty="0">
                <a:solidFill>
                  <a:srgbClr val="33425C"/>
                </a:solidFill>
                <a:latin typeface="Calibri"/>
              </a:rPr>
              <a:t>→  The bid-cover result survived every check → it becomes the paper's lead finding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USDT Supply Growth → Weaker T-Bill Auction Demand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Reading the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Survives Every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result holds with no interpolated data, with auction size controlled, and against a placebo</a:t>
            </a: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</a:rPr>
              <a:t>Specification Ladder — β₁ Stable Across All Specs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A: incl. θ, 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B: drop θ, 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C: B + ln(Offering) 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−0.72 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−1.18 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−1.21 ***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−1.47 ***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−1.38 ***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−1.42 ***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−1.67 ***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Removing the interpolated reserve controls (A→B) slightly strengthens the result. Adding offering-size control (B→C) barely moves 8/13/26-week. The channel does not depend on any single control choice.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  β_USDT shown across three nested specs.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200" b="1">
                <a:solidFill>
                  <a:srgbClr val="13294B"/>
                </a:solidFill>
              </a:rPr>
              <a:t>Drop-2022 Subsample — Result Strengthens Without Crypto-Crisis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Full sample (N=51)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Drop-2022 (N=39)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Direction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−1.495 ***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−1.129 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−0.975 *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−1.702 ***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2022 crypto crises (LUNA, Celsius, FTX) created non-fundamental supply noise. Dropping them: 4-Week and 26-Week strengthen markedly; 8/13-Week remain in the same range. The channel is cleaner in the non-crisis period — consistent with the reserve-composition mechanism.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Spec C. N = 51 (full) vs N = 39 (drop-2022). Newey-West HAC(1).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Frequency,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Why the appropriate unit of analysis is the month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At the auction level, no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Why — a frequency mismatch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Bottom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Two Secondary Checks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Daily impulse responses, and an event study used as motivation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836126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83612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Daily VAR / impulse response</a:t>
            </a: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06040"/>
            <a:ext cx="50292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dirty="0">
                <a:solidFill>
                  <a:srgbClr val="33425C"/>
                </a:solidFill>
                <a:latin typeface="Calibri"/>
              </a:rPr>
              <a:t>USDT supply Granger-causes spread (p = 0.020); day-1 IRF = −0.672 bps, reverting by day 3. USDT/USDC shocks explain 1.3% of spread variance (FEVD, 20-day). Consistent with a real but transient channel — supporting, not primary, evidence.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 panose="02040502050405090303"/>
              </a:rPr>
              <a:t>Multi-event study (motivation)</a:t>
            </a: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743200"/>
            <a:ext cx="5074920" cy="15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 the Results Had to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feedback exposed three constraints that bind any study of this market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One macro regime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Reserves are unobserved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A hard power ceiling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honest reading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Can — and Cannot — Claim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Drawing the boundary precisely is part of the result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Supported by the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 panose="02040502050405090303"/>
              </a:rPr>
              <a:t>Beyond the data — for 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Untested is not 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Constraints Relax Mechanically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Time, regulation, and scale each remove one of the binding limits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Time → regimes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Regulation → real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Scale → detectability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same test rig, better inputs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Expect — Falsifiable Predictions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Each claim comes with the evidence that would confirm or kill it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 panose="02040502050405090303"/>
              </a:rPr>
              <a:t>Bid-cover sharpens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Privilege becomes measurable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 panose="02040502050405090303"/>
              </a:rPr>
              <a:t>Fragility becomes testable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2026–27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2027–28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2028–29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2030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Defensible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497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dirty="0">
                <a:solidFill>
                  <a:srgbClr val="13294B"/>
                </a:solidFill>
                <a:latin typeface="Georgia" panose="02040502050405090303"/>
              </a:rPr>
              <a:t>USDT supply growth is associated with lower T-bill auction bid-cover at all maturities, while USDC is not.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 dirty="0">
                <a:solidFill>
                  <a:srgbClr val="33425C"/>
                </a:solidFill>
                <a:latin typeface="Georgia" panose="02040502050405090303"/>
              </a:rPr>
              <a:t>Robust to controlling auction size and to removing all interpolated reserve controls, and it passes a 2,000-</a:t>
            </a:r>
            <a:r>
              <a:rPr lang="en-US" altLang="en-US" sz="1450" b="0" dirty="0">
                <a:solidFill>
                  <a:srgbClr val="33425C"/>
                </a:solidFill>
                <a:latin typeface="Georgia" panose="02040502050405090303"/>
              </a:rPr>
              <a:t>shuffle </a:t>
            </a:r>
            <a:r>
              <a:rPr sz="1450" b="0" dirty="0">
                <a:solidFill>
                  <a:srgbClr val="33425C"/>
                </a:solidFill>
                <a:latin typeface="Georgia" panose="02040502050405090303"/>
              </a:rPr>
              <a:t>placebo at 3 of 4 maturities (8/13/26-Week). At the individual-auction frequency the association is not detectable, consistent with stablecoin supply being a monthly-frequency variable.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 panose="02040502050405090303"/>
              </a:rPr>
              <a:t>A robust result, honestly earned.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3041</Words>
  <Application>Microsoft Macintosh PowerPoint</Application>
  <PresentationFormat>사용자 지정</PresentationFormat>
  <Paragraphs>316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김미르</cp:lastModifiedBy>
  <cp:revision>13</cp:revision>
  <dcterms:created xsi:type="dcterms:W3CDTF">2026-06-15T15:24:52Z</dcterms:created>
  <dcterms:modified xsi:type="dcterms:W3CDTF">2026-06-16T02:57:11Z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2D01AD1591C18A47E67A2E6AC6E3AAB1_42</vt:lpwstr>
  </property>
  <property fmtid="{D5CDD505-2E9C-101B-9397-08002B2CF9AE}" pid="3" name="KSOProductBuildVer">
    <vt:lpwstr>1033-12.1.25897.25897</vt:lpwstr>
  </property>
</Properties>
</file>