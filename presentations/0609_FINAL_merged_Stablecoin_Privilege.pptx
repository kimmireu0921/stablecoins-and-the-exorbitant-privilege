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76" r:id="rId5"/>
    <p:sldId id="260" r:id="rId6"/>
    <p:sldId id="261" r:id="rId7"/>
    <p:sldId id="262" r:id="rId8"/>
    <p:sldId id="263" r:id="rId9"/>
    <p:sldId id="280" r:id="rId10"/>
    <p:sldId id="264" r:id="rId11"/>
    <p:sldId id="277" r:id="rId12"/>
    <p:sldId id="266" r:id="rId13"/>
    <p:sldId id="268" r:id="rId14"/>
    <p:sldId id="269" r:id="rId15"/>
    <p:sldId id="281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03"/>
    <p:restoredTop sz="94610"/>
  </p:normalViewPr>
  <p:slideViewPr>
    <p:cSldViewPr snapToGrid="0" snapToObjects="1">
      <p:cViewPr varScale="1">
        <p:scale>
          <a:sx n="155" d="100"/>
          <a:sy n="155" d="100"/>
        </p:scale>
        <p:origin x="6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Old (SOFR90DAYAVG)</c:v>
                </c:pt>
              </c:strCache>
            </c:strRef>
          </c:tx>
          <c:spPr>
            <a:solidFill>
              <a:srgbClr val="C9A9A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0" i="0" u="none" strike="noStrike" kern="1200" baseline="0">
                    <a:solidFill>
                      <a:srgbClr val="1E293B"/>
                    </a:solidFill>
                    <a:latin typeface="Arial" panose="020B0704020202020204"/>
                    <a:ea typeface="+mn-ea"/>
                    <a:cs typeface="+mn-cs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2022 mean</c:v>
                </c:pt>
                <c:pt idx="1">
                  <c:v>LUNA</c:v>
                </c:pt>
                <c:pt idx="2">
                  <c:v>2021 mean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84.8</c:v>
                </c:pt>
                <c:pt idx="1">
                  <c:v>70.900000000000006</c:v>
                </c:pt>
                <c:pt idx="2">
                  <c:v>0.2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BA2-0649-9647-185E7E1B1DA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New (O/N SOFR)</c:v>
                </c:pt>
              </c:strCache>
            </c:strRef>
          </c:tx>
          <c:spPr>
            <a:solidFill>
              <a:srgbClr val="1B998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900" b="0" i="0" u="none" strike="noStrike" kern="1200" baseline="0">
                    <a:solidFill>
                      <a:srgbClr val="1E293B"/>
                    </a:solidFill>
                    <a:latin typeface="Arial" panose="020B0704020202020204"/>
                    <a:ea typeface="+mn-ea"/>
                    <a:cs typeface="+mn-cs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2022 mean</c:v>
                </c:pt>
                <c:pt idx="1">
                  <c:v>LUNA</c:v>
                </c:pt>
                <c:pt idx="2">
                  <c:v>2021 mean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16.600000000000001</c:v>
                </c:pt>
                <c:pt idx="1">
                  <c:v>14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BA2-0649-9647-185E7E1B1DA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rgbClr val="64748B"/>
                </a:solidFill>
                <a:latin typeface="Arial" panose="020B0704020202020204"/>
                <a:ea typeface="+mn-ea"/>
                <a:cs typeface="+mn-cs"/>
              </a:defRPr>
            </a:pPr>
            <a:endParaRPr lang="ko-K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 rot="0" spcFirstLastPara="0" vertOverflow="ellipsis" vert="horz" wrap="square" anchor="ctr" anchorCtr="1"/>
        <a:lstStyle/>
        <a:p>
          <a:pPr>
            <a:defRPr lang="en-US" sz="900" b="0" i="0" u="none" strike="noStrike" kern="1200" baseline="0">
              <a:solidFill>
                <a:srgbClr val="64748B"/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b8a03d7f-a1fc-4adc-8534-4e9986beeae3}"/>
      </c:ext>
    </c:extLst>
  </c:chart>
  <c:spPr>
    <a:noFill/>
    <a:ln>
      <a:noFill/>
    </a:ln>
    <a:effectLst/>
  </c:spPr>
  <c:txPr>
    <a:bodyPr/>
    <a:lstStyle/>
    <a:p>
      <a:pPr>
        <a:defRPr lang="en-US"/>
      </a:pPr>
      <a:endParaRPr lang="ko-KR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6/9/26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998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E8A12C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91440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DB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YONSEI GSIS  |  TOPICS IN INTERNATIONAL FINANCE  |  JUNE 2026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1033272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Stablecoins and the Exorbitant Privilege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ADCF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Safe-Asset Demand and Its Systemic Fragility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Mireu Kim   ·   Sara Chekroune   ·   Oybek Ibragimov   ·   Jade Zhu   ·   Alexandre Godefroy   ·   Baptiste Degand   ·   Minjin Kim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4251960"/>
            <a:ext cx="3337560" cy="1417320"/>
          </a:xfrm>
          <a:prstGeom prst="rect">
            <a:avLst/>
          </a:prstGeom>
          <a:solidFill>
            <a:srgbClr val="122844"/>
          </a:solidFill>
          <a:ln w="15875">
            <a:solidFill>
              <a:srgbClr val="1B99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4251960"/>
            <a:ext cx="3337560" cy="64008"/>
          </a:xfrm>
          <a:prstGeom prst="rect">
            <a:avLst/>
          </a:prstGeom>
          <a:solidFill>
            <a:srgbClr val="1B998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960120" y="44348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β₁ &lt; 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005840" y="50292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 amplification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(direction robust)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26280" y="4251960"/>
            <a:ext cx="3337560" cy="1417320"/>
          </a:xfrm>
          <a:prstGeom prst="rect">
            <a:avLst/>
          </a:prstGeom>
          <a:solidFill>
            <a:srgbClr val="122844"/>
          </a:solidFill>
          <a:ln w="15875">
            <a:solidFill>
              <a:srgbClr val="E8A12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526280" y="4251960"/>
            <a:ext cx="3337560" cy="64008"/>
          </a:xfrm>
          <a:prstGeom prst="rect">
            <a:avLst/>
          </a:prstGeom>
          <a:solidFill>
            <a:srgbClr val="E8A12C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4572000" y="44348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q* ≈ 13%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617720" y="50292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Liquid-buffer fragility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(low teens)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4251960"/>
            <a:ext cx="3337560" cy="1417320"/>
          </a:xfrm>
          <a:prstGeom prst="rect">
            <a:avLst/>
          </a:prstGeom>
          <a:solidFill>
            <a:srgbClr val="122844"/>
          </a:solidFill>
          <a:ln w="15875">
            <a:solidFill>
              <a:srgbClr val="5B8DE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8138160" y="4251960"/>
            <a:ext cx="3337560" cy="64008"/>
          </a:xfrm>
          <a:prstGeom prst="rect">
            <a:avLst/>
          </a:prstGeom>
          <a:solidFill>
            <a:srgbClr val="5B8DEF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183880" y="4434840"/>
            <a:ext cx="32461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USDT ≠ USDC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229600" y="50292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Reserve-composition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confirmed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Is a Stablecoin?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 programmatic, rule-bound channel for US-dollar safe-asset demand.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450336" cy="32918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82296" cy="3291840"/>
          </a:xfrm>
          <a:prstGeom prst="rect">
            <a:avLst/>
          </a:prstGeom>
          <a:solidFill>
            <a:srgbClr val="1B998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45864" y="2103120"/>
            <a:ext cx="3450336" cy="32918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245864" y="2103120"/>
            <a:ext cx="82296" cy="3291840"/>
          </a:xfrm>
          <a:prstGeom prst="rect">
            <a:avLst/>
          </a:prstGeom>
          <a:solidFill>
            <a:srgbClr val="13294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943088" y="2103120"/>
            <a:ext cx="3450336" cy="32918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7943088" y="2103120"/>
            <a:ext cx="82296" cy="3291840"/>
          </a:xfrm>
          <a:prstGeom prst="rect">
            <a:avLst/>
          </a:prstGeom>
          <a:solidFill>
            <a:srgbClr val="E8A12C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77240" y="2331720"/>
            <a:ext cx="310286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it is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2880360"/>
            <a:ext cx="3102864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privately issued token pegged 1:1 to the US dollar (USDT, USDC). Combined supply has grown to roughly $300 billion.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65904" y="2331720"/>
            <a:ext cx="310286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How it is backed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65904" y="2880360"/>
            <a:ext cx="3102864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is backed by reserves — cash plus short-dated US Treasury bills. About $300B supply maps to ~$150B in T-bills.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354568" y="2331720"/>
            <a:ext cx="310286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Why it matters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354568" y="2880360"/>
            <a:ext cx="3102864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central bank, not a fund manager — an algorithm that must buy T-bills as supply grows. Programmatic, always-on, and fast.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623560"/>
            <a:ext cx="110916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stablecoins create a NEW demand channel for T-bills — larger, faster, and more rule-bound than sovereign reserve managers.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Exorbitant Privilege — What Finance Already Knows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structural role that deepens US safe-asset demand also embeds a fragility that can rapidly reverse it.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62956" cy="3246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82296" cy="3246120"/>
          </a:xfrm>
          <a:prstGeom prst="rect">
            <a:avLst/>
          </a:prstGeom>
          <a:solidFill>
            <a:srgbClr val="E8A12C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04672" y="2286000"/>
            <a:ext cx="490575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Original Triffin Dilemma (1960)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04672" y="2834640"/>
            <a:ext cx="4860036" cy="2377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reserve-currency country must supply enough safe assets to meet global demand — but doing so requires running structural deficits that progressively undermine confidence in the currency. The system depends on the very condition that makes it unsustainable.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77356" y="2103120"/>
            <a:ext cx="5362956" cy="3246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277356" y="2103120"/>
            <a:ext cx="82296" cy="3246120"/>
          </a:xfrm>
          <a:prstGeom prst="rect">
            <a:avLst/>
          </a:prstGeom>
          <a:solidFill>
            <a:srgbClr val="1B998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533388" y="2286000"/>
            <a:ext cx="490575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Exorbitant Privilege (Gourinchas &amp; Rey, 2007)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3388" y="2834640"/>
            <a:ext cx="4494276" cy="23774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 earns more on foreign assets than it pays on its liabilities — a structural borrowing advantage.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demand for dollar safe assets keeps T-bill yields low, so the US borrows cheap.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 it through the OIS–Treasury (convenience-yield) spread: when T-bill demand rises, US borrowing costs fall below the risk-free baseline.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CORE INSIGHT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New Triffin Dilemma — Same Mechanism, Two Faces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Supply growth amplifies the privilege in calm times — and undermines it in stress. The liquid buffer L decides which.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362956" cy="23317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82296" cy="2331720"/>
          </a:xfrm>
          <a:prstGeom prst="rect">
            <a:avLst/>
          </a:prstGeom>
          <a:solidFill>
            <a:srgbClr val="1B998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TIMES   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606040"/>
            <a:ext cx="4860036" cy="1691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Issuance → mechanical T-bill acquisition by issuers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rise in safe-asset demand for Treasuries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compresses → yields fall below baseline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Exorbitant privilege amplified via private channel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7356" y="2057400"/>
            <a:ext cx="5362956" cy="23317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277356" y="2057400"/>
            <a:ext cx="82296" cy="2331720"/>
          </a:xfrm>
          <a:prstGeom prst="rect">
            <a:avLst/>
          </a:prstGeom>
          <a:solidFill>
            <a:srgbClr val="C1121F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533388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SCENARIO   ✗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3388" y="2606040"/>
            <a:ext cx="4494276" cy="1691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Redemption shock → programmatic T-bill liquidation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Treasury yields spike above baseline — spread reverses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Sovereign-linked liquidity shock hits debt markets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Self-fulfilling: fear validates liquidation, crisis spreads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617720"/>
            <a:ext cx="11091672" cy="1325880"/>
          </a:xfrm>
          <a:prstGeom prst="rect">
            <a:avLst/>
          </a:prstGeom>
          <a:solidFill>
            <a:srgbClr val="13294B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822960" y="4736592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determines the outcome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5074920"/>
            <a:ext cx="53035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 = Treasury holdings / supply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structural demand channel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5074920"/>
            <a:ext cx="57607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= liquid reserves / supply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crisis-absorption capacity:  L ≥ L* absorbed internally;  L &lt; L* forced liquidation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THEORETICAL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Extending Maggiori (2017): Adding S, θ and 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Maggiori (2017): safe-asset demand is driven by Ω* — the countercyclical marginal value of rest-of-world net worth. We add three components.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11091672" cy="1051560"/>
          </a:xfrm>
          <a:prstGeom prst="rect">
            <a:avLst/>
          </a:prstGeom>
          <a:solidFill>
            <a:srgbClr val="EAEFF7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1054303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D*(Ñ*, S, </a:t>
            </a:r>
            <a:r>
              <a:rPr lang="en-US" sz="1800" b="1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θ, 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L)  =  D*</a:t>
            </a:r>
            <a:r>
              <a:rPr lang="en-US" sz="11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precautionary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(Ñ*)  +  </a:t>
            </a:r>
            <a:r>
              <a:rPr lang="en-US" sz="18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</a:t>
            </a:r>
            <a:r>
              <a:rPr lang="en-US" sz="11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(S, θ)  +  </a:t>
            </a:r>
            <a:r>
              <a:rPr lang="en-US" sz="18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D*</a:t>
            </a:r>
            <a:r>
              <a:rPr lang="en-US" sz="11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buffer</a:t>
            </a:r>
            <a:r>
              <a:rPr lang="en-US" sz="18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(L)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651760"/>
            <a:ext cx="1054303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precautionary (Maggiori)   +   new structural demand via mechanical T-bill purchases   +   demand from excess reserves above the minimum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6211336" cy="2194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82296" cy="2194560"/>
          </a:xfrm>
          <a:prstGeom prst="rect">
            <a:avLst/>
          </a:prstGeom>
          <a:solidFill>
            <a:srgbClr val="1B998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04672" y="34290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Main estimating equation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04672" y="3840480"/>
            <a:ext cx="5754136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Spreadₜ = α + β₁·ΔlnSₜ + β₂·θₜ + β₃·Lₜ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+ β₄·(Lₜ × ΔlnSₜ)</a:t>
            </a:r>
            <a:endParaRPr lang="en-US" sz="15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+ β₅·Vₜ + β₆·VIXₜ + β₇·ΔlnN*ₜ + εₜ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034296" y="3291840"/>
            <a:ext cx="4606016" cy="2194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7034296" y="3291840"/>
            <a:ext cx="82296" cy="2194560"/>
          </a:xfrm>
          <a:prstGeom prst="rect">
            <a:avLst/>
          </a:prstGeom>
          <a:solidFill>
            <a:srgbClr val="E8A12C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262896" y="34290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Predicted signs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262896" y="3886200"/>
            <a:ext cx="414881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β₁ &lt; 0</a:t>
            </a: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ΔlnS compresses the spread (privilege amplification)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β₂ &gt; 0</a:t>
            </a: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higher T-bill exposure θ amplifies demand</a:t>
            </a:r>
            <a:endParaRPr lang="en-US" sz="135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3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β₄ &gt; 0</a:t>
            </a: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higher buffer L dampens crisis transmission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buffer L introduces a non-linear threshold — the key theoretical departure from Maggiori. Spread = corrected convenience yield (see slide 7).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25" y="3801110"/>
            <a:ext cx="4968875" cy="15468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&amp; CONTRIBUTION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the Literature Establishes — and Where It Stops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91672" cy="914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82296" cy="914400"/>
          </a:xfrm>
          <a:prstGeom prst="rect">
            <a:avLst/>
          </a:prstGeom>
          <a:solidFill>
            <a:srgbClr val="13294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04672" y="15087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Aldasoro &amp; Ahmed (BIS WP 1270, 2025)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0" y="1536192"/>
            <a:ext cx="420624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 inflows lower 3-mo T-bill yields 2–2.5 bps; outflows raise them 2–3× more.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503920" y="1536192"/>
            <a:ext cx="341071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Moderator is market T-bill supply, not issuer reserves. Uses yield levels, not the spread. No threshold.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11091672" cy="914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548640" y="2441448"/>
            <a:ext cx="82296" cy="914400"/>
          </a:xfrm>
          <a:prstGeom prst="rect">
            <a:avLst/>
          </a:prstGeom>
          <a:solidFill>
            <a:srgbClr val="13294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04672" y="2532888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Gorton &amp; Zhang (2023)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0" y="2560320"/>
            <a:ext cx="420624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Issuers are unregulated banks; runs are structurally inevitable without deposit insurance.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03920" y="2560320"/>
            <a:ext cx="341071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 run risk but does not model transmission to sovereign debt markets.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465576"/>
            <a:ext cx="11091672" cy="914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48640" y="3465576"/>
            <a:ext cx="82296" cy="914400"/>
          </a:xfrm>
          <a:prstGeom prst="rect">
            <a:avLst/>
          </a:prstGeom>
          <a:solidFill>
            <a:srgbClr val="13294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804672" y="3557016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Lyons &amp; Viswanath-Natraj (2023)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0" y="3584448"/>
            <a:ext cx="420624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Arbitrage keeps dollar-backed coins pegged; weak issuers face speculative attacks.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503920" y="3584448"/>
            <a:ext cx="3410712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peg mechanics only — no link to Treasury-market outcomes.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507992"/>
            <a:ext cx="11091672" cy="114300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822960" y="4636008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946904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to jointly estimate how issuer reserve adequacy moderates the transmission from stablecoin supply growth to the OIS–Treasury spread — and to locate the buffer region below which amplification turns into forced liquidation.  β₄ and L* ≈ 13% have no direct antecedent in the published literature.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Why the OIS–Treasury Spread, Not Raw Yields?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 T-bill yield moves for several reasons at once. The spread strips out everything except safe-asset demand.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514344" cy="2468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82296" cy="2468880"/>
          </a:xfrm>
          <a:prstGeom prst="rect">
            <a:avLst/>
          </a:prstGeom>
          <a:solidFill>
            <a:srgbClr val="C1121F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49808" y="2103120"/>
            <a:ext cx="314858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Raw T-bill yield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2468880"/>
            <a:ext cx="31485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9808" y="2834640"/>
            <a:ext cx="313029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Driven by Fed-rate expectations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inflation expectations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safe-asset demand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separate the three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7304" y="1965960"/>
            <a:ext cx="3514344" cy="2468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337304" y="1965960"/>
            <a:ext cx="82296" cy="2468880"/>
          </a:xfrm>
          <a:prstGeom prst="rect">
            <a:avLst/>
          </a:prstGeom>
          <a:solidFill>
            <a:srgbClr val="13294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38472" y="2103120"/>
            <a:ext cx="314858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OIS benchmark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38472" y="2468880"/>
            <a:ext cx="31485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38472" y="2834640"/>
            <a:ext cx="313029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policy-rate path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monetary expectations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T-bill-specific demand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with macro, not flows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25968" y="1965960"/>
            <a:ext cx="3514344" cy="2468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8125968" y="1965960"/>
            <a:ext cx="82296" cy="2468880"/>
          </a:xfrm>
          <a:prstGeom prst="rect">
            <a:avLst/>
          </a:prstGeom>
          <a:solidFill>
            <a:srgbClr val="1B998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327136" y="2103120"/>
            <a:ext cx="314858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spread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7136" y="2468880"/>
            <a:ext cx="31485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variable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27136" y="2834640"/>
            <a:ext cx="3130296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T-bill yield − OIS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Cancels monetary policy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the convenience yield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only on T-bill demand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57200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precedent: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Krishnamurthy &amp; Vissing-Jorgensen (2012), Nagel (2016), Greenwood-Hanson-Stein (2015) — the OIS–T-bill spread as the convenience yield of near-money assets.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029200"/>
            <a:ext cx="11091672" cy="960120"/>
          </a:xfrm>
          <a:prstGeom prst="rect">
            <a:avLst/>
          </a:prstGeom>
          <a:solidFill>
            <a:srgbClr val="FBEEDD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22960" y="5138928"/>
            <a:ext cx="10543032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note:  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must be </a:t>
            </a:r>
            <a:r>
              <a:rPr lang="en-US" sz="1250" i="1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forward-looking</a:t>
            </a: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We replaced a backward-looking 90-day SOFR average (which lagged during 2022 hiking and inflated the mean to 84.8 bps) with DGS3MO − SOFR → mean 16.6 bps. </a:t>
            </a:r>
            <a:r>
              <a:rPr lang="en-US" sz="125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To-do: finish with 3-mo Term SOFR to fully match the OIS definition above.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SAMPLE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Variables, Sources, and the Corrected Spread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548640" y="1463040"/>
          <a:ext cx="6766560" cy="3072384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Freq.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OIS–Treasury spread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DGS3MO − SOFR (FRED)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Stablecoin supply S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USDT + USDC (DeFiLlama)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  Treasury exposure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T-bill holdings / supply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Q/M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 Liquid buffer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reserves / supply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Q/M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 V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7-day SD of ΔlnS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VIX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CBOE VIX (FRED)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ΔlnN*  RoW equity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ACWX ETF return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D→M</a:t>
                      </a:r>
                      <a:endParaRPr lang="en-US" sz="115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983480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Sample: Jan 2022 – Mar 2026   |   N = 51 monthly observations   |   θ, L from Tether/BDO &amp; Circle/Deloitte attestations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680960" y="1463040"/>
            <a:ext cx="3959352" cy="4480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7680960" y="1463040"/>
            <a:ext cx="82296" cy="4480560"/>
          </a:xfrm>
          <a:prstGeom prst="rect">
            <a:avLst/>
          </a:prstGeom>
          <a:solidFill>
            <a:srgbClr val="C1121F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909560" y="1600200"/>
            <a:ext cx="350215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spread correction</a:t>
            </a:r>
            <a:endParaRPr lang="en-US" sz="1600" dirty="0"/>
          </a:p>
        </p:txBody>
      </p:sp>
      <p:sp>
        <p:nvSpPr>
          <p:cNvPr id="4" name="Text 6"/>
          <p:cNvSpPr/>
          <p:nvPr/>
        </p:nvSpPr>
        <p:spPr>
          <a:xfrm>
            <a:off x="7909560" y="2011680"/>
            <a:ext cx="3502152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 (wrong):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DTB3 − SOFR90DAYAVG — a backward-looking trailing average that lagged overnight SOFR by up to 119 bps during 2022 hiking. A pure Fed-policy artifact.</a:t>
            </a:r>
            <a:endParaRPr lang="en-US" sz="120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7818120" y="3063240"/>
          <a:ext cx="3685032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 7"/>
          <p:cNvSpPr/>
          <p:nvPr/>
        </p:nvSpPr>
        <p:spPr>
          <a:xfrm>
            <a:off x="7909560" y="4983480"/>
            <a:ext cx="3502152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mean = 16.6 bps — consistent with ≈0 in normal times, 10 bps being economically large.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— KEY VARIABLES OVER TIME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Spread, Supply, and the Liquid Buffer (2022–2026)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7589520" y="1645920"/>
            <a:ext cx="4050792" cy="18745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7589520" y="1645920"/>
            <a:ext cx="82296" cy="1874520"/>
          </a:xfrm>
          <a:prstGeom prst="rect">
            <a:avLst/>
          </a:prstGeom>
          <a:solidFill>
            <a:srgbClr val="1B998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7" name="Text 4"/>
          <p:cNvSpPr/>
          <p:nvPr/>
        </p:nvSpPr>
        <p:spPr>
          <a:xfrm>
            <a:off x="7818120" y="1755648"/>
            <a:ext cx="359359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How to read it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818120" y="2103120"/>
            <a:ext cx="3593592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corrected convenience-yield spread (DGS3MO − overnight SOFR).   </a:t>
            </a:r>
          </a:p>
          <a:p>
            <a:pPr marL="0" indent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USDT+USDC supply, now ~$260B.   </a:t>
            </a:r>
          </a:p>
          <a:p>
            <a:pPr marL="0" indent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the buffer L, with the q* = 13% line.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589520" y="3703320"/>
            <a:ext cx="4050792" cy="18288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7589520" y="3703320"/>
            <a:ext cx="82296" cy="1828800"/>
          </a:xfrm>
          <a:prstGeom prst="rect">
            <a:avLst/>
          </a:prstGeom>
          <a:solidFill>
            <a:srgbClr val="E8A12C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7818120" y="3813048"/>
            <a:ext cx="359359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it shows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818120" y="4160520"/>
            <a:ext cx="3593592" cy="1325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spread sits near zero in calm periods, with a residual term-premium bump during the 2022 hiking cycle that reverts toward zero by 2024–26. Meanwhile L spends long stretches below the 13% line — exactly the fragility region.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pic>
        <p:nvPicPr>
          <p:cNvPr id="15" name="Picture 14" descr="KakaoTalk_Photo_2026-06-08-17-48-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" y="1351915"/>
            <a:ext cx="7141210" cy="464756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the Buffer Condition Means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 = liquid buffer = cash &amp; cash-equivalents ÷ total supply.   Estimated regime break: L* ≈ 13%.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62956" cy="36576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82296" cy="3657600"/>
          </a:xfrm>
          <a:prstGeom prst="rect">
            <a:avLst/>
          </a:prstGeom>
          <a:solidFill>
            <a:srgbClr val="C1121F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04672" y="214884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LOW BUFFER  (L &lt; 13%)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2542032"/>
            <a:ext cx="490575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Tether, May 2022: ~5–8% cash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2926080"/>
            <a:ext cx="4860036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holds mostly T-bills, very little cash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redeem → issuer MUST sell T-bills to raise cash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Forced selling pushes T-bill yields UP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reverses — a forced seller into a stressed market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04672" y="5257800"/>
            <a:ext cx="4905756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behaviour disrupts the Treasury market.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77356" y="2011680"/>
            <a:ext cx="5362956" cy="36576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277356" y="2011680"/>
            <a:ext cx="82296" cy="3657600"/>
          </a:xfrm>
          <a:prstGeom prst="rect">
            <a:avLst/>
          </a:prstGeom>
          <a:solidFill>
            <a:srgbClr val="1B998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533388" y="214884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HIGH BUFFER  (L ≥ 13%)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33388" y="2542032"/>
            <a:ext cx="4905756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Circle, Mar 2023: ~18–22% cash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33388" y="2926080"/>
            <a:ext cx="4494276" cy="2194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holds substantial cash reserves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Investors redeem → issuer pays out from cash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T-bills untouched — no forced selling, no yield pressure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does not move from issuer behaviour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533388" y="5257800"/>
            <a:ext cx="4905756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 buffer absorbs the shock; the market is insulated.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 BEFORE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What Should β₁ Look Like?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1672" cy="23774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1005840" y="2514600"/>
            <a:ext cx="101772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33425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If stablecoins truly act as a safe-asset demand channel,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05840" y="3017520"/>
            <a:ext cx="1017727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β₁ must be </a:t>
            </a:r>
            <a:r>
              <a:rPr lang="en-US" sz="26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NEGATIVE</a:t>
            </a:r>
            <a:r>
              <a:rPr lang="en-US" sz="2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 — supply growth compresses the spread.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3749040"/>
            <a:ext cx="101772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state the prediction first, then test it on N = 51 monthly observations.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ordering is deliberate: the sign is a theoretical commitment, not a fitted surprise. The magnitude and significance are what the data then has to say.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 Growth Compresses the Spread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548640" y="1508760"/>
          <a:ext cx="6858000" cy="22860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Coeff.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Std. Err.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p-value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Δln(Supply)  β₁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2.59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VIX  β₂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+0.010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0.173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 V  β₃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−52.87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23.84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0.027 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B×ΔlnS  β₄ (fragility)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112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−7.52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0.019 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977640"/>
            <a:ext cx="6858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with Newey-West HAC s.e.   N = 51   R² = 0.411   Adj-R² = 0.330   (buffer-ratio spec, Column 2)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48640" y="4434840"/>
            <a:ext cx="6858000" cy="15087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548640" y="4434840"/>
            <a:ext cx="82296" cy="1508760"/>
          </a:xfrm>
          <a:prstGeom prst="rect">
            <a:avLst/>
          </a:prstGeom>
          <a:solidFill>
            <a:srgbClr val="E8A12C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777240" y="4544568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Read this honestly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77240" y="4846320"/>
            <a:ext cx="644652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1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(β₁ &lt; 0) is robust</a:t>
            </a: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across every specification and sub-sample. The exact magnitude is spec-dependent: the decomposed spec gives β₁ = −1.12 (n.s.) because θ, L and L×ΔlnS are collinear at N = 51; the buffer-ratio spec combines them. State the sign as the finding, not the precise −7.57.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772400" y="1508760"/>
            <a:ext cx="3867912" cy="210312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7772400" y="1508760"/>
            <a:ext cx="82296" cy="2103120"/>
          </a:xfrm>
          <a:prstGeom prst="rect">
            <a:avLst/>
          </a:prstGeom>
          <a:solidFill>
            <a:srgbClr val="1B998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4" name="Text 9"/>
          <p:cNvSpPr/>
          <p:nvPr/>
        </p:nvSpPr>
        <p:spPr>
          <a:xfrm>
            <a:off x="8046720" y="1691640"/>
            <a:ext cx="331927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Economic magnitude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046720" y="2057400"/>
            <a:ext cx="3319272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≈30 bps</a:t>
            </a:r>
            <a:endParaRPr lang="en-US" sz="4800" dirty="0"/>
          </a:p>
        </p:txBody>
      </p:sp>
      <p:sp>
        <p:nvSpPr>
          <p:cNvPr id="14" name="Text 11"/>
          <p:cNvSpPr/>
          <p:nvPr/>
        </p:nvSpPr>
        <p:spPr>
          <a:xfrm>
            <a:off x="8046720" y="2880360"/>
            <a:ext cx="331927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from a 1-SD (≈4 pp) rise in supply growth — on the order of a sizeable FOMC surprise.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772400" y="3749040"/>
            <a:ext cx="3867912" cy="219456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7772400" y="3749040"/>
            <a:ext cx="82296" cy="2194560"/>
          </a:xfrm>
          <a:prstGeom prst="rect">
            <a:avLst/>
          </a:prstGeom>
          <a:solidFill>
            <a:srgbClr val="13294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8046720" y="3886200"/>
            <a:ext cx="331927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Intuition check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046720" y="4251960"/>
            <a:ext cx="3319272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β₁ &lt; 0  ✓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growth compresses the spread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VIX &gt; 0  ✓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risk-off widens the spread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Why Should There Be a Regime Break?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Low buffer = forced-liquidation risk;  high buffer = orderly redemption. We look for a fragility region, not a knife-edge.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3042859" cy="28346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82296" cy="2834640"/>
          </a:xfrm>
          <a:prstGeom prst="rect">
            <a:avLst/>
          </a:prstGeom>
          <a:solidFill>
            <a:srgbClr val="C1121F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When L is LOW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04672" y="2651760"/>
            <a:ext cx="2512121" cy="2011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redemption wave forces rapid T-bill sales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activity moves the market in both directions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relationship between supply and spread changes character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65235" y="2057400"/>
            <a:ext cx="2877661" cy="283464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3765235" y="2057400"/>
            <a:ext cx="82296" cy="2834640"/>
          </a:xfrm>
          <a:prstGeom prst="rect">
            <a:avLst/>
          </a:prstGeom>
          <a:solidFill>
            <a:srgbClr val="1B998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028696" y="2258568"/>
            <a:ext cx="2067304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When L is HIGH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021267" y="2651760"/>
            <a:ext cx="2330012" cy="2011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Issuer absorbs redemptions from cash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T-bill holdings stay untouched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privilege channel continues undisturbed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074920"/>
            <a:ext cx="11091672" cy="86868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822960" y="5193792"/>
            <a:ext cx="1054303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estimate:  </a:t>
            </a: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critical buffer region (L* ≈ 13%) separating amplification from forced liquidation — located consistently by two methods.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34FCE5DF-20C9-5636-A609-56D47C380EFF}"/>
              </a:ext>
            </a:extLst>
          </p:cNvPr>
          <p:cNvSpPr/>
          <p:nvPr/>
        </p:nvSpPr>
        <p:spPr>
          <a:xfrm>
            <a:off x="6816632" y="2057400"/>
            <a:ext cx="5193792" cy="2847104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96B1B4A8-6414-9ABB-BD51-DB6F006AA1EF}"/>
              </a:ext>
            </a:extLst>
          </p:cNvPr>
          <p:cNvSpPr/>
          <p:nvPr/>
        </p:nvSpPr>
        <p:spPr>
          <a:xfrm>
            <a:off x="6816632" y="2057400"/>
            <a:ext cx="82296" cy="2847104"/>
          </a:xfrm>
          <a:prstGeom prst="rect">
            <a:avLst/>
          </a:prstGeom>
          <a:solidFill>
            <a:srgbClr val="E8A12C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E8B88EF7-4715-5E8F-C87F-08B32656A655}"/>
              </a:ext>
            </a:extLst>
          </p:cNvPr>
          <p:cNvSpPr/>
          <p:nvPr/>
        </p:nvSpPr>
        <p:spPr>
          <a:xfrm>
            <a:off x="7072664" y="1818477"/>
            <a:ext cx="4736592" cy="122018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L* is the point of the switch</a:t>
            </a:r>
            <a:endParaRPr lang="en-US" sz="2200" dirty="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0B464FF1-E1BC-FA4C-7565-37BD6B0B9788}"/>
              </a:ext>
            </a:extLst>
          </p:cNvPr>
          <p:cNvSpPr/>
          <p:nvPr/>
        </p:nvSpPr>
        <p:spPr>
          <a:xfrm>
            <a:off x="7045232" y="2412430"/>
            <a:ext cx="4736592" cy="108461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50" dirty="0"/>
          </a:p>
        </p:txBody>
      </p:sp>
      <p:sp>
        <p:nvSpPr>
          <p:cNvPr id="25" name="Text 10">
            <a:extLst>
              <a:ext uri="{FF2B5EF4-FFF2-40B4-BE49-F238E27FC236}">
                <a16:creationId xmlns:a16="http://schemas.microsoft.com/office/drawing/2014/main" id="{EC6ACDE3-C373-84EE-2C2E-8D25C10C1C7A}"/>
              </a:ext>
            </a:extLst>
          </p:cNvPr>
          <p:cNvSpPr/>
          <p:nvPr/>
        </p:nvSpPr>
        <p:spPr>
          <a:xfrm>
            <a:off x="7141244" y="2674081"/>
            <a:ext cx="4626864" cy="2011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 the historical </a:t>
            </a:r>
            <a:r>
              <a:rPr lang="en-US" sz="1400" dirty="0">
                <a:solidFill>
                  <a:srgbClr val="33425C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of redemption shocks</a:t>
            </a: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r>
              <a:rPr lang="en-US" sz="1400" dirty="0">
                <a:solidFill>
                  <a:srgbClr val="33425C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depth and liquidity of the T-bill market</a:t>
            </a: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r>
              <a:rPr lang="en-US" sz="1400" dirty="0">
                <a:solidFill>
                  <a:srgbClr val="33425C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of reserves</a:t>
            </a: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L*, supply-spread relationship reflects the </a:t>
            </a:r>
            <a:r>
              <a:rPr lang="en-US" sz="1400" dirty="0">
                <a:solidFill>
                  <a:srgbClr val="33425C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demand only channel. 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3425C"/>
                </a:solidFill>
                <a:latin typeface="Calibri" pitchFamily="34" charset="0"/>
                <a:cs typeface="Calibri" pitchFamily="34" charset="-120"/>
              </a:rPr>
              <a:t>Below L*, it reflects for </a:t>
            </a:r>
            <a:r>
              <a:rPr lang="en-US" sz="1400" dirty="0">
                <a:solidFill>
                  <a:srgbClr val="33425C"/>
                </a:solidFill>
                <a:highlight>
                  <a:srgbClr val="FFFF00"/>
                </a:highlight>
                <a:latin typeface="Calibri" pitchFamily="34" charset="0"/>
                <a:cs typeface="Calibri" pitchFamily="34" charset="-120"/>
              </a:rPr>
              <a:t>forced liquidation </a:t>
            </a:r>
            <a:r>
              <a:rPr lang="en-US" sz="1400" dirty="0">
                <a:solidFill>
                  <a:srgbClr val="33425C"/>
                </a:solidFill>
                <a:latin typeface="Calibri" pitchFamily="34" charset="0"/>
                <a:cs typeface="Calibri" pitchFamily="34" charset="-120"/>
              </a:rPr>
              <a:t>– also changes the sign of some effects and magnitude of others. 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RESULT: HANSEN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 Fragility Region in the Low Teens (≈ 13%)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Two methods independently locate the break near 13–15%. The location is robust; the precision is limited by N = 51.</a:t>
            </a:r>
            <a:endParaRPr lang="en-US" sz="1500" dirty="0"/>
          </a:p>
        </p:txBody>
      </p:sp>
      <p:pic>
        <p:nvPicPr>
          <p:cNvPr id="5" name="Image 0" descr="figs/imag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20240"/>
            <a:ext cx="5577840" cy="31389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095724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Hansen (2000) SSR over the buffer grid — minimized at q* = 0.130, with the bootstrap 90% CI shaded.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446520" y="2438763"/>
            <a:ext cx="5193792" cy="960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6446520" y="2438763"/>
            <a:ext cx="82296" cy="960120"/>
          </a:xfrm>
          <a:prstGeom prst="rect">
            <a:avLst/>
          </a:prstGeom>
          <a:solidFill>
            <a:srgbClr val="1B998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675120" y="2548491"/>
            <a:ext cx="473659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q* = 13.0%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675120" y="2987403"/>
            <a:ext cx="473659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Hansen grid search — stable across TRIM 15/20/25%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46520" y="3658858"/>
            <a:ext cx="5193792" cy="960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6446520" y="3658858"/>
            <a:ext cx="82296" cy="960120"/>
          </a:xfrm>
          <a:prstGeom prst="rect">
            <a:avLst/>
          </a:prstGeom>
          <a:solidFill>
            <a:srgbClr val="E8A12C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6675120" y="3768586"/>
            <a:ext cx="473659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 = 0.406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675120" y="4207498"/>
            <a:ext cx="473659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bootstrap; 90% CI [3.1%, 14.5%] — location robust, not precise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48640" y="5138928"/>
            <a:ext cx="11091672" cy="11887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7"/>
          <p:cNvSpPr/>
          <p:nvPr/>
        </p:nvSpPr>
        <p:spPr>
          <a:xfrm>
            <a:off x="548640" y="5138928"/>
            <a:ext cx="82296" cy="1188720"/>
          </a:xfrm>
          <a:prstGeom prst="rect">
            <a:avLst/>
          </a:prstGeom>
          <a:solidFill>
            <a:srgbClr val="C1121F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822960" y="5376672"/>
            <a:ext cx="10543032" cy="960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Converges:  </a:t>
            </a:r>
            <a:r>
              <a:rPr lang="en-US" sz="16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LOCATION (≈13%) — stable across both methods, all TRIM values, every model vintage.   </a:t>
            </a:r>
            <a:br>
              <a:rPr lang="en-US" sz="16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6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converge:  </a:t>
            </a:r>
            <a:r>
              <a:rPr lang="en-US" sz="16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regime-beta magnitudes — Hansen (hard split) and LSTAR (smooth model) estimate different objects.</a:t>
            </a:r>
            <a:br>
              <a:rPr lang="en-US" sz="16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 - </a:t>
            </a:r>
            <a:r>
              <a:rPr lang="en-US" altLang="ko-KR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RESULT: LSTAR</a:t>
            </a:r>
            <a:endParaRPr lang="en-US" altLang="ko-KR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LSTAR Smooth-Transition Regression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Does Hansen's sharp-switch assumption drive the result? A gradual-transition model locates the same region.</a:t>
            </a:r>
            <a:endParaRPr lang="en-US" sz="1500" dirty="0"/>
          </a:p>
        </p:txBody>
      </p:sp>
      <p:pic>
        <p:nvPicPr>
          <p:cNvPr id="5" name="Image 0" descr="figs/lstar_corr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8879" y="1874521"/>
            <a:ext cx="8495105" cy="317811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212080"/>
            <a:ext cx="11091672" cy="1051560"/>
          </a:xfrm>
          <a:prstGeom prst="rect">
            <a:avLst/>
          </a:prstGeom>
          <a:solidFill>
            <a:srgbClr val="FBEEDD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548640" y="5212080"/>
            <a:ext cx="82296" cy="1051560"/>
          </a:xfrm>
          <a:prstGeom prst="rect">
            <a:avLst/>
          </a:prstGeom>
          <a:solidFill>
            <a:srgbClr val="E8A12C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adds: 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transition midpoint c* = 14.9% lands just above the Hansen bootstrap CI — two methods, </a:t>
            </a:r>
            <a:r>
              <a:rPr lang="en-US" sz="1200" dirty="0">
                <a:solidFill>
                  <a:srgbClr val="33425C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same 13–15% region.   </a:t>
            </a:r>
          </a:p>
          <a:p>
            <a:pPr marL="0" indent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C112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with care:  </a:t>
            </a:r>
            <a:r>
              <a:rPr lang="en-US" sz="12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per-regime betas (−1.81 / −12.59) come from a different functional form than Hansen's — treat them as the LSTAR fit, not as beta-level confirmation. The robust cross-model claim is the threshold </a:t>
            </a:r>
            <a:r>
              <a:rPr lang="en-US" sz="1200" dirty="0">
                <a:solidFill>
                  <a:srgbClr val="33425C"/>
                </a:solidFill>
                <a:highlight>
                  <a:srgbClr val="FFFF00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LOCATION.</a:t>
            </a:r>
          </a:p>
          <a:p>
            <a:pPr>
              <a:lnSpc>
                <a:spcPct val="106000"/>
              </a:lnSpc>
            </a:pPr>
            <a:r>
              <a:rPr lang="en-US" altLang="ko-KR" sz="1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 </a:t>
            </a:r>
            <a:r>
              <a:rPr lang="en-US" altLang="ko-KR" sz="1200" i="1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“two methods locate the same fragility region near 13%.”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00F3DB8D-E911-06FB-2D49-D384F9C74714}"/>
              </a:ext>
            </a:extLst>
          </p:cNvPr>
          <p:cNvSpPr/>
          <p:nvPr/>
        </p:nvSpPr>
        <p:spPr>
          <a:xfrm>
            <a:off x="204004" y="2480599"/>
            <a:ext cx="2778339" cy="960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5A79590A-AF30-3C1E-151A-61507E740F57}"/>
              </a:ext>
            </a:extLst>
          </p:cNvPr>
          <p:cNvSpPr/>
          <p:nvPr/>
        </p:nvSpPr>
        <p:spPr>
          <a:xfrm>
            <a:off x="142422" y="2480599"/>
            <a:ext cx="82296" cy="960120"/>
          </a:xfrm>
          <a:prstGeom prst="rect">
            <a:avLst/>
          </a:prstGeom>
          <a:solidFill>
            <a:srgbClr val="13294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9351EC8B-D08D-4EC3-684E-CBA763BCDADA}"/>
              </a:ext>
            </a:extLst>
          </p:cNvPr>
          <p:cNvSpPr/>
          <p:nvPr/>
        </p:nvSpPr>
        <p:spPr>
          <a:xfrm>
            <a:off x="336647" y="2572039"/>
            <a:ext cx="2533767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c* = 14.9%</a:t>
            </a:r>
            <a:endParaRPr lang="en-US" sz="22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FD166B33-C2EA-594C-6C47-100E76262320}"/>
              </a:ext>
            </a:extLst>
          </p:cNvPr>
          <p:cNvSpPr/>
          <p:nvPr/>
        </p:nvSpPr>
        <p:spPr>
          <a:xfrm>
            <a:off x="286300" y="3029238"/>
            <a:ext cx="2533767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LSTAR smooth transition — locates a near region</a:t>
            </a:r>
            <a:endParaRPr lang="en-US" sz="115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C847B695-BD6F-D6B5-F4B5-979D8BD7AE0A}"/>
              </a:ext>
            </a:extLst>
          </p:cNvPr>
          <p:cNvSpPr/>
          <p:nvPr/>
        </p:nvSpPr>
        <p:spPr>
          <a:xfrm>
            <a:off x="142422" y="3554441"/>
            <a:ext cx="2839921" cy="96012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5AEB9283-4706-9AFD-26BC-A9866FC9F6CB}"/>
              </a:ext>
            </a:extLst>
          </p:cNvPr>
          <p:cNvSpPr/>
          <p:nvPr/>
        </p:nvSpPr>
        <p:spPr>
          <a:xfrm>
            <a:off x="142422" y="3554441"/>
            <a:ext cx="45719" cy="960120"/>
          </a:xfrm>
          <a:prstGeom prst="rect">
            <a:avLst/>
          </a:prstGeom>
          <a:solidFill>
            <a:srgbClr val="E8A12C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4F6C2E0C-59FC-908A-D251-C3ED56F8A4C7}"/>
              </a:ext>
            </a:extLst>
          </p:cNvPr>
          <p:cNvSpPr/>
          <p:nvPr/>
        </p:nvSpPr>
        <p:spPr>
          <a:xfrm>
            <a:off x="371022" y="3664169"/>
            <a:ext cx="2589928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 = 0.063</a:t>
            </a:r>
            <a:endParaRPr lang="en-US" sz="220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0B71220E-46B3-BB25-80CC-E00CE1B53F4F}"/>
              </a:ext>
            </a:extLst>
          </p:cNvPr>
          <p:cNvSpPr/>
          <p:nvPr/>
        </p:nvSpPr>
        <p:spPr>
          <a:xfrm>
            <a:off x="371022" y="4103081"/>
            <a:ext cx="2589928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lang="en-US" sz="11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bootstrap; 90% CI [3.24%, 14.52%] — location robust, not precise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— HEADLINE EVIDENCE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Auction Bid-Cover: Only the T-bill-Heavy Issuer Moves It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Issuer heterogeneity as a natural control: USDT (~80% T-bills) should suppress bid-cover; USDC (~30–40%) should not. Same macro environment — the difference isolates the channel.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548640" y="2057400"/>
          <a:ext cx="11091670" cy="23774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59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59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159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159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1599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Maturity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USDT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USDT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USDC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USDC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Wald p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−1.225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 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+0.452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0.060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−1.553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+0.145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0.516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−1.366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+0.338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26-Week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B99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−1.587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−0.016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5B6B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0.937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3342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 ***</a:t>
                      </a:r>
                      <a:endParaRPr lang="en-US" sz="13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983480"/>
            <a:ext cx="11091672" cy="96012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82296" cy="960120"/>
          </a:xfrm>
          <a:prstGeom prst="rect">
            <a:avLst/>
          </a:prstGeom>
          <a:solidFill>
            <a:srgbClr val="1B998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822960" y="5102352"/>
            <a:ext cx="10543032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USDT: negative and significant at all four maturities.  USDC: insignificant everywhere.  Wald rejects β_USDT = β_USDC (p &lt; 0.004).  </a:t>
            </a:r>
            <a:r>
              <a:rPr lang="en-US" sz="1250" b="1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our cleanest causal evidence — and the one result that does not depend on the spread variable, so the spread correction left it untouched.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1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/ ILLUSTRATIVE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Event Study — Honest About Its Limits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B82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Raw daily spread around stress events (not CARs). Included to illustrate plausibility — not as proof.</a:t>
            </a:r>
            <a:endParaRPr lang="en-US" sz="1500" dirty="0"/>
          </a:p>
        </p:txBody>
      </p:sp>
      <p:pic>
        <p:nvPicPr>
          <p:cNvPr id="5" name="Image 0" descr="figs/im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28800"/>
            <a:ext cx="5486400" cy="2514600"/>
          </a:xfrm>
          <a:prstGeom prst="rect">
            <a:avLst/>
          </a:prstGeom>
        </p:spPr>
      </p:pic>
      <p:pic>
        <p:nvPicPr>
          <p:cNvPr id="6" name="Image 1" descr="figs/imag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12" y="1828800"/>
            <a:ext cx="5486400" cy="25146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4526280"/>
            <a:ext cx="11091672" cy="13258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4"/>
          <p:cNvSpPr/>
          <p:nvPr/>
        </p:nvSpPr>
        <p:spPr>
          <a:xfrm>
            <a:off x="548640" y="4526280"/>
            <a:ext cx="82296" cy="1325880"/>
          </a:xfrm>
          <a:prstGeom prst="rect">
            <a:avLst/>
          </a:prstGeom>
          <a:solidFill>
            <a:srgbClr val="C1121F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9" name="Text 5"/>
          <p:cNvSpPr/>
          <p:nvPr/>
        </p:nvSpPr>
        <p:spPr>
          <a:xfrm>
            <a:off x="822960" y="463600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honest read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822960" y="4956048"/>
            <a:ext cx="10543032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events; FOMC contamination in 2 of 3.   All CARs individually insignificant (−41 / +23 / −27 bps).   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Placebo ratio 7.0× — suggestive, not individually significant.   Story has shifted across re-runs — too unstable to be evidence.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illustrate the mechanism. The proof lives in the regression and the bid-cover test.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IMPLICATIONS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From an Empirical Region to a Regulatory Reference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14344" cy="2057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2296" cy="2057400"/>
          </a:xfrm>
          <a:prstGeom prst="rect">
            <a:avLst/>
          </a:prstGeom>
          <a:solidFill>
            <a:srgbClr val="13294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49808" y="1645920"/>
            <a:ext cx="3148584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MiCA (EU, 2024)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2240280"/>
            <a:ext cx="3130296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Mandates liquid-reserve requirements for ‘significant’ e-money tokens. Our region gives an empirically grounded floor.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37304" y="1508760"/>
            <a:ext cx="3514344" cy="2057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4337304" y="1508760"/>
            <a:ext cx="82296" cy="2057400"/>
          </a:xfrm>
          <a:prstGeom prst="rect">
            <a:avLst/>
          </a:prstGeom>
          <a:solidFill>
            <a:srgbClr val="1B998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538472" y="1645920"/>
            <a:ext cx="3148584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GENIUS Act (US, 2025)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8472" y="2240280"/>
            <a:ext cx="3130296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issuers to hold cash or near-cash reserves. Our CI [3.1%, 14.5%] maps to a regulatory range.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25968" y="1508760"/>
            <a:ext cx="3514344" cy="205740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8125968" y="1508760"/>
            <a:ext cx="82296" cy="2057400"/>
          </a:xfrm>
          <a:prstGeom prst="rect">
            <a:avLst/>
          </a:prstGeom>
          <a:solidFill>
            <a:srgbClr val="E8A12C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8327136" y="1645920"/>
            <a:ext cx="3148584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Market trajectory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7136" y="2240280"/>
            <a:ext cx="3130296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heading toward $1–2T. At that scale, forced-liquidation risk becomes systemic — a break-the-buck analogue.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11091672" cy="1828800"/>
          </a:xfrm>
          <a:prstGeom prst="rect">
            <a:avLst/>
          </a:prstGeom>
          <a:solidFill>
            <a:srgbClr val="0E2746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22960" y="3931920"/>
            <a:ext cx="10543032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A12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Our reference — stated as a range, not a precise mandate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343400"/>
            <a:ext cx="10543032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 low-teens liquid-buffer floor (cash / near-cash), with estimates centered near 13% of outstanding supply — as a 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break, not a welfare optimum.</a:t>
            </a:r>
            <a:r>
              <a:rPr lang="en-US" sz="1400" dirty="0">
                <a:solidFill>
                  <a:srgbClr val="AEC0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Below ~3% is clearly under-reserved; above ~14.5% is clearly adequate. As attestation data accumulates, the estimate will sharpen.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Three Lines of Evidence — Each Limited, Together Coherent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4344" cy="38404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82296" cy="3840480"/>
          </a:xfrm>
          <a:prstGeom prst="rect">
            <a:avLst/>
          </a:prstGeom>
          <a:solidFill>
            <a:srgbClr val="1B998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77240" y="1737360"/>
            <a:ext cx="384048" cy="384048"/>
          </a:xfrm>
          <a:prstGeom prst="ellipse">
            <a:avLst/>
          </a:prstGeom>
          <a:solidFill>
            <a:srgbClr val="1B998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77240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737360"/>
            <a:ext cx="259994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Regression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423160"/>
            <a:ext cx="3057144" cy="274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β₁ &lt; 0 — direction robust across every spec &amp; sample.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amplify the privilege in normal times.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bps compression per 1-SD supply growth.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37304" y="1554480"/>
            <a:ext cx="3514344" cy="38404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337304" y="1554480"/>
            <a:ext cx="82296" cy="3840480"/>
          </a:xfrm>
          <a:prstGeom prst="rect">
            <a:avLst/>
          </a:prstGeom>
          <a:solidFill>
            <a:srgbClr val="5B8DEF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565904" y="1737360"/>
            <a:ext cx="384048" cy="384048"/>
          </a:xfrm>
          <a:prstGeom prst="ellipse">
            <a:avLst/>
          </a:prstGeom>
          <a:solidFill>
            <a:srgbClr val="5B8DEF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565904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68824" y="1737360"/>
            <a:ext cx="259994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Bid-cover mechanism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65904" y="2423160"/>
            <a:ext cx="3057144" cy="274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T-bill-heavy issuer (USDT) moves auction bid-cover.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Wald rejects equality with USDC (p &lt; 0.004).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Cleanest causal evidence; spread-independent.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25968" y="1554480"/>
            <a:ext cx="3514344" cy="38404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8125968" y="1554480"/>
            <a:ext cx="82296" cy="3840480"/>
          </a:xfrm>
          <a:prstGeom prst="rect">
            <a:avLst/>
          </a:prstGeom>
          <a:solidFill>
            <a:srgbClr val="E8A12C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8354568" y="1737360"/>
            <a:ext cx="384048" cy="384048"/>
          </a:xfrm>
          <a:prstGeom prst="ellipse">
            <a:avLst/>
          </a:prstGeom>
          <a:solidFill>
            <a:srgbClr val="E8A12C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354568" y="17373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857488" y="1737360"/>
            <a:ext cx="259994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Threshold region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354568" y="2423160"/>
            <a:ext cx="3057144" cy="2743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methods locate a break near 13% (Hansen, LSTAR).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 robust; precision limited (p = 0.406, N = 51).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as a region, not a knife-edge.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577840"/>
            <a:ext cx="11091672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All three point the same way: stablecoins amplify the exorbitant privilege, with a fragility threshold near a 13% liquid buffer.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B99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3294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Honest Constraints and the Agenda Ahead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62956" cy="42976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82296" cy="4297680"/>
          </a:xfrm>
          <a:prstGeom prst="rect">
            <a:avLst/>
          </a:prstGeom>
          <a:solidFill>
            <a:srgbClr val="C1121F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04672" y="164592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C1121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Limitations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103120"/>
            <a:ext cx="4860036" cy="3657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51 months limits power for threshold confirmation.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forward-filled for ~13 months (Tether quarterly attestations).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benchmark still overnight SOFR — finish with 3-mo Term SOFR.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Endogeneity not fully resolved (Granger addresses, doesn’t solve).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 stress events; FOMC contamination in 2 of 3.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Jan 2022 – Mar 2026; may not generalize past 2026.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7356" y="1508760"/>
            <a:ext cx="5362956" cy="4297680"/>
          </a:xfrm>
          <a:prstGeom prst="rect">
            <a:avLst/>
          </a:prstGeom>
          <a:solidFill>
            <a:srgbClr val="F4F6FA"/>
          </a:solidFill>
          <a:effectLst>
            <a:outerShdw blurRad="88900" dist="38100" dir="81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277356" y="1508760"/>
            <a:ext cx="82296" cy="4297680"/>
          </a:xfrm>
          <a:prstGeom prst="rect">
            <a:avLst/>
          </a:prstGeom>
          <a:solidFill>
            <a:srgbClr val="1B998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533388" y="1645920"/>
            <a:ext cx="490575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998B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Next steps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33388" y="2103120"/>
            <a:ext cx="4494276" cy="3657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sample as attestations accumulate → power improves.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identification: instrument supply with regulatory announcements.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High-frequency: daily spread + daily supply for cleaner events.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Non-USD ecosystems: euro stablecoins, CBDC interactions.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334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Cross-country: does the same mechanism hold for EUR safe assets?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Stablecoins &amp; the Exorbitant Privilege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4552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B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B998B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54864" cy="6858000"/>
          </a:xfrm>
          <a:prstGeom prst="rect">
            <a:avLst/>
          </a:prstGeom>
          <a:solidFill>
            <a:srgbClr val="E8A12C"/>
          </a:solidFill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914400" y="2011680"/>
            <a:ext cx="1033272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Thank You — Questions Welcome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CADCF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Stablecoins and the Exorbitant Privilege  ·  Safe-Asset Demand and Its Systemic Fragility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Mireu Kim   ·   Sara Chekroune   ·   Oybek Ibragimov   ·   Jade Zhu   ·   Alexandre Godefroy   ·   Baptiste Degand   ·   Minjin Kim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42976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DB2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Yonsei GSIS  |  Topics in International Finance  |  June 2026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493776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1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github.com/stablecoin-privilege-research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3041</Words>
  <Application>Microsoft Macintosh PowerPoint</Application>
  <PresentationFormat>와이드스크린</PresentationFormat>
  <Paragraphs>377</Paragraphs>
  <Slides>21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6" baseType="lpstr">
      <vt:lpstr>Arial</vt:lpstr>
      <vt:lpstr>Calibri</vt:lpstr>
      <vt:lpstr>Consolas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Stablecoins and the Exorbitant Privilege</dc:title>
  <dc:subject>PptxGenJS Presentation</dc:subject>
  <dc:creator>Stablecoin Privilege Research Group</dc:creator>
  <cp:lastModifiedBy>김미르</cp:lastModifiedBy>
  <cp:revision>9</cp:revision>
  <dcterms:created xsi:type="dcterms:W3CDTF">2026-06-08T08:48:55Z</dcterms:created>
  <dcterms:modified xsi:type="dcterms:W3CDTF">2026-06-09T02:40:47Z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1033-12.1.25897.25897</vt:lpwstr>
  </property>
  <property fmtid="{D5CDD505-2E9C-101B-9397-08002B2CF9AE}" pid="3" name="ICV">
    <vt:lpwstr>E17E40DA308C6F380367216A9000A39A_42</vt:lpwstr>
  </property>
</Properties>
</file>