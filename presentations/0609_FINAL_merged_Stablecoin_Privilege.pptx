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76" r:id="rId7"/>
    <p:sldId id="260" r:id="rId8"/>
    <p:sldId id="261" r:id="rId9"/>
    <p:sldId id="262" r:id="rId10"/>
    <p:sldId id="263" r:id="rId11"/>
    <p:sldId id="280" r:id="rId12"/>
    <p:sldId id="264" r:id="rId13"/>
    <p:sldId id="277" r:id="rId14"/>
    <p:sldId id="266" r:id="rId15"/>
    <p:sldId id="268" r:id="rId16"/>
    <p:sldId id="269" r:id="rId17"/>
    <p:sldId id="281" r:id="rId18"/>
    <p:sldId id="270" r:id="rId19"/>
    <p:sldId id="271" r:id="rId20"/>
    <p:sldId id="272" r:id="rId21"/>
    <p:sldId id="273" r:id="rId22"/>
    <p:sldId id="274" r:id="rId23"/>
    <p:sldId id="275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Old (SOFR90DAYAVG)</c:v>
                </c:pt>
              </c:strCache>
            </c:strRef>
          </c:tx>
          <c:spPr>
            <a:solidFill>
              <a:srgbClr val="C9A9A9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0" i="0" u="none" strike="noStrike" kern="1200" baseline="0">
                    <a:solidFill>
                      <a:srgbClr val="1E293B"/>
                    </a:solidFill>
                    <a:latin typeface="Arial" panose="020B07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2022 mean</c:v>
                </c:pt>
                <c:pt idx="1">
                  <c:v>LUNA</c:v>
                </c:pt>
                <c:pt idx="2">
                  <c:v>2021 mean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84.8</c:v>
                </c:pt>
                <c:pt idx="1">
                  <c:v>70.9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New (O/N SOFR)</c:v>
                </c:pt>
              </c:strCache>
            </c:strRef>
          </c:tx>
          <c:spPr>
            <a:solidFill>
              <a:srgbClr val="1B998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0" i="0" u="none" strike="noStrike" kern="1200" baseline="0">
                    <a:solidFill>
                      <a:srgbClr val="1E293B"/>
                    </a:solidFill>
                    <a:latin typeface="Arial" panose="020B07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2022 mean</c:v>
                </c:pt>
                <c:pt idx="1">
                  <c:v>LUNA</c:v>
                </c:pt>
                <c:pt idx="2">
                  <c:v>2021 mean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16.6</c:v>
                </c:pt>
                <c:pt idx="1">
                  <c:v>14</c:v>
                </c:pt>
                <c:pt idx="2">
                  <c:v>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rgbClr val="64748B"/>
                </a:solidFill>
                <a:latin typeface="Arial" panose="020B07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1200" b="0" i="0" u="none" strike="noStrike" kern="1200" baseline="0">
                <a:solidFill>
                  <a:srgbClr val="000000"/>
                </a:solidFill>
                <a:latin typeface="Arial" panose="020B07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en-US" sz="900" b="0" i="0" u="none" strike="noStrike" kern="1200" baseline="0">
              <a:solidFill>
                <a:srgbClr val="64748B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b8a03d7f-a1fc-4adc-8534-4e9986beeae3}"/>
      </c:ext>
    </c:extLst>
  </c:chart>
  <c:spPr>
    <a:noFill/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7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jpe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7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3" name="Shape 1"/>
          <p:cNvSpPr/>
          <p:nvPr/>
        </p:nvSpPr>
        <p:spPr>
          <a:xfrm>
            <a:off x="164592" y="0"/>
            <a:ext cx="54864" cy="685800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4" name="Text 2"/>
          <p:cNvSpPr/>
          <p:nvPr/>
        </p:nvSpPr>
        <p:spPr>
          <a:xfrm>
            <a:off x="914400" y="10515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DB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YONSEI GSIS  |  TOPICS IN INTERNATIONAL FINANCE  |  JUNE 2026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14400" y="1554480"/>
            <a:ext cx="1033272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Stablecoins and the Exorbitant Privilege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914400" y="26060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CADCF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Safe-Asset Demand and Its Systemic Fragility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3383280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Mireu Kim   ·   Sara Chekroune   ·   Oybek Ibragimov   ·   Jade Zhu   ·   Alexandre Godefroy   ·   Baptiste Degand   ·   Minjin Kim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14400" y="4251960"/>
            <a:ext cx="3337560" cy="1417320"/>
          </a:xfrm>
          <a:prstGeom prst="rect">
            <a:avLst/>
          </a:prstGeom>
          <a:solidFill>
            <a:srgbClr val="122844"/>
          </a:solidFill>
          <a:ln w="15875">
            <a:solidFill>
              <a:srgbClr val="1B998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4251960"/>
            <a:ext cx="3337560" cy="64008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10" name="Text 8"/>
          <p:cNvSpPr/>
          <p:nvPr/>
        </p:nvSpPr>
        <p:spPr>
          <a:xfrm>
            <a:off x="960120" y="443484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β₁ &lt; 0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005840" y="50292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Privilege amplification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(direction robust)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26280" y="4251960"/>
            <a:ext cx="3337560" cy="1417320"/>
          </a:xfrm>
          <a:prstGeom prst="rect">
            <a:avLst/>
          </a:prstGeom>
          <a:solidFill>
            <a:srgbClr val="122844"/>
          </a:solidFill>
          <a:ln w="15875">
            <a:solidFill>
              <a:srgbClr val="E8A12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4251960"/>
            <a:ext cx="3337560" cy="64008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14" name="Text 12"/>
          <p:cNvSpPr/>
          <p:nvPr/>
        </p:nvSpPr>
        <p:spPr>
          <a:xfrm>
            <a:off x="4572000" y="443484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q* ≈ 13%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617720" y="50292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Liquid-buffer fragility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(low teens)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38160" y="4251960"/>
            <a:ext cx="3337560" cy="1417320"/>
          </a:xfrm>
          <a:prstGeom prst="rect">
            <a:avLst/>
          </a:prstGeom>
          <a:solidFill>
            <a:srgbClr val="122844"/>
          </a:solidFill>
          <a:ln w="15875">
            <a:solidFill>
              <a:srgbClr val="5B8D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38160" y="4251960"/>
            <a:ext cx="3337560" cy="64008"/>
          </a:xfrm>
          <a:prstGeom prst="rect">
            <a:avLst/>
          </a:prstGeom>
          <a:solidFill>
            <a:srgbClr val="5B8DEF"/>
          </a:solidFill>
        </p:spPr>
      </p:sp>
      <p:sp>
        <p:nvSpPr>
          <p:cNvPr id="18" name="Text 16"/>
          <p:cNvSpPr/>
          <p:nvPr/>
        </p:nvSpPr>
        <p:spPr>
          <a:xfrm>
            <a:off x="8183880" y="443484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USDT ≠ USDC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229600" y="50292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Reserve-composition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confirmed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What Is a Stablecoin?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 programmatic, rule-bound channel for US-dollar safe-asset demand.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450336" cy="329184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103120"/>
            <a:ext cx="82296" cy="329184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7" name="Shape 5"/>
          <p:cNvSpPr/>
          <p:nvPr/>
        </p:nvSpPr>
        <p:spPr>
          <a:xfrm>
            <a:off x="4245864" y="2103120"/>
            <a:ext cx="3450336" cy="329184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245864" y="2103120"/>
            <a:ext cx="82296" cy="3291840"/>
          </a:xfrm>
          <a:prstGeom prst="rect">
            <a:avLst/>
          </a:prstGeom>
          <a:solidFill>
            <a:srgbClr val="13294B"/>
          </a:solidFill>
        </p:spPr>
      </p:sp>
      <p:sp>
        <p:nvSpPr>
          <p:cNvPr id="9" name="Shape 7"/>
          <p:cNvSpPr/>
          <p:nvPr/>
        </p:nvSpPr>
        <p:spPr>
          <a:xfrm>
            <a:off x="7943088" y="2103120"/>
            <a:ext cx="3450336" cy="329184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943088" y="2103120"/>
            <a:ext cx="82296" cy="329184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11" name="Text 9"/>
          <p:cNvSpPr/>
          <p:nvPr/>
        </p:nvSpPr>
        <p:spPr>
          <a:xfrm>
            <a:off x="777240" y="2331720"/>
            <a:ext cx="3102864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What it is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77240" y="2880360"/>
            <a:ext cx="3102864" cy="2194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privately issued token pegged 1:1 to the US dollar (USDT, USDC). Combined supply has grown to roughly $300 billion.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65904" y="2331720"/>
            <a:ext cx="3102864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How it is backed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65904" y="2880360"/>
            <a:ext cx="3102864" cy="2194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token is backed by reserves — cash plus short-dated US Treasury bills. About $300B supply maps to ~$150B in T-bills.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54568" y="2331720"/>
            <a:ext cx="3102864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Why it matters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354568" y="2880360"/>
            <a:ext cx="3102864" cy="2194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central bank, not a fund manager — an algorithm that must buy T-bills as supply grows. Programmatic, always-on, and fast.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562356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stablecoins create a NEW demand channel for T-bills — larger, faster, and more rule-bound than sovereign reserve managers.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Exorbitant Privilege — What Finance Already Knows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structural role that deepens US safe-asset demand also embeds a fragility that can rapidly reverse it.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62956" cy="32461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103120"/>
            <a:ext cx="82296" cy="324612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7" name="Text 5"/>
          <p:cNvSpPr/>
          <p:nvPr/>
        </p:nvSpPr>
        <p:spPr>
          <a:xfrm>
            <a:off x="804672" y="2286000"/>
            <a:ext cx="4905756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Original Triffin Dilemma (1960)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04672" y="2834640"/>
            <a:ext cx="4860036" cy="23774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reserve-currency country must supply enough safe assets to meet global demand — but doing so requires running structural deficits that progressively undermine confidence in the currency. The system depends on the very condition that makes it unsustainable.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77356" y="2103120"/>
            <a:ext cx="5362956" cy="32461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77356" y="2103120"/>
            <a:ext cx="82296" cy="324612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11" name="Text 9"/>
          <p:cNvSpPr/>
          <p:nvPr/>
        </p:nvSpPr>
        <p:spPr>
          <a:xfrm>
            <a:off x="6533388" y="2286000"/>
            <a:ext cx="4905756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Exorbitant Privilege (Gourinchas &amp; Rey, 2007)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33388" y="2834640"/>
            <a:ext cx="4494276" cy="23774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 earns more on foreign assets than it pays on its liabilities — a structural borrowing advantage.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demand for dollar safe assets keeps T-bill yields low, so the US borrows cheap.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measure it through the OIS–Treasury (convenience-yield) spread: when T-bill demand rises, US borrowing costs fall below the risk-free baseline.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CORE INSIGHT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New Triffin Dilemma — Same Mechanism, Two Faces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Supply growth amplifies the privilege in calm times — and undermines it in stress. The liquid buffer L decides which.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362956" cy="23317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57400"/>
            <a:ext cx="82296" cy="233172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7" name="Text 5"/>
          <p:cNvSpPr/>
          <p:nvPr/>
        </p:nvSpPr>
        <p:spPr>
          <a:xfrm>
            <a:off x="804672" y="2212848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TIMES   </a:t>
            </a:r>
            <a:r>
              <a:rPr lang="en-US" sz="15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04672" y="2606040"/>
            <a:ext cx="4860036" cy="1691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Issuance → mechanical T-bill acquisition by issuers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rise in safe-asset demand for Treasuries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compresses → yields fall below baseline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Exorbitant privilege amplified via private channel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7356" y="2057400"/>
            <a:ext cx="5362956" cy="23317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77356" y="2057400"/>
            <a:ext cx="82296" cy="2331720"/>
          </a:xfrm>
          <a:prstGeom prst="rect">
            <a:avLst/>
          </a:prstGeom>
          <a:solidFill>
            <a:srgbClr val="C1121F"/>
          </a:solidFill>
        </p:spPr>
      </p:sp>
      <p:sp>
        <p:nvSpPr>
          <p:cNvPr id="11" name="Text 9"/>
          <p:cNvSpPr/>
          <p:nvPr/>
        </p:nvSpPr>
        <p:spPr>
          <a:xfrm>
            <a:off x="6533388" y="2212848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SCENARIO   </a:t>
            </a:r>
            <a:r>
              <a:rPr lang="en-US" sz="150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3388" y="2606040"/>
            <a:ext cx="4494276" cy="1691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Redemption shock → programmatic T-bill liquidation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Treasury yields spike above baseline — spread reverses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Sovereign-linked liquidity shock hits debt markets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Self-fulfilling: fear validates liquidation, crisis spreads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617720"/>
            <a:ext cx="11091672" cy="1325880"/>
          </a:xfrm>
          <a:prstGeom prst="rect">
            <a:avLst/>
          </a:prstGeom>
          <a:solidFill>
            <a:srgbClr val="13294B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" y="473659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What determines the outcome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" y="5074920"/>
            <a:ext cx="530352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 = Treasury holdings / supply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structural demand channel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0" y="5074920"/>
            <a:ext cx="576072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= liquid reserves / supply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crisis-absorption capacity:  L ≥ L* absorbed internally;  L &lt; L* forced liquidation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THEORETICAL FRAMEWORK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Extending Maggiori (2017): Adding S, θ and L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Maggiori (2017): safe-asset demand is driven by Ω* — the countercyclical marginal value of rest-of-world net worth. We add three components.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1091672" cy="1051560"/>
          </a:xfrm>
          <a:prstGeom prst="rect">
            <a:avLst/>
          </a:prstGeom>
          <a:solidFill>
            <a:srgbClr val="EAEFF7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194560"/>
            <a:ext cx="10543032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D*(Ñ*, S, θ, L)  =  </a:t>
            </a: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D*</a:t>
            </a:r>
            <a:r>
              <a:rPr lang="en-US" sz="11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precautionary</a:t>
            </a: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(Ñ*)  +  </a:t>
            </a:r>
            <a:r>
              <a:rPr lang="en-US" sz="18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D*</a:t>
            </a:r>
            <a:r>
              <a:rPr lang="en-US" sz="11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stablecoin</a:t>
            </a: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(S, θ)  +  </a:t>
            </a:r>
            <a:r>
              <a:rPr lang="en-US" sz="18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D*</a:t>
            </a:r>
            <a:r>
              <a:rPr lang="en-US" sz="11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buffer</a:t>
            </a: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(L)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651760"/>
            <a:ext cx="1054303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precautionary (Maggiori)   +   new structural demand via mechanical T-bill purchases   +   demand from excess reserves above the minimum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291840"/>
            <a:ext cx="6211336" cy="219456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3291840"/>
            <a:ext cx="82296" cy="219456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10" name="Text 8"/>
          <p:cNvSpPr/>
          <p:nvPr/>
        </p:nvSpPr>
        <p:spPr>
          <a:xfrm>
            <a:off x="804672" y="34290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Main estimating equation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04672" y="3840480"/>
            <a:ext cx="5754136" cy="1554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Spreadₜ = α + β₁·ΔlnSₜ + β₂·θₜ + β₃·Lₜ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+ β₄·(Lₜ × ΔlnSₜ)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+ β₅·Vₜ + β₆·VIXₜ + β₇·ΔlnN*ₜ + εₜ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034296" y="3291840"/>
            <a:ext cx="4606016" cy="219456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034296" y="3291840"/>
            <a:ext cx="82296" cy="219456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14" name="Text 12"/>
          <p:cNvSpPr/>
          <p:nvPr/>
        </p:nvSpPr>
        <p:spPr>
          <a:xfrm>
            <a:off x="7262896" y="342900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Predicted signs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262896" y="3886200"/>
            <a:ext cx="4148816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β₁ &lt; 0</a:t>
            </a: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ΔlnS compresses the spread (privilege amplification)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β₂ &gt; 0</a:t>
            </a: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higher T-bill exposure θ amplifies demand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β₄ &gt; 0</a:t>
            </a: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higher buffer L dampens crisis transmission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566928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buffer L introduces a non-linear threshold — the key theoretical departure from Maggiori. Spread = corrected convenience yield (see slide 7).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&amp; CONTRIBUTION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What the Literature Establishes — and Where It Stops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91672" cy="9144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417320"/>
            <a:ext cx="82296" cy="914400"/>
          </a:xfrm>
          <a:prstGeom prst="rect">
            <a:avLst/>
          </a:prstGeom>
          <a:solidFill>
            <a:srgbClr val="13294B"/>
          </a:solidFill>
        </p:spPr>
      </p:sp>
      <p:sp>
        <p:nvSpPr>
          <p:cNvPr id="6" name="Text 4"/>
          <p:cNvSpPr/>
          <p:nvPr/>
        </p:nvSpPr>
        <p:spPr>
          <a:xfrm>
            <a:off x="804672" y="150876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Aldasoro &amp; Ahmed (BIS WP 1270, 2025)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0" y="1536192"/>
            <a:ext cx="420624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 inflows lower 3-mo T-bill yields 2–2.5 bps; outflows raise them 2–3× more.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503920" y="1536192"/>
            <a:ext cx="3410712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Moderator is market T-bill supply, not issuer reserves. Uses yield levels, not the spread. No threshold.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41448"/>
            <a:ext cx="11091672" cy="9144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2441448"/>
            <a:ext cx="82296" cy="914400"/>
          </a:xfrm>
          <a:prstGeom prst="rect">
            <a:avLst/>
          </a:prstGeom>
          <a:solidFill>
            <a:srgbClr val="13294B"/>
          </a:solidFill>
        </p:spPr>
      </p:sp>
      <p:sp>
        <p:nvSpPr>
          <p:cNvPr id="11" name="Text 9"/>
          <p:cNvSpPr/>
          <p:nvPr/>
        </p:nvSpPr>
        <p:spPr>
          <a:xfrm>
            <a:off x="804672" y="2532888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Gorton &amp; Zhang (2023)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0" y="2560320"/>
            <a:ext cx="420624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Issuers are unregulated banks; runs are structurally inevitable without deposit insurance.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503920" y="2560320"/>
            <a:ext cx="3410712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run risk but does not model transmission to sovereign debt markets.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465576"/>
            <a:ext cx="11091672" cy="9144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3465576"/>
            <a:ext cx="82296" cy="914400"/>
          </a:xfrm>
          <a:prstGeom prst="rect">
            <a:avLst/>
          </a:prstGeom>
          <a:solidFill>
            <a:srgbClr val="13294B"/>
          </a:solidFill>
        </p:spPr>
      </p:sp>
      <p:sp>
        <p:nvSpPr>
          <p:cNvPr id="16" name="Text 14"/>
          <p:cNvSpPr/>
          <p:nvPr/>
        </p:nvSpPr>
        <p:spPr>
          <a:xfrm>
            <a:off x="804672" y="3557016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Lyons &amp; Viswanath-Natraj (2023)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0" y="3584448"/>
            <a:ext cx="420624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Arbitrage keeps dollar-backed coins pegged; weak issuers face speculative attacks.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503920" y="3584448"/>
            <a:ext cx="3410712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peg mechanics only — no link to Treasury-market outcomes.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507992"/>
            <a:ext cx="11091672" cy="1143000"/>
          </a:xfrm>
          <a:prstGeom prst="rect">
            <a:avLst/>
          </a:prstGeom>
          <a:solidFill>
            <a:srgbClr val="0E2746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2960" y="463600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CONTRIBUTION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4946904"/>
            <a:ext cx="10543032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to jointly estimate how issuer reserve adequacy moderates the transmission from stablecoin supply growth to the OIS–Treasury spread — and to locate the buffer region below which amplification turns into forced liquidation.  β₄ and L* ≈ 13% have no direct antecedent in the published literature.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Why the OIS–Treasury Spread, Not Raw Yields?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 T-bill yield moves for several reasons at once. The spread strips out everything except safe-asset demand.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514344" cy="24688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965960"/>
            <a:ext cx="82296" cy="2468880"/>
          </a:xfrm>
          <a:prstGeom prst="rect">
            <a:avLst/>
          </a:prstGeom>
          <a:solidFill>
            <a:srgbClr val="C1121F"/>
          </a:solidFill>
        </p:spPr>
      </p:sp>
      <p:sp>
        <p:nvSpPr>
          <p:cNvPr id="7" name="Text 5"/>
          <p:cNvSpPr/>
          <p:nvPr/>
        </p:nvSpPr>
        <p:spPr>
          <a:xfrm>
            <a:off x="749808" y="2103120"/>
            <a:ext cx="314858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Raw T-bill yield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" y="2468880"/>
            <a:ext cx="314858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used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49808" y="2834640"/>
            <a:ext cx="3130296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Driven by Fed-rate expectations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inflation expectations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safe-asset demand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separate the three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37304" y="1965960"/>
            <a:ext cx="3514344" cy="24688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37304" y="1965960"/>
            <a:ext cx="82296" cy="2468880"/>
          </a:xfrm>
          <a:prstGeom prst="rect">
            <a:avLst/>
          </a:prstGeom>
          <a:solidFill>
            <a:srgbClr val="13294B"/>
          </a:solidFill>
        </p:spPr>
      </p:sp>
      <p:sp>
        <p:nvSpPr>
          <p:cNvPr id="12" name="Text 10"/>
          <p:cNvSpPr/>
          <p:nvPr/>
        </p:nvSpPr>
        <p:spPr>
          <a:xfrm>
            <a:off x="4538472" y="2103120"/>
            <a:ext cx="314858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OIS benchmark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38472" y="2468880"/>
            <a:ext cx="314858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38472" y="2834640"/>
            <a:ext cx="3130296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policy-rate path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monetary expectations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T-bill-specific demand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with macro, not flows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25968" y="1965960"/>
            <a:ext cx="3514344" cy="24688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125968" y="1965960"/>
            <a:ext cx="82296" cy="246888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17" name="Text 15"/>
          <p:cNvSpPr/>
          <p:nvPr/>
        </p:nvSpPr>
        <p:spPr>
          <a:xfrm>
            <a:off x="8327136" y="2103120"/>
            <a:ext cx="314858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spread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27136" y="2468880"/>
            <a:ext cx="314858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variable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327136" y="2834640"/>
            <a:ext cx="3130296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T-bill yield − OIS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Cancels monetary policy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Isolates the convenience yield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only on T-bill demand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57200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precedent: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Krishnamurthy &amp; Vissing-Jorgensen (2012), Nagel (2016), Greenwood-Hanson-Stein (2015) — the OIS–T-bill spread as the convenience yield of near-money assets.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5029200"/>
            <a:ext cx="11091672" cy="960120"/>
          </a:xfrm>
          <a:prstGeom prst="rect">
            <a:avLst/>
          </a:prstGeom>
          <a:solidFill>
            <a:srgbClr val="FBEEDD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22960" y="5138928"/>
            <a:ext cx="10543032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 note: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benchmark must be </a:t>
            </a:r>
            <a:r>
              <a:rPr lang="en-US" sz="1250" i="1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forward-looking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We replaced a backward-looking 90-day SOFR average (which lagged during 2022 hiking and inflated the mean to 84.8 bps) with DGS3MO − SOFR → mean 16.6 bps. </a:t>
            </a:r>
            <a:r>
              <a:rPr lang="en-US" sz="125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To-do: finish with 3-mo Term SOFR to fully match the OIS definition above.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SAMPLE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Variables, Sources, and the Corrected Spread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/>
        </p:nvGraphicFramePr>
        <p:xfrm>
          <a:off x="548640" y="1463040"/>
          <a:ext cx="6766560" cy="3072384"/>
        </p:xfrm>
        <a:graphic>
          <a:graphicData uri="http://schemas.openxmlformats.org/drawingml/2006/table">
            <a:tbl>
              <a:tblPr/>
              <a:tblGrid>
                <a:gridCol w="2286000"/>
                <a:gridCol w="3291840"/>
                <a:gridCol w="1188720"/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Freq.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OIS–Treasury spread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DGS3MO − SOFR (FRED)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D→M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Stablecoin supply S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USDT + USDC (DeFiLlama)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D→M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θ  Treasury exposure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T-bill holdings / supply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Q/M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  Liquid buffer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reserves / supply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Q/M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Velocity V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7-day SD of ΔlnS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D→M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VIX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CBOE VIX (FRED)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D→M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ΔlnN*  RoW equity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ACWX ETF return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D→M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983480"/>
            <a:ext cx="67665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Sample: Jan 2022 – Mar 2026   |   N = 51 monthly observations   |   θ, L from Tether/BDO &amp; Circle/Deloitte attestations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7680960" y="1463040"/>
            <a:ext cx="3959352" cy="448056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680960" y="1463040"/>
            <a:ext cx="82296" cy="4480560"/>
          </a:xfrm>
          <a:prstGeom prst="rect">
            <a:avLst/>
          </a:prstGeom>
          <a:solidFill>
            <a:srgbClr val="C1121F"/>
          </a:solidFill>
        </p:spPr>
      </p:sp>
      <p:sp>
        <p:nvSpPr>
          <p:cNvPr id="8" name="Text 5"/>
          <p:cNvSpPr/>
          <p:nvPr/>
        </p:nvSpPr>
        <p:spPr>
          <a:xfrm>
            <a:off x="7909560" y="1600200"/>
            <a:ext cx="350215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spread correction</a:t>
            </a:r>
            <a:endParaRPr lang="en-US" sz="1600" dirty="0"/>
          </a:p>
        </p:txBody>
      </p:sp>
      <p:sp>
        <p:nvSpPr>
          <p:cNvPr id="4" name="Text 6"/>
          <p:cNvSpPr/>
          <p:nvPr/>
        </p:nvSpPr>
        <p:spPr>
          <a:xfrm>
            <a:off x="7909560" y="2011680"/>
            <a:ext cx="3502152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(wrong): </a:t>
            </a: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DTB3 − SOFR90DAYAVG — a backward-looking trailing average that lagged overnight SOFR by up to 119 bps during 2022 hiking. A pure Fed-policy artifact.</a:t>
            </a:r>
            <a:endParaRPr lang="en-US" sz="1200" dirty="0"/>
          </a:p>
        </p:txBody>
      </p:sp>
      <p:graphicFrame>
        <p:nvGraphicFramePr>
          <p:cNvPr id="10" name="Chart 0"/>
          <p:cNvGraphicFramePr/>
          <p:nvPr/>
        </p:nvGraphicFramePr>
        <p:xfrm>
          <a:off x="7818120" y="3063240"/>
          <a:ext cx="3685032" cy="1828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1" name="Text 7"/>
          <p:cNvSpPr/>
          <p:nvPr/>
        </p:nvSpPr>
        <p:spPr>
          <a:xfrm>
            <a:off x="7909560" y="4983480"/>
            <a:ext cx="3502152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mean = 16.6 bps — consistent with ≈0 in normal times, 10 bps being economically large.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— KEY VARIABLES OVER TIME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Spread, Supply, and the Liquid Buffer (2022–2026)</a:t>
            </a:r>
            <a:endParaRPr lang="en-US" sz="2700" dirty="0"/>
          </a:p>
        </p:txBody>
      </p:sp>
      <p:pic>
        <p:nvPicPr>
          <p:cNvPr id="4" name="Image 0" descr="figs/keyvars_correct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675120" cy="434578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589520" y="1645920"/>
            <a:ext cx="4050792" cy="18745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589520" y="1645920"/>
            <a:ext cx="82296" cy="187452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7" name="Text 4"/>
          <p:cNvSpPr/>
          <p:nvPr/>
        </p:nvSpPr>
        <p:spPr>
          <a:xfrm>
            <a:off x="7818120" y="1755648"/>
            <a:ext cx="359359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How to read it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818120" y="2103120"/>
            <a:ext cx="3593592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corrected convenience-yield spread (DGS3MO − overnight SOFR).   </a:t>
            </a:r>
            <a:r>
              <a:rPr lang="en-US" sz="1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</a:t>
            </a: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USDT+USDC supply, now ~$260B.   </a:t>
            </a:r>
            <a:r>
              <a:rPr lang="en-US" sz="1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</a:t>
            </a: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the buffer L, with the q* = 13% line.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589520" y="3703320"/>
            <a:ext cx="4050792" cy="18288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589520" y="3703320"/>
            <a:ext cx="82296" cy="182880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11" name="Text 8"/>
          <p:cNvSpPr/>
          <p:nvPr/>
        </p:nvSpPr>
        <p:spPr>
          <a:xfrm>
            <a:off x="7818120" y="3813048"/>
            <a:ext cx="359359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What it shows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818120" y="4160520"/>
            <a:ext cx="3593592" cy="1325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spread sits near zero in calm periods, with a residual term-premium bump during the 2022 hiking cycle that reverts toward zero by 2024–26. Meanwhile L spends long stretches below the 13% line — exactly the fragility region.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What the Buffer Condition Means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 = liquid buffer = cash &amp; cash-equivalents ÷ total supply.   Estimated regime break: L* ≈ 13%.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62956" cy="36576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11680"/>
            <a:ext cx="82296" cy="3657600"/>
          </a:xfrm>
          <a:prstGeom prst="rect">
            <a:avLst/>
          </a:prstGeom>
          <a:solidFill>
            <a:srgbClr val="C1121F"/>
          </a:solidFill>
        </p:spPr>
      </p:sp>
      <p:sp>
        <p:nvSpPr>
          <p:cNvPr id="7" name="Text 5"/>
          <p:cNvSpPr/>
          <p:nvPr/>
        </p:nvSpPr>
        <p:spPr>
          <a:xfrm>
            <a:off x="804672" y="2148840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1121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LOW BUFFER  (L &lt; 13%)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04672" y="2542032"/>
            <a:ext cx="490575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Tether, May 2022: ~5–8% cash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" y="2926080"/>
            <a:ext cx="4860036" cy="2194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 holds mostly T-bills, very little cash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Investors redeem → issuer MUST sell T-bills to raise cash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Forced selling pushes T-bill yields UP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reverses — a forced seller into a stressed market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04672" y="5257800"/>
            <a:ext cx="4905756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i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 behaviour disrupts the Treasury market.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77356" y="2011680"/>
            <a:ext cx="5362956" cy="36576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77356" y="2011680"/>
            <a:ext cx="82296" cy="365760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13" name="Text 11"/>
          <p:cNvSpPr/>
          <p:nvPr/>
        </p:nvSpPr>
        <p:spPr>
          <a:xfrm>
            <a:off x="6533388" y="2148840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HIGH BUFFER  (L ≥ 13%)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33388" y="2542032"/>
            <a:ext cx="490575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Circle, Mar 2023: ~18–22% cash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33388" y="2926080"/>
            <a:ext cx="4494276" cy="2194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 holds substantial cash reserves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Investors redeem → issuer pays out from cash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T-bills untouched — no forced selling, no yield pressure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does not move from issuer behaviour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533388" y="5257800"/>
            <a:ext cx="4905756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i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 buffer absorbs the shock; the market is insulated.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 BEFORE RESULT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What Should β₁ Look Like?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1672" cy="237744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2514600"/>
            <a:ext cx="10177272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33425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If stablecoins truly act as a safe-asset demand channel,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05840" y="3017520"/>
            <a:ext cx="10177272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β₁ must be </a:t>
            </a:r>
            <a:r>
              <a:rPr lang="en-US" sz="26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NEGATIVE</a:t>
            </a:r>
            <a:r>
              <a:rPr lang="en-US" sz="2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 — supply growth compresses the spread.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05840" y="3749040"/>
            <a:ext cx="101772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state the prediction first, then test it on N = 51 monthly observations.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ordering is deliberate: the sign is a theoretical commitment, not a fitted surprise. The magnitude and significance are what the data then has to say.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RESULT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Stablecoin Growth Compresses the Spread</a:t>
            </a:r>
            <a:endParaRPr lang="en-US" sz="2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/>
        </p:nvGraphicFramePr>
        <p:xfrm>
          <a:off x="548640" y="1508760"/>
          <a:ext cx="6858000" cy="22860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Coeff.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Std. Err.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p-value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Δln(Supply)  β₁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−7.57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2.59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VIX  β₂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+0.010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0.173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Velocity V  β₃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−52.87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23.84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0.027 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B×ΔlnS  β₄ (fragility)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11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−7.52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3.21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0.019 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977640"/>
            <a:ext cx="68580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 with Newey-West HAC s.e.   N = 51   R² = 0.411   Adj-R² = 0.330   (buffer-ratio spec, Column 2)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48640" y="4434840"/>
            <a:ext cx="6858000" cy="150876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4434840"/>
            <a:ext cx="82296" cy="150876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8" name="Text 5"/>
          <p:cNvSpPr/>
          <p:nvPr/>
        </p:nvSpPr>
        <p:spPr>
          <a:xfrm>
            <a:off x="777240" y="4544568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Read this honestly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77240" y="4846320"/>
            <a:ext cx="644652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r>
              <a:rPr lang="en-US" sz="11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(β₁ &lt; 0) is robust</a:t>
            </a:r>
            <a:r>
              <a:rPr lang="en-US" sz="11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across every specification and sub-sample. The exact magnitude is spec-dependent: the decomposed spec gives β₁ = −1.12 (n.s.) because θ, L and L×ΔlnS are collinear at N = 51; the buffer-ratio spec combines them. State the sign as the finding, not the precise −7.57.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772400" y="1508760"/>
            <a:ext cx="3867912" cy="2103120"/>
          </a:xfrm>
          <a:prstGeom prst="rect">
            <a:avLst/>
          </a:prstGeom>
          <a:solidFill>
            <a:srgbClr val="0E2746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772400" y="1508760"/>
            <a:ext cx="82296" cy="210312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4" name="Text 9"/>
          <p:cNvSpPr/>
          <p:nvPr/>
        </p:nvSpPr>
        <p:spPr>
          <a:xfrm>
            <a:off x="8046720" y="1691640"/>
            <a:ext cx="331927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Economic magnitude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046720" y="2057400"/>
            <a:ext cx="3319272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≈30 bps</a:t>
            </a:r>
            <a:endParaRPr lang="en-US" sz="4800" dirty="0"/>
          </a:p>
        </p:txBody>
      </p:sp>
      <p:sp>
        <p:nvSpPr>
          <p:cNvPr id="14" name="Text 11"/>
          <p:cNvSpPr/>
          <p:nvPr/>
        </p:nvSpPr>
        <p:spPr>
          <a:xfrm>
            <a:off x="8046720" y="2880360"/>
            <a:ext cx="3319272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from a 1-SD (≈4 pp) rise in supply growth — on the order of a sizeable FOMC surprise.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772400" y="3749040"/>
            <a:ext cx="3867912" cy="219456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772400" y="3749040"/>
            <a:ext cx="82296" cy="2194560"/>
          </a:xfrm>
          <a:prstGeom prst="rect">
            <a:avLst/>
          </a:prstGeom>
          <a:solidFill>
            <a:srgbClr val="13294B"/>
          </a:solidFill>
        </p:spPr>
      </p:sp>
      <p:sp>
        <p:nvSpPr>
          <p:cNvPr id="17" name="Text 14"/>
          <p:cNvSpPr/>
          <p:nvPr/>
        </p:nvSpPr>
        <p:spPr>
          <a:xfrm>
            <a:off x="8046720" y="3886200"/>
            <a:ext cx="331927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Intuition check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046720" y="4251960"/>
            <a:ext cx="3319272" cy="1554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β₁ &lt; 0  ✓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growth compresses the spread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VIX &gt; 0  ✓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risk-off widens the spread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Why Should There Be a Regime Break?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Low buffer = forced-liquidation risk;  high buffer = orderly redemption. We look for a fragility region, not a knife-edge.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362956" cy="283464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57400"/>
            <a:ext cx="82296" cy="2834640"/>
          </a:xfrm>
          <a:prstGeom prst="rect">
            <a:avLst/>
          </a:prstGeom>
          <a:solidFill>
            <a:srgbClr val="C1121F"/>
          </a:solidFill>
        </p:spPr>
      </p:sp>
      <p:sp>
        <p:nvSpPr>
          <p:cNvPr id="7" name="Text 5"/>
          <p:cNvSpPr/>
          <p:nvPr/>
        </p:nvSpPr>
        <p:spPr>
          <a:xfrm>
            <a:off x="804672" y="2212848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1121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When L is LOW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04672" y="2651760"/>
            <a:ext cx="4860036" cy="2011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redemption wave forces rapid T-bill sales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 activity moves the market in both directions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relationship between supply and spread changes character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77356" y="2057400"/>
            <a:ext cx="5362956" cy="283464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77356" y="2057400"/>
            <a:ext cx="82296" cy="283464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11" name="Text 9"/>
          <p:cNvSpPr/>
          <p:nvPr/>
        </p:nvSpPr>
        <p:spPr>
          <a:xfrm>
            <a:off x="6533388" y="2212848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When L is HIGH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33388" y="2651760"/>
            <a:ext cx="4494276" cy="2011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 absorbs redemptions from cash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T-bill holdings stay untouched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privilege channel continues undisturbed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074920"/>
            <a:ext cx="11091672" cy="868680"/>
          </a:xfrm>
          <a:prstGeom prst="rect">
            <a:avLst/>
          </a:prstGeom>
          <a:solidFill>
            <a:srgbClr val="0E2746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" y="5193792"/>
            <a:ext cx="10543032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E8A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estimate:  </a:t>
            </a: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critical buffer region in the low teens (L* ≈ 13%) separating amplification from forced liquidation — located consistently by two methods, though imprecisely estimated.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RESULT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 Fragility Region in the Low Teens (≈ 13%)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Two methods independently locate the break near 13–15%. The location is robust; the precision is limited by N = 51.</a:t>
            </a:r>
            <a:endParaRPr lang="en-US" sz="1500" dirty="0"/>
          </a:p>
        </p:txBody>
      </p:sp>
      <p:pic>
        <p:nvPicPr>
          <p:cNvPr id="5" name="Image 0" descr="figs/image6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5577840" cy="31389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5095724"/>
            <a:ext cx="55778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Hansen (2000) SSR over the buffer grid — minimized at q* = 0.130, with the bootstrap 90% CI shaded.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446520" y="1920240"/>
            <a:ext cx="5193792" cy="9601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446520" y="1920240"/>
            <a:ext cx="82296" cy="96012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9" name="Text 6"/>
          <p:cNvSpPr/>
          <p:nvPr/>
        </p:nvSpPr>
        <p:spPr>
          <a:xfrm>
            <a:off x="6675120" y="2029968"/>
            <a:ext cx="473659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q* = 13.0%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675120" y="2468880"/>
            <a:ext cx="473659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Hansen grid search — stable across TRIM 15/20/25%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446520" y="2999232"/>
            <a:ext cx="5193792" cy="9601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46520" y="2999232"/>
            <a:ext cx="82296" cy="960120"/>
          </a:xfrm>
          <a:prstGeom prst="rect">
            <a:avLst/>
          </a:prstGeom>
          <a:solidFill>
            <a:srgbClr val="13294B"/>
          </a:solidFill>
        </p:spPr>
      </p:sp>
      <p:sp>
        <p:nvSpPr>
          <p:cNvPr id="13" name="Text 10"/>
          <p:cNvSpPr/>
          <p:nvPr/>
        </p:nvSpPr>
        <p:spPr>
          <a:xfrm>
            <a:off x="6675120" y="3108960"/>
            <a:ext cx="473659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c* = 14.9%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75120" y="3547872"/>
            <a:ext cx="473659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LSTAR smooth transition — locates the same region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446520" y="4078224"/>
            <a:ext cx="5193792" cy="9601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46520" y="4078224"/>
            <a:ext cx="82296" cy="96012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17" name="Text 14"/>
          <p:cNvSpPr/>
          <p:nvPr/>
        </p:nvSpPr>
        <p:spPr>
          <a:xfrm>
            <a:off x="6675120" y="4187952"/>
            <a:ext cx="473659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 = 0.406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675120" y="4626864"/>
            <a:ext cx="473659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bootstrap; 90% CI [3.1%, 14.5%] — location robust, not precise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48640" y="5138928"/>
            <a:ext cx="11091672" cy="11887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48640" y="5138928"/>
            <a:ext cx="82296" cy="1188720"/>
          </a:xfrm>
          <a:prstGeom prst="rect">
            <a:avLst/>
          </a:prstGeom>
          <a:solidFill>
            <a:srgbClr val="C1121F"/>
          </a:solidFill>
        </p:spPr>
      </p:sp>
      <p:sp>
        <p:nvSpPr>
          <p:cNvPr id="21" name="Text 18"/>
          <p:cNvSpPr/>
          <p:nvPr/>
        </p:nvSpPr>
        <p:spPr>
          <a:xfrm>
            <a:off x="822960" y="5248656"/>
            <a:ext cx="10543032" cy="9601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Converges: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 LOCATION (≈13%) — stable across both methods, all TRIM values, every model vintage.   </a:t>
            </a:r>
            <a:r>
              <a:rPr lang="en-US" sz="125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converge: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regime-beta magnitudes — Hansen (hard split) and LSTAR (smooth model) estimate different objects, so do not show them as mutual corroboration.   </a:t>
            </a: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only:  </a:t>
            </a:r>
            <a:r>
              <a:rPr lang="en-US" sz="1250" i="1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“two methods locate the same fragility region near 13%.”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LSTAR Smooth-Transition Regression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Does Hansen's sharp-switch assumption drive the result? A gradual-transition model locates the same region.</a:t>
            </a:r>
            <a:endParaRPr lang="en-US" sz="1500" dirty="0"/>
          </a:p>
        </p:txBody>
      </p:sp>
      <p:pic>
        <p:nvPicPr>
          <p:cNvPr id="5" name="Image 0" descr="figs/lstar_correct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828800"/>
            <a:ext cx="8778240" cy="32840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212080"/>
            <a:ext cx="11091672" cy="1051560"/>
          </a:xfrm>
          <a:prstGeom prst="rect">
            <a:avLst/>
          </a:prstGeom>
          <a:solidFill>
            <a:srgbClr val="FBEEDD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5212080"/>
            <a:ext cx="82296" cy="105156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8" name="Text 5"/>
          <p:cNvSpPr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adds:  </a:t>
            </a: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transition midpoint c* = 14.9% lands inside the Hansen bootstrap CI — two methods, same 13–15% region.   </a:t>
            </a:r>
            <a:r>
              <a:rPr lang="en-US" sz="120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with care:  </a:t>
            </a: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per-regime betas (−1.81 / −12.59) come from a different functional form than Hansen's — treat them as the LSTAR fit, not as beta-level confirmation. The robust cross-model claim is the threshold LOCATION.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— HEADLINE EVIDENCE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Auction Bid-Cover: Only the T-bill-Heavy Issuer Moves It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Issuer heterogeneity as a natural control: USDT (~80% T-bills) should suppress bid-cover; USDC (~30–40%) should not. Same macro environment — the difference isolates the channel.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/>
        </p:nvGraphicFramePr>
        <p:xfrm>
          <a:off x="548640" y="2057400"/>
          <a:ext cx="11091672" cy="2377440"/>
        </p:xfrm>
        <a:graphic>
          <a:graphicData uri="http://schemas.openxmlformats.org/drawingml/2006/table">
            <a:tbl>
              <a:tblPr/>
              <a:tblGrid>
                <a:gridCol w="2011680"/>
                <a:gridCol w="1815998"/>
                <a:gridCol w="1815998"/>
                <a:gridCol w="1815998"/>
                <a:gridCol w="1815998"/>
                <a:gridCol w="1815998"/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Maturity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 USDT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USDT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 USDC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USDC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Wald p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4-Week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−1.225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 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+0.452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0.060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8-Week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−1.553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+0.145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0.516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13-Week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−1.366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+0.338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0.131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26-Week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−1.587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−0.016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0.937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983480"/>
            <a:ext cx="11091672" cy="960120"/>
          </a:xfrm>
          <a:prstGeom prst="rect">
            <a:avLst/>
          </a:prstGeom>
          <a:solidFill>
            <a:srgbClr val="0E2746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4983480"/>
            <a:ext cx="82296" cy="96012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8" name="Text 5"/>
          <p:cNvSpPr/>
          <p:nvPr/>
        </p:nvSpPr>
        <p:spPr>
          <a:xfrm>
            <a:off x="822960" y="5102352"/>
            <a:ext cx="10543032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USDT: negative and significant at all four maturities.  USDC: insignificant everywhere.  Wald rejects β_USDT = β_USDC (p &lt; 0.004).  </a:t>
            </a:r>
            <a:r>
              <a:rPr lang="en-US" sz="1250" b="1" dirty="0">
                <a:solidFill>
                  <a:srgbClr val="E8A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our cleanest causal evidence — and the one result that does not depend on the spread variable, so the spread correction left it untouched.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/ ILLUSTRATIVE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Event Study — Honest About Its Limits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Raw daily spread around stress events (not CARs). Included to illustrate plausibility — not as proof.</a:t>
            </a:r>
            <a:endParaRPr lang="en-US" sz="1500" dirty="0"/>
          </a:p>
        </p:txBody>
      </p:sp>
      <p:pic>
        <p:nvPicPr>
          <p:cNvPr id="5" name="Image 0" descr="figs/image8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5486400" cy="2514600"/>
          </a:xfrm>
          <a:prstGeom prst="rect">
            <a:avLst/>
          </a:prstGeom>
        </p:spPr>
      </p:pic>
      <p:pic>
        <p:nvPicPr>
          <p:cNvPr id="6" name="Image 1" descr="figs/imag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3912" y="1828800"/>
            <a:ext cx="5486400" cy="25146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4526280"/>
            <a:ext cx="11091672" cy="13258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548640" y="4526280"/>
            <a:ext cx="82296" cy="1325880"/>
          </a:xfrm>
          <a:prstGeom prst="rect">
            <a:avLst/>
          </a:prstGeom>
          <a:solidFill>
            <a:srgbClr val="C1121F"/>
          </a:solidFill>
        </p:spPr>
      </p:sp>
      <p:sp>
        <p:nvSpPr>
          <p:cNvPr id="9" name="Text 5"/>
          <p:cNvSpPr/>
          <p:nvPr/>
        </p:nvSpPr>
        <p:spPr>
          <a:xfrm>
            <a:off x="822960" y="463600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honest read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822960" y="4956048"/>
            <a:ext cx="10543032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3 events; FOMC contamination in 2 of 3. 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CARs individually insignificant (−41 / +23 / −27 bps).   </a:t>
            </a:r>
            <a:endParaRPr lang="en-US" sz="12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Placebo ratio 7.0× — suggestive, not individually significant. 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has shifted across re-runs — too unstable to be evidence.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Role: illustrate the mechanism. The proof lives in the regression and the bid-cover test.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IMPLICATIONS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From an Empirical Region to a Regulatory Reference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514344" cy="20574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508760"/>
            <a:ext cx="82296" cy="2057400"/>
          </a:xfrm>
          <a:prstGeom prst="rect">
            <a:avLst/>
          </a:prstGeom>
          <a:solidFill>
            <a:srgbClr val="13294B"/>
          </a:solidFill>
        </p:spPr>
      </p:sp>
      <p:sp>
        <p:nvSpPr>
          <p:cNvPr id="6" name="Text 4"/>
          <p:cNvSpPr/>
          <p:nvPr/>
        </p:nvSpPr>
        <p:spPr>
          <a:xfrm>
            <a:off x="749808" y="1645920"/>
            <a:ext cx="3148584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MiCA (EU, 2024)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9808" y="2240280"/>
            <a:ext cx="3130296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Mandates liquid-reserve requirements for ‘significant’ e-money tokens. Our region gives an empirically grounded floor.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37304" y="1508760"/>
            <a:ext cx="3514344" cy="20574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37304" y="1508760"/>
            <a:ext cx="82296" cy="205740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10" name="Text 8"/>
          <p:cNvSpPr/>
          <p:nvPr/>
        </p:nvSpPr>
        <p:spPr>
          <a:xfrm>
            <a:off x="4538472" y="1645920"/>
            <a:ext cx="3148584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GENIUS Act (US, 2025)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38472" y="2240280"/>
            <a:ext cx="3130296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issuers to hold cash or near-cash reserves. Our CI [3.1%, 14.5%] maps to a regulatory range.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25968" y="1508760"/>
            <a:ext cx="3514344" cy="20574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125968" y="1508760"/>
            <a:ext cx="82296" cy="205740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14" name="Text 12"/>
          <p:cNvSpPr/>
          <p:nvPr/>
        </p:nvSpPr>
        <p:spPr>
          <a:xfrm>
            <a:off x="8327136" y="1645920"/>
            <a:ext cx="3148584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Market trajectory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27136" y="2240280"/>
            <a:ext cx="3130296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heading toward $1–2T. At that scale, forced-liquidation risk becomes systemic — a break-the-buck analogue.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794760"/>
            <a:ext cx="11091672" cy="1828800"/>
          </a:xfrm>
          <a:prstGeom prst="rect">
            <a:avLst/>
          </a:prstGeom>
          <a:solidFill>
            <a:srgbClr val="0E2746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22960" y="3931920"/>
            <a:ext cx="1054303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Our reference — stated as a range, not a precise mandate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2960" y="4343400"/>
            <a:ext cx="10543032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 low-teens liquid-buffer floor (cash / near-cash), with estimates centered near 13% of outstanding supply — as a 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behavioural break, not a welfare optimum.</a:t>
            </a:r>
            <a:r>
              <a:rPr lang="en-US" sz="14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Below ~3% is clearly under-reserved; above ~14.5% is clearly adequate. As attestation data accumulates, the estimate will sharpen.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Three Lines of Evidence — Each Limited, Together Coherent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4344" cy="38404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554480"/>
            <a:ext cx="82296" cy="384048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6" name="Shape 4"/>
          <p:cNvSpPr/>
          <p:nvPr/>
        </p:nvSpPr>
        <p:spPr>
          <a:xfrm>
            <a:off x="777240" y="1737360"/>
            <a:ext cx="384048" cy="384048"/>
          </a:xfrm>
          <a:prstGeom prst="ellipse">
            <a:avLst/>
          </a:prstGeom>
          <a:solidFill>
            <a:srgbClr val="1B998B"/>
          </a:solidFill>
        </p:spPr>
      </p:sp>
      <p:sp>
        <p:nvSpPr>
          <p:cNvPr id="7" name="Text 5"/>
          <p:cNvSpPr/>
          <p:nvPr/>
        </p:nvSpPr>
        <p:spPr>
          <a:xfrm>
            <a:off x="777240" y="173736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1737360"/>
            <a:ext cx="2599944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Regression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2423160"/>
            <a:ext cx="3057144" cy="274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β₁ &lt; 0 — direction robust across every spec &amp; sample.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amplify the privilege in normal times.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 bps compression per 1-SD supply growth.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37304" y="1554480"/>
            <a:ext cx="3514344" cy="38404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37304" y="1554480"/>
            <a:ext cx="82296" cy="3840480"/>
          </a:xfrm>
          <a:prstGeom prst="rect">
            <a:avLst/>
          </a:prstGeom>
          <a:solidFill>
            <a:srgbClr val="5B8DEF"/>
          </a:solidFill>
        </p:spPr>
      </p:sp>
      <p:sp>
        <p:nvSpPr>
          <p:cNvPr id="12" name="Shape 10"/>
          <p:cNvSpPr/>
          <p:nvPr/>
        </p:nvSpPr>
        <p:spPr>
          <a:xfrm>
            <a:off x="4565904" y="1737360"/>
            <a:ext cx="384048" cy="384048"/>
          </a:xfrm>
          <a:prstGeom prst="ellipse">
            <a:avLst/>
          </a:prstGeom>
          <a:solidFill>
            <a:srgbClr val="5B8DEF"/>
          </a:solidFill>
        </p:spPr>
      </p:sp>
      <p:sp>
        <p:nvSpPr>
          <p:cNvPr id="13" name="Text 11"/>
          <p:cNvSpPr/>
          <p:nvPr/>
        </p:nvSpPr>
        <p:spPr>
          <a:xfrm>
            <a:off x="4565904" y="173736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68824" y="1737360"/>
            <a:ext cx="2599944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Bid-cover mechanism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65904" y="2423160"/>
            <a:ext cx="3057144" cy="274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T-bill-heavy issuer (USDT) moves auction bid-cover.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Wald rejects equality with USDC (p &lt; 0.004).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Cleanest causal evidence; spread-independent.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25968" y="1554480"/>
            <a:ext cx="3514344" cy="38404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25968" y="1554480"/>
            <a:ext cx="82296" cy="384048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18" name="Shape 16"/>
          <p:cNvSpPr/>
          <p:nvPr/>
        </p:nvSpPr>
        <p:spPr>
          <a:xfrm>
            <a:off x="8354568" y="1737360"/>
            <a:ext cx="384048" cy="384048"/>
          </a:xfrm>
          <a:prstGeom prst="ellipse">
            <a:avLst/>
          </a:prstGeom>
          <a:solidFill>
            <a:srgbClr val="E8A12C"/>
          </a:solidFill>
        </p:spPr>
      </p:sp>
      <p:sp>
        <p:nvSpPr>
          <p:cNvPr id="19" name="Text 17"/>
          <p:cNvSpPr/>
          <p:nvPr/>
        </p:nvSpPr>
        <p:spPr>
          <a:xfrm>
            <a:off x="8354568" y="173736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857488" y="1737360"/>
            <a:ext cx="2599944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Threshold region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354568" y="2423160"/>
            <a:ext cx="3057144" cy="274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methods locate a break near 13% (Hansen, LSTAR).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robust; precision limited (p = 0.406, N = 51).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as a region, not a knife-edge.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577840"/>
            <a:ext cx="1109167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All three point the same way: stablecoins amplify the exorbitant privilege, with a fragility threshold near a 13% liquid buffer.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NEXT STEPS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Honest Constraints and the Agenda Ahead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62956" cy="42976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508760"/>
            <a:ext cx="82296" cy="4297680"/>
          </a:xfrm>
          <a:prstGeom prst="rect">
            <a:avLst/>
          </a:prstGeom>
          <a:solidFill>
            <a:srgbClr val="C1121F"/>
          </a:solidFill>
        </p:spPr>
      </p:sp>
      <p:sp>
        <p:nvSpPr>
          <p:cNvPr id="6" name="Text 4"/>
          <p:cNvSpPr/>
          <p:nvPr/>
        </p:nvSpPr>
        <p:spPr>
          <a:xfrm>
            <a:off x="804672" y="1645920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1121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Limitations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2103120"/>
            <a:ext cx="4860036" cy="3657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51 months limits power for threshold confirmation.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forward-filled for ~13 months (Tether quarterly attestations).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benchmark still overnight SOFR — finish with 3-mo Term SOFR.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Endogeneity not fully resolved (Granger addresses, doesn’t solve).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3 stress events; FOMC contamination in 2 of 3.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Jan 2022 – Mar 2026; may not generalize past 2026.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77356" y="1508760"/>
            <a:ext cx="5362956" cy="42976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77356" y="1508760"/>
            <a:ext cx="82296" cy="429768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10" name="Text 8"/>
          <p:cNvSpPr/>
          <p:nvPr/>
        </p:nvSpPr>
        <p:spPr>
          <a:xfrm>
            <a:off x="6533388" y="1645920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Next steps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33388" y="2103120"/>
            <a:ext cx="4494276" cy="3657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sample as attestations accumulate → power improves.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identification: instrument supply with regulatory announcements.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High-frequency: daily spread + daily supply for cleaner events.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Non-USD ecosystems: euro stablecoins, CBDC interactions.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Cross-country: does the same mechanism hold for EUR safe assets?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3" name="Shape 1"/>
          <p:cNvSpPr/>
          <p:nvPr/>
        </p:nvSpPr>
        <p:spPr>
          <a:xfrm>
            <a:off x="164592" y="0"/>
            <a:ext cx="54864" cy="685800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4" name="Text 2"/>
          <p:cNvSpPr/>
          <p:nvPr/>
        </p:nvSpPr>
        <p:spPr>
          <a:xfrm>
            <a:off x="914400" y="2011680"/>
            <a:ext cx="1033272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Thank You — Questions Welcome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292608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CADCF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Stablecoins and the Exorbitant Privilege  ·  Safe-Asset Demand and Its Systemic Fragility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3840480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Mireu Kim   ·   Sara Chekroune   ·   Oybek Ibragimov   ·   Jade Zhu   ·   Alexandre Godefroy   ·   Baptiste Degand   ·   Minjin Kim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429768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DB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Yonsei GSIS  |  Topics in International Finance  |  June 2026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493776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1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github.com/stablecoin-privilege-research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15320</Words>
  <Application>WPS Presentation</Application>
  <PresentationFormat>On-screen Show (16:9)</PresentationFormat>
  <Paragraphs>637</Paragraphs>
  <Slides>21</Slides>
  <Notes>20</Notes>
  <HiddenSlides>0</HiddenSlides>
  <MMClips>0</MMClips>
  <ScaleCrop>false</ScaleCrop>
  <HeadingPairs>
    <vt:vector size="6" baseType="variant">
      <vt:variant>
        <vt:lpstr>已用的字体</vt:lpstr>
      </vt:variant>
      <vt:variant>
        <vt:i4>21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43" baseType="lpstr">
      <vt:lpstr>Arial</vt:lpstr>
      <vt:lpstr>SimSun</vt:lpstr>
      <vt:lpstr>Wingdings</vt:lpstr>
      <vt:lpstr>Calibri</vt:lpstr>
      <vt:lpstr>Helvetica Neue</vt:lpstr>
      <vt:lpstr>Calibri</vt:lpstr>
      <vt:lpstr>Calibri</vt:lpstr>
      <vt:lpstr>Georgia</vt:lpstr>
      <vt:lpstr>Georgia</vt:lpstr>
      <vt:lpstr>Georgia</vt:lpstr>
      <vt:lpstr>Consolas</vt:lpstr>
      <vt:lpstr>Consolas</vt:lpstr>
      <vt:lpstr>Consolas</vt:lpstr>
      <vt:lpstr>Arial</vt:lpstr>
      <vt:lpstr>Microsoft YaHei</vt:lpstr>
      <vt:lpstr>汉仪旗黑</vt:lpstr>
      <vt:lpstr>Arial Unicode MS</vt:lpstr>
      <vt:lpstr>汉仪书宋二KW</vt:lpstr>
      <vt:lpstr>苹方-简</vt:lpstr>
      <vt:lpstr>宋体-简</vt:lpstr>
      <vt:lpstr>Apple Color Emoji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Stablecoins and the Exorbitant Privilege</dc:title>
  <dc:creator>Stablecoin Privilege Research Group</dc:creator>
  <dc:subject>PptxGenJS Presentation</dc:subject>
  <cp:lastModifiedBy>OybekIbragimov</cp:lastModifiedBy>
  <cp:revision>5</cp:revision>
  <dcterms:created xsi:type="dcterms:W3CDTF">2026-06-05T12:46:29Z</dcterms:created>
  <dcterms:modified xsi:type="dcterms:W3CDTF">2026-06-05T12:46:29Z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1033-12.1.25897.25897</vt:lpwstr>
  </property>
  <property fmtid="{D5CDD505-2E9C-101B-9397-08002B2CF9AE}" pid="3" name="ICV">
    <vt:lpwstr>E17E40DA308C6F380367216A9000A39A_42</vt:lpwstr>
  </property>
</Properties>
</file>