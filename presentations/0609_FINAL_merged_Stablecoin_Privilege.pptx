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6" r:id="rId7"/>
    <p:sldId id="260" r:id="rId8"/>
    <p:sldId id="261" r:id="rId9"/>
    <p:sldId id="262" r:id="rId10"/>
    <p:sldId id="263" r:id="rId11"/>
    <p:sldId id="280" r:id="rId12"/>
    <p:sldId id="264" r:id="rId13"/>
    <p:sldId id="277" r:id="rId14"/>
    <p:sldId id="266" r:id="rId15"/>
    <p:sldId id="268" r:id="rId16"/>
    <p:sldId id="269" r:id="rId17"/>
    <p:sldId id="281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Old (SOFR90DAYAVG)</c:v>
                </c:pt>
              </c:strCache>
            </c:strRef>
          </c:tx>
          <c:spPr>
            <a:solidFill>
              <a:srgbClr val="C9A9A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70.9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(O/N SOFR)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16.6</c:v>
                </c:pt>
                <c:pt idx="1">
                  <c:v>14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4748B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64748B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b8a03d7f-a1fc-4adc-8534-4e9986beeae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51960"/>
            <a:ext cx="3337560" cy="64008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96012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&lt; 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amplification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(direction robust)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E8A1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4251960"/>
            <a:ext cx="3337560" cy="64008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457200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≈ 13%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Liquid-buffer fragility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(low teens)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4251960"/>
            <a:ext cx="3337560" cy="64008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8" name="Text 16"/>
          <p:cNvSpPr/>
          <p:nvPr/>
        </p:nvSpPr>
        <p:spPr>
          <a:xfrm>
            <a:off x="818388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USDT ≠ USDC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2960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Reserve-composition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confirmed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Is a Stablecoin?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programmatic, rule-bound channel for US-dollar safe-asset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918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Shape 5"/>
          <p:cNvSpPr/>
          <p:nvPr/>
        </p:nvSpPr>
        <p:spPr>
          <a:xfrm>
            <a:off x="4245864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5864" y="2103120"/>
            <a:ext cx="82296" cy="329184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9" name="Shape 7"/>
          <p:cNvSpPr/>
          <p:nvPr/>
        </p:nvSpPr>
        <p:spPr>
          <a:xfrm>
            <a:off x="7943088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43088" y="2103120"/>
            <a:ext cx="82296" cy="329184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9"/>
          <p:cNvSpPr/>
          <p:nvPr/>
        </p:nvSpPr>
        <p:spPr>
          <a:xfrm>
            <a:off x="777240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privately issued token pegged 1:1 to the US dollar (USDT, USDC). Combined supply has grown to roughly $300 billion.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5904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it is backed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65904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backed by reserves — cash plus short-dated US Treasury bills. About $300B supply maps to ~$150B in T-bills.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4568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54568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 bank, not a fund manager — an algorithm that must buy T-bills as supply grows. Programmatic, always-on, and fast.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stablecoins create a NEW demand channel for T-bills — larger, faster, and more rule-bound than sovereign reserve managers.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— What Finance Already Knows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structural role that deepens US safe-asset demand also embeds a fragility that can rapidly reverse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46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7" name="Text 5"/>
          <p:cNvSpPr/>
          <p:nvPr/>
        </p:nvSpPr>
        <p:spPr>
          <a:xfrm>
            <a:off x="804672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Original Triffin Dilemma (1960)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486003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country must supply enough safe assets to meet global demand — but doing so requires running structural deficits that progressively undermine confidence in the currency. The system depends on the very condition that makes it unsustainable.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103120"/>
            <a:ext cx="82296" cy="3246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(Gourinchas &amp; Rey, 2007)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3388" y="2834640"/>
            <a:ext cx="449427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earns more on foreign assets than it pays on its liabilities — a structural borrowing advantage.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demand for dollar safe assets keeps T-bill yields low, so the US borrows cheap.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it through the OIS–Treasury (convenience-yield) spread: when T-bill demand rises, US borrowing costs fall below the risk-free baseline.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New Triffin Dilemma — Same Mechanism, Two Faces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Supply growth amplifies the privilege in calm times — and undermines it in stress. The liquid buffer L decides which.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3317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TIMES   </a:t>
            </a: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86003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→ mechanical T-bill acquisition by issuers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rise in safe-asset demand for Treasuries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compresses → yields fall below baseline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Exorbitant privilege amplified via private channel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331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SCENARIO   </a:t>
            </a: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3388" y="2606040"/>
            <a:ext cx="449427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shock → programmatic T-bill liquidation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yields spike above baseline — spread reverses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Sovereign-linked liquidity shock hits debt markets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Self-fulfilling: fear validates liquidation, crisis spreads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91672" cy="1325880"/>
          </a:xfrm>
          <a:prstGeom prst="rect">
            <a:avLst/>
          </a:prstGeom>
          <a:solidFill>
            <a:srgbClr val="13294B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365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determines the outcome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0749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Treasury holdings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demand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507492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liquid reserves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crisis-absorption capacity:  L ≥ L* absorbed internally;  L &lt; L* forced liquidation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Extending Maggiori (2017): Adding S, θ and 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Maggiori (2017): safe-asset demand is driven by Ω* — the countercyclical marginal value of rest-of-world net worth. We add three components.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051560"/>
          </a:xfrm>
          <a:prstGeom prst="rect">
            <a:avLst/>
          </a:prstGeom>
          <a:solidFill>
            <a:srgbClr val="EAEFF7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D*(Ñ*, S, θ, L)  =  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precautionary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(Ñ*)  +  </a:t>
            </a: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(S, θ)  +  </a:t>
            </a: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buffer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precautionary (Maggiori)   +   new structural demand via mechanical T-bill purchases   +   demand from excess reserves above the minimum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21133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91840"/>
            <a:ext cx="82296" cy="219456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804672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Main estimating equation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840480"/>
            <a:ext cx="5754136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Spreadₜ = α + β₁·ΔlnSₜ + β₂·θₜ + β₃·Lₜ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β₄·(Lₜ × ΔlnSₜ)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β₅·Vₜ + β₆·VIXₜ + β₇·ΔlnN*ₜ + εₜ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34296" y="3291840"/>
            <a:ext cx="460601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34296" y="3291840"/>
            <a:ext cx="82296" cy="2194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7262896" y="3429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Predicted signs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2896" y="3886200"/>
            <a:ext cx="414881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ΔlnS compresses the spread (privilege amplification)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T-bill exposure θ amplifies demand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β₄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buffer L dampens crisis transmission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L introduces a non-linear threshold — the key theoretical departure from Maggiori. Spread = corrected convenience yield (see slide 7).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235" y="3830955"/>
            <a:ext cx="4968875" cy="15468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&amp;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Literature Establishes — and Where It Stops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804672" y="1508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Aldasoro &amp; Ahmed (BIS WP 1270, 2025)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536192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inflows lower 3-mo T-bill yields 2–2.5 bps; outflows raise them 2–3× more.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0" y="1536192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is market T-bill supply, not issuer reserves. Uses yield levels, not the spread. No threshold.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441448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1" name="Text 9"/>
          <p:cNvSpPr/>
          <p:nvPr/>
        </p:nvSpPr>
        <p:spPr>
          <a:xfrm>
            <a:off x="804672" y="25328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Gorton &amp; Zhang (2023)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are unregulated banks; runs are structurally inevitable without deposit insurance.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0" y="2560320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run risk but does not model transmission to sovereign debt markets.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65576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6" name="Text 14"/>
          <p:cNvSpPr/>
          <p:nvPr/>
        </p:nvSpPr>
        <p:spPr>
          <a:xfrm>
            <a:off x="804672" y="3557016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Lyons &amp; Viswanath-Natraj (2023)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584448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keeps dollar-backed coins pegged; weak issuers face speculative attacks.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03920" y="3584448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peg mechanics only — no link to Treasury-market outcomes.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07992"/>
            <a:ext cx="11091672" cy="11430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36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946904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jointly estimate how issuer reserve adequacy moderates the transmission from stablecoin supply growth to the OIS–Treasury spread — and to locate the buffer region below which amplification turns into forced liquidation.  β₄ and L* ≈ 13% have no direct antecedent in the published literature.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the OIS–Treasury Spread, Not Raw Yields?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T-bill yield moves for several reasons at once. The spread strips out everything except safe-asset demand.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65960"/>
            <a:ext cx="82296" cy="2468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749808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T-bill yield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Fed-rate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inflation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safe-asset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separate the three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7304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965960"/>
            <a:ext cx="82296" cy="246888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2" name="Text 10"/>
          <p:cNvSpPr/>
          <p:nvPr/>
        </p:nvSpPr>
        <p:spPr>
          <a:xfrm>
            <a:off x="4538472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OIS benchmark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8472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8472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policy-rate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monetary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T-bill-specific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with macro, not flows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5968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965960"/>
            <a:ext cx="82296" cy="24688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7" name="Text 15"/>
          <p:cNvSpPr/>
          <p:nvPr/>
        </p:nvSpPr>
        <p:spPr>
          <a:xfrm>
            <a:off x="8327136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136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variable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7136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T-bill yield − OIS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monetary policy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convenience yield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only on T-bill demand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precedent: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Krishnamurthy &amp; Vissing-Jorgensen (2012), Nagel (2016), Greenwood-Hanson-Stein (2015) — the OIS–T-bill spread as the convenience yield of near-money assets.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91672" cy="96012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note: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must be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replaced a backward-looking 90-day SOFR average (which lagged during 2022 hiking and inflated the mean to 84.8 bps) with DGS3MO − SOFR → mean 16.6 bps.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To-do: finish with 3-mo Term SOFR to fully match the OIS definition above.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Variables, Sources, and the Corrected Spread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463040"/>
          <a:ext cx="6766560" cy="3072384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118872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OIS–Treasury spread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DGS3MO − SOFR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supply 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USDT + USDC (DeFiLlama)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 Treasury exposure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T-bill holdings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 Liquid buffer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reserves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7-day SD of ΔlnS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CBOE VIX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ΔlnN*  RoW equity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ACWX ETF return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83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Jan 2022 – Mar 2026   |   N = 51 monthly observations   |   θ, L from Tether/BDO &amp; Circle/Deloitte attestations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1463040"/>
            <a:ext cx="3959352" cy="4480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463040"/>
            <a:ext cx="82296" cy="448056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8" name="Text 5"/>
          <p:cNvSpPr/>
          <p:nvPr/>
        </p:nvSpPr>
        <p:spPr>
          <a:xfrm>
            <a:off x="7909560" y="1600200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 correction</a:t>
            </a:r>
            <a:endParaRPr lang="en-US" sz="1600" dirty="0"/>
          </a:p>
        </p:txBody>
      </p:sp>
      <p:sp>
        <p:nvSpPr>
          <p:cNvPr id="4" name="Text 6"/>
          <p:cNvSpPr/>
          <p:nvPr/>
        </p:nvSpPr>
        <p:spPr>
          <a:xfrm>
            <a:off x="7909560" y="2011680"/>
            <a:ext cx="3502152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(wrong):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DTB3 − SOFR90DAYAVG — a backward-looking trailing average that lagged overnight SOFR by up to 119 bps during 2022 hiking. A pure Fed-policy artifact.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818120" y="3063240"/>
          <a:ext cx="3685032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Text 7"/>
          <p:cNvSpPr/>
          <p:nvPr/>
        </p:nvSpPr>
        <p:spPr>
          <a:xfrm>
            <a:off x="7909560" y="4983480"/>
            <a:ext cx="350215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mean = 16.6 bps — consistent with ≈0 in normal times, 10 bps being economically large.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KEY VARIABLES OVER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Spread, Supply, and the Liquid Buffer (2022–2026)</a:t>
            </a:r>
            <a:endParaRPr lang="en-US" sz="2700" dirty="0"/>
          </a:p>
        </p:txBody>
      </p:sp>
      <p:pic>
        <p:nvPicPr>
          <p:cNvPr id="4" name="Image 0" descr="figs/keyvars_correct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675120" cy="434578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645920"/>
            <a:ext cx="4050792" cy="18745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589520" y="1645920"/>
            <a:ext cx="82296" cy="18745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4"/>
          <p:cNvSpPr/>
          <p:nvPr/>
        </p:nvSpPr>
        <p:spPr>
          <a:xfrm>
            <a:off x="7818120" y="17556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18120" y="2103120"/>
            <a:ext cx="3593592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corrected convenience-yield spread (DGS3MO − overnight SOFR).   </a:t>
            </a: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USDT+USDC supply, now ~$260B.   </a:t>
            </a: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buffer L, with the q* = 13% line.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3703320"/>
            <a:ext cx="4050792" cy="18288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589520" y="3703320"/>
            <a:ext cx="82296" cy="18288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8"/>
          <p:cNvSpPr/>
          <p:nvPr/>
        </p:nvSpPr>
        <p:spPr>
          <a:xfrm>
            <a:off x="7818120" y="38130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shows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18120" y="4160520"/>
            <a:ext cx="3593592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 sits near zero in calm periods, with a residual term-premium bump during the 2022 hiking cycle that reverts toward zero by 2024–26. Meanwhile L spends long stretches below the 13% line — exactly the fragility region.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Buffer Condition Means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 = liquid buffer = cash &amp; cash-equivalents ÷ total supply.   Estimated regime break: L* ≈ 13%.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82296" cy="36576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 (L &lt; 13%)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Tether, May 2022: ~5–8% cash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86003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mostly T-bills, very little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MUST sell T-bills to raise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selling pushes T-bill yields UP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reverses — a forced seller into a stressed market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behaviour disrupts the Treasury market.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7356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7356" y="2011680"/>
            <a:ext cx="82296" cy="36576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3" name="Text 11"/>
          <p:cNvSpPr/>
          <p:nvPr/>
        </p:nvSpPr>
        <p:spPr>
          <a:xfrm>
            <a:off x="6533388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HIGH BUFFER  (L ≥ 13%)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3388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Circle, Mar 2023: ~18–22% cash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3388" y="2926080"/>
            <a:ext cx="449427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substantial cash reserves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pays out from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T-bills untouched — no forced selling, no yield pressure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does not move from issuer behaviour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3388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buffer absorbs the shock; the market is insulated.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BEFORE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Should β₁ Look Like?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23774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514600"/>
            <a:ext cx="101772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3425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If stablecoins truly act as a safe-asset demand channel,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101772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must be </a:t>
            </a:r>
            <a:r>
              <a:rPr lang="en-US" sz="26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</a:t>
            </a: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— supply growth compresses the spread.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the prediction first, then test it on N = 51 monthly observations.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ordering is deliberate: the sign is a theoretical commitment, not a fitted surprise. The magnitude and significance are what the data then has to say.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 Growth Compresses the Spread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08760"/>
          <a:ext cx="68580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Err.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Δln(Supply)  β₁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  β₂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  β₃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B×ΔlnS  β₄ (fragility)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Newey-West HAC s.e.   N = 51   R² = 0.411   Adj-R² = 0.330   (buffer-ratio spec, Column 2)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6858000" cy="15087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434840"/>
            <a:ext cx="82296" cy="15087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777240" y="4544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 this honestly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64465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(β₁ &lt; 0) is robust</a:t>
            </a: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specification and sub-sample. The exact magnitude is spec-dependent: the decomposed spec gives β₁ = −1.12 (n.s.) because θ, L and L×ΔlnS are collinear at N = 51; the buffer-ratio spec combines them. State the sign as the finding, not the precise −7.57.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1508760"/>
            <a:ext cx="3867912" cy="2103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0" y="1508760"/>
            <a:ext cx="82296" cy="2103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4" name="Text 9"/>
          <p:cNvSpPr/>
          <p:nvPr/>
        </p:nvSpPr>
        <p:spPr>
          <a:xfrm>
            <a:off x="8046720" y="169164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Economic magnitude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205740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≈30 bps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8046720" y="2880360"/>
            <a:ext cx="331927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from a 1-SD (≈4 pp) rise in supply growth — on the order of a sizeable FOMC surprise.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0" y="3749040"/>
            <a:ext cx="3867912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0" y="3749040"/>
            <a:ext cx="82296" cy="219456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7" name="Text 14"/>
          <p:cNvSpPr/>
          <p:nvPr/>
        </p:nvSpPr>
        <p:spPr>
          <a:xfrm>
            <a:off x="8046720" y="388620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Intuition check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251960"/>
            <a:ext cx="3319272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compresses the spread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&gt;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 widens the spread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Should There Be a Regime Break?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= forced-liquidation risk;  high buffer = orderly redemption. We look for a fragility region, not a knife-edge.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83464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486003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redemption wave forces rapid T-bill sales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activity moves the market in both directions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between supply and spread changes character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8346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HIGH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3388" y="2651760"/>
            <a:ext cx="449427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absorbs redemptions from 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 holdings stay untouched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privilege channel continues undisturbed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5193792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estimate: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buffer region in the low teens (L* ≈ 13%) separating amplification from forced liquidation — located consistently by two methods, though imprecisely estimated.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Fragility Region in the Low Teens (≈ 13%)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Two methods independently locate the break near 13–15%. The location is robust; the precision is limited by N = 51.</a:t>
            </a:r>
            <a:endParaRPr lang="en-US" sz="1500" dirty="0"/>
          </a:p>
        </p:txBody>
      </p:sp>
      <p:pic>
        <p:nvPicPr>
          <p:cNvPr id="5" name="Image 0" descr="figs/imag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577840" cy="31389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95724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(2000) SSR over the buffer grid — minimized at q* = 0.130, with the bootstrap 90% CI shaded.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1920240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46520" y="192024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9" name="Text 6"/>
          <p:cNvSpPr/>
          <p:nvPr/>
        </p:nvSpPr>
        <p:spPr>
          <a:xfrm>
            <a:off x="6675120" y="2029968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= 13.0%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75120" y="2468880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grid search — stable across TRIM 15/20/25%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46520" y="2999232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999232"/>
            <a:ext cx="82296" cy="96012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3" name="Text 10"/>
          <p:cNvSpPr/>
          <p:nvPr/>
        </p:nvSpPr>
        <p:spPr>
          <a:xfrm>
            <a:off x="6675120" y="3108960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c* = 14.9%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75120" y="3547872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LSTAR smooth transition — locates the same region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46520" y="4078224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46520" y="4078224"/>
            <a:ext cx="82296" cy="960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7" name="Text 14"/>
          <p:cNvSpPr/>
          <p:nvPr/>
        </p:nvSpPr>
        <p:spPr>
          <a:xfrm>
            <a:off x="6675120" y="4187952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0.406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75120" y="4626864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[3.1%, 14.5%] — location robust, not precise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138928"/>
            <a:ext cx="11091672" cy="1188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5138928"/>
            <a:ext cx="82296" cy="1188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21" name="Text 18"/>
          <p:cNvSpPr/>
          <p:nvPr/>
        </p:nvSpPr>
        <p:spPr>
          <a:xfrm>
            <a:off x="822960" y="5248656"/>
            <a:ext cx="10543032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LOCATION (≈13%) — stable across both methods, all TRIM values, every model vintage.   </a:t>
            </a:r>
            <a:b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converge: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regime-beta magnitudes — Hansen (hard split) and LSTAR (smooth model) estimate different objects, so do not show them as mutual corroboration.   </a:t>
            </a:r>
            <a:b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only: 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“two methods locate the same fragility region near 13%.”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LSTAR Smooth-Transition Regression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Does Hansen's sharp-switch assumption drive the result? A gradual-transition model locates the same region.</a:t>
            </a:r>
            <a:endParaRPr lang="en-US" sz="1500" dirty="0"/>
          </a:p>
        </p:txBody>
      </p:sp>
      <p:pic>
        <p:nvPicPr>
          <p:cNvPr id="5" name="Image 0" descr="figs/lstar_correct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828800"/>
            <a:ext cx="8778240" cy="3284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11091672" cy="105156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5212080"/>
            <a:ext cx="82296" cy="1051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adds: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midpoint c* = 14.9% lands inside the Hansen bootstrap CI — two methods, same 13–15% region.   </a:t>
            </a: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with care: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per-regime betas (−1.81 / −12.59) come from a different functional form than Hansen's — treat them as the LSTAR fit, not as beta-level confirmation. The robust cross-model claim is the threshold LOCATION.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— HEADLINE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Auction Bid-Cover: Only the T-bill-Heavy Issuer Moves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Issuer heterogeneity as a natural control: USDT (~80% T-bills) should suppress bid-cover; USDC (~30–40%) should not. Same macro environment — the difference isolates the channel.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2057400"/>
          <a:ext cx="11091672" cy="2377440"/>
        </p:xfrm>
        <a:graphic>
          <a:graphicData uri="http://schemas.openxmlformats.org/drawingml/2006/table">
            <a:tbl>
              <a:tblPr/>
              <a:tblGrid>
                <a:gridCol w="2011680"/>
                <a:gridCol w="1815998"/>
                <a:gridCol w="1815998"/>
                <a:gridCol w="1815998"/>
                <a:gridCol w="1815998"/>
                <a:gridCol w="1815998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Wald p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−1.225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−1.553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+0.338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960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98348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8" name="Text 5"/>
          <p:cNvSpPr/>
          <p:nvPr/>
        </p:nvSpPr>
        <p:spPr>
          <a:xfrm>
            <a:off x="822960" y="510235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USDT: negative and significant at all four maturities.  USDC: insignificant everywhere.  Wald rejects β_USDT = β_USDC (p &lt; 0.004).  </a:t>
            </a:r>
            <a:r>
              <a:rPr lang="en-US" sz="12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cleanest causal evidence — and the one result that does not depend on the spread variable, so the spread correction left it untouched.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/ ILLUSTRATIVE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Event Study — Honest About Its Limits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daily spread around stress events (not CARs). Included to illustrate plausibility — not as proof.</a:t>
            </a:r>
            <a:endParaRPr lang="en-US" sz="1500" dirty="0"/>
          </a:p>
        </p:txBody>
      </p:sp>
      <p:pic>
        <p:nvPicPr>
          <p:cNvPr id="5" name="Image 0" descr="figs/imag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2514600"/>
          </a:xfrm>
          <a:prstGeom prst="rect">
            <a:avLst/>
          </a:prstGeom>
        </p:spPr>
      </p:pic>
      <p:pic>
        <p:nvPicPr>
          <p:cNvPr id="6" name="Image 1" descr="figs/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828800"/>
            <a:ext cx="5486400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26280"/>
            <a:ext cx="11091672" cy="1325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9" name="Text 5"/>
          <p:cNvSpPr/>
          <p:nvPr/>
        </p:nvSpPr>
        <p:spPr>
          <a:xfrm>
            <a:off x="822960" y="4636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honest read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495604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events; FOMC contamination in 2 of 3.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CARs individually insignificant (−41 / +23 / −27 bps).  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 ratio 7.0× — suggestive, not individually significant.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has shifted across re-runs — too unstable to be evidence.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illustrate the mechanism. The proof lives in the regression and the bid-cover test.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From an Empirical Region to a Regulatory Reference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2057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749808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MiCA (EU, 2024)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liquid-reserve requirements for ‘significant’ e-money tokens. Our region gives an empirically grounded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7304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37304" y="1508760"/>
            <a:ext cx="82296" cy="20574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4538472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GENIUS Act (US, 2025)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issuers to hold cash or near-cash reserves. Our CI [3.1%, 14.5%] maps to a regulatory range.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25968" y="1508760"/>
            <a:ext cx="82296" cy="20574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8327136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trajectory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7136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heading toward $1–2T. At that scale, forced-liquidation risk becomes systemic — a break-the-buck analogue.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1091672" cy="18288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93192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reference — stated as a range, not a precise mandate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10543032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low-teens liquid-buffer floor (cash / near-cash), with estimates centered near 13% of outstanding supply — as a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break, not a welfare optimum.</a:t>
            </a:r>
            <a:r>
              <a:rPr lang="en-US" sz="14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Below ~3% is clearly under-reserved; above ~14.5% is clearly adequate. As attestation data accumulates, the estimate will sharpen.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Three Lines of Evidence — Each Limited, Together Coherent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82296" cy="38404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6" name="Shape 4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777240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— direction robust across every spec &amp; sample.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amplify the privilege in normal times.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bps compression per 1-SD supply growth.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554480"/>
            <a:ext cx="82296" cy="3840480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2" name="Shape 10"/>
          <p:cNvSpPr/>
          <p:nvPr/>
        </p:nvSpPr>
        <p:spPr>
          <a:xfrm>
            <a:off x="4565904" y="1737360"/>
            <a:ext cx="384048" cy="384048"/>
          </a:xfrm>
          <a:prstGeom prst="ellipse">
            <a:avLst/>
          </a:prstGeom>
          <a:solidFill>
            <a:srgbClr val="5B8DEF"/>
          </a:solidFill>
        </p:spPr>
      </p:sp>
      <p:sp>
        <p:nvSpPr>
          <p:cNvPr id="13" name="Text 11"/>
          <p:cNvSpPr/>
          <p:nvPr/>
        </p:nvSpPr>
        <p:spPr>
          <a:xfrm>
            <a:off x="4565904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8824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Bid-cover mechanism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65904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T-bill-heavy issuer (USDT) moves auction bid-cover.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rejects equality with USDC (p &lt; 0.004).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causal evidence; spread-independent.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5968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25968" y="1554480"/>
            <a:ext cx="82296" cy="384048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8" name="Shape 16"/>
          <p:cNvSpPr/>
          <p:nvPr/>
        </p:nvSpPr>
        <p:spPr>
          <a:xfrm>
            <a:off x="8354568" y="1737360"/>
            <a:ext cx="384048" cy="384048"/>
          </a:xfrm>
          <a:prstGeom prst="ellipse">
            <a:avLst/>
          </a:prstGeom>
          <a:solidFill>
            <a:srgbClr val="E8A12C"/>
          </a:solidFill>
        </p:spPr>
      </p:sp>
      <p:sp>
        <p:nvSpPr>
          <p:cNvPr id="19" name="Text 17"/>
          <p:cNvSpPr/>
          <p:nvPr/>
        </p:nvSpPr>
        <p:spPr>
          <a:xfrm>
            <a:off x="8354568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57488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Threshold region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54568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locate a break near 13% (Hansen, LSTAR).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robust; precision limited (p = 0.406, N = 51).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a region, not a knife-edge.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All three point the same way: stablecoins amplify the exorbitant privilege, with a fragility threshold near a 13% liquid buffer.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Honest Constraints and the Agenda Ahead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42976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04672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486003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51 months limits power for threshold confirmation.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forward-filled for ~13 months (Tether quarterly attestations).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benchmark still overnight SOFR — finish with 3-mo Term SOFR.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Endogeneity not fully resolved (Granger addresses, doesn’t solve).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stress events; FOMC contamination in 2 of 3.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Jan 2022 – Mar 2026; may not generalize past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1508760"/>
            <a:ext cx="82296" cy="42976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6533388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3388" y="2103120"/>
            <a:ext cx="449427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sample as attestations accumulate → power improves.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identification: instrument supply with regulatory announcements.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High-frequency: daily spread + daily supply for cleaner events.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Non-USD ecosystems: euro stablecoins, CBDC interactions.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Cross-country: does the same mechanism hold for EUR safe assets?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Thank You — Questions Welcome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  ·  Safe-Asset Demand and Its Systemic Fragility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github.com/stablecoin-privilege-research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15323</Words>
  <Application>WPS Presentation</Application>
  <PresentationFormat>On-screen Show (16:9)</PresentationFormat>
  <Paragraphs>637</Paragraphs>
  <Slides>21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2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Arial</vt:lpstr>
      <vt:lpstr>Microsoft YaHei</vt:lpstr>
      <vt:lpstr>汉仪旗黑</vt:lpstr>
      <vt:lpstr>Arial Unicode MS</vt:lpstr>
      <vt:lpstr>汉仪书宋二KW</vt:lpstr>
      <vt:lpstr>苹方-简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and the Exorbitant Privilege</dc:title>
  <dc:creator>Stablecoin Privilege Research Group</dc:creator>
  <dc:subject>PptxGenJS Presentation</dc:subject>
  <cp:lastModifiedBy>OybekIbragimov</cp:lastModifiedBy>
  <cp:revision>7</cp:revision>
  <dcterms:created xsi:type="dcterms:W3CDTF">2026-06-05T14:03:05Z</dcterms:created>
  <dcterms:modified xsi:type="dcterms:W3CDTF">2026-06-05T14:03:05Z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1033-12.1.25897.25897</vt:lpwstr>
  </property>
  <property fmtid="{D5CDD505-2E9C-101B-9397-08002B2CF9AE}" pid="3" name="ICV">
    <vt:lpwstr>E17E40DA308C6F380367216A9000A39A_42</vt:lpwstr>
  </property>
</Properties>
</file>