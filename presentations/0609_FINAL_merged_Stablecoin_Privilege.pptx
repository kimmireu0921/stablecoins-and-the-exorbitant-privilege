
<file path=[Content_Types].xml><?xml version="1.0" encoding="utf-8"?>
<Types xmlns="http://schemas.openxmlformats.org/package/2006/content-types">
  <Default Extension="xlsx" ContentType="application/vnd.openxmlformats-officedocument.spreadsheetml.sheet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4"/>
  </p:notesMasterIdLst>
  <p:sldIdLst>
    <p:sldId id="256" r:id="rId3"/>
    <p:sldId id="257" r:id="rId5"/>
    <p:sldId id="258" r:id="rId6"/>
    <p:sldId id="276" r:id="rId7"/>
    <p:sldId id="260" r:id="rId8"/>
    <p:sldId id="261" r:id="rId9"/>
    <p:sldId id="262" r:id="rId10"/>
    <p:sldId id="263" r:id="rId11"/>
    <p:sldId id="278" r:id="rId12"/>
    <p:sldId id="264" r:id="rId13"/>
    <p:sldId id="277" r:id="rId14"/>
    <p:sldId id="266" r:id="rId15"/>
    <p:sldId id="267" r:id="rId16"/>
    <p:sldId id="268" r:id="rId17"/>
    <p:sldId id="269" r:id="rId18"/>
    <p:sldId id="279" r:id="rId19"/>
    <p:sldId id="270" r:id="rId20"/>
    <p:sldId id="271" r:id="rId21"/>
    <p:sldId id="272" r:id="rId22"/>
    <p:sldId id="273" r:id="rId23"/>
    <p:sldId id="274" r:id="rId24"/>
    <p:sldId id="275" r:id="rId25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8" Type="http://schemas.openxmlformats.org/officeDocument/2006/relationships/tableStyles" Target="tableStyles.xml"/><Relationship Id="rId27" Type="http://schemas.openxmlformats.org/officeDocument/2006/relationships/viewProps" Target="viewProps.xml"/><Relationship Id="rId26" Type="http://schemas.openxmlformats.org/officeDocument/2006/relationships/presProps" Target="presProps.xml"/><Relationship Id="rId25" Type="http://schemas.openxmlformats.org/officeDocument/2006/relationships/slide" Target="slides/slide22.xml"/><Relationship Id="rId24" Type="http://schemas.openxmlformats.org/officeDocument/2006/relationships/slide" Target="slides/slide21.xml"/><Relationship Id="rId23" Type="http://schemas.openxmlformats.org/officeDocument/2006/relationships/slide" Target="slides/slide20.xml"/><Relationship Id="rId22" Type="http://schemas.openxmlformats.org/officeDocument/2006/relationships/slide" Target="slides/slide19.xml"/><Relationship Id="rId21" Type="http://schemas.openxmlformats.org/officeDocument/2006/relationships/slide" Target="slides/slide18.xml"/><Relationship Id="rId20" Type="http://schemas.openxmlformats.org/officeDocument/2006/relationships/slide" Target="slides/slide17.xml"/><Relationship Id="rId2" Type="http://schemas.openxmlformats.org/officeDocument/2006/relationships/theme" Target="theme/theme1.xml"/><Relationship Id="rId19" Type="http://schemas.openxmlformats.org/officeDocument/2006/relationships/slide" Target="slides/slide16.xml"/><Relationship Id="rId18" Type="http://schemas.openxmlformats.org/officeDocument/2006/relationships/slide" Target="slides/slide15.xml"/><Relationship Id="rId17" Type="http://schemas.openxmlformats.org/officeDocument/2006/relationships/slide" Target="slides/slide14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Workbook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Old (SOFR90DAYAVG)</c:v>
                </c:pt>
              </c:strCache>
            </c:strRef>
          </c:tx>
          <c:spPr>
            <a:solidFill>
              <a:srgbClr val="C9A9A9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en-US" sz="900" b="0" i="0" u="none" strike="noStrike" kern="1200" baseline="0">
                    <a:solidFill>
                      <a:srgbClr val="1E293B"/>
                    </a:solidFill>
                    <a:latin typeface="Arial" panose="020B0704020202020204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Sheet1!$A$2:$A$4</c:f>
              <c:strCache>
                <c:ptCount val="3"/>
                <c:pt idx="0">
                  <c:v>2022 mean</c:v>
                </c:pt>
                <c:pt idx="1">
                  <c:v>LUNA</c:v>
                </c:pt>
                <c:pt idx="2">
                  <c:v>2021 mean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84.8</c:v>
                </c:pt>
                <c:pt idx="1">
                  <c:v>70.9</c:v>
                </c:pt>
                <c:pt idx="2">
                  <c:v>0.2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New (O/N SOFR)</c:v>
                </c:pt>
              </c:strCache>
            </c:strRef>
          </c:tx>
          <c:spPr>
            <a:solidFill>
              <a:srgbClr val="1B998B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en-US" sz="900" b="0" i="0" u="none" strike="noStrike" kern="1200" baseline="0">
                    <a:solidFill>
                      <a:srgbClr val="1E293B"/>
                    </a:solidFill>
                    <a:latin typeface="Arial" panose="020B0704020202020204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Sheet1!$A$2:$A$4</c:f>
              <c:strCache>
                <c:ptCount val="3"/>
                <c:pt idx="0">
                  <c:v>2022 mean</c:v>
                </c:pt>
                <c:pt idx="1">
                  <c:v>LUNA</c:v>
                </c:pt>
                <c:pt idx="2">
                  <c:v>2021 mean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16.6</c:v>
                </c:pt>
                <c:pt idx="1">
                  <c:v>14</c:v>
                </c:pt>
                <c:pt idx="2">
                  <c:v>0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overlap val="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en-US" sz="900" b="0" i="0" u="none" strike="noStrike" kern="1200" baseline="0">
                <a:solidFill>
                  <a:srgbClr val="64748B"/>
                </a:solidFill>
                <a:latin typeface="Arial" panose="020B0704020202020204"/>
                <a:ea typeface="+mn-ea"/>
                <a:cs typeface="+mn-cs"/>
              </a:defRPr>
            </a:pPr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txPr>
          <a:bodyPr rot="-60000000" spcFirstLastPara="0" vertOverflow="ellipsis" vert="horz" wrap="square" anchor="ctr" anchorCtr="1"/>
          <a:lstStyle/>
          <a:p>
            <a:pPr>
              <a:defRPr lang="en-US" sz="1200" b="0" i="0" u="none" strike="noStrike" kern="1200" baseline="0">
                <a:solidFill>
                  <a:srgbClr val="000000"/>
                </a:solidFill>
                <a:latin typeface="Arial" panose="020B0704020202020204"/>
                <a:ea typeface="+mn-ea"/>
                <a:cs typeface="+mn-cs"/>
              </a:defRPr>
            </a:pPr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/>
      <c:overlay val="0"/>
      <c:txPr>
        <a:bodyPr rot="0" spcFirstLastPara="0" vertOverflow="ellipsis" vert="horz" wrap="square" anchor="ctr" anchorCtr="1"/>
        <a:lstStyle/>
        <a:p>
          <a:pPr>
            <a:defRPr lang="en-US" sz="900" b="0" i="0" u="none" strike="noStrike" kern="1200" baseline="0">
              <a:solidFill>
                <a:srgbClr val="64748B"/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span"/>
    <c:showDLblsOverMax val="0"/>
    <c:extLst>
      <c:ext uri="{0b15fc19-7d7d-44ad-8c2d-2c3a37ce22c3}">
        <chartProps xmlns="https://web.wps.cn/et/2018/main" chartId="{b8a03d7f-a1fc-4adc-8534-4e9986beeae3}"/>
      </c:ext>
    </c:extLst>
  </c:chart>
  <c:spPr>
    <a:noFill/>
    <a:ln>
      <a:noFill/>
    </a:ln>
    <a:effectLst/>
  </c:spPr>
  <c:txPr>
    <a:bodyPr/>
    <a:lstStyle/>
    <a:p>
      <a:pPr>
        <a:defRPr lang="en-US"/>
      </a:pPr>
    </a:p>
  </c:tx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4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5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6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7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8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9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0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7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7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7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7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7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7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7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7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7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8.xml"/><Relationship Id="rId2" Type="http://schemas.openxmlformats.org/officeDocument/2006/relationships/slideLayout" Target="../slideLayouts/slideLayout1.xml"/><Relationship Id="rId1" Type="http://schemas.openxmlformats.org/officeDocument/2006/relationships/chart" Target="../charts/char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9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5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2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6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3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18.x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5.png"/><Relationship Id="rId1" Type="http://schemas.openxmlformats.org/officeDocument/2006/relationships/image" Target="../media/image4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B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B998B"/>
          </a:solidFill>
        </p:spPr>
      </p:sp>
      <p:sp>
        <p:nvSpPr>
          <p:cNvPr id="3" name="Shape 1"/>
          <p:cNvSpPr/>
          <p:nvPr/>
        </p:nvSpPr>
        <p:spPr>
          <a:xfrm>
            <a:off x="164592" y="0"/>
            <a:ext cx="54864" cy="6858000"/>
          </a:xfrm>
          <a:prstGeom prst="rect">
            <a:avLst/>
          </a:prstGeom>
          <a:solidFill>
            <a:srgbClr val="E8A12C"/>
          </a:solidFill>
        </p:spPr>
      </p:sp>
      <p:sp>
        <p:nvSpPr>
          <p:cNvPr id="4" name="Text 2"/>
          <p:cNvSpPr/>
          <p:nvPr/>
        </p:nvSpPr>
        <p:spPr>
          <a:xfrm>
            <a:off x="914400" y="1051560"/>
            <a:ext cx="100584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9DB2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YONSEI GSIS  |  TOPICS IN INTERNATIONAL FINANCE  |  JUNE 2026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914400" y="1554480"/>
            <a:ext cx="10332720" cy="10058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FFFFF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Stablecoins and the Exorbitant Privilege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914400" y="2606040"/>
            <a:ext cx="1005840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i="1" dirty="0">
                <a:solidFill>
                  <a:srgbClr val="CADCFC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Safe-Asset Demand and Its Systemic Fragility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914400" y="3383280"/>
            <a:ext cx="1033272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7D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Mireu Kim   ·   Sara Chekroune   ·   Oybek Ibragimov   ·   Jade Zhu   ·   Alexandre Godefroy   ·   Baptiste Degand   ·   Minjin Kim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914400" y="4251960"/>
            <a:ext cx="3337560" cy="1417320"/>
          </a:xfrm>
          <a:prstGeom prst="rect">
            <a:avLst/>
          </a:prstGeom>
          <a:solidFill>
            <a:srgbClr val="122844"/>
          </a:solidFill>
          <a:ln w="15875">
            <a:solidFill>
              <a:srgbClr val="1B998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14400" y="4251960"/>
            <a:ext cx="3337560" cy="64008"/>
          </a:xfrm>
          <a:prstGeom prst="rect">
            <a:avLst/>
          </a:prstGeom>
          <a:solidFill>
            <a:srgbClr val="1B998B"/>
          </a:solidFill>
        </p:spPr>
      </p:sp>
      <p:sp>
        <p:nvSpPr>
          <p:cNvPr id="10" name="Text 8"/>
          <p:cNvSpPr/>
          <p:nvPr/>
        </p:nvSpPr>
        <p:spPr>
          <a:xfrm>
            <a:off x="960120" y="4434840"/>
            <a:ext cx="324612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β₁ &lt; 0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1005840" y="5029200"/>
            <a:ext cx="315468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AEC0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Privilege amplification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AEC0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(direction robust)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526280" y="4251960"/>
            <a:ext cx="3337560" cy="1417320"/>
          </a:xfrm>
          <a:prstGeom prst="rect">
            <a:avLst/>
          </a:prstGeom>
          <a:solidFill>
            <a:srgbClr val="122844"/>
          </a:solidFill>
          <a:ln w="15875">
            <a:solidFill>
              <a:srgbClr val="E8A12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26280" y="4251960"/>
            <a:ext cx="3337560" cy="64008"/>
          </a:xfrm>
          <a:prstGeom prst="rect">
            <a:avLst/>
          </a:prstGeom>
          <a:solidFill>
            <a:srgbClr val="E8A12C"/>
          </a:solidFill>
        </p:spPr>
      </p:sp>
      <p:sp>
        <p:nvSpPr>
          <p:cNvPr id="14" name="Text 12"/>
          <p:cNvSpPr/>
          <p:nvPr/>
        </p:nvSpPr>
        <p:spPr>
          <a:xfrm>
            <a:off x="4572000" y="4434840"/>
            <a:ext cx="324612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q* ≈ 13%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4617720" y="5029200"/>
            <a:ext cx="315468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AEC0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Liquid-buffer fragility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AEC0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region (low teens)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138160" y="4251960"/>
            <a:ext cx="3337560" cy="1417320"/>
          </a:xfrm>
          <a:prstGeom prst="rect">
            <a:avLst/>
          </a:prstGeom>
          <a:solidFill>
            <a:srgbClr val="122844"/>
          </a:solidFill>
          <a:ln w="15875">
            <a:solidFill>
              <a:srgbClr val="5B8DE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138160" y="4251960"/>
            <a:ext cx="3337560" cy="64008"/>
          </a:xfrm>
          <a:prstGeom prst="rect">
            <a:avLst/>
          </a:prstGeom>
          <a:solidFill>
            <a:srgbClr val="5B8DEF"/>
          </a:solidFill>
        </p:spPr>
      </p:sp>
      <p:sp>
        <p:nvSpPr>
          <p:cNvPr id="18" name="Text 16"/>
          <p:cNvSpPr/>
          <p:nvPr/>
        </p:nvSpPr>
        <p:spPr>
          <a:xfrm>
            <a:off x="8183880" y="4434840"/>
            <a:ext cx="324612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USDT ≠ USDC</a:t>
            </a:r>
            <a:endParaRPr lang="en-US" sz="2600" dirty="0"/>
          </a:p>
        </p:txBody>
      </p:sp>
      <p:sp>
        <p:nvSpPr>
          <p:cNvPr id="19" name="Text 17"/>
          <p:cNvSpPr/>
          <p:nvPr/>
        </p:nvSpPr>
        <p:spPr>
          <a:xfrm>
            <a:off x="8229600" y="5029200"/>
            <a:ext cx="315468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AEC0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Reserve-composition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AEC0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channel confirmed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B99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BACKGROUND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1672" cy="685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3294B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What Is a Stablecoin?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11091672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5B6B82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A programmatic, rule-bound channel for US-dollar safe-asset demand.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2103120"/>
            <a:ext cx="3450336" cy="3291840"/>
          </a:xfrm>
          <a:prstGeom prst="rect">
            <a:avLst/>
          </a:prstGeom>
          <a:solidFill>
            <a:srgbClr val="F4F6FA"/>
          </a:solidFill>
          <a:effectLst>
            <a:outerShdw blurRad="88900" dist="38100" dir="8100000" algn="bl" rotWithShape="0">
              <a:srgbClr val="000000">
                <a:alpha val="13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8640" y="2103120"/>
            <a:ext cx="82296" cy="3291840"/>
          </a:xfrm>
          <a:prstGeom prst="rect">
            <a:avLst/>
          </a:prstGeom>
          <a:solidFill>
            <a:srgbClr val="1B998B"/>
          </a:solidFill>
        </p:spPr>
      </p:sp>
      <p:sp>
        <p:nvSpPr>
          <p:cNvPr id="7" name="Shape 5"/>
          <p:cNvSpPr/>
          <p:nvPr/>
        </p:nvSpPr>
        <p:spPr>
          <a:xfrm>
            <a:off x="4245864" y="2103120"/>
            <a:ext cx="3450336" cy="3291840"/>
          </a:xfrm>
          <a:prstGeom prst="rect">
            <a:avLst/>
          </a:prstGeom>
          <a:solidFill>
            <a:srgbClr val="F4F6FA"/>
          </a:solidFill>
          <a:effectLst>
            <a:outerShdw blurRad="88900" dist="38100" dir="8100000" algn="bl" rotWithShape="0">
              <a:srgbClr val="000000">
                <a:alpha val="13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245864" y="2103120"/>
            <a:ext cx="82296" cy="3291840"/>
          </a:xfrm>
          <a:prstGeom prst="rect">
            <a:avLst/>
          </a:prstGeom>
          <a:solidFill>
            <a:srgbClr val="13294B"/>
          </a:solidFill>
        </p:spPr>
      </p:sp>
      <p:sp>
        <p:nvSpPr>
          <p:cNvPr id="9" name="Shape 7"/>
          <p:cNvSpPr/>
          <p:nvPr/>
        </p:nvSpPr>
        <p:spPr>
          <a:xfrm>
            <a:off x="7943088" y="2103120"/>
            <a:ext cx="3450336" cy="3291840"/>
          </a:xfrm>
          <a:prstGeom prst="rect">
            <a:avLst/>
          </a:prstGeom>
          <a:solidFill>
            <a:srgbClr val="F4F6FA"/>
          </a:solidFill>
          <a:effectLst>
            <a:outerShdw blurRad="88900" dist="38100" dir="8100000" algn="bl" rotWithShape="0">
              <a:srgbClr val="000000">
                <a:alpha val="13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7943088" y="2103120"/>
            <a:ext cx="82296" cy="3291840"/>
          </a:xfrm>
          <a:prstGeom prst="rect">
            <a:avLst/>
          </a:prstGeom>
          <a:solidFill>
            <a:srgbClr val="E8A12C"/>
          </a:solidFill>
        </p:spPr>
      </p:sp>
      <p:sp>
        <p:nvSpPr>
          <p:cNvPr id="11" name="Text 9"/>
          <p:cNvSpPr/>
          <p:nvPr/>
        </p:nvSpPr>
        <p:spPr>
          <a:xfrm>
            <a:off x="777240" y="2331720"/>
            <a:ext cx="3102864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B998B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What it is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777240" y="2880360"/>
            <a:ext cx="3102864" cy="21945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privately issued token pegged 1:1 to the US dollar (USDT, USDC). Combined supply has grown to roughly $300 billion.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565904" y="2331720"/>
            <a:ext cx="3102864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3294B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How it is backed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565904" y="2880360"/>
            <a:ext cx="3102864" cy="21945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token is backed by reserves — cash plus short-dated US Treasury bills. About $300B supply maps to ~$150B in T-bills.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354568" y="2331720"/>
            <a:ext cx="3102864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E8A12C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Why it matters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8354568" y="2880360"/>
            <a:ext cx="3102864" cy="21945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 central bank, not a fund manager — an algorithm that must buy T-bills as supply grows. Programmatic, always-on, and fast.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548640" y="5623560"/>
            <a:ext cx="11091672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i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insight: stablecoins create a NEW demand channel for T-bills — larger, faster, and more rule-bound than sovereign reserve managers.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Stablecoins &amp; the Exorbitant Privilege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1274552" y="6400800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B99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MOTIVATION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1672" cy="685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3294B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The Exorbitant Privilege — What Finance Already Knows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11091672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5B6B82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The structural role that deepens US safe-asset demand also embeds a fragility that can rapidly reverse it.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2103120"/>
            <a:ext cx="5362956" cy="3246120"/>
          </a:xfrm>
          <a:prstGeom prst="rect">
            <a:avLst/>
          </a:prstGeom>
          <a:solidFill>
            <a:srgbClr val="F4F6FA"/>
          </a:solidFill>
          <a:effectLst>
            <a:outerShdw blurRad="88900" dist="38100" dir="8100000" algn="bl" rotWithShape="0">
              <a:srgbClr val="000000">
                <a:alpha val="13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8640" y="2103120"/>
            <a:ext cx="82296" cy="3246120"/>
          </a:xfrm>
          <a:prstGeom prst="rect">
            <a:avLst/>
          </a:prstGeom>
          <a:solidFill>
            <a:srgbClr val="E8A12C"/>
          </a:solidFill>
        </p:spPr>
      </p:sp>
      <p:sp>
        <p:nvSpPr>
          <p:cNvPr id="7" name="Text 5"/>
          <p:cNvSpPr/>
          <p:nvPr/>
        </p:nvSpPr>
        <p:spPr>
          <a:xfrm>
            <a:off x="804672" y="2286000"/>
            <a:ext cx="4905756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3294B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The Original Triffin Dilemma (1960)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04672" y="2834640"/>
            <a:ext cx="4860036" cy="23774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reserve-currency country must supply enough safe assets to meet global demand — but doing so requires running structural deficits that progressively undermine confidence in the currency. The system depends on the very condition that makes it unsustainable.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277356" y="2103120"/>
            <a:ext cx="5362956" cy="3246120"/>
          </a:xfrm>
          <a:prstGeom prst="rect">
            <a:avLst/>
          </a:prstGeom>
          <a:solidFill>
            <a:srgbClr val="F4F6FA"/>
          </a:solidFill>
          <a:effectLst>
            <a:outerShdw blurRad="88900" dist="38100" dir="8100000" algn="bl" rotWithShape="0">
              <a:srgbClr val="000000">
                <a:alpha val="13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277356" y="2103120"/>
            <a:ext cx="82296" cy="3246120"/>
          </a:xfrm>
          <a:prstGeom prst="rect">
            <a:avLst/>
          </a:prstGeom>
          <a:solidFill>
            <a:srgbClr val="1B998B"/>
          </a:solidFill>
        </p:spPr>
      </p:sp>
      <p:sp>
        <p:nvSpPr>
          <p:cNvPr id="11" name="Text 9"/>
          <p:cNvSpPr/>
          <p:nvPr/>
        </p:nvSpPr>
        <p:spPr>
          <a:xfrm>
            <a:off x="6533388" y="2286000"/>
            <a:ext cx="4905756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3294B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The Exorbitant Privilege (Gourinchas &amp; Rey, 2007)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6533388" y="2834640"/>
            <a:ext cx="4494276" cy="23774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US earns more on foreign assets than it pays on its liabilities — a structural borrowing advantage.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demand for dollar safe assets keeps T-bill yields low, so the US borrows cheap.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measure it through the OIS–Treasury (convenience-yield) spread: when T-bill demand rises, US borrowing costs fall below the risk-free baseline.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Stablecoins &amp; the Exorbitant Privilege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1274552" y="6400800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B99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CORE INSIGHT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1672" cy="685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3294B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The New Triffin Dilemma — Same Mechanism, Two Faces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11091672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5B6B82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Supply growth amplifies the privilege in calm times — and undermines it in stress. The liquid buffer L decides which.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2057400"/>
            <a:ext cx="5362956" cy="2331720"/>
          </a:xfrm>
          <a:prstGeom prst="rect">
            <a:avLst/>
          </a:prstGeom>
          <a:solidFill>
            <a:srgbClr val="F4F6FA"/>
          </a:solidFill>
          <a:effectLst>
            <a:outerShdw blurRad="88900" dist="38100" dir="8100000" algn="bl" rotWithShape="0">
              <a:srgbClr val="000000">
                <a:alpha val="13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8640" y="2057400"/>
            <a:ext cx="82296" cy="2331720"/>
          </a:xfrm>
          <a:prstGeom prst="rect">
            <a:avLst/>
          </a:prstGeom>
          <a:solidFill>
            <a:srgbClr val="1B998B"/>
          </a:solidFill>
        </p:spPr>
      </p:sp>
      <p:sp>
        <p:nvSpPr>
          <p:cNvPr id="7" name="Text 5"/>
          <p:cNvSpPr/>
          <p:nvPr/>
        </p:nvSpPr>
        <p:spPr>
          <a:xfrm>
            <a:off x="804672" y="2212848"/>
            <a:ext cx="4905756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B99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 TIMES   </a:t>
            </a:r>
            <a:r>
              <a:rPr lang="en-US" sz="1500" b="1" dirty="0">
                <a:solidFill>
                  <a:srgbClr val="1B99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04672" y="2606040"/>
            <a:ext cx="4860036" cy="1691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Issuance → mechanical T-bill acquisition by issuers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Structural rise in safe-asset demand for Treasuries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Spread compresses → yields fall below baseline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Exorbitant privilege amplified via private channel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277356" y="2057400"/>
            <a:ext cx="5362956" cy="2331720"/>
          </a:xfrm>
          <a:prstGeom prst="rect">
            <a:avLst/>
          </a:prstGeom>
          <a:solidFill>
            <a:srgbClr val="F4F6FA"/>
          </a:solidFill>
          <a:effectLst>
            <a:outerShdw blurRad="88900" dist="38100" dir="8100000" algn="bl" rotWithShape="0">
              <a:srgbClr val="000000">
                <a:alpha val="13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277356" y="2057400"/>
            <a:ext cx="82296" cy="2331720"/>
          </a:xfrm>
          <a:prstGeom prst="rect">
            <a:avLst/>
          </a:prstGeom>
          <a:solidFill>
            <a:srgbClr val="C1121F"/>
          </a:solidFill>
        </p:spPr>
      </p:sp>
      <p:sp>
        <p:nvSpPr>
          <p:cNvPr id="11" name="Text 9"/>
          <p:cNvSpPr/>
          <p:nvPr/>
        </p:nvSpPr>
        <p:spPr>
          <a:xfrm>
            <a:off x="6533388" y="2212848"/>
            <a:ext cx="4905756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C11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SCENARIO   </a:t>
            </a:r>
            <a:r>
              <a:rPr lang="en-US" sz="1500" b="1" dirty="0">
                <a:solidFill>
                  <a:srgbClr val="C11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533388" y="2606040"/>
            <a:ext cx="4494276" cy="1691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Redemption shock → programmatic T-bill liquidation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Treasury yields spike above baseline — spread reverses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Sovereign-linked liquidity shock hits debt markets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Self-fulfilling: fear validates liquidation, crisis spreads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48640" y="4617720"/>
            <a:ext cx="11091672" cy="1325880"/>
          </a:xfrm>
          <a:prstGeom prst="rect">
            <a:avLst/>
          </a:prstGeom>
          <a:solidFill>
            <a:srgbClr val="13294B"/>
          </a:solidFill>
          <a:effectLst>
            <a:outerShdw blurRad="88900" dist="38100" dir="8100000" algn="bl" rotWithShape="0">
              <a:srgbClr val="000000">
                <a:alpha val="13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822960" y="4736592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8A12C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What determines the outcome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22960" y="5074920"/>
            <a:ext cx="5303520" cy="7772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θ = Treasury holdings / supply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AEC0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structural demand channel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400800" y="5074920"/>
            <a:ext cx="5760720" cy="7772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 = liquid reserves / supply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AEC0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crisis-absorption capacity:  L ≥ L* absorbed internally;  L &lt; L* forced liquidation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Stablecoins &amp; the Exorbitant Privilege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1274552" y="6400800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B99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THEORETICAL FRAMEWORK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1672" cy="685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3294B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Extending Maggiori (2017): Adding S, θ and L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11091672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5B6B82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Maggiori (2017): safe-asset demand is driven by Ω* — the countercyclical marginal value of rest-of-world net worth. We add three components.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2011680"/>
            <a:ext cx="11091672" cy="1051560"/>
          </a:xfrm>
          <a:prstGeom prst="rect">
            <a:avLst/>
          </a:prstGeom>
          <a:solidFill>
            <a:srgbClr val="EAEFF7"/>
          </a:solidFill>
          <a:effectLst>
            <a:outerShdw blurRad="88900" dist="38100" dir="8100000" algn="bl" rotWithShape="0">
              <a:srgbClr val="000000">
                <a:alpha val="13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2960" y="2194560"/>
            <a:ext cx="10543032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3294B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D*(Ñ*, S, θ, L)  =  </a:t>
            </a:r>
            <a:r>
              <a:rPr lang="en-US" sz="1800" b="1" dirty="0">
                <a:solidFill>
                  <a:srgbClr val="13294B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D*</a:t>
            </a:r>
            <a:r>
              <a:rPr lang="en-US" sz="1100" b="1" dirty="0">
                <a:solidFill>
                  <a:srgbClr val="13294B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precautionary</a:t>
            </a:r>
            <a:r>
              <a:rPr lang="en-US" sz="1800" b="1" dirty="0">
                <a:solidFill>
                  <a:srgbClr val="13294B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(Ñ*)  +  </a:t>
            </a:r>
            <a:r>
              <a:rPr lang="en-US" sz="1800" b="1" dirty="0">
                <a:solidFill>
                  <a:srgbClr val="1B998B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D*</a:t>
            </a:r>
            <a:r>
              <a:rPr lang="en-US" sz="1100" b="1" dirty="0">
                <a:solidFill>
                  <a:srgbClr val="1B998B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stablecoin</a:t>
            </a:r>
            <a:r>
              <a:rPr lang="en-US" sz="1800" b="1" dirty="0">
                <a:solidFill>
                  <a:srgbClr val="13294B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(S, θ)  +  </a:t>
            </a:r>
            <a:r>
              <a:rPr lang="en-US" sz="1800" b="1" dirty="0">
                <a:solidFill>
                  <a:srgbClr val="E8A12C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D*</a:t>
            </a:r>
            <a:r>
              <a:rPr lang="en-US" sz="1100" b="1" dirty="0">
                <a:solidFill>
                  <a:srgbClr val="E8A12C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buffer</a:t>
            </a:r>
            <a:r>
              <a:rPr lang="en-US" sz="1800" b="1" dirty="0">
                <a:solidFill>
                  <a:srgbClr val="13294B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(L)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822960" y="2651760"/>
            <a:ext cx="10543032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precautionary (Maggiori)   +   new structural demand via mechanical T-bill purchases   +   demand from excess reserves above the minimum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48640" y="3291840"/>
            <a:ext cx="6211336" cy="2194560"/>
          </a:xfrm>
          <a:prstGeom prst="rect">
            <a:avLst/>
          </a:prstGeom>
          <a:solidFill>
            <a:srgbClr val="F4F6FA"/>
          </a:solidFill>
          <a:effectLst>
            <a:outerShdw blurRad="88900" dist="38100" dir="8100000" algn="bl" rotWithShape="0">
              <a:srgbClr val="000000">
                <a:alpha val="13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548640" y="3291840"/>
            <a:ext cx="82296" cy="2194560"/>
          </a:xfrm>
          <a:prstGeom prst="rect">
            <a:avLst/>
          </a:prstGeom>
          <a:solidFill>
            <a:srgbClr val="1B998B"/>
          </a:solidFill>
        </p:spPr>
      </p:sp>
      <p:sp>
        <p:nvSpPr>
          <p:cNvPr id="10" name="Text 8"/>
          <p:cNvSpPr/>
          <p:nvPr/>
        </p:nvSpPr>
        <p:spPr>
          <a:xfrm>
            <a:off x="804672" y="3429000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998B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Main estimating equation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804672" y="3840480"/>
            <a:ext cx="5754136" cy="1554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500" b="1" dirty="0">
                <a:solidFill>
                  <a:srgbClr val="13294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Spreadₜ = α + β₁·ΔlnSₜ + β₂·θₜ + β₃·Lₜ</a:t>
            </a:r>
            <a:endParaRPr lang="en-US" sz="15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500" b="1" dirty="0">
                <a:solidFill>
                  <a:srgbClr val="13294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+ β₄·(Lₜ × ΔlnSₜ)</a:t>
            </a:r>
            <a:endParaRPr lang="en-US" sz="15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500" b="1" dirty="0">
                <a:solidFill>
                  <a:srgbClr val="13294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+ β₅·Vₜ + β₆·VIXₜ + β₇·ΔlnN*ₜ + εₜ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034296" y="3291840"/>
            <a:ext cx="4606016" cy="2194560"/>
          </a:xfrm>
          <a:prstGeom prst="rect">
            <a:avLst/>
          </a:prstGeom>
          <a:solidFill>
            <a:srgbClr val="F4F6FA"/>
          </a:solidFill>
          <a:effectLst>
            <a:outerShdw blurRad="88900" dist="38100" dir="8100000" algn="bl" rotWithShape="0">
              <a:srgbClr val="000000">
                <a:alpha val="13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7034296" y="3291840"/>
            <a:ext cx="82296" cy="2194560"/>
          </a:xfrm>
          <a:prstGeom prst="rect">
            <a:avLst/>
          </a:prstGeom>
          <a:solidFill>
            <a:srgbClr val="E8A12C"/>
          </a:solidFill>
        </p:spPr>
      </p:sp>
      <p:sp>
        <p:nvSpPr>
          <p:cNvPr id="14" name="Text 12"/>
          <p:cNvSpPr/>
          <p:nvPr/>
        </p:nvSpPr>
        <p:spPr>
          <a:xfrm>
            <a:off x="7262896" y="3429000"/>
            <a:ext cx="365760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8A12C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Predicted signs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7262896" y="3886200"/>
            <a:ext cx="4148816" cy="1463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spcAft>
                <a:spcPts val="800"/>
              </a:spcAft>
              <a:buNone/>
            </a:pPr>
            <a:r>
              <a:rPr lang="en-US" sz="1350" b="1" dirty="0">
                <a:solidFill>
                  <a:srgbClr val="1B99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β₁ &lt; 0</a:t>
            </a:r>
            <a:r>
              <a:rPr lang="en-US" sz="135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ΔlnS compresses the spread (privilege amplification)</a:t>
            </a:r>
            <a:endParaRPr lang="en-US" sz="1350" dirty="0"/>
          </a:p>
          <a:p>
            <a:pPr marL="0" indent="0">
              <a:spcAft>
                <a:spcPts val="800"/>
              </a:spcAft>
              <a:buNone/>
            </a:pPr>
            <a:r>
              <a:rPr lang="en-US" sz="13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β₂ &gt; 0</a:t>
            </a:r>
            <a:r>
              <a:rPr lang="en-US" sz="135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higher T-bill exposure θ amplifies demand</a:t>
            </a:r>
            <a:endParaRPr lang="en-US" sz="1350" dirty="0"/>
          </a:p>
          <a:p>
            <a:pPr marL="0" indent="0">
              <a:spcAft>
                <a:spcPts val="800"/>
              </a:spcAft>
              <a:buNone/>
            </a:pPr>
            <a:r>
              <a:rPr lang="en-US" sz="13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β₄ &gt; 0</a:t>
            </a:r>
            <a:r>
              <a:rPr lang="en-US" sz="135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higher buffer L dampens crisis transmission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548640" y="5669280"/>
            <a:ext cx="11091672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buffer L introduces a non-linear threshold — the key theoretical departure from Maggiori. Spread = corrected convenience yield (see slide 7).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Stablecoins &amp; the Exorbitant Privilege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1274552" y="6400800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B99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LITERATURE &amp; CONTRIBUTION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1672" cy="685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3294B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What the Literature Establishes — and Where It Stops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11091672" cy="914400"/>
          </a:xfrm>
          <a:prstGeom prst="rect">
            <a:avLst/>
          </a:prstGeom>
          <a:solidFill>
            <a:srgbClr val="F4F6FA"/>
          </a:solidFill>
          <a:effectLst>
            <a:outerShdw blurRad="88900" dist="38100" dir="8100000" algn="bl" rotWithShape="0">
              <a:srgbClr val="000000">
                <a:alpha val="13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48640" y="1417320"/>
            <a:ext cx="82296" cy="914400"/>
          </a:xfrm>
          <a:prstGeom prst="rect">
            <a:avLst/>
          </a:prstGeom>
          <a:solidFill>
            <a:srgbClr val="13294B"/>
          </a:solidFill>
        </p:spPr>
      </p:sp>
      <p:sp>
        <p:nvSpPr>
          <p:cNvPr id="6" name="Text 4"/>
          <p:cNvSpPr/>
          <p:nvPr/>
        </p:nvSpPr>
        <p:spPr>
          <a:xfrm>
            <a:off x="804672" y="1508760"/>
            <a:ext cx="3200400" cy="7315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3294B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Aldasoro &amp; Ahmed (BIS WP 1270, 2025)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114800" y="1536192"/>
            <a:ext cx="4206240" cy="7132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B99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r>
              <a:rPr lang="en-US" sz="125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Stablecoin inflows lower 3-mo T-bill yields 2–2.5 bps; outflows raise them 2–3× more.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8503920" y="1536192"/>
            <a:ext cx="3410712" cy="7132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C11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</a:t>
            </a:r>
            <a:r>
              <a:rPr lang="en-US" sz="125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Moderator is market T-bill supply, not issuer reserves. Uses yield levels, not the spread. No threshold.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48640" y="2441448"/>
            <a:ext cx="11091672" cy="914400"/>
          </a:xfrm>
          <a:prstGeom prst="rect">
            <a:avLst/>
          </a:prstGeom>
          <a:solidFill>
            <a:srgbClr val="F4F6FA"/>
          </a:solidFill>
          <a:effectLst>
            <a:outerShdw blurRad="88900" dist="38100" dir="8100000" algn="bl" rotWithShape="0">
              <a:srgbClr val="000000">
                <a:alpha val="13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548640" y="2441448"/>
            <a:ext cx="82296" cy="914400"/>
          </a:xfrm>
          <a:prstGeom prst="rect">
            <a:avLst/>
          </a:prstGeom>
          <a:solidFill>
            <a:srgbClr val="13294B"/>
          </a:solidFill>
        </p:spPr>
      </p:sp>
      <p:sp>
        <p:nvSpPr>
          <p:cNvPr id="11" name="Text 9"/>
          <p:cNvSpPr/>
          <p:nvPr/>
        </p:nvSpPr>
        <p:spPr>
          <a:xfrm>
            <a:off x="804672" y="2532888"/>
            <a:ext cx="3200400" cy="7315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3294B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Gorton &amp; Zhang (2023)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114800" y="2560320"/>
            <a:ext cx="4206240" cy="7132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B99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r>
              <a:rPr lang="en-US" sz="125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Issuers are unregulated banks; runs are structurally inevitable without deposit insurance.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8503920" y="2560320"/>
            <a:ext cx="3410712" cy="7132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C11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</a:t>
            </a:r>
            <a:r>
              <a:rPr lang="en-US" sz="125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Identifies run risk but does not model transmission to sovereign debt markets.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48640" y="3465576"/>
            <a:ext cx="11091672" cy="914400"/>
          </a:xfrm>
          <a:prstGeom prst="rect">
            <a:avLst/>
          </a:prstGeom>
          <a:solidFill>
            <a:srgbClr val="F4F6FA"/>
          </a:solidFill>
          <a:effectLst>
            <a:outerShdw blurRad="88900" dist="38100" dir="8100000" algn="bl" rotWithShape="0">
              <a:srgbClr val="000000">
                <a:alpha val="13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548640" y="3465576"/>
            <a:ext cx="82296" cy="914400"/>
          </a:xfrm>
          <a:prstGeom prst="rect">
            <a:avLst/>
          </a:prstGeom>
          <a:solidFill>
            <a:srgbClr val="13294B"/>
          </a:solidFill>
        </p:spPr>
      </p:sp>
      <p:sp>
        <p:nvSpPr>
          <p:cNvPr id="16" name="Text 14"/>
          <p:cNvSpPr/>
          <p:nvPr/>
        </p:nvSpPr>
        <p:spPr>
          <a:xfrm>
            <a:off x="804672" y="3557016"/>
            <a:ext cx="3200400" cy="7315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3294B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Lyons &amp; Viswanath-Natraj (2023)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114800" y="3584448"/>
            <a:ext cx="4206240" cy="7132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B99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r>
              <a:rPr lang="en-US" sz="125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Arbitrage keeps dollar-backed coins pegged; weak issuers face speculative attacks.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8503920" y="3584448"/>
            <a:ext cx="3410712" cy="7132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C11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</a:t>
            </a:r>
            <a:r>
              <a:rPr lang="en-US" sz="125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Internal peg mechanics only — no link to Treasury-market outcomes.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548640" y="4507992"/>
            <a:ext cx="11091672" cy="1143000"/>
          </a:xfrm>
          <a:prstGeom prst="rect">
            <a:avLst/>
          </a:prstGeom>
          <a:solidFill>
            <a:srgbClr val="0E2746"/>
          </a:solidFill>
          <a:effectLst>
            <a:outerShdw blurRad="88900" dist="38100" dir="8100000" algn="bl" rotWithShape="0">
              <a:srgbClr val="000000">
                <a:alpha val="13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822960" y="4636008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E8A1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CONTRIBUTION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822960" y="4946904"/>
            <a:ext cx="10543032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to jointly estimate how issuer reserve adequacy moderates the transmission from stablecoin supply growth to the OIS–Treasury spread — and to locate the buffer region below which amplification turns into forced liquidation.  β₄ and L* ≈ 13% have no direct antecedent in the published literature.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Stablecoins &amp; the Exorbitant Privilege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11274552" y="6400800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B99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MEASUREMENT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1672" cy="685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3294B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Why the OIS–Treasury Spread, Not Raw Yields?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11091672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5B6B82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A T-bill yield moves for several reasons at once. The spread strips out everything except safe-asset demand.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965960"/>
            <a:ext cx="3514344" cy="2468880"/>
          </a:xfrm>
          <a:prstGeom prst="rect">
            <a:avLst/>
          </a:prstGeom>
          <a:solidFill>
            <a:srgbClr val="F4F6FA"/>
          </a:solidFill>
          <a:effectLst>
            <a:outerShdw blurRad="88900" dist="38100" dir="8100000" algn="bl" rotWithShape="0">
              <a:srgbClr val="000000">
                <a:alpha val="13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8640" y="1965960"/>
            <a:ext cx="82296" cy="2468880"/>
          </a:xfrm>
          <a:prstGeom prst="rect">
            <a:avLst/>
          </a:prstGeom>
          <a:solidFill>
            <a:srgbClr val="C1121F"/>
          </a:solidFill>
        </p:spPr>
      </p:sp>
      <p:sp>
        <p:nvSpPr>
          <p:cNvPr id="7" name="Text 5"/>
          <p:cNvSpPr/>
          <p:nvPr/>
        </p:nvSpPr>
        <p:spPr>
          <a:xfrm>
            <a:off x="749808" y="2103120"/>
            <a:ext cx="3148584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3294B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Raw T-bill yield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49808" y="2468880"/>
            <a:ext cx="3148584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i="1" dirty="0">
                <a:solidFill>
                  <a:srgbClr val="C11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used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749808" y="2834640"/>
            <a:ext cx="3130296" cy="1463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Driven by Fed-rate expectations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inflation expectations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safe-asset demand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Cannot separate the three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337304" y="1965960"/>
            <a:ext cx="3514344" cy="2468880"/>
          </a:xfrm>
          <a:prstGeom prst="rect">
            <a:avLst/>
          </a:prstGeom>
          <a:solidFill>
            <a:srgbClr val="F4F6FA"/>
          </a:solidFill>
          <a:effectLst>
            <a:outerShdw blurRad="88900" dist="38100" dir="8100000" algn="bl" rotWithShape="0">
              <a:srgbClr val="000000">
                <a:alpha val="13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337304" y="1965960"/>
            <a:ext cx="82296" cy="2468880"/>
          </a:xfrm>
          <a:prstGeom prst="rect">
            <a:avLst/>
          </a:prstGeom>
          <a:solidFill>
            <a:srgbClr val="13294B"/>
          </a:solidFill>
        </p:spPr>
      </p:sp>
      <p:sp>
        <p:nvSpPr>
          <p:cNvPr id="12" name="Text 10"/>
          <p:cNvSpPr/>
          <p:nvPr/>
        </p:nvSpPr>
        <p:spPr>
          <a:xfrm>
            <a:off x="4538472" y="2103120"/>
            <a:ext cx="3148584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3294B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OIS benchmark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538472" y="2468880"/>
            <a:ext cx="3148584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i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subtracted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38472" y="2834640"/>
            <a:ext cx="3130296" cy="1463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policy-rate path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Pure monetary expectations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T-bill-specific demand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Moves with macro, not flows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8125968" y="1965960"/>
            <a:ext cx="3514344" cy="2468880"/>
          </a:xfrm>
          <a:prstGeom prst="rect">
            <a:avLst/>
          </a:prstGeom>
          <a:solidFill>
            <a:srgbClr val="F4F6FA"/>
          </a:solidFill>
          <a:effectLst>
            <a:outerShdw blurRad="88900" dist="38100" dir="8100000" algn="bl" rotWithShape="0">
              <a:srgbClr val="000000">
                <a:alpha val="13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8125968" y="1965960"/>
            <a:ext cx="82296" cy="2468880"/>
          </a:xfrm>
          <a:prstGeom prst="rect">
            <a:avLst/>
          </a:prstGeom>
          <a:solidFill>
            <a:srgbClr val="1B998B"/>
          </a:solidFill>
        </p:spPr>
      </p:sp>
      <p:sp>
        <p:nvSpPr>
          <p:cNvPr id="17" name="Text 15"/>
          <p:cNvSpPr/>
          <p:nvPr/>
        </p:nvSpPr>
        <p:spPr>
          <a:xfrm>
            <a:off x="8327136" y="2103120"/>
            <a:ext cx="3148584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3294B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The spread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8327136" y="2468880"/>
            <a:ext cx="3148584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i="1" dirty="0">
                <a:solidFill>
                  <a:srgbClr val="1B99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variable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8327136" y="2834640"/>
            <a:ext cx="3130296" cy="1463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T-bill yield − OIS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Cancels monetary policy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Isolates the convenience yield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Moves only on T-bill demand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48640" y="4572000"/>
            <a:ext cx="11091672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Literature precedent:  </a:t>
            </a:r>
            <a:r>
              <a:rPr lang="en-US" sz="125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Krishnamurthy &amp; Vissing-Jorgensen (2012), Nagel (2016), Greenwood-Hanson-Stein (2015) — the OIS–T-bill spread as the convenience yield of near-money assets.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48640" y="5029200"/>
            <a:ext cx="11091672" cy="960120"/>
          </a:xfrm>
          <a:prstGeom prst="rect">
            <a:avLst/>
          </a:prstGeom>
          <a:solidFill>
            <a:srgbClr val="FBEEDD"/>
          </a:solidFill>
          <a:effectLst>
            <a:outerShdw blurRad="88900" dist="38100" dir="8100000" algn="bl" rotWithShape="0">
              <a:srgbClr val="000000">
                <a:alpha val="13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822960" y="5138928"/>
            <a:ext cx="10543032" cy="7772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C11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Correction note:  </a:t>
            </a:r>
            <a:r>
              <a:rPr lang="en-US" sz="125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benchmark must be </a:t>
            </a:r>
            <a:r>
              <a:rPr lang="en-US" sz="1250" i="1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forward-looking</a:t>
            </a:r>
            <a:r>
              <a:rPr lang="en-US" sz="125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We replaced a backward-looking 90-day SOFR average (which lagged during 2022 hiking and inflated the mean to 84.8 bps) with DGS3MO − SOFR → mean 16.6 bps. </a:t>
            </a:r>
            <a:r>
              <a:rPr lang="en-US" sz="1250" b="1" dirty="0">
                <a:solidFill>
                  <a:srgbClr val="C11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To-do: finish with 3-mo Term SOFR to fully match the OIS definition above.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Stablecoins &amp; the Exorbitant Privilege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1274552" y="6400800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B99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&amp; SAMPLE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1672" cy="685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3294B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Variables, Sources, and the Corrected Spread</a:t>
            </a:r>
            <a:endParaRPr lang="en-US" sz="27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/>
        </p:nvGraphicFramePr>
        <p:xfrm>
          <a:off x="548640" y="1463040"/>
          <a:ext cx="6766560" cy="3072384"/>
        </p:xfrm>
        <a:graphic>
          <a:graphicData uri="http://schemas.openxmlformats.org/drawingml/2006/table">
            <a:tbl>
              <a:tblPr/>
              <a:tblGrid>
                <a:gridCol w="2286000"/>
                <a:gridCol w="3291840"/>
                <a:gridCol w="1188720"/>
              </a:tblGrid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Variable</a:t>
                      </a:r>
                      <a:endParaRPr lang="en-US" sz="115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Definition</a:t>
                      </a:r>
                      <a:endParaRPr lang="en-US" sz="115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Freq.</a:t>
                      </a:r>
                      <a:endParaRPr lang="en-US" sz="115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3342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OIS–Treasury spread</a:t>
                      </a:r>
                      <a:endParaRPr lang="en-US" sz="115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3342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DGS3MO − SOFR (FRED)</a:t>
                      </a:r>
                      <a:endParaRPr lang="en-US" sz="115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3342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D→M</a:t>
                      </a:r>
                      <a:endParaRPr lang="en-US" sz="115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3342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Stablecoin supply S</a:t>
                      </a:r>
                      <a:endParaRPr lang="en-US" sz="115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3342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USDT + USDC (DeFiLlama)</a:t>
                      </a:r>
                      <a:endParaRPr lang="en-US" sz="115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3342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D→M</a:t>
                      </a:r>
                      <a:endParaRPr lang="en-US" sz="115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3342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θ  Treasury exposure</a:t>
                      </a:r>
                      <a:endParaRPr lang="en-US" sz="115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3342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T-bill holdings / supply</a:t>
                      </a:r>
                      <a:endParaRPr lang="en-US" sz="115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3342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Q/M</a:t>
                      </a:r>
                      <a:endParaRPr lang="en-US" sz="115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3342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  Liquid buffer</a:t>
                      </a:r>
                      <a:endParaRPr lang="en-US" sz="115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3342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Cash reserves / supply</a:t>
                      </a:r>
                      <a:endParaRPr lang="en-US" sz="115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3342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Q/M</a:t>
                      </a:r>
                      <a:endParaRPr lang="en-US" sz="115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3342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Velocity V</a:t>
                      </a:r>
                      <a:endParaRPr lang="en-US" sz="115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3342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7-day SD of ΔlnS</a:t>
                      </a:r>
                      <a:endParaRPr lang="en-US" sz="115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3342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D→M</a:t>
                      </a:r>
                      <a:endParaRPr lang="en-US" sz="115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3342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VIX</a:t>
                      </a:r>
                      <a:endParaRPr lang="en-US" sz="115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3342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CBOE VIX (FRED)</a:t>
                      </a:r>
                      <a:endParaRPr lang="en-US" sz="115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3342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D→M</a:t>
                      </a:r>
                      <a:endParaRPr lang="en-US" sz="115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3342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ΔlnN*  RoW equity</a:t>
                      </a:r>
                      <a:endParaRPr lang="en-US" sz="115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3342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ACWX ETF return</a:t>
                      </a:r>
                      <a:endParaRPr lang="en-US" sz="115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3342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D→M</a:t>
                      </a:r>
                      <a:endParaRPr lang="en-US" sz="115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4983480"/>
            <a:ext cx="676656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Sample: Jan 2022 – Mar 2026   |   N = 51 monthly observations   |   θ, L from Tether/BDO &amp; Circle/Deloitte attestations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7680960" y="1463040"/>
            <a:ext cx="3959352" cy="4480560"/>
          </a:xfrm>
          <a:prstGeom prst="rect">
            <a:avLst/>
          </a:prstGeom>
          <a:solidFill>
            <a:srgbClr val="F4F6FA"/>
          </a:solidFill>
          <a:effectLst>
            <a:outerShdw blurRad="88900" dist="38100" dir="8100000" algn="bl" rotWithShape="0">
              <a:srgbClr val="000000">
                <a:alpha val="13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7680960" y="1463040"/>
            <a:ext cx="82296" cy="4480560"/>
          </a:xfrm>
          <a:prstGeom prst="rect">
            <a:avLst/>
          </a:prstGeom>
          <a:solidFill>
            <a:srgbClr val="C1121F"/>
          </a:solidFill>
        </p:spPr>
      </p:sp>
      <p:sp>
        <p:nvSpPr>
          <p:cNvPr id="8" name="Text 5"/>
          <p:cNvSpPr/>
          <p:nvPr/>
        </p:nvSpPr>
        <p:spPr>
          <a:xfrm>
            <a:off x="7909560" y="1600200"/>
            <a:ext cx="3502152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3294B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The spread correction</a:t>
            </a:r>
            <a:endParaRPr lang="en-US" sz="1600" dirty="0"/>
          </a:p>
        </p:txBody>
      </p:sp>
      <p:sp>
        <p:nvSpPr>
          <p:cNvPr id="4" name="Text 6"/>
          <p:cNvSpPr/>
          <p:nvPr/>
        </p:nvSpPr>
        <p:spPr>
          <a:xfrm>
            <a:off x="7909560" y="2011680"/>
            <a:ext cx="3502152" cy="10058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C11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OLD (wrong): </a:t>
            </a:r>
            <a:r>
              <a:rPr lang="en-US" sz="120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DTB3 − SOFR90DAYAVG — a backward-looking trailing average that lagged overnight SOFR by up to 119 bps during 2022 hiking. A pure Fed-policy artifact.</a:t>
            </a:r>
            <a:endParaRPr lang="en-US" sz="1200" dirty="0"/>
          </a:p>
        </p:txBody>
      </p:sp>
      <p:graphicFrame>
        <p:nvGraphicFramePr>
          <p:cNvPr id="10" name="Chart 0"/>
          <p:cNvGraphicFramePr/>
          <p:nvPr/>
        </p:nvGraphicFramePr>
        <p:xfrm>
          <a:off x="7818120" y="3063240"/>
          <a:ext cx="3685032" cy="18288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sp>
        <p:nvSpPr>
          <p:cNvPr id="11" name="Text 7"/>
          <p:cNvSpPr/>
          <p:nvPr/>
        </p:nvSpPr>
        <p:spPr>
          <a:xfrm>
            <a:off x="7909560" y="4983480"/>
            <a:ext cx="3502152" cy="8229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i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Corrected mean = 16.6 bps — consistent with ≈0 in normal times, 10 bps being economically large.</a:t>
            </a:r>
            <a:endParaRPr lang="en-US" sz="1150" dirty="0"/>
          </a:p>
        </p:txBody>
      </p:sp>
      <p:sp>
        <p:nvSpPr>
          <p:cNvPr id="12" name="Text 8"/>
          <p:cNvSpPr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Stablecoins &amp; the Exorbitant Privilege</a:t>
            </a:r>
            <a:endParaRPr lang="en-US" sz="900" dirty="0"/>
          </a:p>
        </p:txBody>
      </p:sp>
      <p:sp>
        <p:nvSpPr>
          <p:cNvPr id="13" name="Text 9"/>
          <p:cNvSpPr/>
          <p:nvPr/>
        </p:nvSpPr>
        <p:spPr>
          <a:xfrm>
            <a:off x="11274552" y="6400800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B99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— KEY VARIABLES OVER TIME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1672" cy="685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3294B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Spread, Supply, and the Liquid Buffer (2022–2026)</a:t>
            </a:r>
            <a:endParaRPr lang="en-US" sz="2700" dirty="0"/>
          </a:p>
        </p:txBody>
      </p:sp>
      <p:pic>
        <p:nvPicPr>
          <p:cNvPr id="4" name="Image 0" descr="figs/image3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17320"/>
            <a:ext cx="6400800" cy="468579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315200" y="1554480"/>
            <a:ext cx="4325112" cy="1828800"/>
          </a:xfrm>
          <a:prstGeom prst="rect">
            <a:avLst/>
          </a:prstGeom>
          <a:solidFill>
            <a:srgbClr val="F4F6FA"/>
          </a:solidFill>
          <a:effectLst>
            <a:outerShdw blurRad="88900" dist="38100" dir="8100000" algn="bl" rotWithShape="0">
              <a:srgbClr val="000000">
                <a:alpha val="13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315200" y="1554480"/>
            <a:ext cx="82296" cy="1828800"/>
          </a:xfrm>
          <a:prstGeom prst="rect">
            <a:avLst/>
          </a:prstGeom>
          <a:solidFill>
            <a:srgbClr val="1B998B"/>
          </a:solidFill>
        </p:spPr>
      </p:sp>
      <p:sp>
        <p:nvSpPr>
          <p:cNvPr id="7" name="Text 4"/>
          <p:cNvSpPr/>
          <p:nvPr/>
        </p:nvSpPr>
        <p:spPr>
          <a:xfrm>
            <a:off x="7543800" y="1664208"/>
            <a:ext cx="3867912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3294B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How to read it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7543800" y="2011680"/>
            <a:ext cx="3867912" cy="12801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2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</a:t>
            </a:r>
            <a:r>
              <a:rPr lang="en-US" sz="120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convenience-yield spread.   </a:t>
            </a:r>
            <a:r>
              <a:rPr lang="en-US" sz="12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</a:t>
            </a:r>
            <a:r>
              <a:rPr lang="en-US" sz="120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USDT+USDC supply, now ~$260B.   </a:t>
            </a:r>
            <a:r>
              <a:rPr lang="en-US" sz="12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</a:t>
            </a:r>
            <a:r>
              <a:rPr lang="en-US" sz="120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the buffer L, long stretches below the 13% line.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7315200" y="3566160"/>
            <a:ext cx="4325112" cy="1828800"/>
          </a:xfrm>
          <a:prstGeom prst="rect">
            <a:avLst/>
          </a:prstGeom>
          <a:solidFill>
            <a:srgbClr val="FBEEDD"/>
          </a:solidFill>
          <a:effectLst>
            <a:outerShdw blurRad="88900" dist="38100" dir="8100000" algn="bl" rotWithShape="0">
              <a:srgbClr val="000000">
                <a:alpha val="13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315200" y="3566160"/>
            <a:ext cx="82296" cy="1828800"/>
          </a:xfrm>
          <a:prstGeom prst="rect">
            <a:avLst/>
          </a:prstGeom>
          <a:solidFill>
            <a:srgbClr val="E8A12C"/>
          </a:solidFill>
        </p:spPr>
      </p:sp>
      <p:sp>
        <p:nvSpPr>
          <p:cNvPr id="11" name="Text 8"/>
          <p:cNvSpPr/>
          <p:nvPr/>
        </p:nvSpPr>
        <p:spPr>
          <a:xfrm>
            <a:off x="7543800" y="3675888"/>
            <a:ext cx="3867912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C1121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Note on panel A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7543800" y="4023360"/>
            <a:ext cx="3867912" cy="12801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Panel A is still the pre-correction series (titled DTB3−SOFR90DAYAVG, swinging ±150 bps). Re-plot it on the corrected DGS3MO−SOFR spread before final submission — panels B and C are already correct.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Stablecoins &amp; the Exorbitant Privilege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11274552" y="6400800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B99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INTUITION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1672" cy="685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3294B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What the Buffer Condition Means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11091672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5B6B82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L = liquid buffer = cash &amp; cash-equivalents ÷ total supply.   Estimated regime break: L* ≈ 13%.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2011680"/>
            <a:ext cx="5362956" cy="3657600"/>
          </a:xfrm>
          <a:prstGeom prst="rect">
            <a:avLst/>
          </a:prstGeom>
          <a:solidFill>
            <a:srgbClr val="F4F6FA"/>
          </a:solidFill>
          <a:effectLst>
            <a:outerShdw blurRad="88900" dist="38100" dir="8100000" algn="bl" rotWithShape="0">
              <a:srgbClr val="000000">
                <a:alpha val="13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8640" y="2011680"/>
            <a:ext cx="82296" cy="3657600"/>
          </a:xfrm>
          <a:prstGeom prst="rect">
            <a:avLst/>
          </a:prstGeom>
          <a:solidFill>
            <a:srgbClr val="C1121F"/>
          </a:solidFill>
        </p:spPr>
      </p:sp>
      <p:sp>
        <p:nvSpPr>
          <p:cNvPr id="7" name="Text 5"/>
          <p:cNvSpPr/>
          <p:nvPr/>
        </p:nvSpPr>
        <p:spPr>
          <a:xfrm>
            <a:off x="804672" y="2148840"/>
            <a:ext cx="4905756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C1121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LOW BUFFER  (L &lt; 13%)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04672" y="2542032"/>
            <a:ext cx="4905756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e.g. Tether, May 2022: ~5–8% cash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04672" y="2926080"/>
            <a:ext cx="4860036" cy="21945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Issuer holds mostly T-bills, very little cash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Investors redeem → issuer MUST sell T-bills to raise cash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Forced selling pushes T-bill yields UP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Spread reverses — a forced seller into a stressed market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804672" y="5257800"/>
            <a:ext cx="4905756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i="1" dirty="0">
                <a:solidFill>
                  <a:srgbClr val="C11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Issuer behaviour disrupts the Treasury market.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277356" y="2011680"/>
            <a:ext cx="5362956" cy="3657600"/>
          </a:xfrm>
          <a:prstGeom prst="rect">
            <a:avLst/>
          </a:prstGeom>
          <a:solidFill>
            <a:srgbClr val="F4F6FA"/>
          </a:solidFill>
          <a:effectLst>
            <a:outerShdw blurRad="88900" dist="38100" dir="8100000" algn="bl" rotWithShape="0">
              <a:srgbClr val="000000">
                <a:alpha val="13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277356" y="2011680"/>
            <a:ext cx="82296" cy="3657600"/>
          </a:xfrm>
          <a:prstGeom prst="rect">
            <a:avLst/>
          </a:prstGeom>
          <a:solidFill>
            <a:srgbClr val="1B998B"/>
          </a:solidFill>
        </p:spPr>
      </p:sp>
      <p:sp>
        <p:nvSpPr>
          <p:cNvPr id="13" name="Text 11"/>
          <p:cNvSpPr/>
          <p:nvPr/>
        </p:nvSpPr>
        <p:spPr>
          <a:xfrm>
            <a:off x="6533388" y="2148840"/>
            <a:ext cx="4905756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B998B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HIGH BUFFER  (L ≥ 13%)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6533388" y="2542032"/>
            <a:ext cx="4905756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e.g. Circle, Mar 2023: ~18–22% cash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533388" y="2926080"/>
            <a:ext cx="4494276" cy="21945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Issuer holds substantial cash reserves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Investors redeem → issuer pays out from cash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T-bills untouched — no forced selling, no yield pressure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Spread does not move from issuer behaviour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6533388" y="5257800"/>
            <a:ext cx="4905756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i="1" dirty="0">
                <a:solidFill>
                  <a:srgbClr val="1B99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cash buffer absorbs the shock; the market is insulated.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Stablecoins &amp; the Exorbitant Privilege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1274552" y="6400800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B99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INTUITION BEFORE RESULT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1672" cy="685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3294B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What Should β₁ Look Like?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2103120"/>
            <a:ext cx="11091672" cy="2377440"/>
          </a:xfrm>
          <a:prstGeom prst="rect">
            <a:avLst/>
          </a:prstGeom>
          <a:solidFill>
            <a:srgbClr val="F4F6FA"/>
          </a:solidFill>
          <a:effectLst>
            <a:outerShdw blurRad="88900" dist="38100" dir="8100000" algn="bl" rotWithShape="0">
              <a:srgbClr val="000000">
                <a:alpha val="13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1005840" y="2514600"/>
            <a:ext cx="10177272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33425C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If stablecoins truly act as a safe-asset demand channel,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005840" y="3017520"/>
            <a:ext cx="10177272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13294B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β₁ must be </a:t>
            </a:r>
            <a:r>
              <a:rPr lang="en-US" sz="2600" b="1" dirty="0">
                <a:solidFill>
                  <a:srgbClr val="1B998B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NEGATIVE</a:t>
            </a:r>
            <a:r>
              <a:rPr lang="en-US" sz="2600" b="1" dirty="0">
                <a:solidFill>
                  <a:srgbClr val="13294B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 — supply growth compresses the spread.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1005840" y="3749040"/>
            <a:ext cx="10177272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i="1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state the prediction first, then test it on N = 51 monthly observations.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48640" y="4937760"/>
            <a:ext cx="11091672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ordering is deliberate: the sign is a theoretical commitment, not a fitted surprise. The magnitude and significance are what the data then has to say.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Stablecoins &amp; the Exorbitant Privilege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1274552" y="6400800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B99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 RESULT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1672" cy="685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3294B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Stablecoin Growth Compresses the Spread</a:t>
            </a:r>
            <a:endParaRPr lang="en-US" sz="27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/>
        </p:nvGraphicFramePr>
        <p:xfrm>
          <a:off x="548640" y="1508760"/>
          <a:ext cx="6858000" cy="2286000"/>
        </p:xfrm>
        <a:graphic>
          <a:graphicData uri="http://schemas.openxmlformats.org/drawingml/2006/table">
            <a:tbl>
              <a:tblPr/>
              <a:tblGrid>
                <a:gridCol w="2743200"/>
                <a:gridCol w="1371600"/>
                <a:gridCol w="1371600"/>
                <a:gridCol w="1371600"/>
              </a:tblGrid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Variable</a:t>
                      </a:r>
                      <a:endParaRPr lang="en-US" sz="13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Coeff.</a:t>
                      </a:r>
                      <a:endParaRPr lang="en-US" sz="13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Std. Err.</a:t>
                      </a:r>
                      <a:endParaRPr lang="en-US" sz="13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p-value</a:t>
                      </a:r>
                      <a:endParaRPr lang="en-US" sz="13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3342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Δln(Supply)  β₁</a:t>
                      </a:r>
                      <a:endParaRPr lang="en-US" sz="13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1B99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−7.57</a:t>
                      </a:r>
                      <a:endParaRPr lang="en-US" sz="13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3342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2.59</a:t>
                      </a:r>
                      <a:endParaRPr lang="en-US" sz="13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3342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0.004 ***</a:t>
                      </a:r>
                      <a:endParaRPr lang="en-US" sz="13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3342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VIX  β₂</a:t>
                      </a:r>
                      <a:endParaRPr lang="en-US" sz="13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3342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+0.010</a:t>
                      </a:r>
                      <a:endParaRPr lang="en-US" sz="13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3342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0.007</a:t>
                      </a:r>
                      <a:endParaRPr lang="en-US" sz="13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3342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0.173</a:t>
                      </a:r>
                      <a:endParaRPr lang="en-US" sz="13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3342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Velocity V  β₃</a:t>
                      </a:r>
                      <a:endParaRPr lang="en-US" sz="13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3342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−52.87</a:t>
                      </a:r>
                      <a:endParaRPr lang="en-US" sz="13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3342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23.84</a:t>
                      </a:r>
                      <a:endParaRPr lang="en-US" sz="13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3342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0.027 **</a:t>
                      </a:r>
                      <a:endParaRPr lang="en-US" sz="13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3342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B×ΔlnS  β₄ (fragility)</a:t>
                      </a:r>
                      <a:endParaRPr lang="en-US" sz="13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C112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−7.52</a:t>
                      </a:r>
                      <a:endParaRPr lang="en-US" sz="13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3342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3.21</a:t>
                      </a:r>
                      <a:endParaRPr lang="en-US" sz="13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3342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0.019 **</a:t>
                      </a:r>
                      <a:endParaRPr lang="en-US" sz="13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3977640"/>
            <a:ext cx="685800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OLS with Newey-West HAC s.e.   N = 51   R² = 0.411   Adj-R² = 0.330   (buffer-ratio spec, Column 2)</a:t>
            </a:r>
            <a:endParaRPr lang="en-US" sz="1050" dirty="0"/>
          </a:p>
        </p:txBody>
      </p:sp>
      <p:sp>
        <p:nvSpPr>
          <p:cNvPr id="6" name="Shape 3"/>
          <p:cNvSpPr/>
          <p:nvPr/>
        </p:nvSpPr>
        <p:spPr>
          <a:xfrm>
            <a:off x="548640" y="4434840"/>
            <a:ext cx="6858000" cy="1508760"/>
          </a:xfrm>
          <a:prstGeom prst="rect">
            <a:avLst/>
          </a:prstGeom>
          <a:solidFill>
            <a:srgbClr val="F4F6FA"/>
          </a:solidFill>
          <a:effectLst>
            <a:outerShdw blurRad="88900" dist="38100" dir="8100000" algn="bl" rotWithShape="0">
              <a:srgbClr val="000000">
                <a:alpha val="13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48640" y="4434840"/>
            <a:ext cx="82296" cy="1508760"/>
          </a:xfrm>
          <a:prstGeom prst="rect">
            <a:avLst/>
          </a:prstGeom>
          <a:solidFill>
            <a:srgbClr val="E8A12C"/>
          </a:solidFill>
        </p:spPr>
      </p:sp>
      <p:sp>
        <p:nvSpPr>
          <p:cNvPr id="8" name="Text 5"/>
          <p:cNvSpPr/>
          <p:nvPr/>
        </p:nvSpPr>
        <p:spPr>
          <a:xfrm>
            <a:off x="777240" y="4544568"/>
            <a:ext cx="64008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8A12C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Read this honestly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777240" y="4846320"/>
            <a:ext cx="6446520" cy="10058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r>
              <a:rPr lang="en-US" sz="11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direction (β₁ &lt; 0) is robust</a:t>
            </a:r>
            <a:r>
              <a:rPr lang="en-US" sz="115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across every specification and sub-sample. The exact magnitude is spec-dependent: the decomposed spec gives β₁ = −1.12 (n.s.) because θ, L and L×ΔlnS are collinear at N = 51; the buffer-ratio spec combines them. State the sign as the finding, not the precise −7.57.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7772400" y="1508760"/>
            <a:ext cx="3867912" cy="2103120"/>
          </a:xfrm>
          <a:prstGeom prst="rect">
            <a:avLst/>
          </a:prstGeom>
          <a:solidFill>
            <a:srgbClr val="0E2746"/>
          </a:solidFill>
          <a:effectLst>
            <a:outerShdw blurRad="88900" dist="38100" dir="8100000" algn="bl" rotWithShape="0">
              <a:srgbClr val="000000">
                <a:alpha val="13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7772400" y="1508760"/>
            <a:ext cx="82296" cy="2103120"/>
          </a:xfrm>
          <a:prstGeom prst="rect">
            <a:avLst/>
          </a:prstGeom>
          <a:solidFill>
            <a:srgbClr val="1B998B"/>
          </a:solidFill>
        </p:spPr>
      </p:sp>
      <p:sp>
        <p:nvSpPr>
          <p:cNvPr id="4" name="Text 9"/>
          <p:cNvSpPr/>
          <p:nvPr/>
        </p:nvSpPr>
        <p:spPr>
          <a:xfrm>
            <a:off x="8046720" y="1691640"/>
            <a:ext cx="3319272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8A12C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Economic magnitude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8046720" y="2057400"/>
            <a:ext cx="3319272" cy="7315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800" b="1" dirty="0">
                <a:solidFill>
                  <a:srgbClr val="FFFFF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≈30 bps</a:t>
            </a:r>
            <a:endParaRPr lang="en-US" sz="4800" dirty="0"/>
          </a:p>
        </p:txBody>
      </p:sp>
      <p:sp>
        <p:nvSpPr>
          <p:cNvPr id="14" name="Text 11"/>
          <p:cNvSpPr/>
          <p:nvPr/>
        </p:nvSpPr>
        <p:spPr>
          <a:xfrm>
            <a:off x="8046720" y="2880360"/>
            <a:ext cx="3319272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AEC0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compression from a 1-SD (≈4 pp) rise in supply growth — on the order of a sizeable FOMC surprise.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7772400" y="3749040"/>
            <a:ext cx="3867912" cy="2194560"/>
          </a:xfrm>
          <a:prstGeom prst="rect">
            <a:avLst/>
          </a:prstGeom>
          <a:solidFill>
            <a:srgbClr val="F4F6FA"/>
          </a:solidFill>
          <a:effectLst>
            <a:outerShdw blurRad="88900" dist="38100" dir="8100000" algn="bl" rotWithShape="0">
              <a:srgbClr val="000000">
                <a:alpha val="13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7772400" y="3749040"/>
            <a:ext cx="82296" cy="2194560"/>
          </a:xfrm>
          <a:prstGeom prst="rect">
            <a:avLst/>
          </a:prstGeom>
          <a:solidFill>
            <a:srgbClr val="13294B"/>
          </a:solidFill>
        </p:spPr>
      </p:sp>
      <p:sp>
        <p:nvSpPr>
          <p:cNvPr id="17" name="Text 14"/>
          <p:cNvSpPr/>
          <p:nvPr/>
        </p:nvSpPr>
        <p:spPr>
          <a:xfrm>
            <a:off x="8046720" y="3886200"/>
            <a:ext cx="3319272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3294B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Intuition check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8046720" y="4251960"/>
            <a:ext cx="3319272" cy="1554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spcAft>
                <a:spcPts val="300"/>
              </a:spcAft>
              <a:buNone/>
            </a:pPr>
            <a:r>
              <a:rPr lang="en-US" sz="1400" b="1" dirty="0">
                <a:solidFill>
                  <a:srgbClr val="1B99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β₁ &lt; 0  ✓</a:t>
            </a:r>
            <a:endParaRPr lang="en-US" sz="140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1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supply growth compresses the spread</a:t>
            </a:r>
            <a:endParaRPr lang="en-US" sz="140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4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VIX &gt; 0  ✓</a:t>
            </a:r>
            <a:endParaRPr lang="en-US" sz="140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1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risk-off widens the spread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Stablecoins &amp; the Exorbitant Privilege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11274552" y="6400800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E8A1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ROBUSTNESS (PENDING RE-RUN)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1672" cy="685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3294B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Asymmetric Effects: Growth vs. Contraction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11091672" cy="502920"/>
          </a:xfrm>
          <a:prstGeom prst="rect">
            <a:avLst/>
          </a:prstGeom>
          <a:solidFill>
            <a:srgbClr val="FBEEDD"/>
          </a:solidFill>
        </p:spPr>
      </p:sp>
      <p:sp>
        <p:nvSpPr>
          <p:cNvPr id="5" name="Shape 3"/>
          <p:cNvSpPr/>
          <p:nvPr/>
        </p:nvSpPr>
        <p:spPr>
          <a:xfrm>
            <a:off x="548640" y="1371600"/>
            <a:ext cx="82296" cy="502920"/>
          </a:xfrm>
          <a:prstGeom prst="rect">
            <a:avLst/>
          </a:prstGeom>
          <a:solidFill>
            <a:srgbClr val="C1121F"/>
          </a:solidFill>
        </p:spPr>
      </p:sp>
      <p:sp>
        <p:nvSpPr>
          <p:cNvPr id="6" name="Text 4"/>
          <p:cNvSpPr/>
          <p:nvPr/>
        </p:nvSpPr>
        <p:spPr>
          <a:xfrm>
            <a:off x="822960" y="1444752"/>
            <a:ext cx="10634472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C11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NUMBERS BELOW ARE ON THE PRE-CORRECTION SPREAD.  </a:t>
            </a:r>
            <a:r>
              <a:rPr lang="en-US" sz="125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Re-run on the corrected DGS3MO−SOFR series before presenting; keep only if the contraction effect survives.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548640" y="2057400"/>
            <a:ext cx="11091672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5B6B82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Buying T-bills is gradual and orderly; selling is forced and immediate. The buffer should bite mainly when supply contracts.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606040"/>
            <a:ext cx="5362956" cy="2743200"/>
          </a:xfrm>
          <a:prstGeom prst="rect">
            <a:avLst/>
          </a:prstGeom>
          <a:solidFill>
            <a:srgbClr val="F4F6FA"/>
          </a:solidFill>
          <a:effectLst>
            <a:outerShdw blurRad="88900" dist="38100" dir="8100000" algn="bl" rotWithShape="0">
              <a:srgbClr val="000000">
                <a:alpha val="13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548640" y="2606040"/>
            <a:ext cx="82296" cy="2743200"/>
          </a:xfrm>
          <a:prstGeom prst="rect">
            <a:avLst/>
          </a:prstGeom>
          <a:solidFill>
            <a:srgbClr val="13294B"/>
          </a:solidFill>
        </p:spPr>
      </p:sp>
      <p:sp>
        <p:nvSpPr>
          <p:cNvPr id="10" name="Text 8"/>
          <p:cNvSpPr/>
          <p:nvPr/>
        </p:nvSpPr>
        <p:spPr>
          <a:xfrm>
            <a:off x="804672" y="2743200"/>
            <a:ext cx="4905756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3294B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GROWTH PERIODS  (ΔlnS &gt; 0)   N = 32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804672" y="3200400"/>
            <a:ext cx="4905756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5B6B82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β₁ = −1.79   (p = 0.352, n.s.)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804672" y="3749040"/>
            <a:ext cx="4860036" cy="1371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Supply growth → orderly T-bill purchases. Buffer size does not significantly change how issuers move markets.   R² = 0.335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277356" y="2606040"/>
            <a:ext cx="5362956" cy="2743200"/>
          </a:xfrm>
          <a:prstGeom prst="rect">
            <a:avLst/>
          </a:prstGeom>
          <a:solidFill>
            <a:srgbClr val="F4F6FA"/>
          </a:solidFill>
          <a:effectLst>
            <a:outerShdw blurRad="88900" dist="38100" dir="8100000" algn="bl" rotWithShape="0">
              <a:srgbClr val="000000">
                <a:alpha val="13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277356" y="2606040"/>
            <a:ext cx="82296" cy="2743200"/>
          </a:xfrm>
          <a:prstGeom prst="rect">
            <a:avLst/>
          </a:prstGeom>
          <a:solidFill>
            <a:srgbClr val="C1121F"/>
          </a:solidFill>
        </p:spPr>
      </p:sp>
      <p:sp>
        <p:nvSpPr>
          <p:cNvPr id="15" name="Text 13"/>
          <p:cNvSpPr/>
          <p:nvPr/>
        </p:nvSpPr>
        <p:spPr>
          <a:xfrm>
            <a:off x="6533388" y="2743200"/>
            <a:ext cx="4905756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C1121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CONTRACTION PERIODS  (ΔlnS &lt; 0)   N = 19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533388" y="3200400"/>
            <a:ext cx="4905756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C1121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β₁ = −12.68 **   (p = 0.037)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6533388" y="3749040"/>
            <a:ext cx="4494276" cy="1371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Supply contraction → ~7× larger effect. Forced liquidation drives the sovereign spread. Model explains 73% of stress variation.   R² = 0.728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548640" y="5577840"/>
            <a:ext cx="11091672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i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this survives the corrected spread, it is strong support for the fragility mechanism — the buffer matters precisely when supply is falling.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Stablecoins &amp; the Exorbitant Privilege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1274552" y="6400800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B99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INTUITION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1672" cy="685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3294B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Why Should There Be a Regime Break?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11091672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5B6B82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Low buffer = forced-liquidation risk;  high buffer = orderly redemption. We look for a fragility region, not a knife-edge.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2057400"/>
            <a:ext cx="5362956" cy="2834640"/>
          </a:xfrm>
          <a:prstGeom prst="rect">
            <a:avLst/>
          </a:prstGeom>
          <a:solidFill>
            <a:srgbClr val="F4F6FA"/>
          </a:solidFill>
          <a:effectLst>
            <a:outerShdw blurRad="88900" dist="38100" dir="8100000" algn="bl" rotWithShape="0">
              <a:srgbClr val="000000">
                <a:alpha val="13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8640" y="2057400"/>
            <a:ext cx="82296" cy="2834640"/>
          </a:xfrm>
          <a:prstGeom prst="rect">
            <a:avLst/>
          </a:prstGeom>
          <a:solidFill>
            <a:srgbClr val="C1121F"/>
          </a:solidFill>
        </p:spPr>
      </p:sp>
      <p:sp>
        <p:nvSpPr>
          <p:cNvPr id="7" name="Text 5"/>
          <p:cNvSpPr/>
          <p:nvPr/>
        </p:nvSpPr>
        <p:spPr>
          <a:xfrm>
            <a:off x="804672" y="2212848"/>
            <a:ext cx="4905756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C1121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When L is LOW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04672" y="2651760"/>
            <a:ext cx="4860036" cy="20116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redemption wave forces rapid T-bill sales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Issuer activity moves the market in both directions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relationship between supply and spread changes character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277356" y="2057400"/>
            <a:ext cx="5362956" cy="2834640"/>
          </a:xfrm>
          <a:prstGeom prst="rect">
            <a:avLst/>
          </a:prstGeom>
          <a:solidFill>
            <a:srgbClr val="F4F6FA"/>
          </a:solidFill>
          <a:effectLst>
            <a:outerShdw blurRad="88900" dist="38100" dir="8100000" algn="bl" rotWithShape="0">
              <a:srgbClr val="000000">
                <a:alpha val="13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277356" y="2057400"/>
            <a:ext cx="82296" cy="2834640"/>
          </a:xfrm>
          <a:prstGeom prst="rect">
            <a:avLst/>
          </a:prstGeom>
          <a:solidFill>
            <a:srgbClr val="1B998B"/>
          </a:solidFill>
        </p:spPr>
      </p:sp>
      <p:sp>
        <p:nvSpPr>
          <p:cNvPr id="11" name="Text 9"/>
          <p:cNvSpPr/>
          <p:nvPr/>
        </p:nvSpPr>
        <p:spPr>
          <a:xfrm>
            <a:off x="6533388" y="2212848"/>
            <a:ext cx="4905756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B998B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When L is HIGH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6533388" y="2651760"/>
            <a:ext cx="4494276" cy="20116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Issuer absorbs redemptions from cash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T-bill holdings stay untouched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privilege channel continues undisturbed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48640" y="5074920"/>
            <a:ext cx="11091672" cy="868680"/>
          </a:xfrm>
          <a:prstGeom prst="rect">
            <a:avLst/>
          </a:prstGeom>
          <a:solidFill>
            <a:srgbClr val="0E2746"/>
          </a:solidFill>
          <a:effectLst>
            <a:outerShdw blurRad="88900" dist="38100" dir="8100000" algn="bl" rotWithShape="0">
              <a:srgbClr val="000000">
                <a:alpha val="13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822960" y="5193792"/>
            <a:ext cx="10543032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E8A1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estimate:  </a:t>
            </a: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critical buffer region in the low teens (L* ≈ 13%) separating amplification from forced liquidation — located consistently by two methods, though imprecisely estimated.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Stablecoins &amp; the Exorbitant Privilege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1274552" y="6400800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B99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THRESHOLD RESULT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1672" cy="685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3294B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A Fragility Region in the Low Teens (≈ 13%)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11091672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5B6B82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Two methods independently locate the break near 13–15%. The location is robust; the precision is limited by N = 51.</a:t>
            </a:r>
            <a:endParaRPr lang="en-US" sz="1500" dirty="0"/>
          </a:p>
        </p:txBody>
      </p:sp>
      <p:pic>
        <p:nvPicPr>
          <p:cNvPr id="5" name="Image 0" descr="figs/image6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920240"/>
            <a:ext cx="5577840" cy="313890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48640" y="5095724"/>
            <a:ext cx="55778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Hansen (2000) SSR over the buffer grid — minimized at q* = 0.130, with the bootstrap 90% CI shaded.</a:t>
            </a:r>
            <a:endParaRPr lang="en-US" sz="1050" dirty="0"/>
          </a:p>
        </p:txBody>
      </p:sp>
      <p:sp>
        <p:nvSpPr>
          <p:cNvPr id="7" name="Shape 4"/>
          <p:cNvSpPr/>
          <p:nvPr/>
        </p:nvSpPr>
        <p:spPr>
          <a:xfrm>
            <a:off x="6446520" y="1920240"/>
            <a:ext cx="5193792" cy="960120"/>
          </a:xfrm>
          <a:prstGeom prst="rect">
            <a:avLst/>
          </a:prstGeom>
          <a:solidFill>
            <a:srgbClr val="F4F6FA"/>
          </a:solidFill>
          <a:effectLst>
            <a:outerShdw blurRad="88900" dist="38100" dir="8100000" algn="bl" rotWithShape="0">
              <a:srgbClr val="000000">
                <a:alpha val="13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6446520" y="1920240"/>
            <a:ext cx="82296" cy="960120"/>
          </a:xfrm>
          <a:prstGeom prst="rect">
            <a:avLst/>
          </a:prstGeom>
          <a:solidFill>
            <a:srgbClr val="1B998B"/>
          </a:solidFill>
        </p:spPr>
      </p:sp>
      <p:sp>
        <p:nvSpPr>
          <p:cNvPr id="9" name="Text 6"/>
          <p:cNvSpPr/>
          <p:nvPr/>
        </p:nvSpPr>
        <p:spPr>
          <a:xfrm>
            <a:off x="6675120" y="2029968"/>
            <a:ext cx="4736592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3294B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q* = 13.0%</a:t>
            </a:r>
            <a:endParaRPr lang="en-US" sz="2200" dirty="0"/>
          </a:p>
        </p:txBody>
      </p:sp>
      <p:sp>
        <p:nvSpPr>
          <p:cNvPr id="10" name="Text 7"/>
          <p:cNvSpPr/>
          <p:nvPr/>
        </p:nvSpPr>
        <p:spPr>
          <a:xfrm>
            <a:off x="6675120" y="2468880"/>
            <a:ext cx="4736592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Hansen grid search — stable across TRIM 15/20/25%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6446520" y="2999232"/>
            <a:ext cx="5193792" cy="960120"/>
          </a:xfrm>
          <a:prstGeom prst="rect">
            <a:avLst/>
          </a:prstGeom>
          <a:solidFill>
            <a:srgbClr val="F4F6FA"/>
          </a:solidFill>
          <a:effectLst>
            <a:outerShdw blurRad="88900" dist="38100" dir="8100000" algn="bl" rotWithShape="0">
              <a:srgbClr val="000000">
                <a:alpha val="13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46520" y="2999232"/>
            <a:ext cx="82296" cy="960120"/>
          </a:xfrm>
          <a:prstGeom prst="rect">
            <a:avLst/>
          </a:prstGeom>
          <a:solidFill>
            <a:srgbClr val="13294B"/>
          </a:solidFill>
        </p:spPr>
      </p:sp>
      <p:sp>
        <p:nvSpPr>
          <p:cNvPr id="13" name="Text 10"/>
          <p:cNvSpPr/>
          <p:nvPr/>
        </p:nvSpPr>
        <p:spPr>
          <a:xfrm>
            <a:off x="6675120" y="3108960"/>
            <a:ext cx="4736592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3294B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c* = 14.9%</a:t>
            </a:r>
            <a:endParaRPr lang="en-US" sz="2200" dirty="0"/>
          </a:p>
        </p:txBody>
      </p:sp>
      <p:sp>
        <p:nvSpPr>
          <p:cNvPr id="14" name="Text 11"/>
          <p:cNvSpPr/>
          <p:nvPr/>
        </p:nvSpPr>
        <p:spPr>
          <a:xfrm>
            <a:off x="6675120" y="3547872"/>
            <a:ext cx="4736592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LSTAR smooth transition — locates the same region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6446520" y="4078224"/>
            <a:ext cx="5193792" cy="960120"/>
          </a:xfrm>
          <a:prstGeom prst="rect">
            <a:avLst/>
          </a:prstGeom>
          <a:solidFill>
            <a:srgbClr val="F4F6FA"/>
          </a:solidFill>
          <a:effectLst>
            <a:outerShdw blurRad="88900" dist="38100" dir="8100000" algn="bl" rotWithShape="0">
              <a:srgbClr val="000000">
                <a:alpha val="13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446520" y="4078224"/>
            <a:ext cx="82296" cy="960120"/>
          </a:xfrm>
          <a:prstGeom prst="rect">
            <a:avLst/>
          </a:prstGeom>
          <a:solidFill>
            <a:srgbClr val="E8A12C"/>
          </a:solidFill>
        </p:spPr>
      </p:sp>
      <p:sp>
        <p:nvSpPr>
          <p:cNvPr id="17" name="Text 14"/>
          <p:cNvSpPr/>
          <p:nvPr/>
        </p:nvSpPr>
        <p:spPr>
          <a:xfrm>
            <a:off x="6675120" y="4187952"/>
            <a:ext cx="4736592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3294B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p = 0.406</a:t>
            </a:r>
            <a:endParaRPr lang="en-US" sz="2200" dirty="0"/>
          </a:p>
        </p:txBody>
      </p:sp>
      <p:sp>
        <p:nvSpPr>
          <p:cNvPr id="18" name="Text 15"/>
          <p:cNvSpPr/>
          <p:nvPr/>
        </p:nvSpPr>
        <p:spPr>
          <a:xfrm>
            <a:off x="6675120" y="4626864"/>
            <a:ext cx="4736592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bootstrap; 90% CI [3.1%, 14.5%] — location robust, not precise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548640" y="5138928"/>
            <a:ext cx="11091672" cy="1188720"/>
          </a:xfrm>
          <a:prstGeom prst="rect">
            <a:avLst/>
          </a:prstGeom>
          <a:solidFill>
            <a:srgbClr val="F4F6FA"/>
          </a:solidFill>
          <a:effectLst>
            <a:outerShdw blurRad="88900" dist="38100" dir="8100000" algn="bl" rotWithShape="0">
              <a:srgbClr val="000000">
                <a:alpha val="13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548640" y="5138928"/>
            <a:ext cx="82296" cy="1188720"/>
          </a:xfrm>
          <a:prstGeom prst="rect">
            <a:avLst/>
          </a:prstGeom>
          <a:solidFill>
            <a:srgbClr val="C1121F"/>
          </a:solidFill>
        </p:spPr>
      </p:sp>
      <p:sp>
        <p:nvSpPr>
          <p:cNvPr id="21" name="Text 18"/>
          <p:cNvSpPr/>
          <p:nvPr/>
        </p:nvSpPr>
        <p:spPr>
          <a:xfrm>
            <a:off x="822960" y="5248656"/>
            <a:ext cx="10543032" cy="9601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1250" b="1" dirty="0">
                <a:solidFill>
                  <a:srgbClr val="1B99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Converges:  </a:t>
            </a:r>
            <a:r>
              <a:rPr lang="en-US" sz="125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threshold LOCATION (≈13%) — stable across both methods, all TRIM values, every model vintage.   </a:t>
            </a:r>
            <a:r>
              <a:rPr lang="en-US" sz="1250" b="1" dirty="0">
                <a:solidFill>
                  <a:srgbClr val="C11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NOT converge:  </a:t>
            </a:r>
            <a:r>
              <a:rPr lang="en-US" sz="125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regime-beta magnitudes — Hansen (hard split) and LSTAR (smooth model) estimate different objects, so do not show them as mutual corroboration.   </a:t>
            </a:r>
            <a:r>
              <a:rPr lang="en-US" sz="12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Claim only:  </a:t>
            </a:r>
            <a:r>
              <a:rPr lang="en-US" sz="1250" i="1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“two methods locate the same fragility region near 13%.”</a:t>
            </a:r>
            <a:endParaRPr lang="en-US" sz="1250" dirty="0"/>
          </a:p>
        </p:txBody>
      </p:sp>
      <p:sp>
        <p:nvSpPr>
          <p:cNvPr id="22" name="Text 19"/>
          <p:cNvSpPr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Stablecoins &amp; the Exorbitant Privilege</a:t>
            </a:r>
            <a:endParaRPr lang="en-US" sz="900" dirty="0"/>
          </a:p>
        </p:txBody>
      </p:sp>
      <p:sp>
        <p:nvSpPr>
          <p:cNvPr id="23" name="Text 20"/>
          <p:cNvSpPr/>
          <p:nvPr/>
        </p:nvSpPr>
        <p:spPr>
          <a:xfrm>
            <a:off x="11274552" y="6400800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B99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ROBUSTNESS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1672" cy="685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3294B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LSTAR Smooth-Transition Regression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11091672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5B6B82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Does Hansen's sharp-switch assumption drive the result? A gradual-transition model locates the same region.</a:t>
            </a:r>
            <a:endParaRPr lang="en-US" sz="1500" dirty="0"/>
          </a:p>
        </p:txBody>
      </p:sp>
      <p:pic>
        <p:nvPicPr>
          <p:cNvPr id="5" name="Image 0" descr="figs/image7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05356" y="1828800"/>
            <a:ext cx="8778240" cy="328773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48640" y="5212080"/>
            <a:ext cx="11091672" cy="1051560"/>
          </a:xfrm>
          <a:prstGeom prst="rect">
            <a:avLst/>
          </a:prstGeom>
          <a:solidFill>
            <a:srgbClr val="FBEEDD"/>
          </a:solidFill>
          <a:effectLst>
            <a:outerShdw blurRad="88900" dist="38100" dir="8100000" algn="bl" rotWithShape="0">
              <a:srgbClr val="000000">
                <a:alpha val="13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48640" y="5212080"/>
            <a:ext cx="82296" cy="1051560"/>
          </a:xfrm>
          <a:prstGeom prst="rect">
            <a:avLst/>
          </a:prstGeom>
          <a:solidFill>
            <a:srgbClr val="E8A12C"/>
          </a:solidFill>
        </p:spPr>
      </p:sp>
      <p:sp>
        <p:nvSpPr>
          <p:cNvPr id="8" name="Text 5"/>
          <p:cNvSpPr/>
          <p:nvPr/>
        </p:nvSpPr>
        <p:spPr>
          <a:xfrm>
            <a:off x="822960" y="5303520"/>
            <a:ext cx="10543032" cy="8686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06000"/>
              </a:lnSpc>
              <a:buNone/>
            </a:pPr>
            <a:r>
              <a:rPr lang="en-US" sz="12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this adds:  </a:t>
            </a:r>
            <a:r>
              <a:rPr lang="en-US" sz="120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transition midpoint c* = 14.9% lands inside the Hansen bootstrap CI — two methods, same 13–15% region.   </a:t>
            </a:r>
            <a:r>
              <a:rPr lang="en-US" sz="1200" b="1" dirty="0">
                <a:solidFill>
                  <a:srgbClr val="C11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with care:  </a:t>
            </a:r>
            <a:r>
              <a:rPr lang="en-US" sz="120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per-regime betas (−1.81 / −12.59) come from a different functional form than Hansen's — treat them as the LSTAR fit, not as beta-level confirmation. The robust cross-model claim is the threshold LOCATION.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Stablecoins &amp; the Exorbitant Privilege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11274552" y="6400800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1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B99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MECHANISM — HEADLINE EVIDENCE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1672" cy="685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3294B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Auction Bid-Cover: Only the T-bill-Heavy Issuer Moves It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11091672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5B6B82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Issuer heterogeneity as a natural control: USDT (~80% T-bills) should suppress bid-cover; USDC (~30–40%) should not. Same macro environment — the difference isolates the channel.</a:t>
            </a:r>
            <a:endParaRPr lang="en-US" sz="14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/>
        </p:nvGraphicFramePr>
        <p:xfrm>
          <a:off x="548640" y="2057400"/>
          <a:ext cx="11091672" cy="2377440"/>
        </p:xfrm>
        <a:graphic>
          <a:graphicData uri="http://schemas.openxmlformats.org/drawingml/2006/table">
            <a:tbl>
              <a:tblPr/>
              <a:tblGrid>
                <a:gridCol w="2011680"/>
                <a:gridCol w="1815998"/>
                <a:gridCol w="1815998"/>
                <a:gridCol w="1815998"/>
                <a:gridCol w="1815998"/>
                <a:gridCol w="1815998"/>
              </a:tblGrid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Maturity</a:t>
                      </a:r>
                      <a:endParaRPr lang="en-US" sz="13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β USDT</a:t>
                      </a:r>
                      <a:endParaRPr lang="en-US" sz="13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 USDT</a:t>
                      </a:r>
                      <a:endParaRPr lang="en-US" sz="13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β USDC</a:t>
                      </a:r>
                      <a:endParaRPr lang="en-US" sz="13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 USDC</a:t>
                      </a:r>
                      <a:endParaRPr lang="en-US" sz="13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Wald p</a:t>
                      </a:r>
                      <a:endParaRPr lang="en-US" sz="13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3342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4-Week</a:t>
                      </a:r>
                      <a:endParaRPr lang="en-US" sz="13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1B99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−1.225</a:t>
                      </a:r>
                      <a:endParaRPr lang="en-US" sz="13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3342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0.010 **</a:t>
                      </a:r>
                      <a:endParaRPr lang="en-US" sz="13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5B6B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+0.452</a:t>
                      </a:r>
                      <a:endParaRPr lang="en-US" sz="13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5B6B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0.060</a:t>
                      </a:r>
                      <a:endParaRPr lang="en-US" sz="13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3342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 ***</a:t>
                      </a:r>
                      <a:endParaRPr lang="en-US" sz="13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3342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8-Week</a:t>
                      </a:r>
                      <a:endParaRPr lang="en-US" sz="13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1B99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−1.553</a:t>
                      </a:r>
                      <a:endParaRPr lang="en-US" sz="13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3342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0.007 ***</a:t>
                      </a:r>
                      <a:endParaRPr lang="en-US" sz="13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5B6B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+0.145</a:t>
                      </a:r>
                      <a:endParaRPr lang="en-US" sz="13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5B6B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0.516</a:t>
                      </a:r>
                      <a:endParaRPr lang="en-US" sz="13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3342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0.003 ***</a:t>
                      </a:r>
                      <a:endParaRPr lang="en-US" sz="13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3342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13-Week</a:t>
                      </a:r>
                      <a:endParaRPr lang="en-US" sz="13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1B99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−1.366</a:t>
                      </a:r>
                      <a:endParaRPr lang="en-US" sz="13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3342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0.003 ***</a:t>
                      </a:r>
                      <a:endParaRPr lang="en-US" sz="13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5B6B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+0.338</a:t>
                      </a:r>
                      <a:endParaRPr lang="en-US" sz="13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5B6B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0.131</a:t>
                      </a:r>
                      <a:endParaRPr lang="en-US" sz="13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3342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0.000 ***</a:t>
                      </a:r>
                      <a:endParaRPr lang="en-US" sz="13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3342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26-Week</a:t>
                      </a:r>
                      <a:endParaRPr lang="en-US" sz="13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1B99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−1.587</a:t>
                      </a:r>
                      <a:endParaRPr lang="en-US" sz="13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3342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0.000 ***</a:t>
                      </a:r>
                      <a:endParaRPr lang="en-US" sz="13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5B6B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−0.016</a:t>
                      </a:r>
                      <a:endParaRPr lang="en-US" sz="13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5B6B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0.937</a:t>
                      </a:r>
                      <a:endParaRPr lang="en-US" sz="13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3342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 ***</a:t>
                      </a:r>
                      <a:endParaRPr lang="en-US" sz="13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48640" y="4983480"/>
            <a:ext cx="11091672" cy="960120"/>
          </a:xfrm>
          <a:prstGeom prst="rect">
            <a:avLst/>
          </a:prstGeom>
          <a:solidFill>
            <a:srgbClr val="0E2746"/>
          </a:solidFill>
          <a:effectLst>
            <a:outerShdw blurRad="88900" dist="38100" dir="8100000" algn="bl" rotWithShape="0">
              <a:srgbClr val="000000">
                <a:alpha val="13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48640" y="4983480"/>
            <a:ext cx="82296" cy="960120"/>
          </a:xfrm>
          <a:prstGeom prst="rect">
            <a:avLst/>
          </a:prstGeom>
          <a:solidFill>
            <a:srgbClr val="1B998B"/>
          </a:solidFill>
        </p:spPr>
      </p:sp>
      <p:sp>
        <p:nvSpPr>
          <p:cNvPr id="8" name="Text 5"/>
          <p:cNvSpPr/>
          <p:nvPr/>
        </p:nvSpPr>
        <p:spPr>
          <a:xfrm>
            <a:off x="822960" y="5102352"/>
            <a:ext cx="10543032" cy="7315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USDT: negative and significant at all four maturities.  USDC: insignificant everywhere.  Wald rejects β_USDT = β_USDC (p &lt; 0.004).  </a:t>
            </a:r>
            <a:r>
              <a:rPr lang="en-US" sz="1250" b="1" dirty="0">
                <a:solidFill>
                  <a:srgbClr val="E8A1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our cleanest causal evidence — and the one result that does not depend on the spread variable, so the spread correction left it untouched.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Stablecoins &amp; the Exorbitant Privilege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11274552" y="6400800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E8A1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SUPPORTING / ILLUSTRATIVE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1672" cy="685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3294B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Event Study — Honest About Its Limits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11091672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5B6B82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Raw daily spread around stress events (not CARs). Included to illustrate plausibility — not as proof.</a:t>
            </a:r>
            <a:endParaRPr lang="en-US" sz="1500" dirty="0"/>
          </a:p>
        </p:txBody>
      </p:sp>
      <p:pic>
        <p:nvPicPr>
          <p:cNvPr id="5" name="Image 0" descr="figs/image8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28800"/>
            <a:ext cx="5486400" cy="2514600"/>
          </a:xfrm>
          <a:prstGeom prst="rect">
            <a:avLst/>
          </a:prstGeom>
        </p:spPr>
      </p:pic>
      <p:pic>
        <p:nvPicPr>
          <p:cNvPr id="6" name="Image 1" descr="figs/image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53912" y="1828800"/>
            <a:ext cx="5486400" cy="25146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548640" y="4526280"/>
            <a:ext cx="11091672" cy="1325880"/>
          </a:xfrm>
          <a:prstGeom prst="rect">
            <a:avLst/>
          </a:prstGeom>
          <a:solidFill>
            <a:srgbClr val="F4F6FA"/>
          </a:solidFill>
          <a:effectLst>
            <a:outerShdw blurRad="88900" dist="38100" dir="8100000" algn="bl" rotWithShape="0">
              <a:srgbClr val="000000">
                <a:alpha val="13000"/>
              </a:srgbClr>
            </a:outerShdw>
          </a:effectLst>
        </p:spPr>
      </p:sp>
      <p:sp>
        <p:nvSpPr>
          <p:cNvPr id="8" name="Shape 4"/>
          <p:cNvSpPr/>
          <p:nvPr/>
        </p:nvSpPr>
        <p:spPr>
          <a:xfrm>
            <a:off x="548640" y="4526280"/>
            <a:ext cx="82296" cy="1325880"/>
          </a:xfrm>
          <a:prstGeom prst="rect">
            <a:avLst/>
          </a:prstGeom>
          <a:solidFill>
            <a:srgbClr val="C1121F"/>
          </a:solidFill>
        </p:spPr>
      </p:sp>
      <p:sp>
        <p:nvSpPr>
          <p:cNvPr id="9" name="Text 5"/>
          <p:cNvSpPr/>
          <p:nvPr/>
        </p:nvSpPr>
        <p:spPr>
          <a:xfrm>
            <a:off x="822960" y="4636008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3294B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The honest read</a:t>
            </a:r>
            <a:endParaRPr lang="en-US" sz="1400" dirty="0"/>
          </a:p>
        </p:txBody>
      </p:sp>
      <p:sp>
        <p:nvSpPr>
          <p:cNvPr id="10" name="Text 6"/>
          <p:cNvSpPr/>
          <p:nvPr/>
        </p:nvSpPr>
        <p:spPr>
          <a:xfrm>
            <a:off x="822960" y="4956048"/>
            <a:ext cx="10543032" cy="8229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3 events; FOMC contamination in 2 of 3.   </a:t>
            </a:r>
            <a:r>
              <a:rPr lang="en-US" sz="125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CARs individually insignificant (−41 / +23 / −27 bps).   </a:t>
            </a:r>
            <a:endParaRPr lang="en-US" sz="12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Placebo ratio 7.0× — suggestive, not individually significant.   </a:t>
            </a:r>
            <a:r>
              <a:rPr lang="en-US" sz="125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Story has shifted across re-runs — too unstable to be evidence.</a:t>
            </a:r>
            <a:endParaRPr lang="en-US" sz="1250" dirty="0"/>
          </a:p>
        </p:txBody>
      </p:sp>
      <p:sp>
        <p:nvSpPr>
          <p:cNvPr id="11" name="Text 7"/>
          <p:cNvSpPr/>
          <p:nvPr/>
        </p:nvSpPr>
        <p:spPr>
          <a:xfrm>
            <a:off x="548640" y="5989320"/>
            <a:ext cx="11091672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i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Role: illustrate the mechanism. The proof lives in the regression and the bid-cover test.</a:t>
            </a:r>
            <a:endParaRPr lang="en-US" sz="1250" dirty="0"/>
          </a:p>
        </p:txBody>
      </p:sp>
      <p:sp>
        <p:nvSpPr>
          <p:cNvPr id="12" name="Text 8"/>
          <p:cNvSpPr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Stablecoins &amp; the Exorbitant Privilege</a:t>
            </a:r>
            <a:endParaRPr lang="en-US" sz="900" dirty="0"/>
          </a:p>
        </p:txBody>
      </p:sp>
      <p:sp>
        <p:nvSpPr>
          <p:cNvPr id="13" name="Text 9"/>
          <p:cNvSpPr/>
          <p:nvPr/>
        </p:nvSpPr>
        <p:spPr>
          <a:xfrm>
            <a:off x="11274552" y="6400800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B99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POLICY IMPLICATIONS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1672" cy="685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3294B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From an Empirical Region to a Regulatory Reference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3514344" cy="2057400"/>
          </a:xfrm>
          <a:prstGeom prst="rect">
            <a:avLst/>
          </a:prstGeom>
          <a:solidFill>
            <a:srgbClr val="F4F6FA"/>
          </a:solidFill>
          <a:effectLst>
            <a:outerShdw blurRad="88900" dist="38100" dir="8100000" algn="bl" rotWithShape="0">
              <a:srgbClr val="000000">
                <a:alpha val="13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48640" y="1508760"/>
            <a:ext cx="82296" cy="2057400"/>
          </a:xfrm>
          <a:prstGeom prst="rect">
            <a:avLst/>
          </a:prstGeom>
          <a:solidFill>
            <a:srgbClr val="13294B"/>
          </a:solidFill>
        </p:spPr>
      </p:sp>
      <p:sp>
        <p:nvSpPr>
          <p:cNvPr id="6" name="Text 4"/>
          <p:cNvSpPr/>
          <p:nvPr/>
        </p:nvSpPr>
        <p:spPr>
          <a:xfrm>
            <a:off x="749808" y="1645920"/>
            <a:ext cx="3148584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3294B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MiCA (EU, 2024)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49808" y="2240280"/>
            <a:ext cx="3130296" cy="11887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Mandates liquid-reserve requirements for ‘significant’ e-money tokens. Our region gives an empirically grounded floor.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337304" y="1508760"/>
            <a:ext cx="3514344" cy="2057400"/>
          </a:xfrm>
          <a:prstGeom prst="rect">
            <a:avLst/>
          </a:prstGeom>
          <a:solidFill>
            <a:srgbClr val="F4F6FA"/>
          </a:solidFill>
          <a:effectLst>
            <a:outerShdw blurRad="88900" dist="38100" dir="8100000" algn="bl" rotWithShape="0">
              <a:srgbClr val="000000">
                <a:alpha val="13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337304" y="1508760"/>
            <a:ext cx="82296" cy="2057400"/>
          </a:xfrm>
          <a:prstGeom prst="rect">
            <a:avLst/>
          </a:prstGeom>
          <a:solidFill>
            <a:srgbClr val="1B998B"/>
          </a:solidFill>
        </p:spPr>
      </p:sp>
      <p:sp>
        <p:nvSpPr>
          <p:cNvPr id="10" name="Text 8"/>
          <p:cNvSpPr/>
          <p:nvPr/>
        </p:nvSpPr>
        <p:spPr>
          <a:xfrm>
            <a:off x="4538472" y="1645920"/>
            <a:ext cx="3148584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3294B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GENIUS Act (US, 2025)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538472" y="2240280"/>
            <a:ext cx="3130296" cy="11887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Requires issuers to hold cash or near-cash reserves. Our CI [3.1%, 14.5%] maps to a regulatory range.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8125968" y="1508760"/>
            <a:ext cx="3514344" cy="2057400"/>
          </a:xfrm>
          <a:prstGeom prst="rect">
            <a:avLst/>
          </a:prstGeom>
          <a:solidFill>
            <a:srgbClr val="F4F6FA"/>
          </a:solidFill>
          <a:effectLst>
            <a:outerShdw blurRad="88900" dist="38100" dir="8100000" algn="bl" rotWithShape="0">
              <a:srgbClr val="000000">
                <a:alpha val="13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8125968" y="1508760"/>
            <a:ext cx="82296" cy="2057400"/>
          </a:xfrm>
          <a:prstGeom prst="rect">
            <a:avLst/>
          </a:prstGeom>
          <a:solidFill>
            <a:srgbClr val="E8A12C"/>
          </a:solidFill>
        </p:spPr>
      </p:sp>
      <p:sp>
        <p:nvSpPr>
          <p:cNvPr id="14" name="Text 12"/>
          <p:cNvSpPr/>
          <p:nvPr/>
        </p:nvSpPr>
        <p:spPr>
          <a:xfrm>
            <a:off x="8327136" y="1645920"/>
            <a:ext cx="3148584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3294B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Market trajectory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327136" y="2240280"/>
            <a:ext cx="3130296" cy="11887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Supply heading toward $1–2T. At that scale, forced-liquidation risk becomes systemic — a break-the-buck analogue.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48640" y="3794760"/>
            <a:ext cx="11091672" cy="1828800"/>
          </a:xfrm>
          <a:prstGeom prst="rect">
            <a:avLst/>
          </a:prstGeom>
          <a:solidFill>
            <a:srgbClr val="0E2746"/>
          </a:solidFill>
          <a:effectLst>
            <a:outerShdw blurRad="88900" dist="38100" dir="8100000" algn="bl" rotWithShape="0">
              <a:srgbClr val="000000">
                <a:alpha val="13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822960" y="3931920"/>
            <a:ext cx="10543032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E8A12C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Our reference — stated as a range, not a precise mandate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822960" y="4343400"/>
            <a:ext cx="10543032" cy="11887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a low-teens liquid-buffer floor (cash / near-cash), with estimates centered near 13% of outstanding supply — as a </a:t>
            </a: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behavioural break, not a welfare optimum.</a:t>
            </a:r>
            <a:r>
              <a:rPr lang="en-US" sz="1400" dirty="0">
                <a:solidFill>
                  <a:srgbClr val="AEC0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Below ~3% is clearly under-reserved; above ~14.5% is clearly adequate. As attestation data accumulates, the estimate will sharpen.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Stablecoins &amp; the Exorbitant Privilege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1274552" y="6400800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B99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1672" cy="685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3294B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Three Lines of Evidence — Each Limited, Together Coherent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3514344" cy="3840480"/>
          </a:xfrm>
          <a:prstGeom prst="rect">
            <a:avLst/>
          </a:prstGeom>
          <a:solidFill>
            <a:srgbClr val="F4F6FA"/>
          </a:solidFill>
          <a:effectLst>
            <a:outerShdw blurRad="88900" dist="38100" dir="8100000" algn="bl" rotWithShape="0">
              <a:srgbClr val="000000">
                <a:alpha val="13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48640" y="1554480"/>
            <a:ext cx="82296" cy="3840480"/>
          </a:xfrm>
          <a:prstGeom prst="rect">
            <a:avLst/>
          </a:prstGeom>
          <a:solidFill>
            <a:srgbClr val="1B998B"/>
          </a:solidFill>
        </p:spPr>
      </p:sp>
      <p:sp>
        <p:nvSpPr>
          <p:cNvPr id="6" name="Shape 4"/>
          <p:cNvSpPr/>
          <p:nvPr/>
        </p:nvSpPr>
        <p:spPr>
          <a:xfrm>
            <a:off x="777240" y="1737360"/>
            <a:ext cx="384048" cy="384048"/>
          </a:xfrm>
          <a:prstGeom prst="ellipse">
            <a:avLst/>
          </a:prstGeom>
          <a:solidFill>
            <a:srgbClr val="1B998B"/>
          </a:solidFill>
        </p:spPr>
      </p:sp>
      <p:sp>
        <p:nvSpPr>
          <p:cNvPr id="7" name="Text 5"/>
          <p:cNvSpPr/>
          <p:nvPr/>
        </p:nvSpPr>
        <p:spPr>
          <a:xfrm>
            <a:off x="777240" y="1737360"/>
            <a:ext cx="384048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280160" y="1737360"/>
            <a:ext cx="2599944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3294B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Regression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77240" y="2423160"/>
            <a:ext cx="3057144" cy="2743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β₁ &lt; 0 — direction robust across every spec &amp; sample.</a:t>
            </a:r>
            <a:endParaRPr lang="en-US" sz="13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Stablecoins amplify the privilege in normal times.</a:t>
            </a:r>
            <a:endParaRPr lang="en-US" sz="13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~30 bps compression per 1-SD supply growth.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337304" y="1554480"/>
            <a:ext cx="3514344" cy="3840480"/>
          </a:xfrm>
          <a:prstGeom prst="rect">
            <a:avLst/>
          </a:prstGeom>
          <a:solidFill>
            <a:srgbClr val="F4F6FA"/>
          </a:solidFill>
          <a:effectLst>
            <a:outerShdw blurRad="88900" dist="38100" dir="8100000" algn="bl" rotWithShape="0">
              <a:srgbClr val="000000">
                <a:alpha val="13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337304" y="1554480"/>
            <a:ext cx="82296" cy="3840480"/>
          </a:xfrm>
          <a:prstGeom prst="rect">
            <a:avLst/>
          </a:prstGeom>
          <a:solidFill>
            <a:srgbClr val="5B8DEF"/>
          </a:solidFill>
        </p:spPr>
      </p:sp>
      <p:sp>
        <p:nvSpPr>
          <p:cNvPr id="12" name="Shape 10"/>
          <p:cNvSpPr/>
          <p:nvPr/>
        </p:nvSpPr>
        <p:spPr>
          <a:xfrm>
            <a:off x="4565904" y="1737360"/>
            <a:ext cx="384048" cy="384048"/>
          </a:xfrm>
          <a:prstGeom prst="ellipse">
            <a:avLst/>
          </a:prstGeom>
          <a:solidFill>
            <a:srgbClr val="5B8DEF"/>
          </a:solidFill>
        </p:spPr>
      </p:sp>
      <p:sp>
        <p:nvSpPr>
          <p:cNvPr id="13" name="Text 11"/>
          <p:cNvSpPr/>
          <p:nvPr/>
        </p:nvSpPr>
        <p:spPr>
          <a:xfrm>
            <a:off x="4565904" y="1737360"/>
            <a:ext cx="384048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068824" y="1737360"/>
            <a:ext cx="2599944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3294B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Bid-cover mechanism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4565904" y="2423160"/>
            <a:ext cx="3057144" cy="2743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the T-bill-heavy issuer (USDT) moves auction bid-cover.</a:t>
            </a:r>
            <a:endParaRPr lang="en-US" sz="13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Wald rejects equality with USDC (p &lt; 0.004).</a:t>
            </a:r>
            <a:endParaRPr lang="en-US" sz="13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Cleanest causal evidence; spread-independent.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8125968" y="1554480"/>
            <a:ext cx="3514344" cy="3840480"/>
          </a:xfrm>
          <a:prstGeom prst="rect">
            <a:avLst/>
          </a:prstGeom>
          <a:solidFill>
            <a:srgbClr val="F4F6FA"/>
          </a:solidFill>
          <a:effectLst>
            <a:outerShdw blurRad="88900" dist="38100" dir="8100000" algn="bl" rotWithShape="0">
              <a:srgbClr val="000000">
                <a:alpha val="13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125968" y="1554480"/>
            <a:ext cx="82296" cy="3840480"/>
          </a:xfrm>
          <a:prstGeom prst="rect">
            <a:avLst/>
          </a:prstGeom>
          <a:solidFill>
            <a:srgbClr val="E8A12C"/>
          </a:solidFill>
        </p:spPr>
      </p:sp>
      <p:sp>
        <p:nvSpPr>
          <p:cNvPr id="18" name="Shape 16"/>
          <p:cNvSpPr/>
          <p:nvPr/>
        </p:nvSpPr>
        <p:spPr>
          <a:xfrm>
            <a:off x="8354568" y="1737360"/>
            <a:ext cx="384048" cy="384048"/>
          </a:xfrm>
          <a:prstGeom prst="ellipse">
            <a:avLst/>
          </a:prstGeom>
          <a:solidFill>
            <a:srgbClr val="E8A12C"/>
          </a:solidFill>
        </p:spPr>
      </p:sp>
      <p:sp>
        <p:nvSpPr>
          <p:cNvPr id="19" name="Text 17"/>
          <p:cNvSpPr/>
          <p:nvPr/>
        </p:nvSpPr>
        <p:spPr>
          <a:xfrm>
            <a:off x="8354568" y="1737360"/>
            <a:ext cx="384048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8857488" y="1737360"/>
            <a:ext cx="2599944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3294B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Threshold region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354568" y="2423160"/>
            <a:ext cx="3057144" cy="2743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methods locate a break near 13% (Hansen, LSTAR).</a:t>
            </a:r>
            <a:endParaRPr lang="en-US" sz="13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Location robust; precision limited (p = 0.406, N = 51).</a:t>
            </a:r>
            <a:endParaRPr lang="en-US" sz="13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Reported as a region, not a knife-edge.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48640" y="5577840"/>
            <a:ext cx="11091672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i="1" dirty="0">
                <a:solidFill>
                  <a:srgbClr val="13294B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All three point the same way: stablecoins amplify the exorbitant privilege, with a fragility threshold near a 13% liquid buffer.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Stablecoins &amp; the Exorbitant Privilege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1274552" y="6400800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1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B99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LIMITATIONS &amp; NEXT STEPS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1672" cy="685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3294B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Honest Constraints and the Agenda Ahead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5362956" cy="4297680"/>
          </a:xfrm>
          <a:prstGeom prst="rect">
            <a:avLst/>
          </a:prstGeom>
          <a:solidFill>
            <a:srgbClr val="F4F6FA"/>
          </a:solidFill>
          <a:effectLst>
            <a:outerShdw blurRad="88900" dist="38100" dir="8100000" algn="bl" rotWithShape="0">
              <a:srgbClr val="000000">
                <a:alpha val="13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48640" y="1508760"/>
            <a:ext cx="82296" cy="4297680"/>
          </a:xfrm>
          <a:prstGeom prst="rect">
            <a:avLst/>
          </a:prstGeom>
          <a:solidFill>
            <a:srgbClr val="C1121F"/>
          </a:solidFill>
        </p:spPr>
      </p:sp>
      <p:sp>
        <p:nvSpPr>
          <p:cNvPr id="6" name="Text 4"/>
          <p:cNvSpPr/>
          <p:nvPr/>
        </p:nvSpPr>
        <p:spPr>
          <a:xfrm>
            <a:off x="804672" y="1645920"/>
            <a:ext cx="4905756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C1121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Limitations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804672" y="2103120"/>
            <a:ext cx="4860036" cy="3657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= 51 months limits power for threshold confirmation.</a:t>
            </a:r>
            <a:endParaRPr lang="en-US" sz="13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 forward-filled for ~13 months (Tether quarterly attestations).</a:t>
            </a:r>
            <a:endParaRPr lang="en-US" sz="13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Spread benchmark still overnight SOFR — finish with 3-mo Term SOFR.</a:t>
            </a:r>
            <a:endParaRPr lang="en-US" sz="13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Endogeneity not fully resolved (Granger addresses, doesn’t solve).</a:t>
            </a:r>
            <a:endParaRPr lang="en-US" sz="13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3 stress events; FOMC contamination in 2 of 3.</a:t>
            </a:r>
            <a:endParaRPr lang="en-US" sz="13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 Jan 2022 – Mar 2026; may not generalize past 2026.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277356" y="1508760"/>
            <a:ext cx="5362956" cy="4297680"/>
          </a:xfrm>
          <a:prstGeom prst="rect">
            <a:avLst/>
          </a:prstGeom>
          <a:solidFill>
            <a:srgbClr val="F4F6FA"/>
          </a:solidFill>
          <a:effectLst>
            <a:outerShdw blurRad="88900" dist="38100" dir="8100000" algn="bl" rotWithShape="0">
              <a:srgbClr val="000000">
                <a:alpha val="13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277356" y="1508760"/>
            <a:ext cx="82296" cy="4297680"/>
          </a:xfrm>
          <a:prstGeom prst="rect">
            <a:avLst/>
          </a:prstGeom>
          <a:solidFill>
            <a:srgbClr val="1B998B"/>
          </a:solidFill>
        </p:spPr>
      </p:sp>
      <p:sp>
        <p:nvSpPr>
          <p:cNvPr id="10" name="Text 8"/>
          <p:cNvSpPr/>
          <p:nvPr/>
        </p:nvSpPr>
        <p:spPr>
          <a:xfrm>
            <a:off x="6533388" y="1645920"/>
            <a:ext cx="4905756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B998B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Next steps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6533388" y="2103120"/>
            <a:ext cx="4494276" cy="3657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Longer sample as attestations accumulate → power improves.</a:t>
            </a:r>
            <a:endParaRPr lang="en-US" sz="13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Better identification: instrument supply with regulatory announcements.</a:t>
            </a:r>
            <a:endParaRPr lang="en-US" sz="13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High-frequency: daily spread + daily supply for cleaner events.</a:t>
            </a:r>
            <a:endParaRPr lang="en-US" sz="13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Non-USD ecosystems: euro stablecoins, CBDC interactions.</a:t>
            </a:r>
            <a:endParaRPr lang="en-US" sz="13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Cross-country: does the same mechanism hold for EUR safe assets?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Stablecoins &amp; the Exorbitant Privilege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11274552" y="6400800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1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B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B998B"/>
          </a:solidFill>
        </p:spPr>
      </p:sp>
      <p:sp>
        <p:nvSpPr>
          <p:cNvPr id="3" name="Shape 1"/>
          <p:cNvSpPr/>
          <p:nvPr/>
        </p:nvSpPr>
        <p:spPr>
          <a:xfrm>
            <a:off x="164592" y="0"/>
            <a:ext cx="54864" cy="6858000"/>
          </a:xfrm>
          <a:prstGeom prst="rect">
            <a:avLst/>
          </a:prstGeom>
          <a:solidFill>
            <a:srgbClr val="E8A12C"/>
          </a:solidFill>
        </p:spPr>
      </p:sp>
      <p:sp>
        <p:nvSpPr>
          <p:cNvPr id="4" name="Text 2"/>
          <p:cNvSpPr/>
          <p:nvPr/>
        </p:nvSpPr>
        <p:spPr>
          <a:xfrm>
            <a:off x="914400" y="2011680"/>
            <a:ext cx="10332720" cy="8229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Thank You — Questions Welcome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914400" y="2926080"/>
            <a:ext cx="1033272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i="1" dirty="0">
                <a:solidFill>
                  <a:srgbClr val="CADCFC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Stablecoins and the Exorbitant Privilege  ·  Safe-Asset Demand and Its Systemic Fragility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914400" y="3840480"/>
            <a:ext cx="1033272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7D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Mireu Kim   ·   Sara Chekroune   ·   Oybek Ibragimov   ·   Jade Zhu   ·   Alexandre Godefroy   ·   Baptiste Degand   ·   Minjin Kim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914400" y="4297680"/>
            <a:ext cx="1005840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DB2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Yonsei GSIS  |  Topics in International Finance  |  June 2026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914400" y="4937760"/>
            <a:ext cx="1005840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8A1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github.com/stablecoin-privilege-research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16197</Words>
  <Application>WPS Presentation</Application>
  <PresentationFormat>On-screen Show (16:9)</PresentationFormat>
  <Paragraphs>663</Paragraphs>
  <Slides>22</Slides>
  <Notes>20</Notes>
  <HiddenSlides>0</HiddenSlides>
  <MMClips>0</MMClips>
  <ScaleCrop>false</ScaleCrop>
  <HeadingPairs>
    <vt:vector size="6" baseType="variant">
      <vt:variant>
        <vt:lpstr>已用的字体</vt:lpstr>
      </vt:variant>
      <vt:variant>
        <vt:i4>21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22</vt:i4>
      </vt:variant>
    </vt:vector>
  </HeadingPairs>
  <TitlesOfParts>
    <vt:vector size="44" baseType="lpstr">
      <vt:lpstr>Arial</vt:lpstr>
      <vt:lpstr>SimSun</vt:lpstr>
      <vt:lpstr>Wingdings</vt:lpstr>
      <vt:lpstr>Calibri</vt:lpstr>
      <vt:lpstr>Helvetica Neue</vt:lpstr>
      <vt:lpstr>Calibri</vt:lpstr>
      <vt:lpstr>Calibri</vt:lpstr>
      <vt:lpstr>Georgia</vt:lpstr>
      <vt:lpstr>Georgia</vt:lpstr>
      <vt:lpstr>Georgia</vt:lpstr>
      <vt:lpstr>Consolas</vt:lpstr>
      <vt:lpstr>Consolas</vt:lpstr>
      <vt:lpstr>Consolas</vt:lpstr>
      <vt:lpstr>Arial</vt:lpstr>
      <vt:lpstr>Microsoft YaHei</vt:lpstr>
      <vt:lpstr>汉仪旗黑</vt:lpstr>
      <vt:lpstr>Arial Unicode MS</vt:lpstr>
      <vt:lpstr>汉仪书宋二KW</vt:lpstr>
      <vt:lpstr>苹方-简</vt:lpstr>
      <vt:lpstr>宋体-简</vt:lpstr>
      <vt:lpstr>Apple Color Emoji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PptxGenJS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Stablecoins and the Exorbitant Privilege</dc:title>
  <dc:creator>Stablecoin Privilege Research Group</dc:creator>
  <dc:subject>PptxGenJS Presentation</dc:subject>
  <cp:lastModifiedBy>oybek</cp:lastModifiedBy>
  <cp:revision>3</cp:revision>
  <dcterms:created xsi:type="dcterms:W3CDTF">2026-06-04T16:12:07Z</dcterms:created>
  <dcterms:modified xsi:type="dcterms:W3CDTF">2026-06-04T16:12:07Z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1033-12.1.25897.25897</vt:lpwstr>
  </property>
  <property fmtid="{D5CDD505-2E9C-101B-9397-08002B2CF9AE}" pid="3" name="ICV">
    <vt:lpwstr>E17E40DA308C6F380367216A9000A39A_42</vt:lpwstr>
  </property>
</Properties>
</file>