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60" r:id="rId8"/>
    <p:sldId id="261" r:id="rId9"/>
    <p:sldId id="262" r:id="rId10"/>
    <p:sldId id="263" r:id="rId11"/>
    <p:sldId id="280" r:id="rId12"/>
    <p:sldId id="264" r:id="rId13"/>
    <p:sldId id="277" r:id="rId14"/>
    <p:sldId id="266" r:id="rId15"/>
    <p:sldId id="268" r:id="rId16"/>
    <p:sldId id="269" r:id="rId17"/>
    <p:sldId id="281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</a:t>
            </a: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</a:t>
            </a: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θ, L)  = 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25" y="3801110"/>
            <a:ext cx="4968875" cy="15468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118872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KEY VARIABLES OVER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Spread, Supply, and the Liquid Buffer (2022–2026)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589520" y="1645920"/>
            <a:ext cx="4050792" cy="18745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589520" y="1645920"/>
            <a:ext cx="82296" cy="18745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7" name="Text 4"/>
          <p:cNvSpPr/>
          <p:nvPr/>
        </p:nvSpPr>
        <p:spPr>
          <a:xfrm>
            <a:off x="7818120" y="17556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18120" y="2103120"/>
            <a:ext cx="3593592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corrected convenience-yield spread (DGS3MO − overnight SOFR).   </a:t>
            </a:r>
            <a:endParaRPr lang="en-US" sz="1200" dirty="0">
              <a:solidFill>
                <a:srgbClr val="33425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USDT+USDC supply, now ~$260B.   </a:t>
            </a:r>
            <a:endParaRPr lang="en-US" sz="1200" dirty="0">
              <a:solidFill>
                <a:srgbClr val="33425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buffer L, with the q* = 13% line.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3703320"/>
            <a:ext cx="4050792" cy="18288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3703320"/>
            <a:ext cx="82296" cy="18288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1" name="Text 8"/>
          <p:cNvSpPr/>
          <p:nvPr/>
        </p:nvSpPr>
        <p:spPr>
          <a:xfrm>
            <a:off x="7818120" y="38130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shows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18120" y="4160520"/>
            <a:ext cx="3593592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sits near zero in calm periods, with a residual term-premium bump during the 2022 hiking cycle that reverts toward zero by 2024–26. Meanwhile L spends long stretches below the 13% line — exactly the fragility region.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pic>
        <p:nvPicPr>
          <p:cNvPr id="15" name="Picture 14" descr="KakaoTalk_Photo_2026-06-08-17-48-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" y="1351915"/>
            <a:ext cx="7141210" cy="46475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~low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~high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486003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77356" y="2057400"/>
            <a:ext cx="82296" cy="283464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3388" y="2651760"/>
            <a:ext cx="4494276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in the low teens (L* ≈ 13%) separating amplification from forced liquidation — located consistently by two methods, though imprecisely estimated.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1920240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46520" y="192024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9" name="Text 6"/>
          <p:cNvSpPr/>
          <p:nvPr/>
        </p:nvSpPr>
        <p:spPr>
          <a:xfrm>
            <a:off x="6675120" y="2029968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468880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46520" y="2999232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46520" y="2999232"/>
            <a:ext cx="82296" cy="96012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13" name="Text 10"/>
          <p:cNvSpPr/>
          <p:nvPr/>
        </p:nvSpPr>
        <p:spPr>
          <a:xfrm>
            <a:off x="6675120" y="3108960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75120" y="3547872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the same region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4078224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46520" y="4078224"/>
            <a:ext cx="82296" cy="96012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7" name="Text 14"/>
          <p:cNvSpPr/>
          <p:nvPr/>
        </p:nvSpPr>
        <p:spPr>
          <a:xfrm>
            <a:off x="6675120" y="4187952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626864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21" name="Text 18"/>
          <p:cNvSpPr/>
          <p:nvPr/>
        </p:nvSpPr>
        <p:spPr>
          <a:xfrm>
            <a:off x="822960" y="5248656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b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objects, so do not show them as mutual corroboration.   </a:t>
            </a:r>
            <a:b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only: 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LSTAR Smooth-Transition Regression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Does Hansen's sharp-switch assumption drive the result? A gradual-transition model locates the same region.</a:t>
            </a:r>
            <a:endParaRPr lang="en-US" sz="1500" dirty="0"/>
          </a:p>
        </p:txBody>
      </p:sp>
      <p:pic>
        <p:nvPicPr>
          <p:cNvPr id="5" name="Image 0" descr="figs/lstar_correct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828800"/>
            <a:ext cx="8778240" cy="3284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5212080"/>
            <a:ext cx="82296" cy="105156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8" name="Text 5"/>
          <p:cNvSpPr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adds: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midpoint c* = 14.9% lands inside the Hansen bootstrap CI — two methods, same 13–15% region.   </a:t>
            </a: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care: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per-regime betas (−1.81 / −12.59) come from a different functional form than Hansen's — treat them as the LSTAR fit, not as beta-level confirmation. The robust cross-model claim is the threshold LOCATION.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2" cy="2377440"/>
        </p:xfrm>
        <a:graphic>
          <a:graphicData uri="http://schemas.openxmlformats.org/drawingml/2006/table">
            <a:tbl>
              <a:tblPr/>
              <a:tblGrid>
                <a:gridCol w="2011680"/>
                <a:gridCol w="1815998"/>
                <a:gridCol w="1815998"/>
                <a:gridCol w="1815998"/>
                <a:gridCol w="1815998"/>
                <a:gridCol w="1815998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15320</Words>
  <Application>WPS Docs</Application>
  <PresentationFormat>On-screen Show (16:9)</PresentationFormat>
  <Paragraphs>639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2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Georgia</vt:lpstr>
      <vt:lpstr>Georgia</vt:lpstr>
      <vt:lpstr>Georgia</vt:lpstr>
      <vt:lpstr>Consolas</vt:lpstr>
      <vt:lpstr>Consolas</vt:lpstr>
      <vt:lpstr>Consolas</vt:lpstr>
      <vt:lpstr>Arial</vt:lpstr>
      <vt:lpstr>Microsoft YaHei</vt:lpstr>
      <vt:lpstr>汉仪旗黑</vt:lpstr>
      <vt:lpstr>Arial Unicode MS</vt:lpstr>
      <vt:lpstr>汉仪书宋二KW</vt:lpstr>
      <vt:lpstr>苹方-简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creator>Stablecoin Privilege Research Group</dc:creator>
  <dc:subject>PptxGenJS Presentation</dc:subject>
  <cp:lastModifiedBy>OybekIbragimov</cp:lastModifiedBy>
  <cp:revision>9</cp:revision>
  <dcterms:created xsi:type="dcterms:W3CDTF">2026-06-09T02:51:44Z</dcterms:created>
  <dcterms:modified xsi:type="dcterms:W3CDTF">2026-06-09T02:51:44Z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