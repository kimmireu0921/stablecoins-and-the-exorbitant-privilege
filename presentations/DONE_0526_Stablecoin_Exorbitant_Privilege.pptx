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6" r:id="rId3"/>
    <p:sldId id="257" r:id="rId5"/>
    <p:sldId id="258" r:id="rId6"/>
    <p:sldId id="259" r:id="rId7"/>
    <p:sldId id="260" r:id="rId8"/>
    <p:sldId id="263" r:id="rId9"/>
    <p:sldId id="268" r:id="rId10"/>
    <p:sldId id="267"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210"/>
    <p:restoredTop sz="48844"/>
  </p:normalViewPr>
  <p:slideViewPr>
    <p:cSldViewPr snapToGrid="0" snapToObjects="1" showGuides="1">
      <p:cViewPr>
        <p:scale>
          <a:sx n="79" d="100"/>
          <a:sy n="79" d="100"/>
        </p:scale>
        <p:origin x="1960" y="-1040"/>
      </p:cViewPr>
      <p:guideLst>
        <p:guide orient="horz" pos="2230"/>
        <p:guide pos="2880"/>
      </p:guideLst>
    </p:cSldViewPr>
  </p:slideViewPr>
  <p:notesTextViewPr>
    <p:cViewPr>
      <p:scale>
        <a:sx n="100" d="100"/>
        <a:sy n="100" d="100"/>
      </p:scale>
      <p:origin x="0" y="-752"/>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everyone. Our paper is called Stablecoins and the Exorbitant Privilege. The central argument is that large USD-pegged stablecoin issuers — mainly Tether and Circle — have become significant buyers of U.S. Treasury bills. In normal times, that deepens demand for safe assets and amplifies America's borrowing advantage. But when a run hits and their cash reserves are too thin, they are forced to liquidate T-bills, which rapidly reverses that benefit. Today we want to address some methodological questions from last session and walk clearly through our three stress events.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quickly orient everyone. On the left is everything we have completed. We extended Maggiori's 2017 model to incorporate stablecoin supply, treasury exposure, and the liquid buffer. Our main regression finds that a one standard deviation increase in stablecoin supply compresses the OIS-Treasury spread by roughly 6 basis points — that is the privilege amplification result. We also estimated a safety threshold using Hansen's 2000 threshold regression: issuers need to hold at least 13 percent of supply in liquid cash to stay outside the fragility zone. And we ran a buffer-conditioned event study across three stress episodes, which produced a 27 percentage point swing between the low and high buffer regimes. This deck specifically addresses the clarification questions from last time — why we use the OIS spread, what the buffer condition actually means, and how to read the CAR graphs. Baptiste will walk us through this slide, then hand over to Sara.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question came up about why we use the OIS-Treasury spread instead of just Treasury yields. Here is the intuition. A raw T-bill yield moves for two completely different reasons at the same time — the Fed raising or cutting rates, and investors specifically wanting to hold safe Treasuries. We only care about the second one. The OIS rate tracks market expectations of the Fed Funds path — it is pure monetary policy. So when we subtract it from the T-bill yield, we cancel out the monetary policy component and are left with just the premium investors pay to hold Treasuries specifically. That premium is exactly what stablecoin issuers affect when they buy T-bills. This approach is well established in the literature. Krishnamurthy and Vissing-Jorgensen in 2012 use this same spread to measure safe-asset demand. Nagel in 2016 calls it the convenience yield of near-money assets. Greenwood, Hanson and Stein in 2015 show it captures demand that is insensitive to monetary policy. The practical point is this: if we had used raw yields, a Fed rate cut and a Tether buying surge would look identical in our data. The spread cleanly separates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me explain precisely what the buffer condition is, because it is the central variable in our paper. L is the liquid buffer — the share of an issuer's reserves held in cash or cash equivalents, divided by total stablecoin supply. Our Hansen threshold regression estimates a critical cutoff at 13 percent. Here is why it matters. When investors redeem stablecoins for dollars, the issuer has to pay them back. If they hold enough cash — above 13 percent — they pay from cash and T-bill holdings are untouched. The Treasury market feels nothing. But if the cash buffer is below 13 percent, the issuer cannot cover redemptions from cash alone. They have to sell Treasury bills quickly to raise the dollars. That sudden selling pushes T-bill yields up relative to OIS — the spread spikes. In May 2022, Tether had only around 5 to 8 percent in liquid cash — below the threshold. This is the low-buffer regime. Theory predicts that forced T-bill selling in this regime should push the OIS-Treasury spread upward. The buffer condition is what separates an issuer that stabilises Treasury markets from one that disrupts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 stands for Cumulative Abnormal Return — but in our context it measures the cumulative abnormal spread, not a stock return. Let me explain what the y-axis means and an important correction we are making. We estimate how the OIS-Treasury spread normally behaves using six months of data before each crisis. The abnormal spread on any given day is the actual spread minus that prediction. CAR is the running total of those daily abnormal values. I want to flag a methodological correction we identified after last week's presentation. Our original model estimated the LEVEL of the spread each day. The problem is that the estimation window for the 2022 events coincided with the Fed hiking cycle — the spread rose from 5 basis points in January to 78 basis points by May 2022, entirely due to the Federal Reserve raising rates rapidly. Our model's baseline was the SIX-MONTH AVERAGE of 37 basis points, but the events happened when the spread was already at 71 basis points. So the model attributed the entire Fed-driven increase as abnormal — inflating the CARs. We have corrected to a first-difference model, which examines day-over-day CHANGES in the spread. This removes trend contamination, consistent with how standard finance event studies work. With the corrected model, the 2022 CARs are small and not statistically significant. The direction during LUNA and USDT was slightly negative, meaning the spread actually compressed slightly — this is because the general risk-off buying of T-bills during a crisis dominated any Tether selling pressure. The economic story is still directionally correct but less clean than the original numbers suggested. The USDT partial depeg on May 12th, 2022 — three days after LUNA — was a direct bank-run on Tether itself: over 7 billion dollars redeemed in a single day. But with the corrected model, the CAR was not significantly different from zero.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third event is the SVB failure in March 2023. SVB collapsed on March 10th — the second largest U.S. bank failure in history. Circle disclosed that 3.3 billion dollars of USDC reserves — roughly 8 percent of total reserves — were held at SVB and temporarily inaccessible. USDC depegged to around 87 cents. Two forces explain the market response shown on this slide. Force A is government intervention. U.S. regulators guaranteed all SVB deposits within 72 hours of the collapse. Because of that guarantee, Circle never needed to sell a single Treasury bill. The crisis was resolved before any forced liquidation became necessary. Force B is market-wide flight to safety. SVB's collapse triggered investors across the financial system to buy U.S. Treasury bills. That buying compressed the OIS-Treasury spread. Now, the visual on this slide shows the original event study results using our old model. With our corrected first-difference model, the CAR for SVB is near zero and not significant, because the spread compression during SVB is fully explained by the VIX spike and equity selloff — those general risk factors already predict flight-to-safety buying. There is no residual stablecoin-specific effect above and beyond what the banking crisis itself caused. This is consistent with the high-buffer theory: Circle never had to sell T-bills, so there was no stablecoin-specific disruption to the Treasury market. The flight-to-safety was a banking crisis effect, not a stablecoin effect.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summarize where the event study stands and where the paper's contribution actually lies. We completed the placebo test: three non-crisis dates with the same buffer regimes. With our corrected first-difference model, the actual events and the placebos all produce CARs close to zero and statistically indistinguishable. This is an honest result. The event study does not find a clean, statistically significant stablecoin-specific effect on the OIS-Treasury spread around these three events. The reason is that general market conditions — VIX spikes, equity selloffs — already explain most of the spread movement during crises. What the event study DOES confirm is the directional mechanism: during 2022 low-buffer events, the spread did not spike above what risk factors predict, consistent with general risk-off buying of T-bills offsetting any Tether selling. During the high-buffer SVB event, the spread compression was entirely driven by the banking crisis, not by stablecoin-specific T-bill selling. The PRIMARY empirical contribution of our paper is the main regression: a one standard deviation increase in stablecoin supply compresses the OIS-Treasury spread by approximately 6 basis points in normal times. That is a clean, statistically significant finding with economic meaning. The buffer threshold at 13 percent is the second key finding. The event study provides qualitative narrative support for the mechanism — not primary evidence.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Our paper makes two main contributions. First: stablecoin issuers have become structurally important buyers of U.S. Treasury bills. Each standard deviation increase in stablecoin supply compresses the OIS-Treasury spread by 6 basis points — that is the exorbitant privilege amplification we identify. Second: this relationship is conditional on the liquid buffer. The Hansen threshold regression identifies 13 percent as the critical cash reserve ratio. Above it, issuers absorb redemption shocks without touching T-bills. Below it, redemption pressure forces T-bill sales that reverse the privilege. We acknowledge that our event study, originally designed to dramatize these regimes, required methodological correction — our original level model inflated the CARs by attributing the 2022 Fed hiking trend as abnormal. With the corrected first-difference model, the event study provides qualitative directional support but not strong quantitative evidence. The paper's core identification rests on the panel regression and the threshold estimate. We are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microsoft.com/office/2007/relationships/hdphoto" Target="../media/image2.wdp"/><Relationship Id="rId3" Type="http://schemas.openxmlformats.org/officeDocument/2006/relationships/slideLayout" Target="../slideLayouts/slideLayout7.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microsoft.com/office/2007/relationships/hdphoto" Target="../media/image2.wdp"/><Relationship Id="rId3" Type="http://schemas.openxmlformats.org/officeDocument/2006/relationships/slideLayout" Target="../slideLayouts/slideLayout7.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1">
            <a:lum bright="70000" contrast="-70000"/>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endParaRPr lang="en-US" altLang="ko-KR" sz="2400" dirty="0">
              <a:solidFill>
                <a:prstClr val="white"/>
              </a:solidFill>
              <a:latin typeface="Hiragino Kaku Gothic Std W8" panose="020B0800000000000000" pitchFamily="34" charset="-128"/>
              <a:ea typeface="Hiragino Kaku Gothic Std W8" panose="020B0800000000000000" pitchFamily="34" charset="-128"/>
            </a:endParaRP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094095" y="5560060"/>
            <a:ext cx="5842635" cy="1198880"/>
          </a:xfrm>
          <a:prstGeom prst="rect">
            <a:avLst/>
          </a:prstGeom>
          <a:noFill/>
        </p:spPr>
        <p:txBody>
          <a:bodyPr wrap="square" rtlCol="0">
            <a:spAutoFit/>
          </a:bodyPr>
          <a:lstStyle/>
          <a:p>
            <a:r>
              <a:rPr lang="en-US" altLang="ko-KR" sz="1800" b="1" dirty="0">
                <a:solidFill>
                  <a:schemeClr val="bg1"/>
                </a:solidFill>
              </a:rPr>
              <a:t>Yonsei GSIS 2026-1 </a:t>
            </a:r>
            <a:endParaRPr lang="en-US" altLang="ko-KR" sz="1800" b="1" dirty="0">
              <a:solidFill>
                <a:schemeClr val="bg1"/>
              </a:solidFill>
            </a:endParaRP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 Jade Zhu · Alexandre Godefroy · Baptiste Degand</a:t>
            </a:r>
            <a:endParaRPr lang="en-US" altLang="ko-KR" sz="1800" b="1"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7006374" cy="492443"/>
          </a:xfrm>
          <a:prstGeom prst="rect">
            <a:avLst/>
          </a:prstGeom>
          <a:noFill/>
        </p:spPr>
        <p:txBody>
          <a:bodyPr wrap="square">
            <a:spAutoFit/>
          </a:bodyPr>
          <a:lstStyle/>
          <a:p>
            <a:pPr algn="l"/>
            <a:r>
              <a:rPr sz="2600" b="0" i="0" dirty="0">
                <a:solidFill>
                  <a:srgbClr val="FFFFFF"/>
                </a:solidFill>
                <a:latin typeface="Calibri"/>
              </a:rPr>
              <a:t>Roadmap</a:t>
            </a:r>
            <a:endParaRPr sz="2600" b="0" i="0" dirty="0">
              <a:solidFill>
                <a:srgbClr val="FFFFFF"/>
              </a:solidFill>
              <a:latin typeface="Calibri"/>
            </a:endParaRPr>
          </a:p>
        </p:txBody>
      </p:sp>
      <p:sp>
        <p:nvSpPr>
          <p:cNvPr id="6" name="Rectangle 5"/>
          <p:cNvSpPr/>
          <p:nvPr/>
        </p:nvSpPr>
        <p:spPr>
          <a:xfrm>
            <a:off x="320040" y="960120"/>
            <a:ext cx="55778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5394960" cy="310896"/>
          </a:xfrm>
          <a:prstGeom prst="rect">
            <a:avLst/>
          </a:prstGeom>
          <a:noFill/>
        </p:spPr>
        <p:txBody>
          <a:bodyPr wrap="square">
            <a:spAutoFit/>
          </a:bodyPr>
          <a:lstStyle/>
          <a:p>
            <a:pPr algn="l"/>
            <a:r>
              <a:rPr sz="1500" b="1" i="0">
                <a:solidFill>
                  <a:srgbClr val="FFFFFF"/>
                </a:solidFill>
                <a:latin typeface="Calibri"/>
              </a:rPr>
              <a:t>What we have done</a:t>
            </a:r>
            <a:endParaRPr sz="1500" b="1" i="0">
              <a:solidFill>
                <a:srgbClr val="FFFFFF"/>
              </a:solidFill>
              <a:latin typeface="Calibri"/>
            </a:endParaRPr>
          </a:p>
        </p:txBody>
      </p:sp>
      <p:sp>
        <p:nvSpPr>
          <p:cNvPr id="8" name="Rectangle 7"/>
          <p:cNvSpPr/>
          <p:nvPr/>
        </p:nvSpPr>
        <p:spPr>
          <a:xfrm>
            <a:off x="320040" y="1417320"/>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600200"/>
            <a:ext cx="1042415" cy="347472"/>
          </a:xfrm>
          <a:prstGeom prst="rect">
            <a:avLst/>
          </a:prstGeom>
          <a:noFill/>
        </p:spPr>
        <p:txBody>
          <a:bodyPr wrap="square">
            <a:spAutoFit/>
          </a:bodyPr>
          <a:lstStyle/>
          <a:p>
            <a:pPr algn="ctr"/>
            <a:r>
              <a:rPr sz="1100" b="1" i="0">
                <a:solidFill>
                  <a:srgbClr val="FFFFFF"/>
                </a:solidFill>
                <a:latin typeface="Calibri"/>
              </a:rPr>
              <a:t>Theory</a:t>
            </a:r>
            <a:endParaRPr sz="1100" b="1" i="0">
              <a:solidFill>
                <a:srgbClr val="FFFFFF"/>
              </a:solidFill>
              <a:latin typeface="Calibri"/>
            </a:endParaRPr>
          </a:p>
        </p:txBody>
      </p:sp>
      <p:sp>
        <p:nvSpPr>
          <p:cNvPr id="10" name="Rectangle 9"/>
          <p:cNvSpPr/>
          <p:nvPr/>
        </p:nvSpPr>
        <p:spPr>
          <a:xfrm>
            <a:off x="1417320" y="1417320"/>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36192" y="1581912"/>
            <a:ext cx="4297680" cy="457200"/>
          </a:xfrm>
          <a:prstGeom prst="rect">
            <a:avLst/>
          </a:prstGeom>
          <a:noFill/>
        </p:spPr>
        <p:txBody>
          <a:bodyPr wrap="square">
            <a:spAutoFit/>
          </a:bodyPr>
          <a:lstStyle/>
          <a:p>
            <a:pPr algn="l"/>
            <a:r>
              <a:rPr sz="1200" b="0" i="0" dirty="0">
                <a:solidFill>
                  <a:srgbClr val="1A1A2E"/>
                </a:solidFill>
                <a:latin typeface="Calibri"/>
              </a:rPr>
              <a:t>✓  Extended Maggiori (2017) with stablecoin supply S, treasury exposure </a:t>
            </a:r>
            <a:r>
              <a:rPr sz="1200" b="0" i="0" dirty="0" err="1">
                <a:solidFill>
                  <a:srgbClr val="1A1A2E"/>
                </a:solidFill>
                <a:latin typeface="Calibri"/>
              </a:rPr>
              <a:t>θ</a:t>
            </a:r>
            <a:r>
              <a:rPr sz="1200" b="0" i="0" dirty="0">
                <a:solidFill>
                  <a:srgbClr val="1A1A2E"/>
                </a:solidFill>
                <a:latin typeface="Calibri"/>
              </a:rPr>
              <a:t>, and liquid buffer L</a:t>
            </a:r>
            <a:endParaRPr sz="1200" b="0" i="0" dirty="0">
              <a:solidFill>
                <a:srgbClr val="1A1A2E"/>
              </a:solidFill>
              <a:latin typeface="Calibri"/>
            </a:endParaRPr>
          </a:p>
        </p:txBody>
      </p:sp>
      <p:sp>
        <p:nvSpPr>
          <p:cNvPr id="12" name="Rectangle 11"/>
          <p:cNvSpPr/>
          <p:nvPr/>
        </p:nvSpPr>
        <p:spPr>
          <a:xfrm>
            <a:off x="320040" y="2176272"/>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359152"/>
            <a:ext cx="1042415" cy="347472"/>
          </a:xfrm>
          <a:prstGeom prst="rect">
            <a:avLst/>
          </a:prstGeom>
          <a:noFill/>
        </p:spPr>
        <p:txBody>
          <a:bodyPr wrap="square">
            <a:spAutoFit/>
          </a:bodyPr>
          <a:lstStyle/>
          <a:p>
            <a:pPr algn="ctr"/>
            <a:r>
              <a:rPr sz="1100" b="1" i="0">
                <a:solidFill>
                  <a:srgbClr val="FFFFFF"/>
                </a:solidFill>
                <a:latin typeface="Calibri"/>
              </a:rPr>
              <a:t>Regression</a:t>
            </a:r>
            <a:endParaRPr sz="1100" b="1" i="0">
              <a:solidFill>
                <a:srgbClr val="FFFFFF"/>
              </a:solidFill>
              <a:latin typeface="Calibri"/>
            </a:endParaRPr>
          </a:p>
        </p:txBody>
      </p:sp>
      <p:sp>
        <p:nvSpPr>
          <p:cNvPr id="14" name="Rectangle 13"/>
          <p:cNvSpPr/>
          <p:nvPr/>
        </p:nvSpPr>
        <p:spPr>
          <a:xfrm>
            <a:off x="1417320" y="2176272"/>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6192" y="2340864"/>
            <a:ext cx="4297680" cy="457200"/>
          </a:xfrm>
          <a:prstGeom prst="rect">
            <a:avLst/>
          </a:prstGeom>
          <a:noFill/>
        </p:spPr>
        <p:txBody>
          <a:bodyPr wrap="square">
            <a:spAutoFit/>
          </a:bodyPr>
          <a:lstStyle/>
          <a:p>
            <a:pPr algn="l"/>
            <a:r>
              <a:rPr sz="1200" b="0" i="0" dirty="0">
                <a:solidFill>
                  <a:srgbClr val="1A1A2E"/>
                </a:solidFill>
                <a:latin typeface="Calibri"/>
              </a:rPr>
              <a:t>✓  β₁ = −6.02** — stablecoin growth compresses OIS–Treasury spreads (privilege amplification)</a:t>
            </a:r>
            <a:endParaRPr sz="1200" b="0" i="0" dirty="0">
              <a:solidFill>
                <a:srgbClr val="1A1A2E"/>
              </a:solidFill>
              <a:latin typeface="Calibri"/>
            </a:endParaRPr>
          </a:p>
        </p:txBody>
      </p:sp>
      <p:sp>
        <p:nvSpPr>
          <p:cNvPr id="16" name="Rectangle 15"/>
          <p:cNvSpPr/>
          <p:nvPr/>
        </p:nvSpPr>
        <p:spPr>
          <a:xfrm>
            <a:off x="320040" y="2935224"/>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3118104"/>
            <a:ext cx="1042415" cy="347472"/>
          </a:xfrm>
          <a:prstGeom prst="rect">
            <a:avLst/>
          </a:prstGeom>
          <a:noFill/>
        </p:spPr>
        <p:txBody>
          <a:bodyPr wrap="square">
            <a:spAutoFit/>
          </a:bodyPr>
          <a:lstStyle/>
          <a:p>
            <a:pPr algn="ctr"/>
            <a:r>
              <a:rPr sz="1100" b="1" i="0">
                <a:solidFill>
                  <a:srgbClr val="FFFFFF"/>
                </a:solidFill>
                <a:latin typeface="Calibri"/>
              </a:rPr>
              <a:t>Threshold</a:t>
            </a:r>
            <a:endParaRPr sz="1100" b="1" i="0">
              <a:solidFill>
                <a:srgbClr val="FFFFFF"/>
              </a:solidFill>
              <a:latin typeface="Calibri"/>
            </a:endParaRPr>
          </a:p>
        </p:txBody>
      </p:sp>
      <p:sp>
        <p:nvSpPr>
          <p:cNvPr id="18" name="Rectangle 17"/>
          <p:cNvSpPr/>
          <p:nvPr/>
        </p:nvSpPr>
        <p:spPr>
          <a:xfrm>
            <a:off x="1417320" y="2935224"/>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36192" y="3099816"/>
            <a:ext cx="4297680" cy="457200"/>
          </a:xfrm>
          <a:prstGeom prst="rect">
            <a:avLst/>
          </a:prstGeom>
          <a:noFill/>
        </p:spPr>
        <p:txBody>
          <a:bodyPr wrap="square">
            <a:spAutoFit/>
          </a:bodyPr>
          <a:lstStyle/>
          <a:p>
            <a:pPr algn="l"/>
            <a:r>
              <a:rPr sz="1200" b="0" i="0" dirty="0">
                <a:solidFill>
                  <a:srgbClr val="1A1A2E"/>
                </a:solidFill>
                <a:latin typeface="Calibri"/>
              </a:rPr>
              <a:t>✓  Hansen (2000) threshold at q* = 13% liquid cash — separates safe from fragile regime</a:t>
            </a:r>
            <a:endParaRPr sz="1200" b="0" i="0" dirty="0">
              <a:solidFill>
                <a:srgbClr val="1A1A2E"/>
              </a:solidFill>
              <a:latin typeface="Calibri"/>
            </a:endParaRPr>
          </a:p>
        </p:txBody>
      </p:sp>
      <p:sp>
        <p:nvSpPr>
          <p:cNvPr id="20" name="Rectangle 19"/>
          <p:cNvSpPr/>
          <p:nvPr/>
        </p:nvSpPr>
        <p:spPr>
          <a:xfrm>
            <a:off x="320040" y="3694176"/>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877056"/>
            <a:ext cx="1042415" cy="347472"/>
          </a:xfrm>
          <a:prstGeom prst="rect">
            <a:avLst/>
          </a:prstGeom>
          <a:noFill/>
        </p:spPr>
        <p:txBody>
          <a:bodyPr wrap="square">
            <a:spAutoFit/>
          </a:bodyPr>
          <a:lstStyle/>
          <a:p>
            <a:pPr algn="ctr"/>
            <a:r>
              <a:rPr sz="1100" b="1" i="0">
                <a:solidFill>
                  <a:srgbClr val="FFFFFF"/>
                </a:solidFill>
                <a:latin typeface="Calibri"/>
              </a:rPr>
              <a:t>Event Study</a:t>
            </a:r>
            <a:endParaRPr sz="1100" b="1" i="0">
              <a:solidFill>
                <a:srgbClr val="FFFFFF"/>
              </a:solidFill>
              <a:latin typeface="Calibri"/>
            </a:endParaRPr>
          </a:p>
        </p:txBody>
      </p:sp>
      <p:sp>
        <p:nvSpPr>
          <p:cNvPr id="22" name="Rectangle 21"/>
          <p:cNvSpPr/>
          <p:nvPr/>
        </p:nvSpPr>
        <p:spPr>
          <a:xfrm>
            <a:off x="1417320" y="3694176"/>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36192" y="3858768"/>
            <a:ext cx="4297680" cy="457200"/>
          </a:xfrm>
          <a:prstGeom prst="rect">
            <a:avLst/>
          </a:prstGeom>
          <a:noFill/>
        </p:spPr>
        <p:txBody>
          <a:bodyPr wrap="square">
            <a:spAutoFit/>
          </a:bodyPr>
          <a:lstStyle/>
          <a:p>
            <a:pPr algn="l"/>
            <a:r>
              <a:rPr sz="1200" b="0" i="0" dirty="0">
                <a:solidFill>
                  <a:srgbClr val="1A1A2E"/>
                </a:solidFill>
                <a:latin typeface="Calibri"/>
              </a:rPr>
              <a:t>✓  3 stress episodes (LUNA, USDT </a:t>
            </a:r>
            <a:r>
              <a:rPr sz="1200" b="0" i="0" dirty="0" err="1">
                <a:solidFill>
                  <a:srgbClr val="1A1A2E"/>
                </a:solidFill>
                <a:latin typeface="Calibri"/>
              </a:rPr>
              <a:t>depeg</a:t>
            </a:r>
            <a:r>
              <a:rPr sz="1200" b="0" i="0" dirty="0">
                <a:solidFill>
                  <a:srgbClr val="1A1A2E"/>
                </a:solidFill>
                <a:latin typeface="Calibri"/>
              </a:rPr>
              <a:t>, SVB) — 27 pp CAR swing between low/high buffer regimes</a:t>
            </a:r>
            <a:endParaRPr sz="1200" b="0" i="0" dirty="0">
              <a:solidFill>
                <a:srgbClr val="1A1A2E"/>
              </a:solidFill>
              <a:latin typeface="Calibri"/>
            </a:endParaRPr>
          </a:p>
        </p:txBody>
      </p:sp>
      <p:sp>
        <p:nvSpPr>
          <p:cNvPr id="24" name="Rectangle 23"/>
          <p:cNvSpPr/>
          <p:nvPr/>
        </p:nvSpPr>
        <p:spPr>
          <a:xfrm>
            <a:off x="320040" y="4453128"/>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4636008"/>
            <a:ext cx="1042415" cy="347472"/>
          </a:xfrm>
          <a:prstGeom prst="rect">
            <a:avLst/>
          </a:prstGeom>
          <a:noFill/>
        </p:spPr>
        <p:txBody>
          <a:bodyPr wrap="square">
            <a:spAutoFit/>
          </a:bodyPr>
          <a:lstStyle/>
          <a:p>
            <a:pPr algn="ctr"/>
            <a:r>
              <a:rPr sz="1100" b="1" i="0">
                <a:solidFill>
                  <a:srgbClr val="FFFFFF"/>
                </a:solidFill>
                <a:latin typeface="Calibri"/>
              </a:rPr>
              <a:t>Robustness</a:t>
            </a:r>
            <a:endParaRPr sz="1100" b="1" i="0">
              <a:solidFill>
                <a:srgbClr val="FFFFFF"/>
              </a:solidFill>
              <a:latin typeface="Calibri"/>
            </a:endParaRPr>
          </a:p>
        </p:txBody>
      </p:sp>
      <p:sp>
        <p:nvSpPr>
          <p:cNvPr id="26" name="Rectangle 25"/>
          <p:cNvSpPr/>
          <p:nvPr/>
        </p:nvSpPr>
        <p:spPr>
          <a:xfrm>
            <a:off x="1417320" y="4453128"/>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36192" y="4617720"/>
            <a:ext cx="4297680" cy="457200"/>
          </a:xfrm>
          <a:prstGeom prst="rect">
            <a:avLst/>
          </a:prstGeom>
          <a:noFill/>
        </p:spPr>
        <p:txBody>
          <a:bodyPr wrap="square">
            <a:spAutoFit/>
          </a:bodyPr>
          <a:lstStyle/>
          <a:p>
            <a:pPr algn="l"/>
            <a:r>
              <a:rPr sz="1200" b="0" i="0" dirty="0">
                <a:solidFill>
                  <a:srgbClr val="1A1A2E"/>
                </a:solidFill>
                <a:latin typeface="Calibri"/>
              </a:rPr>
              <a:t>✓  Mean-centering (VIF), Engle-Granger cointegration, first-differenced spec, post-2023 subsample</a:t>
            </a:r>
            <a:endParaRPr sz="1200" b="0" i="0" dirty="0">
              <a:solidFill>
                <a:srgbClr val="1A1A2E"/>
              </a:solidFill>
              <a:latin typeface="Calibri"/>
            </a:endParaRPr>
          </a:p>
        </p:txBody>
      </p:sp>
      <p:sp>
        <p:nvSpPr>
          <p:cNvPr id="28" name="Rectangle 27"/>
          <p:cNvSpPr/>
          <p:nvPr/>
        </p:nvSpPr>
        <p:spPr>
          <a:xfrm>
            <a:off x="320040" y="5212080"/>
            <a:ext cx="1097280" cy="694944"/>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5394960"/>
            <a:ext cx="1042415" cy="347472"/>
          </a:xfrm>
          <a:prstGeom prst="rect">
            <a:avLst/>
          </a:prstGeom>
          <a:noFill/>
        </p:spPr>
        <p:txBody>
          <a:bodyPr wrap="square">
            <a:spAutoFit/>
          </a:bodyPr>
          <a:lstStyle/>
          <a:p>
            <a:pPr algn="ctr"/>
            <a:r>
              <a:rPr sz="1100" b="1" i="0" dirty="0">
                <a:solidFill>
                  <a:srgbClr val="FFFFFF"/>
                </a:solidFill>
                <a:latin typeface="Calibri"/>
              </a:rPr>
              <a:t>This deck</a:t>
            </a:r>
            <a:endParaRPr sz="1100" b="1" i="0" dirty="0">
              <a:solidFill>
                <a:srgbClr val="FFFFFF"/>
              </a:solidFill>
              <a:latin typeface="Calibri"/>
            </a:endParaRPr>
          </a:p>
        </p:txBody>
      </p:sp>
      <p:sp>
        <p:nvSpPr>
          <p:cNvPr id="30" name="Rectangle 29"/>
          <p:cNvSpPr/>
          <p:nvPr/>
        </p:nvSpPr>
        <p:spPr>
          <a:xfrm>
            <a:off x="1417320" y="5212080"/>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36192" y="5376672"/>
            <a:ext cx="4297680" cy="457200"/>
          </a:xfrm>
          <a:prstGeom prst="rect">
            <a:avLst/>
          </a:prstGeom>
          <a:noFill/>
        </p:spPr>
        <p:txBody>
          <a:bodyPr wrap="square">
            <a:spAutoFit/>
          </a:bodyPr>
          <a:lstStyle/>
          <a:p>
            <a:pPr algn="l"/>
            <a:r>
              <a:rPr sz="1200" b="0" i="0" dirty="0">
                <a:solidFill>
                  <a:srgbClr val="1A1A2E"/>
                </a:solidFill>
                <a:latin typeface="Calibri"/>
              </a:rPr>
              <a:t>✓  Clarified: why OIS spread, what the buffer condition means, how to read CAR, what each event was</a:t>
            </a:r>
            <a:endParaRPr sz="1200" b="0" i="0" dirty="0">
              <a:solidFill>
                <a:srgbClr val="1A1A2E"/>
              </a:solidFill>
              <a:latin typeface="Calibri"/>
            </a:endParaRPr>
          </a:p>
        </p:txBody>
      </p:sp>
      <p:sp>
        <p:nvSpPr>
          <p:cNvPr id="36" name="TextBox 35"/>
          <p:cNvSpPr txBox="1"/>
          <p:nvPr/>
        </p:nvSpPr>
        <p:spPr>
          <a:xfrm>
            <a:off x="10064750" y="320040"/>
            <a:ext cx="1776730" cy="321945"/>
          </a:xfrm>
          <a:prstGeom prst="rect">
            <a:avLst/>
          </a:prstGeom>
          <a:noFill/>
        </p:spPr>
        <p:txBody>
          <a:bodyPr wrap="square">
            <a:spAutoFit/>
          </a:bodyPr>
          <a:lstStyle/>
          <a:p>
            <a:pPr algn="l"/>
            <a:r>
              <a:rPr lang="en-US" sz="1500" b="1" i="0" dirty="0">
                <a:solidFill>
                  <a:srgbClr val="FFFFFF"/>
                </a:solidFill>
                <a:latin typeface="Calibri"/>
              </a:rPr>
              <a:t>Baptiste– Page 2</a:t>
            </a:r>
            <a:endParaRPr sz="1500" b="1" i="0" dirty="0">
              <a:solidFill>
                <a:srgbClr val="FFFFFF"/>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Why OIS–Treasury Spread, Not Raw Yields?</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endParaRPr sz="1300" b="0" i="0">
              <a:solidFill>
                <a:srgbClr val="555566"/>
              </a:solidFill>
              <a:latin typeface="Calibri"/>
            </a:endParaRPr>
          </a:p>
        </p:txBody>
      </p:sp>
      <p:sp>
        <p:nvSpPr>
          <p:cNvPr id="6" name="Rectangle 5"/>
          <p:cNvSpPr/>
          <p:nvPr/>
        </p:nvSpPr>
        <p:spPr>
          <a:xfrm>
            <a:off x="320040" y="960120"/>
            <a:ext cx="11521440" cy="4572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11064240" cy="347472"/>
          </a:xfrm>
          <a:prstGeom prst="rect">
            <a:avLst/>
          </a:prstGeom>
          <a:noFill/>
        </p:spPr>
        <p:txBody>
          <a:bodyPr wrap="square">
            <a:spAutoFit/>
          </a:bodyPr>
          <a:lstStyle/>
          <a:p>
            <a:pPr algn="l"/>
            <a:r>
              <a:rPr sz="1400" b="0" i="1">
                <a:solidFill>
                  <a:srgbClr val="1B3A72"/>
                </a:solidFill>
                <a:latin typeface="Calibri"/>
              </a:rPr>
              <a:t>A T-bill yield moves for two reasons simultaneously. We need to separate them.</a:t>
            </a:r>
            <a:endParaRPr sz="1400" b="0" i="1">
              <a:solidFill>
                <a:srgbClr val="1B3A72"/>
              </a:solidFill>
              <a:latin typeface="Calibri"/>
            </a:endParaRPr>
          </a:p>
        </p:txBody>
      </p:sp>
      <p:sp>
        <p:nvSpPr>
          <p:cNvPr id="8" name="Rectangle 7"/>
          <p:cNvSpPr/>
          <p:nvPr/>
        </p:nvSpPr>
        <p:spPr>
          <a:xfrm>
            <a:off x="320040" y="1508760"/>
            <a:ext cx="3749039"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 y="1536192"/>
            <a:ext cx="3611880" cy="237744"/>
          </a:xfrm>
          <a:prstGeom prst="rect">
            <a:avLst/>
          </a:prstGeom>
          <a:noFill/>
        </p:spPr>
        <p:txBody>
          <a:bodyPr wrap="square">
            <a:spAutoFit/>
          </a:bodyPr>
          <a:lstStyle/>
          <a:p>
            <a:pPr algn="l"/>
            <a:r>
              <a:rPr sz="1300" b="1" i="0">
                <a:solidFill>
                  <a:srgbClr val="FFFFFF"/>
                </a:solidFill>
                <a:latin typeface="Calibri"/>
              </a:rPr>
              <a:t>Raw T-bill Yield</a:t>
            </a:r>
            <a:endParaRPr sz="1300" b="1" i="0">
              <a:solidFill>
                <a:srgbClr val="FFFFFF"/>
              </a:solidFill>
              <a:latin typeface="Calibri"/>
            </a:endParaRPr>
          </a:p>
        </p:txBody>
      </p:sp>
      <p:sp>
        <p:nvSpPr>
          <p:cNvPr id="10" name="TextBox 9"/>
          <p:cNvSpPr txBox="1"/>
          <p:nvPr/>
        </p:nvSpPr>
        <p:spPr>
          <a:xfrm>
            <a:off x="1581912" y="1559200"/>
            <a:ext cx="3611880" cy="201168"/>
          </a:xfrm>
          <a:prstGeom prst="rect">
            <a:avLst/>
          </a:prstGeom>
          <a:noFill/>
        </p:spPr>
        <p:txBody>
          <a:bodyPr wrap="square">
            <a:spAutoFit/>
          </a:bodyPr>
          <a:lstStyle/>
          <a:p>
            <a:pPr algn="l"/>
            <a:r>
              <a:rPr sz="1100" b="0" i="1" dirty="0">
                <a:solidFill>
                  <a:srgbClr val="FFFFFF"/>
                </a:solidFill>
                <a:latin typeface="Calibri"/>
              </a:rPr>
              <a:t>(what we did NOT use)</a:t>
            </a:r>
            <a:endParaRPr sz="1100" b="0" i="1" dirty="0">
              <a:solidFill>
                <a:srgbClr val="FFFFFF"/>
              </a:solidFill>
              <a:latin typeface="Calibri"/>
            </a:endParaRPr>
          </a:p>
        </p:txBody>
      </p:sp>
      <p:sp>
        <p:nvSpPr>
          <p:cNvPr id="11" name="Rectangle 10"/>
          <p:cNvSpPr/>
          <p:nvPr/>
        </p:nvSpPr>
        <p:spPr>
          <a:xfrm>
            <a:off x="320040" y="1965960"/>
            <a:ext cx="3749039" cy="21031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029968"/>
            <a:ext cx="3547872" cy="19659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Driven by Fed rate expectations</a:t>
            </a:r>
            <a:endParaRPr sz="1300" b="0" i="0" dirty="0">
              <a:solidFill>
                <a:srgbClr val="1A1A2E"/>
              </a:solidFill>
              <a:latin typeface="Calibri"/>
            </a:endParaRPr>
          </a:p>
          <a:p>
            <a:pPr algn="l">
              <a:spcBef>
                <a:spcPts val="700"/>
              </a:spcBef>
            </a:pPr>
            <a:r>
              <a:rPr sz="1300" b="0" i="0" dirty="0">
                <a:solidFill>
                  <a:srgbClr val="1A1A2E"/>
                </a:solidFill>
                <a:latin typeface="Calibri"/>
              </a:rPr>
              <a:t>•  Driven by inflation expectations</a:t>
            </a:r>
            <a:endParaRPr sz="1300" b="0" i="0" dirty="0">
              <a:solidFill>
                <a:srgbClr val="1A1A2E"/>
              </a:solidFill>
              <a:latin typeface="Calibri"/>
            </a:endParaRPr>
          </a:p>
          <a:p>
            <a:pPr algn="l">
              <a:spcBef>
                <a:spcPts val="700"/>
              </a:spcBef>
            </a:pPr>
            <a:r>
              <a:rPr sz="1300" b="0" i="0" dirty="0">
                <a:solidFill>
                  <a:srgbClr val="1A1A2E"/>
                </a:solidFill>
                <a:latin typeface="Calibri"/>
              </a:rPr>
              <a:t>•  Driven by safe-asset demand</a:t>
            </a:r>
            <a:endParaRPr sz="1300" b="0" i="0" dirty="0">
              <a:solidFill>
                <a:srgbClr val="1A1A2E"/>
              </a:solidFill>
              <a:latin typeface="Calibri"/>
            </a:endParaRPr>
          </a:p>
          <a:p>
            <a:pPr algn="l">
              <a:spcBef>
                <a:spcPts val="700"/>
              </a:spcBef>
            </a:pPr>
            <a:r>
              <a:rPr sz="1300" b="0" i="0" dirty="0">
                <a:solidFill>
                  <a:srgbClr val="1A1A2E"/>
                </a:solidFill>
                <a:latin typeface="Calibri"/>
              </a:rPr>
              <a:t>•  Cannot distinguish these three forces</a:t>
            </a:r>
            <a:endParaRPr sz="1300" b="0" i="0" dirty="0">
              <a:solidFill>
                <a:srgbClr val="1A1A2E"/>
              </a:solidFill>
              <a:latin typeface="Calibri"/>
            </a:endParaRPr>
          </a:p>
        </p:txBody>
      </p:sp>
      <p:sp>
        <p:nvSpPr>
          <p:cNvPr id="13" name="Rectangle 12"/>
          <p:cNvSpPr/>
          <p:nvPr/>
        </p:nvSpPr>
        <p:spPr>
          <a:xfrm>
            <a:off x="4251960" y="1508760"/>
            <a:ext cx="3749039" cy="4572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1536192"/>
            <a:ext cx="3611880" cy="237744"/>
          </a:xfrm>
          <a:prstGeom prst="rect">
            <a:avLst/>
          </a:prstGeom>
          <a:noFill/>
        </p:spPr>
        <p:txBody>
          <a:bodyPr wrap="square">
            <a:spAutoFit/>
          </a:bodyPr>
          <a:lstStyle/>
          <a:p>
            <a:pPr algn="l"/>
            <a:r>
              <a:rPr sz="1300" b="1" i="0">
                <a:solidFill>
                  <a:srgbClr val="FFFFFF"/>
                </a:solidFill>
                <a:latin typeface="Calibri"/>
              </a:rPr>
              <a:t>OIS Rate</a:t>
            </a:r>
            <a:endParaRPr sz="1300" b="1" i="0">
              <a:solidFill>
                <a:srgbClr val="FFFFFF"/>
              </a:solidFill>
              <a:latin typeface="Calibri"/>
            </a:endParaRPr>
          </a:p>
        </p:txBody>
      </p:sp>
      <p:sp>
        <p:nvSpPr>
          <p:cNvPr id="15" name="TextBox 14"/>
          <p:cNvSpPr txBox="1"/>
          <p:nvPr/>
        </p:nvSpPr>
        <p:spPr>
          <a:xfrm>
            <a:off x="5193792" y="1543861"/>
            <a:ext cx="3611880" cy="201168"/>
          </a:xfrm>
          <a:prstGeom prst="rect">
            <a:avLst/>
          </a:prstGeom>
          <a:noFill/>
        </p:spPr>
        <p:txBody>
          <a:bodyPr wrap="square">
            <a:spAutoFit/>
          </a:bodyPr>
          <a:lstStyle/>
          <a:p>
            <a:pPr algn="l"/>
            <a:r>
              <a:rPr sz="1100" b="0" i="1" dirty="0">
                <a:solidFill>
                  <a:srgbClr val="FFFFFF"/>
                </a:solidFill>
                <a:latin typeface="Calibri"/>
              </a:rPr>
              <a:t>(the subtracted benchmark)</a:t>
            </a:r>
            <a:endParaRPr sz="1100" b="0" i="1" dirty="0">
              <a:solidFill>
                <a:srgbClr val="FFFFFF"/>
              </a:solidFill>
              <a:latin typeface="Calibri"/>
            </a:endParaRPr>
          </a:p>
        </p:txBody>
      </p:sp>
      <p:sp>
        <p:nvSpPr>
          <p:cNvPr id="16" name="Rectangle 15"/>
          <p:cNvSpPr/>
          <p:nvPr/>
        </p:nvSpPr>
        <p:spPr>
          <a:xfrm>
            <a:off x="4251960" y="1965960"/>
            <a:ext cx="3749039" cy="21031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2029968"/>
            <a:ext cx="3547872" cy="19659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Reflects expected Fed Funds path</a:t>
            </a:r>
            <a:endParaRPr sz="1300" b="0" i="0" dirty="0">
              <a:solidFill>
                <a:srgbClr val="1A1A2E"/>
              </a:solidFill>
              <a:latin typeface="Calibri"/>
            </a:endParaRPr>
          </a:p>
          <a:p>
            <a:pPr algn="l">
              <a:spcBef>
                <a:spcPts val="700"/>
              </a:spcBef>
            </a:pPr>
            <a:r>
              <a:rPr sz="1300" b="0" i="0" dirty="0">
                <a:solidFill>
                  <a:srgbClr val="1A1A2E"/>
                </a:solidFill>
                <a:latin typeface="Calibri"/>
              </a:rPr>
              <a:t>•  Pure monetary policy expectations</a:t>
            </a:r>
            <a:endParaRPr sz="1300" b="0" i="0" dirty="0">
              <a:solidFill>
                <a:srgbClr val="1A1A2E"/>
              </a:solidFill>
              <a:latin typeface="Calibri"/>
            </a:endParaRPr>
          </a:p>
          <a:p>
            <a:pPr algn="l">
              <a:spcBef>
                <a:spcPts val="700"/>
              </a:spcBef>
            </a:pPr>
            <a:r>
              <a:rPr sz="1300" b="0" i="0" dirty="0">
                <a:solidFill>
                  <a:srgbClr val="1A1A2E"/>
                </a:solidFill>
                <a:latin typeface="Calibri"/>
              </a:rPr>
              <a:t>•  No T-bill specific demand embedded</a:t>
            </a:r>
            <a:endParaRPr sz="1300" b="0" i="0" dirty="0">
              <a:solidFill>
                <a:srgbClr val="1A1A2E"/>
              </a:solidFill>
              <a:latin typeface="Calibri"/>
            </a:endParaRPr>
          </a:p>
          <a:p>
            <a:pPr algn="l">
              <a:spcBef>
                <a:spcPts val="700"/>
              </a:spcBef>
            </a:pPr>
            <a:r>
              <a:rPr sz="1300" b="0" i="0" dirty="0">
                <a:solidFill>
                  <a:srgbClr val="1A1A2E"/>
                </a:solidFill>
                <a:latin typeface="Calibri"/>
              </a:rPr>
              <a:t>•  Moves with macro, not stablecoin flows</a:t>
            </a:r>
            <a:endParaRPr sz="1300" b="0" i="0" dirty="0">
              <a:solidFill>
                <a:srgbClr val="1A1A2E"/>
              </a:solidFill>
              <a:latin typeface="Calibri"/>
            </a:endParaRPr>
          </a:p>
        </p:txBody>
      </p:sp>
      <p:sp>
        <p:nvSpPr>
          <p:cNvPr id="18" name="Rectangle 17"/>
          <p:cNvSpPr/>
          <p:nvPr/>
        </p:nvSpPr>
        <p:spPr>
          <a:xfrm>
            <a:off x="8183880" y="1508760"/>
            <a:ext cx="3749039" cy="457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2" y="1536192"/>
            <a:ext cx="3611880" cy="237744"/>
          </a:xfrm>
          <a:prstGeom prst="rect">
            <a:avLst/>
          </a:prstGeom>
          <a:noFill/>
        </p:spPr>
        <p:txBody>
          <a:bodyPr wrap="square">
            <a:spAutoFit/>
          </a:bodyPr>
          <a:lstStyle/>
          <a:p>
            <a:pPr algn="l"/>
            <a:r>
              <a:rPr sz="1300" b="1" i="0">
                <a:solidFill>
                  <a:srgbClr val="FFFFFF"/>
                </a:solidFill>
                <a:latin typeface="Calibri"/>
              </a:rPr>
              <a:t>OIS–Treasury Spread</a:t>
            </a:r>
            <a:endParaRPr sz="1300" b="1" i="0">
              <a:solidFill>
                <a:srgbClr val="FFFFFF"/>
              </a:solidFill>
              <a:latin typeface="Calibri"/>
            </a:endParaRPr>
          </a:p>
        </p:txBody>
      </p:sp>
      <p:sp>
        <p:nvSpPr>
          <p:cNvPr id="20" name="TextBox 19"/>
          <p:cNvSpPr txBox="1"/>
          <p:nvPr/>
        </p:nvSpPr>
        <p:spPr>
          <a:xfrm>
            <a:off x="9761220" y="1555070"/>
            <a:ext cx="3611880" cy="201168"/>
          </a:xfrm>
          <a:prstGeom prst="rect">
            <a:avLst/>
          </a:prstGeom>
          <a:noFill/>
        </p:spPr>
        <p:txBody>
          <a:bodyPr wrap="square">
            <a:spAutoFit/>
          </a:bodyPr>
          <a:lstStyle/>
          <a:p>
            <a:pPr algn="l"/>
            <a:r>
              <a:rPr sz="1100" b="0" i="1" dirty="0">
                <a:solidFill>
                  <a:srgbClr val="FFFFFF"/>
                </a:solidFill>
                <a:latin typeface="Calibri"/>
              </a:rPr>
              <a:t>(our dependent variable)</a:t>
            </a:r>
            <a:endParaRPr sz="1100" b="0" i="1" dirty="0">
              <a:solidFill>
                <a:srgbClr val="FFFFFF"/>
              </a:solidFill>
              <a:latin typeface="Calibri"/>
            </a:endParaRPr>
          </a:p>
        </p:txBody>
      </p:sp>
      <p:sp>
        <p:nvSpPr>
          <p:cNvPr id="21" name="Rectangle 20"/>
          <p:cNvSpPr/>
          <p:nvPr/>
        </p:nvSpPr>
        <p:spPr>
          <a:xfrm>
            <a:off x="8183880" y="1965960"/>
            <a:ext cx="3749039" cy="21031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2029968"/>
            <a:ext cx="3547872" cy="19659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 T-bill yield  −  OIS rate</a:t>
            </a:r>
            <a:endParaRPr sz="1300" b="0" i="0" dirty="0">
              <a:solidFill>
                <a:srgbClr val="1A1A2E"/>
              </a:solidFill>
              <a:latin typeface="Calibri"/>
            </a:endParaRPr>
          </a:p>
          <a:p>
            <a:pPr algn="l">
              <a:spcBef>
                <a:spcPts val="700"/>
              </a:spcBef>
            </a:pPr>
            <a:r>
              <a:rPr sz="1300" b="0" i="0" dirty="0">
                <a:solidFill>
                  <a:srgbClr val="1A1A2E"/>
                </a:solidFill>
                <a:latin typeface="Calibri"/>
              </a:rPr>
              <a:t>❖  Cancels out monetary policy</a:t>
            </a:r>
            <a:endParaRPr sz="1300" b="0" i="0" dirty="0">
              <a:solidFill>
                <a:srgbClr val="1A1A2E"/>
              </a:solidFill>
              <a:latin typeface="Calibri"/>
            </a:endParaRPr>
          </a:p>
          <a:p>
            <a:pPr algn="l">
              <a:spcBef>
                <a:spcPts val="700"/>
              </a:spcBef>
            </a:pPr>
            <a:r>
              <a:rPr sz="1300" b="0" i="0" dirty="0">
                <a:solidFill>
                  <a:srgbClr val="1A1A2E"/>
                </a:solidFill>
                <a:latin typeface="Calibri"/>
              </a:rPr>
              <a:t>❖  Isolates convenience / safety premium</a:t>
            </a:r>
            <a:endParaRPr sz="1300" b="0" i="0" dirty="0">
              <a:solidFill>
                <a:srgbClr val="1A1A2E"/>
              </a:solidFill>
              <a:latin typeface="Calibri"/>
            </a:endParaRPr>
          </a:p>
          <a:p>
            <a:pPr algn="l">
              <a:spcBef>
                <a:spcPts val="700"/>
              </a:spcBef>
            </a:pPr>
            <a:r>
              <a:rPr sz="1300" b="0" i="0" dirty="0">
                <a:solidFill>
                  <a:srgbClr val="1A1A2E"/>
                </a:solidFill>
                <a:latin typeface="Calibri"/>
              </a:rPr>
              <a:t>❖  Only moves when T-bill demand shifts</a:t>
            </a:r>
            <a:endParaRPr sz="1300" b="0" i="0" dirty="0">
              <a:solidFill>
                <a:srgbClr val="1A1A2E"/>
              </a:solidFill>
              <a:latin typeface="Calibri"/>
            </a:endParaRPr>
          </a:p>
        </p:txBody>
      </p:sp>
      <p:sp>
        <p:nvSpPr>
          <p:cNvPr id="23" name="Rectangle 22"/>
          <p:cNvSpPr/>
          <p:nvPr/>
        </p:nvSpPr>
        <p:spPr>
          <a:xfrm>
            <a:off x="320039" y="4187952"/>
            <a:ext cx="11612879" cy="32004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187952"/>
            <a:ext cx="11064240" cy="274320"/>
          </a:xfrm>
          <a:prstGeom prst="rect">
            <a:avLst/>
          </a:prstGeom>
          <a:noFill/>
        </p:spPr>
        <p:txBody>
          <a:bodyPr wrap="square">
            <a:spAutoFit/>
          </a:bodyPr>
          <a:lstStyle/>
          <a:p>
            <a:pPr algn="l"/>
            <a:r>
              <a:rPr sz="1300" b="1" i="0">
                <a:solidFill>
                  <a:srgbClr val="FFFFFF"/>
                </a:solidFill>
                <a:latin typeface="Calibri"/>
              </a:rPr>
              <a:t>Literature precedent for using this spread as the convenience yield:</a:t>
            </a:r>
            <a:endParaRPr sz="1300" b="1" i="0">
              <a:solidFill>
                <a:srgbClr val="FFFFFF"/>
              </a:solidFill>
              <a:latin typeface="Calibri"/>
            </a:endParaRPr>
          </a:p>
        </p:txBody>
      </p:sp>
      <p:sp>
        <p:nvSpPr>
          <p:cNvPr id="25" name="Rectangle 24"/>
          <p:cNvSpPr/>
          <p:nvPr/>
        </p:nvSpPr>
        <p:spPr>
          <a:xfrm>
            <a:off x="320040" y="4507992"/>
            <a:ext cx="3749039"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768" y="4572000"/>
            <a:ext cx="3547872" cy="411480"/>
          </a:xfrm>
          <a:prstGeom prst="rect">
            <a:avLst/>
          </a:prstGeom>
          <a:noFill/>
        </p:spPr>
        <p:txBody>
          <a:bodyPr wrap="square">
            <a:spAutoFit/>
          </a:bodyPr>
          <a:lstStyle/>
          <a:p>
            <a:pPr algn="l"/>
            <a:r>
              <a:rPr sz="1200" b="1" i="0">
                <a:solidFill>
                  <a:srgbClr val="1B3A72"/>
                </a:solidFill>
                <a:latin typeface="Calibri"/>
              </a:rPr>
              <a:t>Krishnamurthy &amp;
Vissing-Jorgensen (2012)</a:t>
            </a:r>
            <a:endParaRPr sz="1200" b="1" i="0">
              <a:solidFill>
                <a:srgbClr val="1B3A72"/>
              </a:solidFill>
              <a:latin typeface="Calibri"/>
            </a:endParaRPr>
          </a:p>
        </p:txBody>
      </p:sp>
      <p:sp>
        <p:nvSpPr>
          <p:cNvPr id="27" name="TextBox 26"/>
          <p:cNvSpPr txBox="1"/>
          <p:nvPr/>
        </p:nvSpPr>
        <p:spPr>
          <a:xfrm>
            <a:off x="429768" y="5010912"/>
            <a:ext cx="3547872" cy="430887"/>
          </a:xfrm>
          <a:prstGeom prst="rect">
            <a:avLst/>
          </a:prstGeom>
          <a:noFill/>
        </p:spPr>
        <p:txBody>
          <a:bodyPr wrap="square">
            <a:spAutoFit/>
          </a:bodyPr>
          <a:lstStyle/>
          <a:p>
            <a:pPr algn="l"/>
            <a:r>
              <a:rPr sz="1100" b="0" i="0" dirty="0">
                <a:solidFill>
                  <a:srgbClr val="1A1A2E"/>
                </a:solidFill>
                <a:latin typeface="Calibri"/>
              </a:rPr>
              <a:t>JF — use T-bill spread to measure how much investors pay for Treasuries' </a:t>
            </a:r>
            <a:r>
              <a:rPr sz="1100" b="1" i="0" dirty="0">
                <a:solidFill>
                  <a:srgbClr val="1A1A2E"/>
                </a:solidFill>
                <a:latin typeface="Calibri"/>
              </a:rPr>
              <a:t>safety and liquidity</a:t>
            </a:r>
            <a:endParaRPr sz="1100" b="1" i="0" dirty="0">
              <a:solidFill>
                <a:srgbClr val="1A1A2E"/>
              </a:solidFill>
              <a:latin typeface="Calibri"/>
            </a:endParaRPr>
          </a:p>
        </p:txBody>
      </p:sp>
      <p:sp>
        <p:nvSpPr>
          <p:cNvPr id="28" name="Rectangle 27"/>
          <p:cNvSpPr/>
          <p:nvPr/>
        </p:nvSpPr>
        <p:spPr>
          <a:xfrm>
            <a:off x="4251960" y="4507992"/>
            <a:ext cx="3749039"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61688" y="4572000"/>
            <a:ext cx="3547872" cy="411480"/>
          </a:xfrm>
          <a:prstGeom prst="rect">
            <a:avLst/>
          </a:prstGeom>
          <a:noFill/>
        </p:spPr>
        <p:txBody>
          <a:bodyPr wrap="square">
            <a:spAutoFit/>
          </a:bodyPr>
          <a:lstStyle/>
          <a:p>
            <a:pPr algn="l"/>
            <a:r>
              <a:rPr sz="1200" b="1" i="0">
                <a:solidFill>
                  <a:srgbClr val="1B3A72"/>
                </a:solidFill>
                <a:latin typeface="Calibri"/>
              </a:rPr>
              <a:t>Nagel (2016)</a:t>
            </a:r>
            <a:endParaRPr sz="1200" b="1" i="0">
              <a:solidFill>
                <a:srgbClr val="1B3A72"/>
              </a:solidFill>
              <a:latin typeface="Calibri"/>
            </a:endParaRPr>
          </a:p>
        </p:txBody>
      </p:sp>
      <p:sp>
        <p:nvSpPr>
          <p:cNvPr id="30" name="TextBox 29"/>
          <p:cNvSpPr txBox="1"/>
          <p:nvPr/>
        </p:nvSpPr>
        <p:spPr>
          <a:xfrm>
            <a:off x="4361688" y="5010912"/>
            <a:ext cx="3547872" cy="430887"/>
          </a:xfrm>
          <a:prstGeom prst="rect">
            <a:avLst/>
          </a:prstGeom>
          <a:noFill/>
        </p:spPr>
        <p:txBody>
          <a:bodyPr wrap="square">
            <a:spAutoFit/>
          </a:bodyPr>
          <a:lstStyle/>
          <a:p>
            <a:pPr algn="l"/>
            <a:r>
              <a:rPr sz="1100" b="0" i="0" dirty="0">
                <a:solidFill>
                  <a:srgbClr val="1A1A2E"/>
                </a:solidFill>
                <a:latin typeface="Calibri"/>
              </a:rPr>
              <a:t>RFS — defines OIS–T-bill spread as the </a:t>
            </a:r>
            <a:r>
              <a:rPr sz="1100" b="1" i="0" dirty="0">
                <a:solidFill>
                  <a:srgbClr val="1A1A2E"/>
                </a:solidFill>
                <a:latin typeface="Calibri"/>
              </a:rPr>
              <a:t>'convenience yield' </a:t>
            </a:r>
            <a:r>
              <a:rPr sz="1100" b="0" i="0" dirty="0">
                <a:solidFill>
                  <a:srgbClr val="1A1A2E"/>
                </a:solidFill>
                <a:latin typeface="Calibri"/>
              </a:rPr>
              <a:t>of near-money assets</a:t>
            </a:r>
            <a:endParaRPr sz="1100" b="0" i="0" dirty="0">
              <a:solidFill>
                <a:srgbClr val="1A1A2E"/>
              </a:solidFill>
              <a:latin typeface="Calibri"/>
            </a:endParaRPr>
          </a:p>
        </p:txBody>
      </p:sp>
      <p:sp>
        <p:nvSpPr>
          <p:cNvPr id="31" name="Rectangle 30"/>
          <p:cNvSpPr/>
          <p:nvPr/>
        </p:nvSpPr>
        <p:spPr>
          <a:xfrm>
            <a:off x="8183880" y="4507992"/>
            <a:ext cx="3749039"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93608" y="4572000"/>
            <a:ext cx="3547872" cy="411480"/>
          </a:xfrm>
          <a:prstGeom prst="rect">
            <a:avLst/>
          </a:prstGeom>
          <a:noFill/>
        </p:spPr>
        <p:txBody>
          <a:bodyPr wrap="square">
            <a:spAutoFit/>
          </a:bodyPr>
          <a:lstStyle/>
          <a:p>
            <a:pPr algn="l"/>
            <a:r>
              <a:rPr sz="1200" b="1" i="0">
                <a:solidFill>
                  <a:srgbClr val="1B3A72"/>
                </a:solidFill>
                <a:latin typeface="Calibri"/>
              </a:rPr>
              <a:t>Greenwood, Hanson
&amp; Stein (2015)</a:t>
            </a:r>
            <a:endParaRPr sz="1200" b="1" i="0">
              <a:solidFill>
                <a:srgbClr val="1B3A72"/>
              </a:solidFill>
              <a:latin typeface="Calibri"/>
            </a:endParaRPr>
          </a:p>
        </p:txBody>
      </p:sp>
      <p:sp>
        <p:nvSpPr>
          <p:cNvPr id="33" name="TextBox 32"/>
          <p:cNvSpPr txBox="1"/>
          <p:nvPr/>
        </p:nvSpPr>
        <p:spPr>
          <a:xfrm>
            <a:off x="8293608" y="5010912"/>
            <a:ext cx="3547872" cy="430887"/>
          </a:xfrm>
          <a:prstGeom prst="rect">
            <a:avLst/>
          </a:prstGeom>
          <a:noFill/>
        </p:spPr>
        <p:txBody>
          <a:bodyPr wrap="square">
            <a:spAutoFit/>
          </a:bodyPr>
          <a:lstStyle/>
          <a:p>
            <a:pPr algn="l"/>
            <a:r>
              <a:rPr sz="1100" b="0" i="0" dirty="0">
                <a:solidFill>
                  <a:srgbClr val="1A1A2E"/>
                </a:solidFill>
                <a:latin typeface="Calibri"/>
              </a:rPr>
              <a:t>QJE — show T-bill spread captures special demand that is </a:t>
            </a:r>
            <a:r>
              <a:rPr sz="1100" b="1" i="0" dirty="0">
                <a:solidFill>
                  <a:srgbClr val="1A1A2E"/>
                </a:solidFill>
                <a:latin typeface="Calibri"/>
              </a:rPr>
              <a:t>insensitive to monetary policy</a:t>
            </a:r>
            <a:endParaRPr sz="1100" b="1" i="0" dirty="0">
              <a:solidFill>
                <a:srgbClr val="1A1A2E"/>
              </a:solidFill>
              <a:latin typeface="Calibri"/>
            </a:endParaRPr>
          </a:p>
        </p:txBody>
      </p:sp>
      <p:sp>
        <p:nvSpPr>
          <p:cNvPr id="34" name="Rectangle 33"/>
          <p:cNvSpPr/>
          <p:nvPr/>
        </p:nvSpPr>
        <p:spPr>
          <a:xfrm>
            <a:off x="0" y="5843016"/>
            <a:ext cx="12188952" cy="850392"/>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6007608"/>
            <a:ext cx="11274552" cy="804672"/>
          </a:xfrm>
          <a:prstGeom prst="rect">
            <a:avLst/>
          </a:prstGeom>
          <a:noFill/>
        </p:spPr>
        <p:txBody>
          <a:bodyPr wrap="square">
            <a:spAutoFit/>
          </a:bodyPr>
          <a:lstStyle/>
          <a:p>
            <a:pPr algn="ctr"/>
            <a:r>
              <a:rPr sz="1700" b="1" i="0">
                <a:solidFill>
                  <a:srgbClr val="FFFFFF"/>
                </a:solidFill>
                <a:latin typeface="Calibri"/>
              </a:rPr>
              <a:t>When stablecoin issuers buy T-bills, T-bill yields fall but OIS does not move. Only the spread captures this demand shock. Raw yields would conflate it with Fed policy.</a:t>
            </a:r>
            <a:endParaRPr sz="1700" b="1" i="0">
              <a:solidFill>
                <a:srgbClr val="FFFFFF"/>
              </a:solidFill>
              <a:latin typeface="Calibri"/>
            </a:endParaRPr>
          </a:p>
        </p:txBody>
      </p:sp>
      <p:sp>
        <p:nvSpPr>
          <p:cNvPr id="36" name="TextBox 35"/>
          <p:cNvSpPr txBox="1"/>
          <p:nvPr/>
        </p:nvSpPr>
        <p:spPr>
          <a:xfrm>
            <a:off x="10265434" y="320040"/>
            <a:ext cx="1576046" cy="323165"/>
          </a:xfrm>
          <a:prstGeom prst="rect">
            <a:avLst/>
          </a:prstGeom>
          <a:noFill/>
        </p:spPr>
        <p:txBody>
          <a:bodyPr wrap="square">
            <a:spAutoFit/>
          </a:bodyPr>
          <a:lstStyle/>
          <a:p>
            <a:pPr algn="l"/>
            <a:r>
              <a:rPr lang="en-US" sz="1500" b="1" i="0" dirty="0">
                <a:solidFill>
                  <a:srgbClr val="FFFFFF"/>
                </a:solidFill>
                <a:latin typeface="Calibri"/>
              </a:rPr>
              <a:t>Sara – Page 3</a:t>
            </a:r>
            <a:endParaRPr sz="1500" b="1" i="0" dirty="0">
              <a:solidFill>
                <a:srgbClr val="FFFFFF"/>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is the Buffer Condition?</a:t>
            </a:r>
            <a:endParaRPr sz="2600" b="0" i="0">
              <a:solidFill>
                <a:srgbClr val="FFFFFF"/>
              </a:solidFill>
              <a:latin typeface="Calibri"/>
            </a:endParaRP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endParaRPr sz="1300" b="0" i="0">
              <a:solidFill>
                <a:srgbClr val="555566"/>
              </a:solidFill>
              <a:latin typeface="Calibri"/>
            </a:endParaRPr>
          </a:p>
        </p:txBody>
      </p:sp>
      <p:sp>
        <p:nvSpPr>
          <p:cNvPr id="6" name="Rectangle 5"/>
          <p:cNvSpPr/>
          <p:nvPr/>
        </p:nvSpPr>
        <p:spPr>
          <a:xfrm>
            <a:off x="320040" y="960120"/>
            <a:ext cx="11521440" cy="13716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05840"/>
            <a:ext cx="11064240" cy="320040"/>
          </a:xfrm>
          <a:prstGeom prst="rect">
            <a:avLst/>
          </a:prstGeom>
          <a:noFill/>
        </p:spPr>
        <p:txBody>
          <a:bodyPr wrap="square">
            <a:spAutoFit/>
          </a:bodyPr>
          <a:lstStyle/>
          <a:p>
            <a:pPr algn="l"/>
            <a:r>
              <a:rPr sz="1400" b="1" i="0">
                <a:solidFill>
                  <a:srgbClr val="AAC4E8"/>
                </a:solidFill>
                <a:latin typeface="Calibri"/>
              </a:rPr>
              <a:t>Definition:</a:t>
            </a:r>
            <a:endParaRPr sz="1400" b="1" i="0">
              <a:solidFill>
                <a:srgbClr val="AAC4E8"/>
              </a:solidFill>
              <a:latin typeface="Calibri"/>
            </a:endParaRPr>
          </a:p>
        </p:txBody>
      </p:sp>
      <p:sp>
        <p:nvSpPr>
          <p:cNvPr id="8" name="TextBox 7"/>
          <p:cNvSpPr txBox="1"/>
          <p:nvPr/>
        </p:nvSpPr>
        <p:spPr>
          <a:xfrm>
            <a:off x="502920" y="1325880"/>
            <a:ext cx="11064240" cy="369332"/>
          </a:xfrm>
          <a:prstGeom prst="rect">
            <a:avLst/>
          </a:prstGeom>
          <a:noFill/>
        </p:spPr>
        <p:txBody>
          <a:bodyPr wrap="square">
            <a:spAutoFit/>
          </a:bodyPr>
          <a:lstStyle/>
          <a:p>
            <a:pPr algn="ctr"/>
            <a:r>
              <a:rPr sz="1800" b="1" i="0" dirty="0">
                <a:solidFill>
                  <a:srgbClr val="FFFFFF"/>
                </a:solidFill>
                <a:latin typeface="AppleGothic" pitchFamily="2" charset="-127"/>
                <a:ea typeface="AppleGothic" pitchFamily="2" charset="-127"/>
              </a:rPr>
              <a:t>L  =  Liquid Buffer  =  Cash </a:t>
            </a:r>
            <a:r>
              <a:rPr lang="en-US" sz="1800" b="1" i="0" dirty="0">
                <a:solidFill>
                  <a:srgbClr val="FFFFFF"/>
                </a:solidFill>
                <a:latin typeface="AppleGothic" pitchFamily="2" charset="-127"/>
                <a:ea typeface="AppleGothic" pitchFamily="2" charset="-127"/>
              </a:rPr>
              <a:t>&amp;</a:t>
            </a:r>
            <a:r>
              <a:rPr sz="1800" b="1" i="0" dirty="0">
                <a:solidFill>
                  <a:srgbClr val="FFFFFF"/>
                </a:solidFill>
                <a:latin typeface="AppleGothic" pitchFamily="2" charset="-127"/>
                <a:ea typeface="AppleGothic" pitchFamily="2" charset="-127"/>
              </a:rPr>
              <a:t> Cash-Equivalent Reserves  ÷  Total Stablecoin Supply</a:t>
            </a:r>
            <a:endParaRPr sz="1800" b="1" i="0" dirty="0">
              <a:solidFill>
                <a:srgbClr val="FFFFFF"/>
              </a:solidFill>
              <a:latin typeface="AppleGothic" pitchFamily="2" charset="-127"/>
              <a:ea typeface="AppleGothic" pitchFamily="2" charset="-127"/>
            </a:endParaRPr>
          </a:p>
        </p:txBody>
      </p:sp>
      <p:sp>
        <p:nvSpPr>
          <p:cNvPr id="9" name="TextBox 8"/>
          <p:cNvSpPr txBox="1"/>
          <p:nvPr/>
        </p:nvSpPr>
        <p:spPr>
          <a:xfrm>
            <a:off x="502920" y="1860804"/>
            <a:ext cx="11064240" cy="292388"/>
          </a:xfrm>
          <a:prstGeom prst="rect">
            <a:avLst/>
          </a:prstGeom>
          <a:noFill/>
        </p:spPr>
        <p:txBody>
          <a:bodyPr wrap="square">
            <a:spAutoFit/>
          </a:bodyPr>
          <a:lstStyle/>
          <a:p>
            <a:pPr algn="ctr"/>
            <a:r>
              <a:rPr sz="1300" b="0" i="1" dirty="0">
                <a:solidFill>
                  <a:srgbClr val="AAC4E8"/>
                </a:solidFill>
                <a:latin typeface="Calibri"/>
              </a:rPr>
              <a:t>Estimated from Hansen (2000) threshold regression:   L*  =  13%  of supply</a:t>
            </a:r>
            <a:endParaRPr sz="1300" b="0" i="1" dirty="0">
              <a:solidFill>
                <a:srgbClr val="AAC4E8"/>
              </a:solidFill>
              <a:latin typeface="Calibri"/>
            </a:endParaRPr>
          </a:p>
        </p:txBody>
      </p:sp>
      <p:sp>
        <p:nvSpPr>
          <p:cNvPr id="10" name="Rectangle 9"/>
          <p:cNvSpPr/>
          <p:nvPr/>
        </p:nvSpPr>
        <p:spPr>
          <a:xfrm>
            <a:off x="320040" y="2423160"/>
            <a:ext cx="55778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450592"/>
            <a:ext cx="5394960" cy="347472"/>
          </a:xfrm>
          <a:prstGeom prst="rect">
            <a:avLst/>
          </a:prstGeom>
          <a:noFill/>
        </p:spPr>
        <p:txBody>
          <a:bodyPr wrap="square">
            <a:spAutoFit/>
          </a:bodyPr>
          <a:lstStyle/>
          <a:p>
            <a:pPr algn="ctr"/>
            <a:r>
              <a:rPr sz="1400" b="1" i="0">
                <a:solidFill>
                  <a:srgbClr val="FFFFFF"/>
                </a:solidFill>
                <a:latin typeface="Calibri"/>
              </a:rPr>
              <a:t>LOW BUFFER  (L &lt; 13%)</a:t>
            </a:r>
            <a:endParaRPr sz="1400" b="1" i="0">
              <a:solidFill>
                <a:srgbClr val="FFFFFF"/>
              </a:solidFill>
              <a:latin typeface="Calibri"/>
            </a:endParaRPr>
          </a:p>
        </p:txBody>
      </p:sp>
      <p:sp>
        <p:nvSpPr>
          <p:cNvPr id="12" name="TextBox 11"/>
          <p:cNvSpPr txBox="1"/>
          <p:nvPr/>
        </p:nvSpPr>
        <p:spPr>
          <a:xfrm>
            <a:off x="411480" y="2862072"/>
            <a:ext cx="5394960" cy="256032"/>
          </a:xfrm>
          <a:prstGeom prst="rect">
            <a:avLst/>
          </a:prstGeom>
          <a:noFill/>
        </p:spPr>
        <p:txBody>
          <a:bodyPr wrap="square">
            <a:spAutoFit/>
          </a:bodyPr>
          <a:lstStyle/>
          <a:p>
            <a:pPr algn="ctr"/>
            <a:r>
              <a:rPr sz="1100" b="0" i="1" dirty="0">
                <a:solidFill>
                  <a:srgbClr val="555566"/>
                </a:solidFill>
                <a:latin typeface="Calibri"/>
              </a:rPr>
              <a:t>e.g. Tether in May 2022: ~5–8% cash</a:t>
            </a:r>
            <a:endParaRPr sz="1100" b="0" i="1" dirty="0">
              <a:solidFill>
                <a:srgbClr val="555566"/>
              </a:solidFill>
              <a:latin typeface="Calibri"/>
            </a:endParaRPr>
          </a:p>
        </p:txBody>
      </p:sp>
      <p:sp>
        <p:nvSpPr>
          <p:cNvPr id="13" name="Rectangle 12"/>
          <p:cNvSpPr/>
          <p:nvPr/>
        </p:nvSpPr>
        <p:spPr>
          <a:xfrm>
            <a:off x="320040" y="3118104"/>
            <a:ext cx="5577840" cy="23317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82112"/>
            <a:ext cx="5321808" cy="21945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Issuer holds mostly T-bills, very little cash</a:t>
            </a:r>
            <a:endParaRPr sz="1300" b="0" i="0" dirty="0">
              <a:solidFill>
                <a:srgbClr val="1A1A2E"/>
              </a:solidFill>
              <a:latin typeface="Calibri"/>
            </a:endParaRPr>
          </a:p>
          <a:p>
            <a:pPr algn="l">
              <a:spcBef>
                <a:spcPts val="600"/>
              </a:spcBef>
            </a:pPr>
            <a:r>
              <a:rPr sz="1300" b="0" i="0" dirty="0">
                <a:solidFill>
                  <a:srgbClr val="1A1A2E"/>
                </a:solidFill>
                <a:latin typeface="Calibri"/>
              </a:rPr>
              <a:t>→  When investors redeem stablecoins for dollars...</a:t>
            </a:r>
            <a:endParaRPr sz="1300" b="0" i="0" dirty="0">
              <a:solidFill>
                <a:srgbClr val="1A1A2E"/>
              </a:solidFill>
              <a:latin typeface="Calibri"/>
            </a:endParaRPr>
          </a:p>
          <a:p>
            <a:pPr algn="l">
              <a:spcBef>
                <a:spcPts val="600"/>
              </a:spcBef>
            </a:pPr>
            <a:r>
              <a:rPr sz="1300" b="0" i="0" dirty="0">
                <a:solidFill>
                  <a:srgbClr val="1A1A2E"/>
                </a:solidFill>
                <a:latin typeface="Calibri"/>
              </a:rPr>
              <a:t>→  Issuer MUST sell T-bills to raise the cash</a:t>
            </a:r>
            <a:endParaRPr sz="1300" b="0" i="0" dirty="0">
              <a:solidFill>
                <a:srgbClr val="1A1A2E"/>
              </a:solidFill>
              <a:latin typeface="Calibri"/>
            </a:endParaRPr>
          </a:p>
          <a:p>
            <a:pPr algn="l">
              <a:spcBef>
                <a:spcPts val="600"/>
              </a:spcBef>
            </a:pPr>
            <a:r>
              <a:rPr sz="1300" b="0" i="0" dirty="0">
                <a:solidFill>
                  <a:srgbClr val="1A1A2E"/>
                </a:solidFill>
                <a:latin typeface="Calibri"/>
              </a:rPr>
              <a:t>→  This selling pushes T-bill yields UP</a:t>
            </a:r>
            <a:endParaRPr sz="1300" b="0" i="0" dirty="0">
              <a:solidFill>
                <a:srgbClr val="1A1A2E"/>
              </a:solidFill>
              <a:latin typeface="Calibri"/>
            </a:endParaRPr>
          </a:p>
          <a:p>
            <a:pPr algn="l">
              <a:spcBef>
                <a:spcPts val="600"/>
              </a:spcBef>
            </a:pPr>
            <a:r>
              <a:rPr sz="1300" b="0" i="0" dirty="0">
                <a:solidFill>
                  <a:srgbClr val="1A1A2E"/>
                </a:solidFill>
                <a:latin typeface="Calibri"/>
              </a:rPr>
              <a:t>→  OIS-Treasury spread SPIKES (CAR is positive)</a:t>
            </a:r>
            <a:endParaRPr sz="1300" b="0" i="0" dirty="0">
              <a:solidFill>
                <a:srgbClr val="1A1A2E"/>
              </a:solidFill>
              <a:latin typeface="Calibri"/>
            </a:endParaRPr>
          </a:p>
        </p:txBody>
      </p:sp>
      <p:sp>
        <p:nvSpPr>
          <p:cNvPr id="15" name="Rectangle 14"/>
          <p:cNvSpPr/>
          <p:nvPr/>
        </p:nvSpPr>
        <p:spPr>
          <a:xfrm>
            <a:off x="320040" y="5449824"/>
            <a:ext cx="557784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5477256"/>
            <a:ext cx="5376672" cy="320040"/>
          </a:xfrm>
          <a:prstGeom prst="rect">
            <a:avLst/>
          </a:prstGeom>
          <a:noFill/>
        </p:spPr>
        <p:txBody>
          <a:bodyPr wrap="square">
            <a:spAutoFit/>
          </a:bodyPr>
          <a:lstStyle/>
          <a:p>
            <a:pPr algn="ctr"/>
            <a:r>
              <a:rPr sz="1200" b="1" i="0">
                <a:solidFill>
                  <a:srgbClr val="FFFFFF"/>
                </a:solidFill>
                <a:latin typeface="Calibri"/>
              </a:rPr>
              <a:t>The issuer becomes a forced seller into an already-stressed market.</a:t>
            </a:r>
            <a:endParaRPr sz="1200" b="1" i="0">
              <a:solidFill>
                <a:srgbClr val="FFFFFF"/>
              </a:solidFill>
              <a:latin typeface="Calibri"/>
            </a:endParaRPr>
          </a:p>
        </p:txBody>
      </p:sp>
      <p:sp>
        <p:nvSpPr>
          <p:cNvPr id="17" name="Rectangle 16"/>
          <p:cNvSpPr/>
          <p:nvPr/>
        </p:nvSpPr>
        <p:spPr>
          <a:xfrm>
            <a:off x="6217920" y="2423160"/>
            <a:ext cx="5577840" cy="4114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450592"/>
            <a:ext cx="5394960" cy="347472"/>
          </a:xfrm>
          <a:prstGeom prst="rect">
            <a:avLst/>
          </a:prstGeom>
          <a:noFill/>
        </p:spPr>
        <p:txBody>
          <a:bodyPr wrap="square">
            <a:spAutoFit/>
          </a:bodyPr>
          <a:lstStyle/>
          <a:p>
            <a:pPr algn="ctr"/>
            <a:r>
              <a:rPr sz="1400" b="1" i="0">
                <a:solidFill>
                  <a:srgbClr val="FFFFFF"/>
                </a:solidFill>
                <a:latin typeface="Calibri"/>
              </a:rPr>
              <a:t>HIGH BUFFER  (L ≥ 13%)</a:t>
            </a:r>
            <a:endParaRPr sz="1400" b="1" i="0">
              <a:solidFill>
                <a:srgbClr val="FFFFFF"/>
              </a:solidFill>
              <a:latin typeface="Calibri"/>
            </a:endParaRPr>
          </a:p>
        </p:txBody>
      </p:sp>
      <p:sp>
        <p:nvSpPr>
          <p:cNvPr id="19" name="TextBox 18"/>
          <p:cNvSpPr txBox="1"/>
          <p:nvPr/>
        </p:nvSpPr>
        <p:spPr>
          <a:xfrm>
            <a:off x="6309360" y="2862072"/>
            <a:ext cx="5394960" cy="256032"/>
          </a:xfrm>
          <a:prstGeom prst="rect">
            <a:avLst/>
          </a:prstGeom>
          <a:noFill/>
        </p:spPr>
        <p:txBody>
          <a:bodyPr wrap="square">
            <a:spAutoFit/>
          </a:bodyPr>
          <a:lstStyle/>
          <a:p>
            <a:pPr algn="ctr"/>
            <a:r>
              <a:rPr sz="1100" b="0" i="1">
                <a:solidFill>
                  <a:srgbClr val="555566"/>
                </a:solidFill>
                <a:latin typeface="Calibri"/>
              </a:rPr>
              <a:t>e.g. Circle in March 2023: ~18–22% cash</a:t>
            </a:r>
            <a:endParaRPr sz="1100" b="0" i="1">
              <a:solidFill>
                <a:srgbClr val="555566"/>
              </a:solidFill>
              <a:latin typeface="Calibri"/>
            </a:endParaRPr>
          </a:p>
        </p:txBody>
      </p:sp>
      <p:sp>
        <p:nvSpPr>
          <p:cNvPr id="20" name="Rectangle 19"/>
          <p:cNvSpPr/>
          <p:nvPr/>
        </p:nvSpPr>
        <p:spPr>
          <a:xfrm>
            <a:off x="6217920" y="3118104"/>
            <a:ext cx="5577840" cy="2331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182112"/>
            <a:ext cx="5321808" cy="21945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Issuer holds substantial cash reserves</a:t>
            </a:r>
            <a:endParaRPr sz="1300" b="0" i="0" dirty="0">
              <a:solidFill>
                <a:srgbClr val="1A1A2E"/>
              </a:solidFill>
              <a:latin typeface="Calibri"/>
            </a:endParaRPr>
          </a:p>
          <a:p>
            <a:pPr algn="l">
              <a:spcBef>
                <a:spcPts val="600"/>
              </a:spcBef>
            </a:pPr>
            <a:r>
              <a:rPr sz="1300" b="0" i="0" dirty="0">
                <a:solidFill>
                  <a:srgbClr val="1A1A2E"/>
                </a:solidFill>
                <a:latin typeface="Calibri"/>
              </a:rPr>
              <a:t>→  When investors redeem stablecoins for dollars...</a:t>
            </a:r>
            <a:endParaRPr sz="1300" b="0" i="0" dirty="0">
              <a:solidFill>
                <a:srgbClr val="1A1A2E"/>
              </a:solidFill>
              <a:latin typeface="Calibri"/>
            </a:endParaRPr>
          </a:p>
          <a:p>
            <a:pPr algn="l">
              <a:spcBef>
                <a:spcPts val="600"/>
              </a:spcBef>
            </a:pPr>
            <a:r>
              <a:rPr sz="1300" b="0" i="0" dirty="0">
                <a:solidFill>
                  <a:srgbClr val="1A1A2E"/>
                </a:solidFill>
                <a:latin typeface="Calibri"/>
              </a:rPr>
              <a:t>→  Issuer pays out from cash — T-bills untouched</a:t>
            </a:r>
            <a:endParaRPr sz="1300" b="0" i="0" dirty="0">
              <a:solidFill>
                <a:srgbClr val="1A1A2E"/>
              </a:solidFill>
              <a:latin typeface="Calibri"/>
            </a:endParaRPr>
          </a:p>
          <a:p>
            <a:pPr algn="l">
              <a:spcBef>
                <a:spcPts val="600"/>
              </a:spcBef>
            </a:pPr>
            <a:r>
              <a:rPr sz="1300" b="0" i="0" dirty="0">
                <a:solidFill>
                  <a:srgbClr val="1A1A2E"/>
                </a:solidFill>
                <a:latin typeface="Calibri"/>
              </a:rPr>
              <a:t>→  No forced selling, no T-bill yield pressure</a:t>
            </a:r>
            <a:endParaRPr sz="1300" b="0" i="0" dirty="0">
              <a:solidFill>
                <a:srgbClr val="1A1A2E"/>
              </a:solidFill>
              <a:latin typeface="Calibri"/>
            </a:endParaRPr>
          </a:p>
          <a:p>
            <a:pPr algn="l">
              <a:spcBef>
                <a:spcPts val="600"/>
              </a:spcBef>
            </a:pPr>
            <a:r>
              <a:rPr sz="1300" b="0" i="0" dirty="0">
                <a:solidFill>
                  <a:srgbClr val="1A1A2E"/>
                </a:solidFill>
                <a:latin typeface="Calibri"/>
              </a:rPr>
              <a:t>→  Spread does NOT spike from issuer behavior</a:t>
            </a:r>
            <a:endParaRPr sz="1300" b="0" i="0" dirty="0">
              <a:solidFill>
                <a:srgbClr val="1A1A2E"/>
              </a:solidFill>
              <a:latin typeface="Calibri"/>
            </a:endParaRPr>
          </a:p>
        </p:txBody>
      </p:sp>
      <p:sp>
        <p:nvSpPr>
          <p:cNvPr id="22" name="Rectangle 21"/>
          <p:cNvSpPr/>
          <p:nvPr/>
        </p:nvSpPr>
        <p:spPr>
          <a:xfrm>
            <a:off x="6217920" y="5449824"/>
            <a:ext cx="5577840" cy="3840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5477256"/>
            <a:ext cx="5376672" cy="320040"/>
          </a:xfrm>
          <a:prstGeom prst="rect">
            <a:avLst/>
          </a:prstGeom>
          <a:noFill/>
        </p:spPr>
        <p:txBody>
          <a:bodyPr wrap="square">
            <a:spAutoFit/>
          </a:bodyPr>
          <a:lstStyle/>
          <a:p>
            <a:pPr algn="ctr"/>
            <a:r>
              <a:rPr sz="1200" b="1" i="0">
                <a:solidFill>
                  <a:srgbClr val="FFFFFF"/>
                </a:solidFill>
                <a:latin typeface="Calibri"/>
              </a:rPr>
              <a:t>The cash buffer absorbs the redemption shock. T-bill market is insulated.</a:t>
            </a:r>
            <a:endParaRPr sz="1200" b="1" i="0">
              <a:solidFill>
                <a:srgbClr val="FFFFFF"/>
              </a:solidFill>
              <a:latin typeface="Calibri"/>
            </a:endParaRPr>
          </a:p>
        </p:txBody>
      </p:sp>
      <p:sp>
        <p:nvSpPr>
          <p:cNvPr id="24" name="Rectangle 23"/>
          <p:cNvSpPr/>
          <p:nvPr/>
        </p:nvSpPr>
        <p:spPr>
          <a:xfrm>
            <a:off x="0" y="5907024"/>
            <a:ext cx="12188952" cy="786384"/>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 y="6099048"/>
            <a:ext cx="11274552" cy="804672"/>
          </a:xfrm>
          <a:prstGeom prst="rect">
            <a:avLst/>
          </a:prstGeom>
          <a:noFill/>
        </p:spPr>
        <p:txBody>
          <a:bodyPr wrap="square">
            <a:spAutoFit/>
          </a:bodyPr>
          <a:lstStyle/>
          <a:p>
            <a:pPr algn="ctr"/>
            <a:r>
              <a:rPr sz="1700" b="1" i="0" dirty="0">
                <a:solidFill>
                  <a:srgbClr val="FFFFFF"/>
                </a:solidFill>
                <a:latin typeface="Calibri"/>
              </a:rPr>
              <a:t>The buffer condition is what separates a stablecoin issuer that </a:t>
            </a:r>
            <a:r>
              <a:rPr sz="1700" b="1" i="0" dirty="0" err="1">
                <a:solidFill>
                  <a:srgbClr val="FFFFFF"/>
                </a:solidFill>
                <a:latin typeface="Calibri"/>
              </a:rPr>
              <a:t>stabilises</a:t>
            </a:r>
            <a:r>
              <a:rPr sz="1700" b="1" i="0" dirty="0">
                <a:solidFill>
                  <a:srgbClr val="FFFFFF"/>
                </a:solidFill>
                <a:latin typeface="Calibri"/>
              </a:rPr>
              <a:t> Treasury markets from one that disrupts them.</a:t>
            </a:r>
            <a:endParaRPr sz="1700" b="1" i="0" dirty="0">
              <a:solidFill>
                <a:srgbClr val="FFFFFF"/>
              </a:solidFill>
              <a:latin typeface="Calibri"/>
            </a:endParaRPr>
          </a:p>
        </p:txBody>
      </p:sp>
      <p:sp>
        <p:nvSpPr>
          <p:cNvPr id="26" name="TextBox 25"/>
          <p:cNvSpPr txBox="1"/>
          <p:nvPr/>
        </p:nvSpPr>
        <p:spPr>
          <a:xfrm>
            <a:off x="10265434" y="320040"/>
            <a:ext cx="1576046" cy="323165"/>
          </a:xfrm>
          <a:prstGeom prst="rect">
            <a:avLst/>
          </a:prstGeom>
          <a:noFill/>
        </p:spPr>
        <p:txBody>
          <a:bodyPr wrap="square">
            <a:spAutoFit/>
          </a:bodyPr>
          <a:lstStyle/>
          <a:p>
            <a:pPr algn="l"/>
            <a:r>
              <a:rPr lang="en-US" sz="1500" b="1" i="0" dirty="0">
                <a:solidFill>
                  <a:srgbClr val="FFFFFF"/>
                </a:solidFill>
                <a:latin typeface="Calibri"/>
              </a:rPr>
              <a:t>Sara – Page 4</a:t>
            </a:r>
            <a:endParaRPr sz="1500" b="1" i="0" dirty="0">
              <a:solidFill>
                <a:srgbClr val="FFFFFF"/>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dirty="0">
                <a:solidFill>
                  <a:srgbClr val="FFFFFF"/>
                </a:solidFill>
                <a:latin typeface="Calibri"/>
                <a:sym typeface="+mn-ea"/>
              </a:rPr>
              <a:t>CAR</a:t>
            </a:r>
            <a:r>
              <a:rPr lang="en-US" sz="2400" dirty="0">
                <a:solidFill>
                  <a:srgbClr val="FFFFFF"/>
                </a:solidFill>
                <a:latin typeface="Calibri"/>
                <a:sym typeface="+mn-ea"/>
              </a:rPr>
              <a:t> and Event Study</a:t>
            </a:r>
            <a:endParaRPr lang="en-US" sz="2400" dirty="0">
              <a:solidFill>
                <a:srgbClr val="FFFFFF"/>
              </a:solidFill>
              <a:latin typeface="Calibri"/>
              <a:sym typeface="+mn-ea"/>
            </a:endParaRPr>
          </a:p>
        </p:txBody>
      </p:sp>
      <p:sp>
        <p:nvSpPr>
          <p:cNvPr id="6" name="Rectangle 5"/>
          <p:cNvSpPr/>
          <p:nvPr/>
        </p:nvSpPr>
        <p:spPr>
          <a:xfrm>
            <a:off x="85725" y="960120"/>
            <a:ext cx="5603875" cy="71247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latin typeface="Calibri"/>
                <a:sym typeface="+mn-ea"/>
              </a:rPr>
              <a:t>CAR = Cumulative Abnormal Return on the OIS–Treasury Spread</a:t>
            </a:r>
            <a:endParaRPr b="1">
              <a:solidFill>
                <a:srgbClr val="FFFFFF"/>
              </a:solidFill>
              <a:latin typeface="Calibri"/>
              <a:sym typeface="+mn-ea"/>
            </a:endParaRPr>
          </a:p>
        </p:txBody>
      </p:sp>
      <p:sp>
        <p:nvSpPr>
          <p:cNvPr id="10" name="Rectangle 9"/>
          <p:cNvSpPr/>
          <p:nvPr/>
        </p:nvSpPr>
        <p:spPr>
          <a:xfrm>
            <a:off x="85725" y="1672590"/>
            <a:ext cx="5603240" cy="51206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b="1" dirty="0">
                <a:solidFill>
                  <a:srgbClr val="1B3A72"/>
                </a:solidFill>
                <a:latin typeface="Calibri"/>
                <a:sym typeface="+mn-ea"/>
              </a:rPr>
              <a:t>Step 1 — Build a Normal Model</a:t>
            </a:r>
            <a:endParaRPr b="1" i="0" dirty="0">
              <a:solidFill>
                <a:srgbClr val="1B3A72"/>
              </a:solidFill>
              <a:latin typeface="Calibri"/>
            </a:endParaRPr>
          </a:p>
          <a:p>
            <a:pPr algn="l"/>
            <a:r>
              <a:rPr lang="en-US" altLang="en-US" dirty="0">
                <a:solidFill>
                  <a:srgbClr val="1A1A2E"/>
                </a:solidFill>
                <a:latin typeface="Calibri"/>
                <a:sym typeface="+mn-ea"/>
              </a:rPr>
              <a:t>120 to 6 days before event → regression using VIX and global equity returns → predicts what the spread should be.</a:t>
            </a:r>
            <a:br>
              <a:rPr lang="en-US" altLang="en-US" dirty="0">
                <a:solidFill>
                  <a:srgbClr val="1A1A2E"/>
                </a:solidFill>
                <a:latin typeface="Calibri"/>
                <a:sym typeface="+mn-ea"/>
              </a:rPr>
            </a:br>
            <a:r>
              <a:rPr dirty="0">
                <a:solidFill>
                  <a:srgbClr val="1A1A2E"/>
                </a:solidFill>
                <a:latin typeface="Calibri"/>
                <a:sym typeface="+mn-ea"/>
              </a:rPr>
              <a:t>Spread = f(VIX, </a:t>
            </a:r>
            <a:r>
              <a:rPr dirty="0" err="1">
                <a:solidFill>
                  <a:srgbClr val="1A1A2E"/>
                </a:solidFill>
                <a:latin typeface="Calibri"/>
                <a:sym typeface="+mn-ea"/>
              </a:rPr>
              <a:t>ΔlnN</a:t>
            </a:r>
            <a:r>
              <a:rPr dirty="0">
                <a:solidFill>
                  <a:srgbClr val="1A1A2E"/>
                </a:solidFill>
                <a:latin typeface="Calibri"/>
                <a:sym typeface="+mn-ea"/>
              </a:rPr>
              <a:t>*)   →   this captures how the spread normally responds to market conditions.</a:t>
            </a:r>
            <a:br>
              <a:rPr dirty="0">
                <a:solidFill>
                  <a:srgbClr val="1A1A2E"/>
                </a:solidFill>
                <a:latin typeface="Calibri"/>
                <a:sym typeface="+mn-ea"/>
              </a:rPr>
            </a:br>
            <a:r>
              <a:rPr b="1" dirty="0">
                <a:solidFill>
                  <a:srgbClr val="1B3A72"/>
                </a:solidFill>
                <a:latin typeface="Calibri"/>
                <a:sym typeface="+mn-ea"/>
              </a:rPr>
              <a:t>Step 2 — Compute the Abnormal Spread</a:t>
            </a:r>
            <a:endParaRPr b="1" i="0" dirty="0">
              <a:solidFill>
                <a:srgbClr val="1B3A72"/>
              </a:solidFill>
              <a:latin typeface="Calibri"/>
            </a:endParaRPr>
          </a:p>
          <a:p>
            <a:pPr algn="l"/>
            <a:r>
              <a:rPr dirty="0">
                <a:solidFill>
                  <a:srgbClr val="1A1A2E"/>
                </a:solidFill>
                <a:latin typeface="Calibri"/>
                <a:sym typeface="+mn-ea"/>
              </a:rPr>
              <a:t>For each day in the event window (5 days before to 20 days after the event):</a:t>
            </a:r>
            <a:br>
              <a:rPr dirty="0">
                <a:solidFill>
                  <a:srgbClr val="1A1A2E"/>
                </a:solidFill>
                <a:latin typeface="Calibri"/>
                <a:sym typeface="+mn-ea"/>
              </a:rPr>
            </a:br>
            <a:r>
              <a:rPr dirty="0">
                <a:solidFill>
                  <a:srgbClr val="1A1A2E"/>
                </a:solidFill>
                <a:latin typeface="Calibri"/>
                <a:sym typeface="+mn-ea"/>
              </a:rPr>
              <a:t>Abnormal Spread = Actual Spread  −  Predicted Spread</a:t>
            </a:r>
            <a:br>
              <a:rPr dirty="0">
                <a:solidFill>
                  <a:srgbClr val="1A1A2E"/>
                </a:solidFill>
                <a:latin typeface="Calibri"/>
                <a:sym typeface="+mn-ea"/>
              </a:rPr>
            </a:br>
            <a:r>
              <a:rPr b="1" dirty="0">
                <a:solidFill>
                  <a:srgbClr val="1B3A72"/>
                </a:solidFill>
                <a:latin typeface="Calibri"/>
                <a:sym typeface="+mn-ea"/>
              </a:rPr>
              <a:t>Step 3 — Cumulate into CAR</a:t>
            </a:r>
            <a:endParaRPr b="1" i="0" dirty="0">
              <a:solidFill>
                <a:srgbClr val="1B3A72"/>
              </a:solidFill>
              <a:latin typeface="Calibri"/>
            </a:endParaRPr>
          </a:p>
          <a:p>
            <a:pPr algn="l"/>
            <a:r>
              <a:rPr dirty="0">
                <a:solidFill>
                  <a:srgbClr val="1A1A2E"/>
                </a:solidFill>
                <a:latin typeface="Calibri"/>
                <a:sym typeface="+mn-ea"/>
              </a:rPr>
              <a:t>CAR on day </a:t>
            </a:r>
            <a:r>
              <a:rPr dirty="0" err="1">
                <a:solidFill>
                  <a:srgbClr val="1A1A2E"/>
                </a:solidFill>
                <a:latin typeface="Calibri"/>
                <a:sym typeface="+mn-ea"/>
              </a:rPr>
              <a:t>τ</a:t>
            </a:r>
            <a:r>
              <a:rPr dirty="0">
                <a:solidFill>
                  <a:srgbClr val="1A1A2E"/>
                </a:solidFill>
                <a:latin typeface="Calibri"/>
                <a:sym typeface="+mn-ea"/>
              </a:rPr>
              <a:t> = sum of all abnormal spreads from day −5 to day </a:t>
            </a:r>
            <a:r>
              <a:rPr dirty="0" err="1">
                <a:solidFill>
                  <a:srgbClr val="1A1A2E"/>
                </a:solidFill>
                <a:latin typeface="Calibri"/>
                <a:sym typeface="+mn-ea"/>
              </a:rPr>
              <a:t>τ</a:t>
            </a:r>
            <a:br>
              <a:rPr dirty="0">
                <a:solidFill>
                  <a:srgbClr val="1A1A2E"/>
                </a:solidFill>
                <a:latin typeface="Calibri"/>
                <a:sym typeface="+mn-ea"/>
              </a:rPr>
            </a:br>
            <a:r>
              <a:rPr lang="en-US" altLang="en-US" dirty="0">
                <a:solidFill>
                  <a:srgbClr val="1A1A2E"/>
                </a:solidFill>
                <a:latin typeface="Calibri"/>
                <a:sym typeface="+mn-ea"/>
              </a:rPr>
              <a:t>X-axis: trading days relative to event (day 0 = crisis date)</a:t>
            </a:r>
            <a:endParaRPr lang="en-US" altLang="en-US" dirty="0">
              <a:solidFill>
                <a:srgbClr val="1A1A2E"/>
              </a:solidFill>
              <a:latin typeface="Calibri"/>
              <a:sym typeface="+mn-ea"/>
            </a:endParaRPr>
          </a:p>
          <a:p>
            <a:pPr algn="l"/>
            <a:r>
              <a:rPr dirty="0">
                <a:solidFill>
                  <a:srgbClr val="1A1A2E"/>
                </a:solidFill>
                <a:latin typeface="Calibri"/>
                <a:sym typeface="+mn-ea"/>
              </a:rPr>
              <a:t>Y-axis unit: percentage points (pp) of spread deviation accumulated since 5 days before the event.</a:t>
            </a:r>
            <a:endParaRPr lang="en-US" dirty="0">
              <a:solidFill>
                <a:srgbClr val="1A1A2E"/>
              </a:solidFill>
              <a:latin typeface="Calibri"/>
              <a:sym typeface="+mn-ea"/>
            </a:endParaRPr>
          </a:p>
        </p:txBody>
      </p:sp>
      <p:sp>
        <p:nvSpPr>
          <p:cNvPr id="34" name="TextBox 33"/>
          <p:cNvSpPr txBox="1"/>
          <p:nvPr/>
        </p:nvSpPr>
        <p:spPr>
          <a:xfrm>
            <a:off x="10150475" y="320040"/>
            <a:ext cx="1691005" cy="321945"/>
          </a:xfrm>
          <a:prstGeom prst="rect">
            <a:avLst/>
          </a:prstGeom>
          <a:noFill/>
        </p:spPr>
        <p:txBody>
          <a:bodyPr wrap="square">
            <a:spAutoFit/>
          </a:bodyPr>
          <a:lstStyle/>
          <a:p>
            <a:pPr algn="l"/>
            <a:r>
              <a:rPr lang="en-US" sz="1500" b="1" dirty="0">
                <a:solidFill>
                  <a:srgbClr val="FFFFFF"/>
                </a:solidFill>
                <a:latin typeface="Calibri"/>
              </a:rPr>
              <a:t>Oybek</a:t>
            </a:r>
            <a:r>
              <a:rPr lang="en-US" sz="1500" b="1" i="0" dirty="0">
                <a:solidFill>
                  <a:srgbClr val="FFFFFF"/>
                </a:solidFill>
                <a:latin typeface="Calibri"/>
              </a:rPr>
              <a:t> – Page </a:t>
            </a:r>
            <a:r>
              <a:rPr lang="en-US" sz="1500" b="1" dirty="0">
                <a:solidFill>
                  <a:srgbClr val="FFFFFF"/>
                </a:solidFill>
                <a:latin typeface="Calibri"/>
              </a:rPr>
              <a:t>5</a:t>
            </a:r>
            <a:endParaRPr sz="1500" b="1" i="0" dirty="0">
              <a:solidFill>
                <a:srgbClr val="FFFFFF"/>
              </a:solidFill>
              <a:latin typeface="Calibri"/>
            </a:endParaRPr>
          </a:p>
        </p:txBody>
      </p:sp>
      <p:sp>
        <p:nvSpPr>
          <p:cNvPr id="38" name="Rectangle 37"/>
          <p:cNvSpPr/>
          <p:nvPr/>
        </p:nvSpPr>
        <p:spPr>
          <a:xfrm>
            <a:off x="6082030" y="960120"/>
            <a:ext cx="5603875" cy="71247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rgbClr val="FFFFFF"/>
                </a:solidFill>
                <a:latin typeface="Calibri"/>
                <a:sym typeface="+mn-ea"/>
              </a:rPr>
              <a:t>Buffer-Conditioned </a:t>
            </a:r>
            <a:r>
              <a:rPr b="1">
                <a:solidFill>
                  <a:srgbClr val="FFFFFF"/>
                </a:solidFill>
                <a:latin typeface="Calibri"/>
                <a:sym typeface="+mn-ea"/>
              </a:rPr>
              <a:t>Cumulative Abnormal OIS–Treasury Spread</a:t>
            </a:r>
            <a:endParaRPr b="1">
              <a:solidFill>
                <a:srgbClr val="FFFFFF"/>
              </a:solidFill>
              <a:latin typeface="Calibri"/>
              <a:sym typeface="+mn-ea"/>
            </a:endParaRPr>
          </a:p>
        </p:txBody>
      </p:sp>
      <p:sp>
        <p:nvSpPr>
          <p:cNvPr id="39" name="Rectangle 38"/>
          <p:cNvSpPr/>
          <p:nvPr/>
        </p:nvSpPr>
        <p:spPr>
          <a:xfrm>
            <a:off x="6303010" y="5407660"/>
            <a:ext cx="5382895" cy="134937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400"/>
              <a:t>Event 2: USDT partial depeg — May 12, 2022 (3 days later) | Buffer: LOW (~5–8%) | CAR = +8.85 pp*** | Unlike UST (algorithmic, no real reserves), USDT was fiat-backed — a direct confidence run on real reserves. With buffer. Same CAR. Different trigger. Same outcome.</a:t>
            </a:r>
            <a:endParaRPr lang="en-US" altLang="en-US" sz="1400"/>
          </a:p>
        </p:txBody>
      </p:sp>
      <p:pic>
        <p:nvPicPr>
          <p:cNvPr id="4" name="Picture 3" descr="event_study_cars.png"/>
          <p:cNvPicPr>
            <a:picLocks noChangeAspect="1"/>
          </p:cNvPicPr>
          <p:nvPr/>
        </p:nvPicPr>
        <p:blipFill>
          <a:blip r:embed="rId1"/>
          <a:srcRect l="-1978" t="8917" r="33930" b="-618"/>
          <a:stretch>
            <a:fillRect/>
          </a:stretch>
        </p:blipFill>
        <p:spPr>
          <a:xfrm>
            <a:off x="6270625" y="1823720"/>
            <a:ext cx="5289550" cy="35839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10" grpId="0" animBg="1"/>
      <p:bldP spid="10" grpId="1" animBg="1"/>
      <p:bldP spid="38" grpId="0" animBg="1"/>
      <p:bldP spid="38" grpId="1" animBg="1"/>
      <p:bldP spid="39" grpId="0" bldLvl="0" animBg="1"/>
      <p:bldP spid="3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492443"/>
          </a:xfrm>
          <a:prstGeom prst="rect">
            <a:avLst/>
          </a:prstGeom>
          <a:noFill/>
        </p:spPr>
        <p:txBody>
          <a:bodyPr wrap="square">
            <a:spAutoFit/>
          </a:bodyPr>
          <a:lstStyle/>
          <a:p>
            <a:pPr algn="l"/>
            <a:r>
              <a:rPr sz="2600" b="0" i="0" dirty="0">
                <a:solidFill>
                  <a:srgbClr val="FFFFFF"/>
                </a:solidFill>
                <a:latin typeface="Calibri"/>
              </a:rPr>
              <a:t>Event 3: USDC / S</a:t>
            </a:r>
            <a:r>
              <a:rPr lang="en-US" sz="2600" b="0" i="0" dirty="0">
                <a:solidFill>
                  <a:srgbClr val="FFFFFF"/>
                </a:solidFill>
                <a:latin typeface="Calibri"/>
              </a:rPr>
              <a:t>ilicon Valley Bank</a:t>
            </a:r>
            <a:r>
              <a:rPr sz="2600" b="0" i="0" dirty="0">
                <a:solidFill>
                  <a:srgbClr val="FFFFFF"/>
                </a:solidFill>
                <a:latin typeface="Calibri"/>
              </a:rPr>
              <a:t> Failure — March 1</a:t>
            </a:r>
            <a:r>
              <a:rPr lang="en-US" sz="2600" b="0" i="0" dirty="0">
                <a:solidFill>
                  <a:srgbClr val="FFFFFF"/>
                </a:solidFill>
                <a:latin typeface="Calibri"/>
              </a:rPr>
              <a:t>0</a:t>
            </a:r>
            <a:r>
              <a:rPr sz="2600" b="0" i="0" dirty="0">
                <a:solidFill>
                  <a:srgbClr val="FFFFFF"/>
                </a:solidFill>
                <a:latin typeface="Calibri"/>
              </a:rPr>
              <a:t>, 2023</a:t>
            </a:r>
            <a:endParaRPr sz="2600" b="0" i="0" dirty="0">
              <a:solidFill>
                <a:srgbClr val="FFFFFF"/>
              </a:solidFill>
              <a:latin typeface="Calibri"/>
            </a:endParaRPr>
          </a:p>
        </p:txBody>
      </p:sp>
      <p:sp>
        <p:nvSpPr>
          <p:cNvPr id="6" name="Rectangle 5"/>
          <p:cNvSpPr/>
          <p:nvPr/>
        </p:nvSpPr>
        <p:spPr>
          <a:xfrm>
            <a:off x="320040" y="960120"/>
            <a:ext cx="11521440" cy="3840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11064240" cy="310896"/>
          </a:xfrm>
          <a:prstGeom prst="rect">
            <a:avLst/>
          </a:prstGeom>
          <a:noFill/>
        </p:spPr>
        <p:txBody>
          <a:bodyPr wrap="square">
            <a:spAutoFit/>
          </a:bodyPr>
          <a:lstStyle/>
          <a:p>
            <a:pPr algn="ctr"/>
            <a:r>
              <a:rPr sz="1300" b="1" i="0">
                <a:solidFill>
                  <a:srgbClr val="FFFFFF"/>
                </a:solidFill>
                <a:latin typeface="Calibri"/>
              </a:rPr>
              <a:t>Buffer Condition: HIGH   |   $3.3B (8% of reserves) frozen at SVB   |   CAR = −18.01 pp***   |   t-stat &gt; 30</a:t>
            </a:r>
            <a:endParaRPr sz="1300" b="1" i="0">
              <a:solidFill>
                <a:srgbClr val="FFFFFF"/>
              </a:solidFill>
              <a:latin typeface="Calibri"/>
            </a:endParaRPr>
          </a:p>
        </p:txBody>
      </p:sp>
      <p:sp>
        <p:nvSpPr>
          <p:cNvPr id="8" name="Rectangle 7"/>
          <p:cNvSpPr/>
          <p:nvPr/>
        </p:nvSpPr>
        <p:spPr>
          <a:xfrm>
            <a:off x="320040" y="1417320"/>
            <a:ext cx="11522075" cy="149987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81328"/>
            <a:ext cx="5212080" cy="274320"/>
          </a:xfrm>
          <a:prstGeom prst="rect">
            <a:avLst/>
          </a:prstGeom>
          <a:noFill/>
        </p:spPr>
        <p:txBody>
          <a:bodyPr wrap="square">
            <a:spAutoFit/>
          </a:bodyPr>
          <a:lstStyle/>
          <a:p>
            <a:pPr algn="l"/>
            <a:r>
              <a:rPr sz="1400" b="1" i="0">
                <a:solidFill>
                  <a:srgbClr val="1B3A72"/>
                </a:solidFill>
                <a:latin typeface="Calibri"/>
              </a:rPr>
              <a:t>What happened</a:t>
            </a:r>
            <a:endParaRPr sz="1400" b="1" i="0">
              <a:solidFill>
                <a:srgbClr val="1B3A72"/>
              </a:solidFill>
              <a:latin typeface="Calibri"/>
            </a:endParaRPr>
          </a:p>
        </p:txBody>
      </p:sp>
      <p:sp>
        <p:nvSpPr>
          <p:cNvPr id="10" name="TextBox 9"/>
          <p:cNvSpPr txBox="1"/>
          <p:nvPr/>
        </p:nvSpPr>
        <p:spPr>
          <a:xfrm>
            <a:off x="457200" y="1810385"/>
            <a:ext cx="11370310" cy="1060450"/>
          </a:xfrm>
          <a:prstGeom prst="rect">
            <a:avLst/>
          </a:prstGeom>
          <a:noFill/>
        </p:spPr>
        <p:txBody>
          <a:bodyPr wrap="square">
            <a:spAutoFit/>
          </a:bodyPr>
          <a:lstStyle/>
          <a:p>
            <a:pPr>
              <a:spcBef>
                <a:spcPts val="0"/>
              </a:spcBef>
            </a:pPr>
            <a:r>
              <a:rPr sz="1200" b="0" i="0" dirty="0">
                <a:solidFill>
                  <a:srgbClr val="1A1A2E"/>
                </a:solidFill>
                <a:latin typeface="Calibri"/>
              </a:rPr>
              <a:t>❖  SVB failed on March 10, 2023 — the second-largest US bank failure in history</a:t>
            </a:r>
            <a:endParaRPr sz="1200" b="0" i="0" dirty="0">
              <a:solidFill>
                <a:srgbClr val="1A1A2E"/>
              </a:solidFill>
              <a:latin typeface="Calibri"/>
            </a:endParaRPr>
          </a:p>
          <a:p>
            <a:pPr algn="l">
              <a:spcBef>
                <a:spcPts val="600"/>
              </a:spcBef>
            </a:pPr>
            <a:r>
              <a:rPr sz="1200" b="0" i="0" dirty="0">
                <a:solidFill>
                  <a:srgbClr val="1A1A2E"/>
                </a:solidFill>
                <a:latin typeface="Calibri"/>
              </a:rPr>
              <a:t>❖  Circle disclosed: $3.3 billion of USDC reserves were held at SVB — temporarily inaccessible</a:t>
            </a:r>
            <a:r>
              <a:rPr lang="en-US" sz="1200" b="0" i="0" dirty="0">
                <a:solidFill>
                  <a:srgbClr val="1A1A2E"/>
                </a:solidFill>
                <a:latin typeface="Calibri"/>
              </a:rPr>
              <a:t> *still had 6.4B at alternativ</a:t>
            </a:r>
            <a:r>
              <a:rPr lang="en-US" sz="1200" dirty="0">
                <a:solidFill>
                  <a:srgbClr val="1A1A2E"/>
                </a:solidFill>
                <a:latin typeface="Calibri"/>
              </a:rPr>
              <a:t>e banks</a:t>
            </a:r>
            <a:endParaRPr sz="1200" b="0" i="0" dirty="0">
              <a:solidFill>
                <a:srgbClr val="1A1A2E"/>
              </a:solidFill>
              <a:latin typeface="Calibri"/>
            </a:endParaRPr>
          </a:p>
          <a:p>
            <a:pPr algn="l">
              <a:spcBef>
                <a:spcPts val="600"/>
              </a:spcBef>
            </a:pPr>
            <a:r>
              <a:rPr sz="1200" b="0" i="0" dirty="0">
                <a:solidFill>
                  <a:srgbClr val="1A1A2E"/>
                </a:solidFill>
                <a:latin typeface="Calibri"/>
              </a:rPr>
              <a:t>❖  USDC </a:t>
            </a:r>
            <a:r>
              <a:rPr sz="1200" b="0" i="0" dirty="0" err="1">
                <a:solidFill>
                  <a:srgbClr val="1A1A2E"/>
                </a:solidFill>
                <a:latin typeface="Calibri"/>
              </a:rPr>
              <a:t>depegged</a:t>
            </a:r>
            <a:r>
              <a:rPr sz="1200" b="0" i="0" dirty="0">
                <a:solidFill>
                  <a:srgbClr val="1A1A2E"/>
                </a:solidFill>
                <a:latin typeface="Calibri"/>
              </a:rPr>
              <a:t> to ~$0.87 on March 11 — a larger nominal </a:t>
            </a:r>
            <a:r>
              <a:rPr sz="1200" b="0" i="0" dirty="0" err="1">
                <a:solidFill>
                  <a:srgbClr val="1A1A2E"/>
                </a:solidFill>
                <a:latin typeface="Calibri"/>
              </a:rPr>
              <a:t>depeg</a:t>
            </a:r>
            <a:r>
              <a:rPr sz="1200" b="0" i="0" dirty="0">
                <a:solidFill>
                  <a:srgbClr val="1A1A2E"/>
                </a:solidFill>
                <a:latin typeface="Calibri"/>
              </a:rPr>
              <a:t> than USDT in 2022</a:t>
            </a:r>
            <a:endParaRPr sz="1200" b="0" i="0" dirty="0">
              <a:solidFill>
                <a:srgbClr val="1A1A2E"/>
              </a:solidFill>
              <a:latin typeface="Calibri"/>
            </a:endParaRPr>
          </a:p>
          <a:p>
            <a:pPr algn="l">
              <a:spcBef>
                <a:spcPts val="600"/>
              </a:spcBef>
            </a:pPr>
            <a:r>
              <a:rPr sz="1200" b="0" i="0" dirty="0">
                <a:solidFill>
                  <a:srgbClr val="1A1A2E"/>
                </a:solidFill>
                <a:latin typeface="Calibri"/>
              </a:rPr>
              <a:t>❖  But by March 13, after the US government guaranteed SVB deposits, USDC returned to $1.00</a:t>
            </a:r>
            <a:endParaRPr sz="1200" b="0" i="0" dirty="0">
              <a:solidFill>
                <a:srgbClr val="1A1A2E"/>
              </a:solidFill>
              <a:latin typeface="Calibri"/>
            </a:endParaRPr>
          </a:p>
        </p:txBody>
      </p:sp>
      <p:sp>
        <p:nvSpPr>
          <p:cNvPr id="14" name="Rectangle 13"/>
          <p:cNvSpPr/>
          <p:nvPr/>
        </p:nvSpPr>
        <p:spPr>
          <a:xfrm>
            <a:off x="4168140" y="3188335"/>
            <a:ext cx="7673975" cy="485775"/>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0"/>
              </a:spcBef>
            </a:pPr>
            <a:r>
              <a:rPr sz="1000">
                <a:solidFill>
                  <a:srgbClr val="1A1A2E"/>
                </a:solidFill>
                <a:latin typeface="Calibri"/>
                <a:sym typeface="+mn-ea"/>
              </a:rPr>
              <a:t>U.S. regulators guaranteed ALL SVB deposits within 72 hours of collapse.</a:t>
            </a:r>
            <a:endParaRPr sz="1000" b="0" i="0">
              <a:solidFill>
                <a:srgbClr val="1A1A2E"/>
              </a:solidFill>
              <a:latin typeface="Calibri"/>
            </a:endParaRPr>
          </a:p>
          <a:p>
            <a:pPr algn="l">
              <a:spcBef>
                <a:spcPts val="500"/>
              </a:spcBef>
            </a:pPr>
            <a:r>
              <a:rPr sz="1000">
                <a:solidFill>
                  <a:srgbClr val="1A1A2E"/>
                </a:solidFill>
                <a:latin typeface="Calibri"/>
                <a:sym typeface="+mn-ea"/>
              </a:rPr>
              <a:t>Circle did NOT need to sell T-bills — government backstop resolved the crisis before forced liquidation.</a:t>
            </a:r>
            <a:endParaRPr sz="1000">
              <a:solidFill>
                <a:srgbClr val="1A1A2E"/>
              </a:solidFill>
              <a:latin typeface="Calibri"/>
              <a:sym typeface="+mn-ea"/>
            </a:endParaRPr>
          </a:p>
        </p:txBody>
      </p:sp>
      <p:sp>
        <p:nvSpPr>
          <p:cNvPr id="15" name="Rectangle 14"/>
          <p:cNvSpPr/>
          <p:nvPr/>
        </p:nvSpPr>
        <p:spPr>
          <a:xfrm>
            <a:off x="4168140" y="2938145"/>
            <a:ext cx="7673975" cy="263525"/>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sym typeface="+mn-ea"/>
              </a:rPr>
              <a:t>Force A: Government backstop (SVB deposit guarantee)</a:t>
            </a:r>
            <a:endParaRPr sz="1000"/>
          </a:p>
        </p:txBody>
      </p:sp>
      <p:sp>
        <p:nvSpPr>
          <p:cNvPr id="18" name="Rectangle 17"/>
          <p:cNvSpPr/>
          <p:nvPr/>
        </p:nvSpPr>
        <p:spPr>
          <a:xfrm>
            <a:off x="4153535" y="4055428"/>
            <a:ext cx="7673975" cy="521335"/>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pPr>
            <a:r>
              <a:rPr sz="1000" dirty="0">
                <a:solidFill>
                  <a:srgbClr val="1A1A2E"/>
                </a:solidFill>
                <a:latin typeface="Calibri"/>
                <a:sym typeface="+mn-ea"/>
              </a:rPr>
              <a:t>SVB's failure caused widespread panic — investors fled to safety</a:t>
            </a:r>
            <a:r>
              <a:rPr lang="en-US" sz="1000" dirty="0">
                <a:solidFill>
                  <a:srgbClr val="1A1A2E"/>
                </a:solidFill>
                <a:latin typeface="Calibri"/>
                <a:sym typeface="+mn-ea"/>
              </a:rPr>
              <a:t>. </a:t>
            </a:r>
            <a:r>
              <a:rPr sz="1000" dirty="0">
                <a:solidFill>
                  <a:srgbClr val="1A1A2E"/>
                </a:solidFill>
                <a:latin typeface="Calibri"/>
                <a:sym typeface="+mn-ea"/>
              </a:rPr>
              <a:t>Massive buying of U.S. T-bills (the safest short-term asset)</a:t>
            </a:r>
            <a:endParaRPr sz="1000" b="0" i="0" dirty="0">
              <a:solidFill>
                <a:srgbClr val="1A1A2E"/>
              </a:solidFill>
              <a:latin typeface="Calibri"/>
            </a:endParaRPr>
          </a:p>
          <a:p>
            <a:pPr algn="l">
              <a:spcBef>
                <a:spcPts val="500"/>
              </a:spcBef>
            </a:pPr>
            <a:r>
              <a:rPr sz="1000" dirty="0">
                <a:solidFill>
                  <a:srgbClr val="1A1A2E"/>
                </a:solidFill>
                <a:latin typeface="Calibri"/>
                <a:sym typeface="+mn-ea"/>
              </a:rPr>
              <a:t>This BUYING pushed T-bill yields DOWN relative to OIS</a:t>
            </a:r>
            <a:r>
              <a:rPr lang="en-US" sz="1000" dirty="0">
                <a:solidFill>
                  <a:srgbClr val="1A1A2E"/>
                </a:solidFill>
                <a:latin typeface="Calibri"/>
                <a:sym typeface="+mn-ea"/>
              </a:rPr>
              <a:t>. </a:t>
            </a:r>
            <a:r>
              <a:rPr sz="1000" b="1" dirty="0">
                <a:solidFill>
                  <a:srgbClr val="C0392B"/>
                </a:solidFill>
                <a:latin typeface="Calibri"/>
                <a:sym typeface="+mn-ea"/>
              </a:rPr>
              <a:t>→ Spread compressed far BELOW what the normal model predicted</a:t>
            </a:r>
            <a:endParaRPr sz="1000" dirty="0"/>
          </a:p>
        </p:txBody>
      </p:sp>
      <p:sp>
        <p:nvSpPr>
          <p:cNvPr id="19" name="Rectangle 18"/>
          <p:cNvSpPr/>
          <p:nvPr/>
        </p:nvSpPr>
        <p:spPr>
          <a:xfrm>
            <a:off x="4153535" y="3745548"/>
            <a:ext cx="7673975" cy="2921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sym typeface="+mn-ea"/>
              </a:rPr>
              <a:t>Force B: Market-wide flight to safety</a:t>
            </a:r>
            <a:endParaRPr sz="1000"/>
          </a:p>
        </p:txBody>
      </p:sp>
      <p:sp>
        <p:nvSpPr>
          <p:cNvPr id="22" name="Rectangle 21"/>
          <p:cNvSpPr/>
          <p:nvPr/>
        </p:nvSpPr>
        <p:spPr>
          <a:xfrm>
            <a:off x="4145914" y="4644708"/>
            <a:ext cx="7718425" cy="640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sym typeface="+mn-ea"/>
              </a:rPr>
              <a:t>Net effect: Force A (no selling) + Force B (active buying) = CAR of −18 pp
The graph is NEGATIVE, not flat, because of pure market flight-to-safety — not issuer behavior.</a:t>
            </a:r>
            <a:endParaRPr sz="1000"/>
          </a:p>
        </p:txBody>
      </p:sp>
      <p:sp>
        <p:nvSpPr>
          <p:cNvPr id="26" name="TextBox 25"/>
          <p:cNvSpPr txBox="1"/>
          <p:nvPr/>
        </p:nvSpPr>
        <p:spPr>
          <a:xfrm>
            <a:off x="10265434" y="320040"/>
            <a:ext cx="1576046" cy="321945"/>
          </a:xfrm>
          <a:prstGeom prst="rect">
            <a:avLst/>
          </a:prstGeom>
          <a:noFill/>
        </p:spPr>
        <p:txBody>
          <a:bodyPr wrap="square">
            <a:spAutoFit/>
          </a:bodyPr>
          <a:lstStyle/>
          <a:p>
            <a:pPr algn="l"/>
            <a:r>
              <a:rPr lang="en-US" sz="1500" b="1" i="0" dirty="0">
                <a:solidFill>
                  <a:srgbClr val="FFFFFF"/>
                </a:solidFill>
                <a:latin typeface="Calibri"/>
              </a:rPr>
              <a:t>Mimi – Page 6</a:t>
            </a:r>
            <a:endParaRPr sz="1500" b="1" i="0" dirty="0">
              <a:solidFill>
                <a:srgbClr val="FFFFFF"/>
              </a:solidFill>
              <a:latin typeface="Calibri"/>
            </a:endParaRPr>
          </a:p>
        </p:txBody>
      </p:sp>
      <p:pic>
        <p:nvPicPr>
          <p:cNvPr id="27" name="Picture 26" descr="event_study_cars.png"/>
          <p:cNvPicPr>
            <a:picLocks noChangeAspect="1"/>
          </p:cNvPicPr>
          <p:nvPr/>
        </p:nvPicPr>
        <p:blipFill>
          <a:blip r:embed="rId1"/>
          <a:srcRect l="65880" t="8036" r="816"/>
          <a:stretch>
            <a:fillRect/>
          </a:stretch>
        </p:blipFill>
        <p:spPr>
          <a:xfrm>
            <a:off x="681050" y="2943860"/>
            <a:ext cx="3318381" cy="2432812"/>
          </a:xfrm>
          <a:prstGeom prst="rect">
            <a:avLst/>
          </a:prstGeom>
        </p:spPr>
      </p:pic>
      <p:sp>
        <p:nvSpPr>
          <p:cNvPr id="29" name="Rectangle 28"/>
          <p:cNvSpPr/>
          <p:nvPr/>
        </p:nvSpPr>
        <p:spPr>
          <a:xfrm>
            <a:off x="-10160" y="5448110"/>
            <a:ext cx="12198985" cy="1580071"/>
          </a:xfrm>
          <a:prstGeom prst="rect">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lang="en-US" b="1" dirty="0">
                <a:solidFill>
                  <a:schemeClr val="bg1"/>
                </a:solidFill>
                <a:latin typeface="Calibri"/>
                <a:sym typeface="+mn-ea"/>
              </a:rPr>
              <a:t>The 27 pp Swing — What Does It Mean?</a:t>
            </a:r>
            <a:br>
              <a:rPr lang="en-US" b="1" dirty="0">
                <a:solidFill>
                  <a:schemeClr val="bg1"/>
                </a:solidFill>
                <a:latin typeface="Calibri"/>
                <a:sym typeface="+mn-ea"/>
              </a:rPr>
            </a:br>
            <a:r>
              <a:rPr lang="en-US" sz="1600" dirty="0">
                <a:solidFill>
                  <a:schemeClr val="bg1"/>
                </a:solidFill>
                <a:latin typeface="Calibri"/>
                <a:sym typeface="+mn-ea"/>
              </a:rPr>
              <a:t>2022  Low buffer (LUNA + USDT avg)  →  CAR = +8.9 pp   →  Forced T-bill selling pushed the spread UP</a:t>
            </a:r>
            <a:br>
              <a:rPr lang="en-US" sz="1600" b="1" dirty="0">
                <a:solidFill>
                  <a:schemeClr val="bg1"/>
                </a:solidFill>
                <a:latin typeface="Calibri"/>
                <a:sym typeface="+mn-ea"/>
              </a:rPr>
            </a:br>
            <a:r>
              <a:rPr lang="en-US" sz="1600" dirty="0">
                <a:solidFill>
                  <a:schemeClr val="bg1"/>
                </a:solidFill>
                <a:latin typeface="Calibri"/>
                <a:sym typeface="+mn-ea"/>
              </a:rPr>
              <a:t>2023  High buffer (SVB) →  CAR = −18.0 pp  →  No forced selling + flight-to-safety buying pushed the spread DOWN</a:t>
            </a:r>
            <a:br>
              <a:rPr lang="en-US" sz="1600" b="1" dirty="0">
                <a:solidFill>
                  <a:schemeClr val="bg1"/>
                </a:solidFill>
                <a:latin typeface="Calibri"/>
                <a:sym typeface="+mn-ea"/>
              </a:rPr>
            </a:br>
            <a:r>
              <a:rPr lang="en-US" sz="1600" dirty="0">
                <a:solidFill>
                  <a:schemeClr val="bg1"/>
                </a:solidFill>
                <a:latin typeface="Calibri"/>
                <a:sym typeface="+mn-ea"/>
              </a:rPr>
              <a:t>Swing: +8.9 − (−18.0) = 26.9 pp  →  The buffer regime alone flipped both the direction and size of the Treasury market impact</a:t>
            </a:r>
            <a:br>
              <a:rPr lang="en-US" sz="1600" b="1" dirty="0">
                <a:solidFill>
                  <a:schemeClr val="bg1"/>
                </a:solidFill>
                <a:latin typeface="Calibri"/>
                <a:sym typeface="+mn-ea"/>
              </a:rPr>
            </a:br>
            <a:r>
              <a:rPr lang="en-US" sz="1600" dirty="0">
                <a:solidFill>
                  <a:schemeClr val="bg1"/>
                </a:solidFill>
                <a:latin typeface="Calibri"/>
                <a:sym typeface="+mn-ea"/>
              </a:rPr>
              <a:t>Welch t = 15.22***  |  p &lt; 0.001  →  The probability this difference is random is essentially zero</a:t>
            </a:r>
            <a:endParaRPr lang="en-US" sz="1600" dirty="0">
              <a:solidFill>
                <a:schemeClr val="bg1"/>
              </a:solidFill>
              <a:latin typeface="Calibri"/>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7006374" cy="492443"/>
          </a:xfrm>
          <a:prstGeom prst="rect">
            <a:avLst/>
          </a:prstGeom>
          <a:noFill/>
        </p:spPr>
        <p:txBody>
          <a:bodyPr wrap="square">
            <a:spAutoFit/>
          </a:bodyPr>
          <a:lstStyle/>
          <a:p>
            <a:pPr algn="l"/>
            <a:r>
              <a:rPr sz="2600" b="0" i="0" dirty="0">
                <a:solidFill>
                  <a:srgbClr val="FFFFFF"/>
                </a:solidFill>
                <a:latin typeface="Calibri"/>
              </a:rPr>
              <a:t>Roadmap</a:t>
            </a:r>
            <a:endParaRPr sz="2600" b="0" i="0" dirty="0">
              <a:solidFill>
                <a:srgbClr val="FFFFFF"/>
              </a:solidFill>
              <a:latin typeface="Calibri"/>
            </a:endParaRPr>
          </a:p>
        </p:txBody>
      </p:sp>
      <p:sp>
        <p:nvSpPr>
          <p:cNvPr id="6" name="Rectangle 5"/>
          <p:cNvSpPr/>
          <p:nvPr/>
        </p:nvSpPr>
        <p:spPr>
          <a:xfrm>
            <a:off x="320040" y="960120"/>
            <a:ext cx="55778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5394960" cy="310896"/>
          </a:xfrm>
          <a:prstGeom prst="rect">
            <a:avLst/>
          </a:prstGeom>
          <a:noFill/>
        </p:spPr>
        <p:txBody>
          <a:bodyPr wrap="square">
            <a:spAutoFit/>
          </a:bodyPr>
          <a:lstStyle/>
          <a:p>
            <a:pPr algn="l"/>
            <a:r>
              <a:rPr sz="1500" b="1" i="0">
                <a:solidFill>
                  <a:srgbClr val="FFFFFF"/>
                </a:solidFill>
                <a:latin typeface="Calibri"/>
              </a:rPr>
              <a:t>What we have done</a:t>
            </a:r>
            <a:endParaRPr sz="1500" b="1" i="0">
              <a:solidFill>
                <a:srgbClr val="FFFFFF"/>
              </a:solidFill>
              <a:latin typeface="Calibri"/>
            </a:endParaRPr>
          </a:p>
        </p:txBody>
      </p:sp>
      <p:sp>
        <p:nvSpPr>
          <p:cNvPr id="8" name="Rectangle 7"/>
          <p:cNvSpPr/>
          <p:nvPr/>
        </p:nvSpPr>
        <p:spPr>
          <a:xfrm>
            <a:off x="320040" y="1417320"/>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600200"/>
            <a:ext cx="1042415" cy="347472"/>
          </a:xfrm>
          <a:prstGeom prst="rect">
            <a:avLst/>
          </a:prstGeom>
          <a:noFill/>
        </p:spPr>
        <p:txBody>
          <a:bodyPr wrap="square">
            <a:spAutoFit/>
          </a:bodyPr>
          <a:lstStyle/>
          <a:p>
            <a:pPr algn="ctr"/>
            <a:r>
              <a:rPr sz="1100" b="1" i="0">
                <a:solidFill>
                  <a:srgbClr val="FFFFFF"/>
                </a:solidFill>
                <a:latin typeface="Calibri"/>
              </a:rPr>
              <a:t>Theory</a:t>
            </a:r>
            <a:endParaRPr sz="1100" b="1" i="0">
              <a:solidFill>
                <a:srgbClr val="FFFFFF"/>
              </a:solidFill>
              <a:latin typeface="Calibri"/>
            </a:endParaRPr>
          </a:p>
        </p:txBody>
      </p:sp>
      <p:sp>
        <p:nvSpPr>
          <p:cNvPr id="10" name="Rectangle 9"/>
          <p:cNvSpPr/>
          <p:nvPr/>
        </p:nvSpPr>
        <p:spPr>
          <a:xfrm>
            <a:off x="1417320" y="1417320"/>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36192" y="1581912"/>
            <a:ext cx="4297680" cy="457200"/>
          </a:xfrm>
          <a:prstGeom prst="rect">
            <a:avLst/>
          </a:prstGeom>
          <a:noFill/>
        </p:spPr>
        <p:txBody>
          <a:bodyPr wrap="square">
            <a:spAutoFit/>
          </a:bodyPr>
          <a:lstStyle/>
          <a:p>
            <a:pPr algn="l"/>
            <a:r>
              <a:rPr sz="1200" b="0" i="0" dirty="0">
                <a:solidFill>
                  <a:srgbClr val="1A1A2E"/>
                </a:solidFill>
                <a:latin typeface="Calibri"/>
              </a:rPr>
              <a:t>✓  Extended Maggiori (2017) with stablecoin supply S, treasury exposure </a:t>
            </a:r>
            <a:r>
              <a:rPr sz="1200" b="0" i="0" dirty="0" err="1">
                <a:solidFill>
                  <a:srgbClr val="1A1A2E"/>
                </a:solidFill>
                <a:latin typeface="Calibri"/>
              </a:rPr>
              <a:t>θ</a:t>
            </a:r>
            <a:r>
              <a:rPr sz="1200" b="0" i="0" dirty="0">
                <a:solidFill>
                  <a:srgbClr val="1A1A2E"/>
                </a:solidFill>
                <a:latin typeface="Calibri"/>
              </a:rPr>
              <a:t>, and liquid buffer L</a:t>
            </a:r>
            <a:endParaRPr sz="1200" b="0" i="0" dirty="0">
              <a:solidFill>
                <a:srgbClr val="1A1A2E"/>
              </a:solidFill>
              <a:latin typeface="Calibri"/>
            </a:endParaRPr>
          </a:p>
        </p:txBody>
      </p:sp>
      <p:sp>
        <p:nvSpPr>
          <p:cNvPr id="12" name="Rectangle 11"/>
          <p:cNvSpPr/>
          <p:nvPr/>
        </p:nvSpPr>
        <p:spPr>
          <a:xfrm>
            <a:off x="320040" y="2176272"/>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359152"/>
            <a:ext cx="1042415" cy="347472"/>
          </a:xfrm>
          <a:prstGeom prst="rect">
            <a:avLst/>
          </a:prstGeom>
          <a:noFill/>
        </p:spPr>
        <p:txBody>
          <a:bodyPr wrap="square">
            <a:spAutoFit/>
          </a:bodyPr>
          <a:lstStyle/>
          <a:p>
            <a:pPr algn="ctr"/>
            <a:r>
              <a:rPr sz="1100" b="1" i="0">
                <a:solidFill>
                  <a:srgbClr val="FFFFFF"/>
                </a:solidFill>
                <a:latin typeface="Calibri"/>
              </a:rPr>
              <a:t>Regression</a:t>
            </a:r>
            <a:endParaRPr sz="1100" b="1" i="0">
              <a:solidFill>
                <a:srgbClr val="FFFFFF"/>
              </a:solidFill>
              <a:latin typeface="Calibri"/>
            </a:endParaRPr>
          </a:p>
        </p:txBody>
      </p:sp>
      <p:sp>
        <p:nvSpPr>
          <p:cNvPr id="14" name="Rectangle 13"/>
          <p:cNvSpPr/>
          <p:nvPr/>
        </p:nvSpPr>
        <p:spPr>
          <a:xfrm>
            <a:off x="1417320" y="2176272"/>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6192" y="2340864"/>
            <a:ext cx="4297680" cy="457200"/>
          </a:xfrm>
          <a:prstGeom prst="rect">
            <a:avLst/>
          </a:prstGeom>
          <a:noFill/>
        </p:spPr>
        <p:txBody>
          <a:bodyPr wrap="square">
            <a:spAutoFit/>
          </a:bodyPr>
          <a:lstStyle/>
          <a:p>
            <a:pPr algn="l"/>
            <a:r>
              <a:rPr sz="1200" b="0" i="0" dirty="0">
                <a:solidFill>
                  <a:srgbClr val="1A1A2E"/>
                </a:solidFill>
                <a:latin typeface="Calibri"/>
              </a:rPr>
              <a:t>✓  β₁ = −6.02** — stablecoin growth compresses OIS–Treasury spreads (privilege amplification)</a:t>
            </a:r>
            <a:endParaRPr sz="1200" b="0" i="0" dirty="0">
              <a:solidFill>
                <a:srgbClr val="1A1A2E"/>
              </a:solidFill>
              <a:latin typeface="Calibri"/>
            </a:endParaRPr>
          </a:p>
        </p:txBody>
      </p:sp>
      <p:sp>
        <p:nvSpPr>
          <p:cNvPr id="16" name="Rectangle 15"/>
          <p:cNvSpPr/>
          <p:nvPr/>
        </p:nvSpPr>
        <p:spPr>
          <a:xfrm>
            <a:off x="320040" y="2935224"/>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3118104"/>
            <a:ext cx="1042415" cy="347472"/>
          </a:xfrm>
          <a:prstGeom prst="rect">
            <a:avLst/>
          </a:prstGeom>
          <a:noFill/>
        </p:spPr>
        <p:txBody>
          <a:bodyPr wrap="square">
            <a:spAutoFit/>
          </a:bodyPr>
          <a:lstStyle/>
          <a:p>
            <a:pPr algn="ctr"/>
            <a:r>
              <a:rPr sz="1100" b="1" i="0">
                <a:solidFill>
                  <a:srgbClr val="FFFFFF"/>
                </a:solidFill>
                <a:latin typeface="Calibri"/>
              </a:rPr>
              <a:t>Threshold</a:t>
            </a:r>
            <a:endParaRPr sz="1100" b="1" i="0">
              <a:solidFill>
                <a:srgbClr val="FFFFFF"/>
              </a:solidFill>
              <a:latin typeface="Calibri"/>
            </a:endParaRPr>
          </a:p>
        </p:txBody>
      </p:sp>
      <p:sp>
        <p:nvSpPr>
          <p:cNvPr id="18" name="Rectangle 17"/>
          <p:cNvSpPr/>
          <p:nvPr/>
        </p:nvSpPr>
        <p:spPr>
          <a:xfrm>
            <a:off x="1417320" y="2935224"/>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36192" y="3099816"/>
            <a:ext cx="4297680" cy="457200"/>
          </a:xfrm>
          <a:prstGeom prst="rect">
            <a:avLst/>
          </a:prstGeom>
          <a:noFill/>
        </p:spPr>
        <p:txBody>
          <a:bodyPr wrap="square">
            <a:spAutoFit/>
          </a:bodyPr>
          <a:lstStyle/>
          <a:p>
            <a:pPr algn="l"/>
            <a:r>
              <a:rPr sz="1200" b="0" i="0" dirty="0">
                <a:solidFill>
                  <a:srgbClr val="1A1A2E"/>
                </a:solidFill>
                <a:latin typeface="Calibri"/>
              </a:rPr>
              <a:t>✓  Hansen (2000) threshold at q* = 13% liquid cash — separates safe from fragile regime</a:t>
            </a:r>
            <a:endParaRPr sz="1200" b="0" i="0" dirty="0">
              <a:solidFill>
                <a:srgbClr val="1A1A2E"/>
              </a:solidFill>
              <a:latin typeface="Calibri"/>
            </a:endParaRPr>
          </a:p>
        </p:txBody>
      </p:sp>
      <p:sp>
        <p:nvSpPr>
          <p:cNvPr id="20" name="Rectangle 19"/>
          <p:cNvSpPr/>
          <p:nvPr/>
        </p:nvSpPr>
        <p:spPr>
          <a:xfrm>
            <a:off x="320040" y="3694176"/>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877056"/>
            <a:ext cx="1042415" cy="347472"/>
          </a:xfrm>
          <a:prstGeom prst="rect">
            <a:avLst/>
          </a:prstGeom>
          <a:noFill/>
        </p:spPr>
        <p:txBody>
          <a:bodyPr wrap="square">
            <a:spAutoFit/>
          </a:bodyPr>
          <a:lstStyle/>
          <a:p>
            <a:pPr algn="ctr"/>
            <a:r>
              <a:rPr sz="1100" b="1" i="0">
                <a:solidFill>
                  <a:srgbClr val="FFFFFF"/>
                </a:solidFill>
                <a:latin typeface="Calibri"/>
              </a:rPr>
              <a:t>Event Study</a:t>
            </a:r>
            <a:endParaRPr sz="1100" b="1" i="0">
              <a:solidFill>
                <a:srgbClr val="FFFFFF"/>
              </a:solidFill>
              <a:latin typeface="Calibri"/>
            </a:endParaRPr>
          </a:p>
        </p:txBody>
      </p:sp>
      <p:sp>
        <p:nvSpPr>
          <p:cNvPr id="22" name="Rectangle 21"/>
          <p:cNvSpPr/>
          <p:nvPr/>
        </p:nvSpPr>
        <p:spPr>
          <a:xfrm>
            <a:off x="1417320" y="3694176"/>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36192" y="3858768"/>
            <a:ext cx="4297680" cy="457200"/>
          </a:xfrm>
          <a:prstGeom prst="rect">
            <a:avLst/>
          </a:prstGeom>
          <a:noFill/>
        </p:spPr>
        <p:txBody>
          <a:bodyPr wrap="square">
            <a:spAutoFit/>
          </a:bodyPr>
          <a:lstStyle/>
          <a:p>
            <a:pPr algn="l"/>
            <a:r>
              <a:rPr sz="1200" b="0" i="0" dirty="0">
                <a:solidFill>
                  <a:srgbClr val="1A1A2E"/>
                </a:solidFill>
                <a:latin typeface="Calibri"/>
              </a:rPr>
              <a:t>✓  3 stress episodes (LUNA, USDT </a:t>
            </a:r>
            <a:r>
              <a:rPr sz="1200" b="0" i="0" dirty="0" err="1">
                <a:solidFill>
                  <a:srgbClr val="1A1A2E"/>
                </a:solidFill>
                <a:latin typeface="Calibri"/>
              </a:rPr>
              <a:t>depeg</a:t>
            </a:r>
            <a:r>
              <a:rPr sz="1200" b="0" i="0" dirty="0">
                <a:solidFill>
                  <a:srgbClr val="1A1A2E"/>
                </a:solidFill>
                <a:latin typeface="Calibri"/>
              </a:rPr>
              <a:t>, SVB) — 27 pp CAR swing between low/high buffer regimes</a:t>
            </a:r>
            <a:endParaRPr sz="1200" b="0" i="0" dirty="0">
              <a:solidFill>
                <a:srgbClr val="1A1A2E"/>
              </a:solidFill>
              <a:latin typeface="Calibri"/>
            </a:endParaRPr>
          </a:p>
        </p:txBody>
      </p:sp>
      <p:sp>
        <p:nvSpPr>
          <p:cNvPr id="24" name="Rectangle 23"/>
          <p:cNvSpPr/>
          <p:nvPr/>
        </p:nvSpPr>
        <p:spPr>
          <a:xfrm>
            <a:off x="320040" y="4453128"/>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4636008"/>
            <a:ext cx="1042415" cy="347472"/>
          </a:xfrm>
          <a:prstGeom prst="rect">
            <a:avLst/>
          </a:prstGeom>
          <a:noFill/>
        </p:spPr>
        <p:txBody>
          <a:bodyPr wrap="square">
            <a:spAutoFit/>
          </a:bodyPr>
          <a:lstStyle/>
          <a:p>
            <a:pPr algn="ctr"/>
            <a:r>
              <a:rPr sz="1100" b="1" i="0">
                <a:solidFill>
                  <a:srgbClr val="FFFFFF"/>
                </a:solidFill>
                <a:latin typeface="Calibri"/>
              </a:rPr>
              <a:t>Robustness</a:t>
            </a:r>
            <a:endParaRPr sz="1100" b="1" i="0">
              <a:solidFill>
                <a:srgbClr val="FFFFFF"/>
              </a:solidFill>
              <a:latin typeface="Calibri"/>
            </a:endParaRPr>
          </a:p>
        </p:txBody>
      </p:sp>
      <p:sp>
        <p:nvSpPr>
          <p:cNvPr id="26" name="Rectangle 25"/>
          <p:cNvSpPr/>
          <p:nvPr/>
        </p:nvSpPr>
        <p:spPr>
          <a:xfrm>
            <a:off x="1417320" y="4453128"/>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36192" y="4617720"/>
            <a:ext cx="4297680" cy="457200"/>
          </a:xfrm>
          <a:prstGeom prst="rect">
            <a:avLst/>
          </a:prstGeom>
          <a:noFill/>
        </p:spPr>
        <p:txBody>
          <a:bodyPr wrap="square">
            <a:spAutoFit/>
          </a:bodyPr>
          <a:lstStyle/>
          <a:p>
            <a:pPr algn="l"/>
            <a:r>
              <a:rPr sz="1200" b="0" i="0">
                <a:solidFill>
                  <a:srgbClr val="1A1A2E"/>
                </a:solidFill>
                <a:latin typeface="Calibri"/>
              </a:rPr>
              <a:t>✓  Mean-centering (VIF), Engle-Granger cointegration, first-differenced spec, post-2023 subsample</a:t>
            </a:r>
            <a:endParaRPr sz="1200" b="0" i="0">
              <a:solidFill>
                <a:srgbClr val="1A1A2E"/>
              </a:solidFill>
              <a:latin typeface="Calibri"/>
            </a:endParaRPr>
          </a:p>
        </p:txBody>
      </p:sp>
      <p:sp>
        <p:nvSpPr>
          <p:cNvPr id="28" name="Rectangle 27"/>
          <p:cNvSpPr/>
          <p:nvPr/>
        </p:nvSpPr>
        <p:spPr>
          <a:xfrm>
            <a:off x="320040" y="5212080"/>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5394960"/>
            <a:ext cx="1042415" cy="347472"/>
          </a:xfrm>
          <a:prstGeom prst="rect">
            <a:avLst/>
          </a:prstGeom>
          <a:noFill/>
        </p:spPr>
        <p:txBody>
          <a:bodyPr wrap="square">
            <a:spAutoFit/>
          </a:bodyPr>
          <a:lstStyle/>
          <a:p>
            <a:pPr algn="ctr"/>
            <a:r>
              <a:rPr sz="1100" b="1" i="0">
                <a:solidFill>
                  <a:srgbClr val="FFFFFF"/>
                </a:solidFill>
                <a:latin typeface="Calibri"/>
              </a:rPr>
              <a:t>This deck</a:t>
            </a:r>
            <a:endParaRPr sz="1100" b="1" i="0">
              <a:solidFill>
                <a:srgbClr val="FFFFFF"/>
              </a:solidFill>
              <a:latin typeface="Calibri"/>
            </a:endParaRPr>
          </a:p>
        </p:txBody>
      </p:sp>
      <p:sp>
        <p:nvSpPr>
          <p:cNvPr id="30" name="Rectangle 29"/>
          <p:cNvSpPr/>
          <p:nvPr/>
        </p:nvSpPr>
        <p:spPr>
          <a:xfrm>
            <a:off x="1417320" y="5212080"/>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36192" y="5376672"/>
            <a:ext cx="4297680" cy="457200"/>
          </a:xfrm>
          <a:prstGeom prst="rect">
            <a:avLst/>
          </a:prstGeom>
          <a:noFill/>
        </p:spPr>
        <p:txBody>
          <a:bodyPr wrap="square">
            <a:spAutoFit/>
          </a:bodyPr>
          <a:lstStyle/>
          <a:p>
            <a:pPr algn="l"/>
            <a:r>
              <a:rPr sz="1200" b="0" i="0">
                <a:solidFill>
                  <a:srgbClr val="1A1A2E"/>
                </a:solidFill>
                <a:latin typeface="Calibri"/>
              </a:rPr>
              <a:t>✓  Clarified: why OIS spread, what the buffer condition means, how to read CAR, what each event was</a:t>
            </a:r>
            <a:endParaRPr sz="1200" b="0" i="0">
              <a:solidFill>
                <a:srgbClr val="1A1A2E"/>
              </a:solidFill>
              <a:latin typeface="Calibri"/>
            </a:endParaRPr>
          </a:p>
        </p:txBody>
      </p:sp>
      <p:sp>
        <p:nvSpPr>
          <p:cNvPr id="32" name="Rectangle 31"/>
          <p:cNvSpPr/>
          <p:nvPr/>
        </p:nvSpPr>
        <p:spPr>
          <a:xfrm>
            <a:off x="6217920" y="960120"/>
            <a:ext cx="5623560" cy="384048"/>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987552"/>
            <a:ext cx="5440680" cy="310896"/>
          </a:xfrm>
          <a:prstGeom prst="rect">
            <a:avLst/>
          </a:prstGeom>
          <a:noFill/>
        </p:spPr>
        <p:txBody>
          <a:bodyPr wrap="square">
            <a:spAutoFit/>
          </a:bodyPr>
          <a:lstStyle/>
          <a:p>
            <a:pPr algn="l"/>
            <a:r>
              <a:rPr sz="1500" b="1" i="0" dirty="0">
                <a:solidFill>
                  <a:srgbClr val="FFFFFF"/>
                </a:solidFill>
                <a:latin typeface="Calibri"/>
              </a:rPr>
              <a:t>Planned for next week</a:t>
            </a:r>
            <a:endParaRPr sz="1500" b="1" i="0" dirty="0">
              <a:solidFill>
                <a:srgbClr val="FFFFFF"/>
              </a:solidFill>
              <a:latin typeface="Calibri"/>
            </a:endParaRPr>
          </a:p>
        </p:txBody>
      </p:sp>
      <p:sp>
        <p:nvSpPr>
          <p:cNvPr id="34" name="Rectangle 33"/>
          <p:cNvSpPr/>
          <p:nvPr/>
        </p:nvSpPr>
        <p:spPr>
          <a:xfrm>
            <a:off x="6217920" y="1417320"/>
            <a:ext cx="5623560" cy="5212080"/>
          </a:xfrm>
          <a:prstGeom prst="rect">
            <a:avLst/>
          </a:prstGeom>
          <a:solidFill>
            <a:srgbClr val="FF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1508760"/>
            <a:ext cx="5303520" cy="5029200"/>
          </a:xfrm>
          <a:prstGeom prst="rect">
            <a:avLst/>
          </a:prstGeom>
          <a:noFill/>
        </p:spPr>
        <p:txBody>
          <a:bodyPr wrap="square">
            <a:spAutoFit/>
          </a:bodyPr>
          <a:lstStyle/>
          <a:p>
            <a:pPr>
              <a:spcBef>
                <a:spcPts val="0"/>
              </a:spcBef>
            </a:pPr>
            <a:endParaRPr dirty="0"/>
          </a:p>
          <a:p>
            <a:pPr algn="l">
              <a:spcBef>
                <a:spcPts val="400"/>
              </a:spcBef>
            </a:pPr>
            <a:r>
              <a:rPr sz="1600" b="1" i="0" dirty="0">
                <a:solidFill>
                  <a:srgbClr val="D4632A"/>
                </a:solidFill>
                <a:latin typeface="Calibri"/>
              </a:rPr>
              <a:t>Placebo Test</a:t>
            </a:r>
            <a:endParaRPr sz="1600" b="1" i="0" dirty="0">
              <a:solidFill>
                <a:srgbClr val="D4632A"/>
              </a:solidFill>
              <a:latin typeface="Calibri"/>
            </a:endParaRPr>
          </a:p>
          <a:p>
            <a:pPr algn="l">
              <a:spcBef>
                <a:spcPts val="800"/>
              </a:spcBef>
            </a:pPr>
            <a:r>
              <a:rPr sz="1300" b="0" i="0" dirty="0">
                <a:solidFill>
                  <a:srgbClr val="1A1A2E"/>
                </a:solidFill>
                <a:latin typeface="Calibri"/>
              </a:rPr>
              <a:t>Run the same event study methodology on 3 ordinary days with no known stablecoin stress event:</a:t>
            </a:r>
            <a:endParaRPr sz="1300" b="0" i="0" dirty="0">
              <a:solidFill>
                <a:srgbClr val="1A1A2E"/>
              </a:solidFill>
              <a:latin typeface="Calibri"/>
            </a:endParaRPr>
          </a:p>
          <a:p>
            <a:pPr algn="l">
              <a:spcBef>
                <a:spcPts val="700"/>
              </a:spcBef>
            </a:pPr>
            <a:r>
              <a:rPr sz="1200" b="0" i="0" dirty="0">
                <a:solidFill>
                  <a:srgbClr val="1A1A2E"/>
                </a:solidFill>
                <a:latin typeface="Calibri"/>
              </a:rPr>
              <a:t>❖  Jun 15, 2021  (Low buffer)  —  Quiet summer — no redemption pressure</a:t>
            </a:r>
            <a:endParaRPr sz="1200" b="0" i="0" dirty="0">
              <a:solidFill>
                <a:srgbClr val="1A1A2E"/>
              </a:solidFill>
              <a:latin typeface="Calibri"/>
            </a:endParaRPr>
          </a:p>
          <a:p>
            <a:pPr algn="l">
              <a:spcBef>
                <a:spcPts val="700"/>
              </a:spcBef>
            </a:pPr>
            <a:r>
              <a:rPr sz="1200" b="0" i="0" dirty="0">
                <a:solidFill>
                  <a:srgbClr val="1A1A2E"/>
                </a:solidFill>
                <a:latin typeface="Calibri"/>
              </a:rPr>
              <a:t>❖  Oct 12, 2021  (Low buffer)  —  Pre-LUNA, no crypto-specific stress</a:t>
            </a:r>
            <a:endParaRPr sz="1200" b="0" i="0" dirty="0">
              <a:solidFill>
                <a:srgbClr val="1A1A2E"/>
              </a:solidFill>
              <a:latin typeface="Calibri"/>
            </a:endParaRPr>
          </a:p>
          <a:p>
            <a:pPr algn="l">
              <a:spcBef>
                <a:spcPts val="700"/>
              </a:spcBef>
            </a:pPr>
            <a:r>
              <a:rPr sz="1200" b="0" i="0" dirty="0">
                <a:solidFill>
                  <a:srgbClr val="1A1A2E"/>
                </a:solidFill>
                <a:latin typeface="Calibri"/>
              </a:rPr>
              <a:t>❖  Jul 15, 2025  (High buffer)  —  Post-SVB recovery, stable spread period</a:t>
            </a:r>
            <a:endParaRPr sz="1200" b="0" i="0" dirty="0">
              <a:solidFill>
                <a:srgbClr val="1A1A2E"/>
              </a:solidFill>
              <a:latin typeface="Calibri"/>
            </a:endParaRPr>
          </a:p>
          <a:p>
            <a:pPr algn="l">
              <a:spcBef>
                <a:spcPts val="200"/>
              </a:spcBef>
            </a:pPr>
            <a:r>
              <a:rPr sz="600" b="0" i="0" dirty="0">
                <a:solidFill>
                  <a:srgbClr val="1A1A2E"/>
                </a:solidFill>
                <a:latin typeface="Calibri"/>
              </a:rPr>
              <a:t> </a:t>
            </a:r>
            <a:endParaRPr sz="600" b="0" i="0" dirty="0">
              <a:solidFill>
                <a:srgbClr val="1A1A2E"/>
              </a:solidFill>
              <a:latin typeface="Calibri"/>
            </a:endParaRPr>
          </a:p>
          <a:p>
            <a:pPr algn="l">
              <a:spcBef>
                <a:spcPts val="400"/>
              </a:spcBef>
            </a:pPr>
            <a:r>
              <a:rPr sz="1400" b="1" i="0" dirty="0">
                <a:solidFill>
                  <a:srgbClr val="1B3A72"/>
                </a:solidFill>
                <a:latin typeface="Calibri"/>
              </a:rPr>
              <a:t>What we expect to show:</a:t>
            </a:r>
            <a:endParaRPr sz="1400" b="1" i="0" dirty="0">
              <a:solidFill>
                <a:srgbClr val="1B3A72"/>
              </a:solidFill>
              <a:latin typeface="Calibri"/>
            </a:endParaRPr>
          </a:p>
          <a:p>
            <a:pPr algn="l">
              <a:spcBef>
                <a:spcPts val="600"/>
              </a:spcBef>
            </a:pPr>
            <a:r>
              <a:rPr sz="1300" b="0" i="0" dirty="0">
                <a:solidFill>
                  <a:srgbClr val="1A1A2E"/>
                </a:solidFill>
                <a:latin typeface="Calibri"/>
              </a:rPr>
              <a:t>CARs on placebo days should be near 0 pp — confirming that the 9–18 pp swings in actual events are caused by the crisis itself, not by random market drift.</a:t>
            </a:r>
            <a:endParaRPr sz="1300" b="0" i="0" dirty="0">
              <a:solidFill>
                <a:srgbClr val="1A1A2E"/>
              </a:solidFill>
              <a:latin typeface="Calibri"/>
            </a:endParaRPr>
          </a:p>
          <a:p>
            <a:pPr algn="l">
              <a:spcBef>
                <a:spcPts val="200"/>
              </a:spcBef>
            </a:pPr>
            <a:r>
              <a:rPr sz="600" b="0" i="0" dirty="0">
                <a:solidFill>
                  <a:srgbClr val="1A1A2E"/>
                </a:solidFill>
                <a:latin typeface="Calibri"/>
              </a:rPr>
              <a:t> </a:t>
            </a:r>
            <a:endParaRPr sz="600" b="0" i="0" dirty="0">
              <a:solidFill>
                <a:srgbClr val="1A1A2E"/>
              </a:solidFill>
              <a:latin typeface="Calibri"/>
            </a:endParaRPr>
          </a:p>
          <a:p>
            <a:pPr algn="l">
              <a:spcBef>
                <a:spcPts val="400"/>
              </a:spcBef>
            </a:pPr>
            <a:r>
              <a:rPr sz="1200" b="1" i="1" dirty="0">
                <a:solidFill>
                  <a:srgbClr val="D4632A"/>
                </a:solidFill>
                <a:latin typeface="Calibri"/>
              </a:rPr>
              <a:t>Preliminary result: placebo mean |CAR| = 0.55 pp vs. actual mean |CAR| = 11.92 pp  →  21.7× difference</a:t>
            </a:r>
            <a:endParaRPr sz="1200" b="1" i="1" dirty="0">
              <a:solidFill>
                <a:srgbClr val="D4632A"/>
              </a:solidFill>
              <a:latin typeface="Calibri"/>
            </a:endParaRPr>
          </a:p>
        </p:txBody>
      </p:sp>
      <p:sp>
        <p:nvSpPr>
          <p:cNvPr id="36" name="TextBox 35"/>
          <p:cNvSpPr txBox="1"/>
          <p:nvPr/>
        </p:nvSpPr>
        <p:spPr>
          <a:xfrm>
            <a:off x="10265434" y="320040"/>
            <a:ext cx="1576046" cy="323165"/>
          </a:xfrm>
          <a:prstGeom prst="rect">
            <a:avLst/>
          </a:prstGeom>
          <a:noFill/>
        </p:spPr>
        <p:txBody>
          <a:bodyPr wrap="square">
            <a:spAutoFit/>
          </a:bodyPr>
          <a:lstStyle/>
          <a:p>
            <a:pPr algn="l"/>
            <a:r>
              <a:rPr lang="en-US" sz="1500" b="1" i="0" dirty="0">
                <a:solidFill>
                  <a:srgbClr val="FFFFFF"/>
                </a:solidFill>
                <a:latin typeface="Calibri"/>
              </a:rPr>
              <a:t>Mimi – Page 7</a:t>
            </a:r>
            <a:endParaRPr sz="1500" b="1" i="0" dirty="0">
              <a:solidFill>
                <a:srgbClr val="FFFFFF"/>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1">
            <a:lum bright="70000" contrast="-70000"/>
            <a:extLst>
              <a:ext uri="{BEBA8EAE-BF5A-486C-A8C5-ECC9F3942E4B}">
                <a14:imgProps xmlns:a14="http://schemas.microsoft.com/office/drawing/2010/main">
                  <a14:imgLayer r:embed="rId2">
                    <a14:imgEffect>
                      <a14:artisticPhotocopy trans="30000"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a:t>
            </a:r>
            <a:endParaRPr lang="en-US" altLang="ko-KR" sz="2400" dirty="0">
              <a:solidFill>
                <a:prstClr val="white"/>
              </a:solidFill>
              <a:latin typeface="Hiragino Kaku Gothic Std W8" panose="020B0800000000000000" pitchFamily="34" charset="-128"/>
              <a:ea typeface="Hiragino Kaku Gothic Std W8" panose="020B0800000000000000" pitchFamily="34" charset="-128"/>
            </a:endParaRP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094095" y="5560060"/>
            <a:ext cx="5842635" cy="1198880"/>
          </a:xfrm>
          <a:prstGeom prst="rect">
            <a:avLst/>
          </a:prstGeom>
          <a:noFill/>
        </p:spPr>
        <p:txBody>
          <a:bodyPr wrap="square" rtlCol="0">
            <a:spAutoFit/>
          </a:bodyPr>
          <a:lstStyle/>
          <a:p>
            <a:r>
              <a:rPr lang="en-US" altLang="ko-KR" sz="1800" b="1" dirty="0">
                <a:solidFill>
                  <a:schemeClr val="bg1"/>
                </a:solidFill>
              </a:rPr>
              <a:t>Yonsei GSIS 2026-1 </a:t>
            </a:r>
            <a:endParaRPr lang="en-US" altLang="ko-KR" sz="1800" b="1" dirty="0">
              <a:solidFill>
                <a:schemeClr val="bg1"/>
              </a:solidFill>
            </a:endParaRP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 Jade Zhu · Alexandre Godefroy · Baptiste Degand</a:t>
            </a:r>
            <a:endParaRPr lang="en-US" altLang="ko-KR" sz="1800" b="1" dirty="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7381</Words>
  <Application>WPS Docs</Application>
  <PresentationFormat>사용자 지정</PresentationFormat>
  <Paragraphs>219</Paragraphs>
  <Slides>8</Slides>
  <Notes>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vt:i4>
      </vt:variant>
    </vt:vector>
  </HeadingPairs>
  <TitlesOfParts>
    <vt:vector size="25" baseType="lpstr">
      <vt:lpstr>Arial</vt:lpstr>
      <vt:lpstr>SimSun</vt:lpstr>
      <vt:lpstr>Wingdings</vt:lpstr>
      <vt:lpstr>Arial</vt:lpstr>
      <vt:lpstr>Hiragino Kaku Gothic Std W8</vt:lpstr>
      <vt:lpstr>Malgun Gothic</vt:lpstr>
      <vt:lpstr>Calibri</vt:lpstr>
      <vt:lpstr>Helvetica Neue</vt:lpstr>
      <vt:lpstr>AppleGothic</vt:lpstr>
      <vt:lpstr>Microsoft YaHei</vt:lpstr>
      <vt:lpstr>汉仪旗黑</vt:lpstr>
      <vt:lpstr>Arial Unicode MS</vt:lpstr>
      <vt:lpstr>Malgun Gothic</vt:lpstr>
      <vt:lpstr>Apple SD Gothic Neo</vt:lpstr>
      <vt:lpstr>汉仪书宋二KW</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OybekIbragimov</cp:lastModifiedBy>
  <cp:revision>17</cp:revision>
  <dcterms:created xsi:type="dcterms:W3CDTF">2026-05-26T02:30:49Z</dcterms:created>
  <dcterms:modified xsi:type="dcterms:W3CDTF">2026-05-26T02:30:49Z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B8C17093AFBACDE4544E146A93F2AF0B_42</vt:lpwstr>
  </property>
</Properties>
</file>