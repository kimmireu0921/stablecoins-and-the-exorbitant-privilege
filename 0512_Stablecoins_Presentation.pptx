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1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1E5C"/>
    <a:srgbClr val="1B3A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45"/>
  </p:normalViewPr>
  <p:slideViewPr>
    <p:cSldViewPr snapToGrid="0" snapToObjects="1">
      <p:cViewPr varScale="1">
        <p:scale>
          <a:sx n="88" d="100"/>
          <a:sy n="88" d="100"/>
        </p:scale>
        <p:origin x="200" y="6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E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원, 그래픽, 스크린샷, 그래픽 디자인이(가) 표시된 사진&#10;&#10;자동 생성된 설명">
            <a:extLst>
              <a:ext uri="{FF2B5EF4-FFF2-40B4-BE49-F238E27FC236}">
                <a16:creationId xmlns:a16="http://schemas.microsoft.com/office/drawing/2014/main" id="{D7EB7DC8-31D2-C2CA-A2F8-27FAC3902EA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0"/>
            <a:ext cx="4809898" cy="685621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49FCC2D-4CBD-DC60-6535-823D3BDCAE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27" y="5009673"/>
            <a:ext cx="1554891" cy="155489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E463249-DD54-8009-485B-261B3F4275D0}"/>
              </a:ext>
            </a:extLst>
          </p:cNvPr>
          <p:cNvSpPr/>
          <p:nvPr/>
        </p:nvSpPr>
        <p:spPr>
          <a:xfrm>
            <a:off x="-1" y="1879560"/>
            <a:ext cx="12188826" cy="2576274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 latinLnBrk="1">
              <a:defRPr/>
            </a:pPr>
            <a:r>
              <a:rPr lang="en-US" altLang="ko-KR" sz="2399" dirty="0">
                <a:solidFill>
                  <a:prstClr val="white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STABLECOINS AND THE EXORBITANT PRIVILEGE</a:t>
            </a:r>
          </a:p>
          <a:p>
            <a:pPr algn="ctr" defTabSz="914126" latinLnBrk="1">
              <a:defRPr/>
            </a:pPr>
            <a:endParaRPr lang="ko-KR" altLang="en-US" sz="2399" dirty="0">
              <a:solidFill>
                <a:prstClr val="white"/>
              </a:solidFill>
              <a:latin typeface="Hiragino Kaku Gothic Std W8" panose="020B0800000000000000" pitchFamily="34" charset="-128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924223-4822-8D82-13C7-9E1362F054E1}"/>
              </a:ext>
            </a:extLst>
          </p:cNvPr>
          <p:cNvSpPr txBox="1"/>
          <p:nvPr/>
        </p:nvSpPr>
        <p:spPr>
          <a:xfrm>
            <a:off x="7507054" y="5787118"/>
            <a:ext cx="4650632" cy="9230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799" b="1" dirty="0">
                <a:solidFill>
                  <a:schemeClr val="bg1"/>
                </a:solidFill>
              </a:rPr>
              <a:t>Yonsei GSIS 2026-1 </a:t>
            </a:r>
          </a:p>
          <a:p>
            <a:r>
              <a:rPr lang="en-US" altLang="ko-KR" sz="1799" b="1" dirty="0">
                <a:solidFill>
                  <a:schemeClr val="bg1"/>
                </a:solidFill>
              </a:rPr>
              <a:t>Topics in International Finance</a:t>
            </a:r>
            <a:endParaRPr lang="en-US" altLang="ko-KR" sz="1799" dirty="0">
              <a:solidFill>
                <a:schemeClr val="bg1"/>
              </a:solidFill>
            </a:endParaRPr>
          </a:p>
          <a:p>
            <a:r>
              <a:rPr lang="en-US" altLang="ko-KR" b="1" dirty="0">
                <a:solidFill>
                  <a:srgbClr val="FFFFFF"/>
                </a:solidFill>
              </a:rPr>
              <a:t>Mireu Kim · Sara Chekroune · Oybek Ibragimov</a:t>
            </a:r>
            <a:endParaRPr lang="en-US" altLang="ko-KR" sz="1799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4623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111556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2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Motivation — why stablecoins matter for sovereign debt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The New Triffin Dilemma — our core argument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Theoretical extension of Maggiori (2017)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Data &amp; Methodology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Result 1 — Privilege amplification regression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Result 2 — Reserve adequacy threshold (Hansen 2000)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Result 3 — Buffer-conditioned event study</a:t>
            </a:r>
          </a:p>
          <a:p>
            <a:pPr algn="l">
              <a:spcBef>
                <a:spcPts val="800"/>
              </a:spcBef>
            </a:pPr>
            <a:r>
              <a:rPr sz="2000" b="0" i="0">
                <a:solidFill>
                  <a:srgbClr val="1A1A2E"/>
                </a:solidFill>
                <a:latin typeface="Calibri"/>
              </a:rPr>
              <a:t>❖  Conclusion &amp; Policy implications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Motivation: Stablecoins as Treasury Buyers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 dirty="0"/>
          </a:p>
          <a:p>
            <a:pPr algn="l">
              <a:spcBef>
                <a:spcPts val="200"/>
              </a:spcBef>
            </a:pPr>
            <a:r>
              <a:rPr sz="1800" b="1" i="0" dirty="0">
                <a:solidFill>
                  <a:srgbClr val="1B3A72"/>
                </a:solidFill>
                <a:latin typeface="Calibri"/>
              </a:rPr>
              <a:t>Key Market Trends</a:t>
            </a:r>
          </a:p>
          <a:p>
            <a:pPr algn="l">
              <a:spcBef>
                <a:spcPts val="1000"/>
              </a:spcBef>
            </a:pPr>
            <a:r>
              <a:rPr sz="1700" b="0" i="0" dirty="0">
                <a:solidFill>
                  <a:srgbClr val="1A1A2E"/>
                </a:solidFill>
                <a:latin typeface="Calibri"/>
              </a:rPr>
              <a:t>❖  Growth: Combined market cap surged from under $50bn (2021) to over $300bn (2026)</a:t>
            </a:r>
          </a:p>
          <a:p>
            <a:pPr algn="l">
              <a:spcBef>
                <a:spcPts val="1000"/>
              </a:spcBef>
            </a:pPr>
            <a:r>
              <a:rPr sz="1700" b="0" i="0" dirty="0">
                <a:solidFill>
                  <a:srgbClr val="1A1A2E"/>
                </a:solidFill>
                <a:latin typeface="Calibri"/>
              </a:rPr>
              <a:t>❖  Usage: 30%+ of on-chain crypto transactions involve stablecoins</a:t>
            </a:r>
          </a:p>
          <a:p>
            <a:pPr algn="l">
              <a:spcBef>
                <a:spcPts val="1000"/>
              </a:spcBef>
            </a:pPr>
            <a:r>
              <a:rPr sz="1700" b="0" i="0" dirty="0">
                <a:solidFill>
                  <a:srgbClr val="1A1A2E"/>
                </a:solidFill>
                <a:latin typeface="Calibri"/>
              </a:rPr>
              <a:t>❖  Regulation: US, EU, Japan, and Hong Kong each </a:t>
            </a:r>
            <a:r>
              <a:rPr sz="1700" b="0" i="0" dirty="0" err="1">
                <a:solidFill>
                  <a:srgbClr val="1A1A2E"/>
                </a:solidFill>
                <a:latin typeface="Calibri"/>
              </a:rPr>
              <a:t>finalising</a:t>
            </a:r>
            <a:r>
              <a:rPr sz="1700" b="0" i="0" dirty="0">
                <a:solidFill>
                  <a:srgbClr val="1A1A2E"/>
                </a:solidFill>
                <a:latin typeface="Calibri"/>
              </a:rPr>
              <a:t> reserve legislation</a:t>
            </a:r>
          </a:p>
          <a:p>
            <a:pPr algn="l">
              <a:spcBef>
                <a:spcPts val="1000"/>
              </a:spcBef>
            </a:pPr>
            <a:r>
              <a:rPr sz="1700" b="0" i="0" dirty="0">
                <a:solidFill>
                  <a:srgbClr val="1A1A2E"/>
                </a:solidFill>
                <a:latin typeface="Calibri"/>
              </a:rPr>
              <a:t>❖  Scale: Tether alone holds $127bn in US Treasuries (Q2 2025) — comparable to mid-sized sovereigns</a:t>
            </a:r>
          </a:p>
          <a:p>
            <a:pPr algn="l">
              <a:spcBef>
                <a:spcPts val="1000"/>
              </a:spcBef>
            </a:pPr>
            <a:r>
              <a:rPr sz="1700" b="0" i="0" dirty="0">
                <a:solidFill>
                  <a:srgbClr val="1A1A2E"/>
                </a:solidFill>
                <a:latin typeface="Calibri"/>
              </a:rPr>
              <a:t>❖  Projection: $1–2 trillion ecosystem within this decade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960120"/>
            <a:ext cx="5303520" cy="10972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033272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$300bn+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184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C4E8"/>
                </a:solidFill>
                <a:latin typeface="Calibri"/>
              </a:rPr>
              <a:t>Total USD-pegged supply (2026)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2221992"/>
            <a:ext cx="5303520" cy="10972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2295144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$127bn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880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C4E8"/>
                </a:solidFill>
                <a:latin typeface="Calibri"/>
              </a:rPr>
              <a:t>Tether T-bill holdings (Q2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483864"/>
            <a:ext cx="5303520" cy="10972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3557016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$1–2 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14223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C4E8"/>
                </a:solidFill>
                <a:latin typeface="Calibri"/>
              </a:rPr>
              <a:t>Projected ecosystem size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4745736"/>
            <a:ext cx="5303520" cy="10972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4818888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404104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C4E8"/>
                </a:solidFill>
                <a:latin typeface="Calibri"/>
              </a:rPr>
              <a:t>Jurisdictions finalising legislation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596128"/>
            <a:ext cx="12188952" cy="1097280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 dirty="0">
                <a:solidFill>
                  <a:srgbClr val="FFFFFF"/>
                </a:solidFill>
                <a:latin typeface="Calibri"/>
              </a:rPr>
              <a:t>The same structural role that deepens US safe-asset demand also embeds a fragility that can rapidly reverse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The New Triffin Dilemma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05840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400"/>
              </a:spcBef>
            </a:pPr>
            <a:r>
              <a:rPr sz="1400" b="0" i="1">
                <a:solidFill>
                  <a:srgbClr val="1A1A2E"/>
                </a:solidFill>
                <a:latin typeface="Calibri"/>
              </a:rPr>
              <a:t>Triffin (1960): the reserve currency country must supply safe assets to the world — but that very supply undermines confidence in the currency.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3A72"/>
                </a:solidFill>
                <a:latin typeface="Calibri"/>
              </a:rPr>
              <a:t>Our analogue for stablecoin issuers: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286000"/>
            <a:ext cx="3749039" cy="38404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3134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Normal times 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670048"/>
            <a:ext cx="3749039" cy="233172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724912"/>
            <a:ext cx="35478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Stablecoin growth → more T-bill buying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Deepens US safe-asset demand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Compresses OIS–Treasury spreads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Amplifies exorbitant privilege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2286000"/>
            <a:ext cx="3749039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23134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Run scenario 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670048"/>
            <a:ext cx="3749039" cy="2331720"/>
          </a:xfrm>
          <a:prstGeom prst="rect">
            <a:avLst/>
          </a:prstGeom>
          <a:solidFill>
            <a:srgbClr val="FCE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8" y="2724912"/>
            <a:ext cx="35478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Run on issuer → forced T-bill liquidation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Yields spike above OIS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Sovereign-linked liquidity shock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Cole–Kehoe crisis zone activated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286000"/>
            <a:ext cx="3749039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31343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What determines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670048"/>
            <a:ext cx="3749039" cy="2331720"/>
          </a:xfrm>
          <a:prstGeom prst="rect">
            <a:avLst/>
          </a:prstGeom>
          <a:solidFill>
            <a:srgbClr val="EBF3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39328" y="2724912"/>
            <a:ext cx="35478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Reserve buffer B = T-bill holdings − supply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B adequate: absorbs run without selling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B inadequate (|ΔS| &gt; B): liquidation forced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•  → We estimate the threshold B*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5596128"/>
            <a:ext cx="12188952" cy="1097280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Our paper: formally quantify the reserve buffer threshold that separates the two regimes.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Theoretical Extension: Maggiori (2017)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47548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B3A72"/>
                </a:solidFill>
                <a:latin typeface="Calibri"/>
              </a:rPr>
              <a:t>Maggiori (2017) original: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Safe-asset demand driven by Ω* (marginal value of RoW net worth).</a:t>
            </a:r>
          </a:p>
          <a:p>
            <a:pPr algn="l">
              <a:spcBef>
                <a:spcPts val="400"/>
              </a:spcBef>
            </a:pPr>
            <a:r>
              <a:rPr sz="800" b="0" i="0">
                <a:solidFill>
                  <a:srgbClr val="1A1A2E"/>
                </a:solidFill>
                <a:latin typeface="Calibri"/>
              </a:rPr>
              <a:t> </a:t>
            </a:r>
          </a:p>
          <a:p>
            <a:pPr algn="l">
              <a:spcBef>
                <a:spcPts val="600"/>
              </a:spcBef>
            </a:pPr>
            <a:r>
              <a:rPr sz="1400" b="1" i="0">
                <a:solidFill>
                  <a:srgbClr val="1B3A72"/>
                </a:solidFill>
                <a:latin typeface="Calibri"/>
              </a:rPr>
              <a:t>Our extension — add stablecoin supply S and buffer B:</a:t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2E"/>
                </a:solidFill>
                <a:latin typeface="Calibri"/>
              </a:rPr>
              <a:t>B*(Ñ*, S, B)  =  B*precautionary(Ñ*)  +  B*stablecoin(S)  +  B*buffer(B)</a:t>
            </a:r>
          </a:p>
          <a:p>
            <a:pPr algn="l">
              <a:spcBef>
                <a:spcPts val="400"/>
              </a:spcBef>
            </a:pPr>
            <a:r>
              <a:rPr sz="800" b="0" i="0">
                <a:solidFill>
                  <a:srgbClr val="1A1A2E"/>
                </a:solidFill>
                <a:latin typeface="Calibri"/>
              </a:rPr>
              <a:t> </a:t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B3A72"/>
                </a:solidFill>
                <a:latin typeface="Calibri"/>
              </a:rPr>
              <a:t>Buffer B enters asymmetrically: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7A4A"/>
                </a:solidFill>
                <a:latin typeface="Calibri"/>
              </a:rPr>
              <a:t>❖  |ΔS| &lt; B  →  run absorbed, no liquidation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C0392B"/>
                </a:solidFill>
                <a:latin typeface="Calibri"/>
              </a:rPr>
              <a:t>❖  |ΔS| &gt; B  →  liquidation channel activated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960120"/>
            <a:ext cx="5577840" cy="47548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02412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Main Estimating Equation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536192"/>
            <a:ext cx="5303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ourier New"/>
              </a:rPr>
              <a:t>Spreadₜ = α + β₁·ΔlnSₜ + β₂·Bₜ
           + β₃·(Bₜ × ΔlnSₜ)
           + β₄·Vₜ + β₅·VIXₜ
           + β₆·ΔlnN*ₜ + εₜ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333756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AAC4E8"/>
                </a:solidFill>
                <a:latin typeface="Calibri"/>
              </a:rPr>
              <a:t>Predicted signs: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❖  β₁ &lt; 0: ΔlnS compresses spreads (privilege amplification)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❖  β₂ &lt; 0: Higher buffer → more T-bill demand → lower spreads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❖  β₃ &lt; 0: Lower buffer reverses the compression effect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Data &amp; Sample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1152144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20756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987552"/>
            <a:ext cx="24414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Definition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987552"/>
            <a:ext cx="445312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987552"/>
            <a:ext cx="20756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Frequency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344168"/>
            <a:ext cx="11521440" cy="6675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4904" y="143560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OIS–Treasury Spread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9464" y="143560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DTB3 − SOFR90DAYAVG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1435608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FRED (direct CSV, no API key)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1784" y="143560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011680"/>
            <a:ext cx="1152144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4904" y="210312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Stablecoin Supply 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9464" y="210312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USDT + USDC market 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10312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DeFiLlama stablecoins API (free)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1784" y="2103120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79192"/>
            <a:ext cx="11521440" cy="6675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4904" y="277063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Reserve Buffer 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27706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T-bill holdings − supply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9784" y="2770632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Tether/BDO + Circle/Deloitte attestations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1784" y="2770632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Quarterly/Monthly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346704"/>
            <a:ext cx="1152144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4904" y="3438144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Velocity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9464" y="3438144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7-day rolling SD of ΔlnS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438144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Computed from DeFiLlama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1784" y="3438144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014216"/>
            <a:ext cx="11521440" cy="6675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74904" y="4105656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9464" y="4105656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CBOE VIX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9784" y="4105656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FRED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01784" y="4105656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681728"/>
            <a:ext cx="1152144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74904" y="477316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ΔlnN* (RoW equity)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9464" y="4773168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ACWX ETF log-return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9784" y="4773168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Yahoo Finance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1784" y="4773168"/>
            <a:ext cx="2057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Daily → Monthly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355080"/>
            <a:ext cx="11521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66"/>
                </a:solidFill>
                <a:latin typeface="Calibri"/>
              </a:rPr>
              <a:t>Sample: January 2020 – March 2026  |  N = 75 monthly observations  |  Pre-2021 buffer estimated at 2% of supply (first attestation: 2.94%, Moore Cayman Q1 2021)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Key Variables: January 2020 –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i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56928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005840"/>
            <a:ext cx="35661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3A72"/>
                </a:solidFill>
                <a:latin typeface="Calibri"/>
              </a:rPr>
              <a:t>Key observations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Spread compresses as stablecoin supply grows (2021–22)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Spread spikes during LUNA/USDT run (May 2022)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Buffer improves 2023–25 as Tether shifts to T-bills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Crisis zone (B &lt; −0.524) covers 2020–2022</a:t>
            </a:r>
          </a:p>
          <a:p>
            <a:pPr algn="l">
              <a:spcBef>
                <a:spcPts val="10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Vertical lines: 3 stress events studied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Result 1: Privilege Amplification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66"/>
                </a:solidFill>
                <a:latin typeface="Calibri"/>
              </a:rPr>
              <a:t>OLS with Newey–West HAC (3 lags, N = 75)  |  Variables mean-centered before interaction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16736"/>
            <a:ext cx="6355080" cy="34747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6" y="1344168"/>
            <a:ext cx="3703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1376" y="1344168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Coef.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216" y="1344168"/>
            <a:ext cx="594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Sig.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97296" y="13441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HAC 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64208"/>
            <a:ext cx="6355080" cy="420624"/>
          </a:xfrm>
          <a:prstGeom prst="rect">
            <a:avLst/>
          </a:prstGeom>
          <a:solidFill>
            <a:srgbClr val="FFF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2336" y="1728216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ΔlnS (centered)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1376" y="1728216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−5.947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1728216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***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1728216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(1.436)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084832"/>
            <a:ext cx="63550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" y="2148840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B — buffer (centered)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2148840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−0.555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2148840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7296" y="2148840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(0.139)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505456"/>
            <a:ext cx="6355080" cy="420624"/>
          </a:xfrm>
          <a:prstGeom prst="rect">
            <a:avLst/>
          </a:prstGeom>
          <a:solidFill>
            <a:srgbClr val="FFF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2336" y="2569464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B × ΔlnS (centered)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376" y="2569464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−11.296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7216" y="2569464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***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7296" y="2569464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  <a:latin typeface="Calibri"/>
              </a:rPr>
              <a:t>(3.873)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926080"/>
            <a:ext cx="63550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2336" y="2990088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 — velocity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1376" y="2990088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−16.027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2990088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7296" y="2990088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(9.125)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346704"/>
            <a:ext cx="6355080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02336" y="3410712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VIX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51376" y="3410712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−0.003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57216" y="3410712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797296" y="3410712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(0.016)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767328"/>
            <a:ext cx="63550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02336" y="3831336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ΔlnN*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51376" y="3831336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−0.211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7216" y="3831336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797296" y="3831336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(0.603)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4187952"/>
            <a:ext cx="6355080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02336" y="4251960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1376" y="4251960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6" y="4251960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797296" y="4251960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4608576"/>
            <a:ext cx="635508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02336" y="4672584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R²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51376" y="4672584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0.324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57216" y="4672584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797296" y="4672584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65760" y="5029200"/>
            <a:ext cx="6355080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02336" y="5093208"/>
            <a:ext cx="3648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Adj. R²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51376" y="5093208"/>
            <a:ext cx="9052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0.264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7216" y="5093208"/>
            <a:ext cx="539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97296" y="5093208"/>
            <a:ext cx="1042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65760" y="559612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66"/>
                </a:solidFill>
                <a:latin typeface="Calibri"/>
              </a:rPr>
              <a:t>*** p&lt;0.01  * p&lt;0.10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223760" y="1316736"/>
            <a:ext cx="4572000" cy="205740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315200" y="1389888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β₁ = −5.95***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1920240"/>
            <a:ext cx="4389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4E8"/>
                </a:solidFill>
                <a:latin typeface="Calibri"/>
              </a:rPr>
              <a:t>1 SD supply growth (9.9 pp) → −59 bp spread compression
→ Privilege amplification confirmed 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23760" y="3493008"/>
            <a:ext cx="4572000" cy="2057400"/>
          </a:xfrm>
          <a:prstGeom prst="rect">
            <a:avLst/>
          </a:prstGeom>
          <a:solidFill>
            <a:srgbClr val="143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315200" y="35661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β₃ = −11.30***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4096512"/>
            <a:ext cx="43891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4E8"/>
                </a:solidFill>
                <a:latin typeface="Calibri"/>
              </a:rPr>
              <a:t>Total effect of ΔlnS = β₁ + β₃·B
At mean B (−0.48): effect = −0.52 pp
At threshold B = −0.524: effect ≈ 0 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Result 2: Reserve Adequacy Threshold (Hansen 2000)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threshold_s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943600" cy="3345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96012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400"/>
              </a:spcBef>
            </a:pPr>
            <a:r>
              <a:rPr sz="1600" b="1" i="0">
                <a:solidFill>
                  <a:srgbClr val="1B3A72"/>
                </a:solidFill>
                <a:latin typeface="Calibri"/>
              </a:rPr>
              <a:t>Threshold estimate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❖  Optimal q*:  −0.524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❖  LR statistic:  25.28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❖  Bootstrap p-value:  &lt; 0.001  (1,000 replications)</a:t>
            </a:r>
          </a:p>
          <a:p>
            <a:pPr algn="l">
              <a:spcBef>
                <a:spcPts val="800"/>
              </a:spcBef>
            </a:pPr>
            <a:r>
              <a:rPr sz="1500" b="0" i="0">
                <a:solidFill>
                  <a:srgbClr val="1A1A2E"/>
                </a:solidFill>
                <a:latin typeface="Calibri"/>
              </a:rPr>
              <a:t>❖  90% CI:  [−0.524, −0.344]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2E"/>
                </a:solidFill>
                <a:latin typeface="Calibri"/>
              </a:rPr>
              <a:t> </a:t>
            </a:r>
          </a:p>
          <a:p>
            <a:pPr algn="l">
              <a:spcBef>
                <a:spcPts val="600"/>
              </a:spcBef>
            </a:pPr>
            <a:r>
              <a:rPr sz="1500" b="1" i="0">
                <a:solidFill>
                  <a:srgbClr val="1B3A72"/>
                </a:solidFill>
                <a:latin typeface="Calibri"/>
              </a:rPr>
              <a:t>What q* = −0.524 means: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1A1A2E"/>
                </a:solidFill>
                <a:latin typeface="Calibri"/>
              </a:rPr>
              <a:t>Treasury holdings must exceed 47.6% of outstanding supply
to stay outside the crisis zone.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5257800"/>
            <a:ext cx="5669280" cy="777240"/>
          </a:xfrm>
          <a:prstGeom prst="rect">
            <a:avLst/>
          </a:prstGeom>
          <a:solidFill>
            <a:srgbClr val="FCE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532180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0392B"/>
                </a:solidFill>
                <a:latin typeface="Calibri"/>
              </a:rPr>
              <a:t>Low buffer  (B ≤ −0.524, N=31):  β_ΔlnS = −1.03  →  No privilege amplification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5257800"/>
            <a:ext cx="5669280" cy="777240"/>
          </a:xfrm>
          <a:prstGeom prst="rect">
            <a:avLst/>
          </a:prstGeom>
          <a:solidFill>
            <a:srgbClr val="E6F4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532180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7A4A"/>
                </a:solidFill>
                <a:latin typeface="Calibri"/>
              </a:rPr>
              <a:t>High buffer  (B &gt; −0.524, N=44):  β_ΔlnS = −8.68  →  Strong privilege compression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Result 3: Buffer-Conditioned Event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3749039" cy="34747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3192" y="98755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LUNA / UST Collapse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07592"/>
            <a:ext cx="3749039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3192" y="1335024"/>
            <a:ext cx="3611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Low buffer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600200"/>
            <a:ext cx="3749039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6459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May 9, 2022
CAR = +8.91 pp***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960120"/>
            <a:ext cx="3749039" cy="34747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70831" y="98755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USDT Partial Depeg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1307592"/>
            <a:ext cx="3749039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70831" y="1335024"/>
            <a:ext cx="3611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Low buffer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1600200"/>
            <a:ext cx="3749039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89119" y="16459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May 12, 2022
CAR = +8.85 pp***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18" y="960120"/>
            <a:ext cx="3749039" cy="34747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0" y="98755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USDC / SVB Failure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18" y="1307592"/>
            <a:ext cx="3749039" cy="29260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8470" y="1335024"/>
            <a:ext cx="3611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High buffer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18" y="1600200"/>
            <a:ext cx="3749039" cy="10058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58" y="1645920"/>
            <a:ext cx="3566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7A4A"/>
                </a:solidFill>
                <a:latin typeface="Calibri"/>
              </a:rPr>
              <a:t>Mar 11, 2023
CAR = −18.01 pp***</a:t>
            </a:r>
          </a:p>
        </p:txBody>
      </p:sp>
      <p:pic>
        <p:nvPicPr>
          <p:cNvPr id="24" name="Picture 23" descr="event_study_c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743200"/>
            <a:ext cx="6858000" cy="182040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15200" y="2788920"/>
            <a:ext cx="4480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3A72"/>
                </a:solidFill>
                <a:latin typeface="Calibri"/>
              </a:rPr>
              <a:t>Interpretation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Low-buffer runs → T-bill yields spike (+8.9 pp)
    Cole–Kehoe crisis zone activated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High-buffer stress → flight to Treasuries
    compresses spread (−18.0 pp)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1A1A2E"/>
                </a:solidFill>
                <a:latin typeface="Calibri"/>
              </a:rPr>
              <a:t>❖  Welch test: t = 15.22, p &lt; 0.001
    Buffer regime is the key conditioning variable 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Robustness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553212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024128"/>
            <a:ext cx="553212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0881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NW lag sensitivity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79" y="108813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A7A4A"/>
                </a:solidFill>
                <a:latin typeface="Calibri"/>
              </a:rPr>
              <a:t>✅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527048"/>
            <a:ext cx="53218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and β₃ stable across all lag choices
(−5.95 and −11.30, p &lt; 0.01 throughout)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24128"/>
            <a:ext cx="553212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024128"/>
            <a:ext cx="553212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08813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Drop pre-attestation period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19" y="108813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A7A4A"/>
                </a:solidFill>
                <a:latin typeface="Calibri"/>
              </a:rPr>
              <a:t>✅  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527048"/>
            <a:ext cx="53218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 = 61  →  β₁ = −8.04*** (p &lt; 0.001)
β₃ = −7.97** (p = 0.008)  |  Threshold unchanged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447288"/>
            <a:ext cx="553212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3447288"/>
            <a:ext cx="553212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35112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Mean-centering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9079" y="351129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A7A4A"/>
                </a:solidFill>
                <a:latin typeface="Calibri"/>
              </a:rPr>
              <a:t>✅ 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3950208"/>
            <a:ext cx="53218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VIF reduced from 24/32 to 5.7/7.2
Coefficients and significance unchanged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3447288"/>
            <a:ext cx="553212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26480" y="3447288"/>
            <a:ext cx="5532120" cy="384048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0" y="35112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First-differenced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19" y="3511296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D4632A"/>
                </a:solidFill>
                <a:latin typeface="Calibri"/>
              </a:rPr>
              <a:t>⚠️ 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36208" y="3950208"/>
            <a:ext cx="5321808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and β₃ not significant in differences
Level spec captures slow structural relationship;
event study provides causal identification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Summary of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502920" cy="85039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005840"/>
            <a:ext cx="10972800" cy="8503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1060704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Privilege amplification confirmed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2646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= −5.95***  |  1 SD supply growth → −59 bp spread compression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93392"/>
            <a:ext cx="502920" cy="85039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0040" y="21762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1993392"/>
            <a:ext cx="10972800" cy="850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2048256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Buffer interaction significant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14016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β₃ = −11.30***  |  Lower buffer reverses the privilege amplification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980944"/>
            <a:ext cx="502920" cy="85039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316382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980944"/>
            <a:ext cx="10972800" cy="8503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035808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Reserve adequacy threshold identified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q* = −0.524, Bootstrap p &lt; 0.001  |  Treasury holdings must exceed 47.6% of supply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968496"/>
            <a:ext cx="502920" cy="850392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0040" y="41513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968496"/>
            <a:ext cx="10972800" cy="850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5840" y="4023360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Event study confirms asymmetry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3891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Low-buffer runs: CAR +8.9 pp  vs.  High-buffer stress: CAR −18.0 pp  (Welch t = 15.2***)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956048"/>
            <a:ext cx="502920" cy="850392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0040" y="51389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⚠️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956048"/>
            <a:ext cx="10972800" cy="85039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5840" y="5010912"/>
            <a:ext cx="10698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3A72"/>
                </a:solidFill>
                <a:latin typeface="Calibri"/>
              </a:rPr>
              <a:t>Stationarity caveat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376672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Level results don't survive first-differencing; event study provides causal identification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Policy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66"/>
                </a:solidFill>
                <a:latin typeface="Calibri"/>
              </a:rPr>
              <a:t>Our threshold estimate provides a direct reference point at a moment when the US, EU, Japan, and Hong Kong are each finalising stablecoin reserve legislation.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5577840" cy="20116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1572768"/>
            <a:ext cx="164592" cy="2011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6072" y="168249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Minimum reserve 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2075688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Require T-bill holdings ≥ 50% of outstanding supply — this places issuers outside the empirically identified crisis zone (q* = −0.524 → 47.6%).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572768"/>
            <a:ext cx="5577840" cy="20116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572768"/>
            <a:ext cx="164592" cy="2011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168249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Liquidity-weighted requirements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075688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Not all T-bill holdings are equal. Short-duration bills can be sold faster. Weight reserves by remaining maturity, not just dollar amount.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21608"/>
            <a:ext cx="5577840" cy="20116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164592" cy="2011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6072" y="383133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Velocity-contingent buffers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224528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Our velocity variable V (7-day rolling SD of supply changes) predicts stress. Higher recent redemption velocity → higher required buffer. Dynamic rules.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721608"/>
            <a:ext cx="5577840" cy="20116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3721608"/>
            <a:ext cx="164592" cy="2011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73952" y="383133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72"/>
                </a:solidFill>
                <a:latin typeface="Calibri"/>
              </a:rPr>
              <a:t>Systemic size threshold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224528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Fragility is proportional to scale. A $100bn issuer's forced liquidation is 10× more disruptive than a $10bn issuer. Tiered requirements by AUM.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596128"/>
            <a:ext cx="12188952" cy="1097280"/>
          </a:xfrm>
          <a:prstGeom prst="rect">
            <a:avLst/>
          </a:prstGeom>
          <a:solidFill>
            <a:srgbClr val="D46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760720"/>
            <a:ext cx="1127455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Policy bottom line: T-bill reserves ≥ 50% of supply keeps issuers outside the crisis zone.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0515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86032" y="6473952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55566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11521440" cy="1051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B3A72"/>
                </a:solidFill>
                <a:latin typeface="Calibri"/>
              </a:rPr>
              <a:t>Large-scale USD-pegged stablecoins introduce a two-sided 'New Triffin Dilemma': amplifying U.S. exorbitant privilege in normal times, while embedding a fragility that can rapidly reverse that benefit when reserve buffers fall below a critical threshold.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148840"/>
            <a:ext cx="5577840" cy="1417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2148840"/>
            <a:ext cx="1188720" cy="141732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6060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286000"/>
            <a:ext cx="4206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Extended Maggiori (2017) with stablecoin supply S
and reserve buffer B — asymmetric mechanism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148840"/>
            <a:ext cx="5577840" cy="1417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26480" y="2148840"/>
            <a:ext cx="1188720" cy="141732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72200" y="260604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Empirics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8352" y="2286000"/>
            <a:ext cx="4206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β₁ = −5.95*** (privilege amplification)
β₃ = −11.30*** (buffer-conditioned fragility)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03320"/>
            <a:ext cx="5577840" cy="1417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3703320"/>
            <a:ext cx="1188720" cy="141732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41605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Empirics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40480"/>
            <a:ext cx="4206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First data-driven threshold: q* = −0.524
Bootstrap p &lt; 0.001 — applicable to regulation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703320"/>
            <a:ext cx="5577840" cy="1417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26480" y="3703320"/>
            <a:ext cx="1188720" cy="1417320"/>
          </a:xfrm>
          <a:prstGeom prst="rect">
            <a:avLst/>
          </a:prstGeom>
          <a:solidFill>
            <a:srgbClr val="1B3A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72200" y="4160520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Empirics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3840480"/>
            <a:ext cx="4206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27 pp CAR swing between low- and
high-buffer stress episodes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4924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endParaRPr/>
          </a:p>
          <a:p>
            <a:pPr algn="l">
              <a:spcBef>
                <a:spcPts val="400"/>
              </a:spcBef>
            </a:pPr>
            <a:r>
              <a:rPr sz="1200" b="0" i="1">
                <a:solidFill>
                  <a:srgbClr val="555566"/>
                </a:solidFill>
                <a:latin typeface="Calibri"/>
              </a:rPr>
              <a:t>Limitation: Level results don't survive first-differencing. Event study (daily data, quasi-experimental) provides the primary causal identification.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E5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B7E374-D243-23C6-B67C-3CAF57493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원, 그래픽, 스크린샷, 그래픽 디자인이(가) 표시된 사진&#10;&#10;자동 생성된 설명">
            <a:extLst>
              <a:ext uri="{FF2B5EF4-FFF2-40B4-BE49-F238E27FC236}">
                <a16:creationId xmlns:a16="http://schemas.microsoft.com/office/drawing/2014/main" id="{CA9BBA08-064C-BA6F-302C-D6CFFC5FA398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0"/>
            <a:ext cx="4809898" cy="685621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6476964-D562-D15F-1E0D-F212F4CEF6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427" y="5009673"/>
            <a:ext cx="1554891" cy="155489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62CE00F-DCA5-846E-81CE-D52C1B8523F5}"/>
              </a:ext>
            </a:extLst>
          </p:cNvPr>
          <p:cNvSpPr/>
          <p:nvPr/>
        </p:nvSpPr>
        <p:spPr>
          <a:xfrm>
            <a:off x="-1" y="1879560"/>
            <a:ext cx="12188826" cy="2576274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 latinLnBrk="1">
              <a:defRPr/>
            </a:pPr>
            <a:r>
              <a:rPr lang="en-US" altLang="ko-KR" sz="2399" dirty="0">
                <a:solidFill>
                  <a:prstClr val="white"/>
                </a:solidFill>
                <a:latin typeface="Hiragino Kaku Gothic Std W8" panose="020B0800000000000000" pitchFamily="34" charset="-128"/>
                <a:ea typeface="Hiragino Kaku Gothic Std W8" panose="020B0800000000000000" pitchFamily="34" charset="-128"/>
              </a:rPr>
              <a:t>THANK YOU</a:t>
            </a:r>
          </a:p>
          <a:p>
            <a:pPr algn="ctr" defTabSz="914126" latinLnBrk="1">
              <a:defRPr/>
            </a:pPr>
            <a:endParaRPr lang="ko-KR" altLang="en-US" sz="2399" dirty="0">
              <a:solidFill>
                <a:prstClr val="white"/>
              </a:solidFill>
              <a:latin typeface="Hiragino Kaku Gothic Std W8" panose="020B0800000000000000" pitchFamily="34" charset="-128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DA3265-719E-3F00-D94A-3D163CF28C1E}"/>
              </a:ext>
            </a:extLst>
          </p:cNvPr>
          <p:cNvSpPr txBox="1"/>
          <p:nvPr/>
        </p:nvSpPr>
        <p:spPr>
          <a:xfrm>
            <a:off x="7507054" y="5787118"/>
            <a:ext cx="4650632" cy="9230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799" b="1" dirty="0">
                <a:solidFill>
                  <a:schemeClr val="bg1"/>
                </a:solidFill>
              </a:rPr>
              <a:t>Yonsei GSIS 2026-1 </a:t>
            </a:r>
          </a:p>
          <a:p>
            <a:r>
              <a:rPr lang="en-US" altLang="ko-KR" sz="1799" b="1" dirty="0">
                <a:solidFill>
                  <a:schemeClr val="bg1"/>
                </a:solidFill>
              </a:rPr>
              <a:t>Topics in International Finance</a:t>
            </a:r>
            <a:endParaRPr lang="en-US" altLang="ko-KR" sz="1799" dirty="0">
              <a:solidFill>
                <a:schemeClr val="bg1"/>
              </a:solidFill>
            </a:endParaRPr>
          </a:p>
          <a:p>
            <a:r>
              <a:rPr lang="en-US" altLang="ko-KR" b="1" dirty="0">
                <a:solidFill>
                  <a:srgbClr val="FFFFFF"/>
                </a:solidFill>
              </a:rPr>
              <a:t>Mireu Kim · Sara Chekroune · Oybek Ibragimov</a:t>
            </a:r>
            <a:endParaRPr lang="en-US" altLang="ko-KR" sz="1799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6890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1681</Words>
  <Application>Microsoft Macintosh PowerPoint</Application>
  <PresentationFormat>사용자 지정</PresentationFormat>
  <Paragraphs>246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Hiragino Kaku Gothic Std W8</vt:lpstr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김미르</cp:lastModifiedBy>
  <cp:revision>2</cp:revision>
  <dcterms:created xsi:type="dcterms:W3CDTF">2013-01-27T09:14:16Z</dcterms:created>
  <dcterms:modified xsi:type="dcterms:W3CDTF">2026-04-29T01:27:28Z</dcterms:modified>
  <cp:category/>
</cp:coreProperties>
</file>