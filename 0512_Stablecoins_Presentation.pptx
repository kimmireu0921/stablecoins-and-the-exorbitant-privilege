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71"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2" r:id="rId16"/>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91E5C"/>
    <a:srgbClr val="1B3A7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58"/>
    <p:restoredTop sz="75036"/>
  </p:normalViewPr>
  <p:slideViewPr>
    <p:cSldViewPr snapToGrid="0" snapToObjects="1">
      <p:cViewPr varScale="1">
        <p:scale>
          <a:sx n="84" d="100"/>
          <a:sy n="84" d="100"/>
        </p:scale>
        <p:origin x="1376"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A343BF-B7C7-1D48-A9E8-A573FC36AA7C}" type="datetimeFigureOut">
              <a:rPr kumimoji="1" lang="ko-KR" altLang="en-US" smtClean="0"/>
              <a:t>2026. 5. 7.</a:t>
            </a:fld>
            <a:endParaRPr kumimoji="1"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514313-3BDE-834F-BE4B-14A4F858B1F2}" type="slidenum">
              <a:rPr kumimoji="1" lang="ko-KR" altLang="en-US" smtClean="0"/>
              <a:t>‹#›</a:t>
            </a:fld>
            <a:endParaRPr kumimoji="1" lang="ko-KR" altLang="en-US"/>
          </a:p>
        </p:txBody>
      </p:sp>
    </p:spTree>
    <p:extLst>
      <p:ext uri="{BB962C8B-B14F-4D97-AF65-F5344CB8AC3E}">
        <p14:creationId xmlns:p14="http://schemas.microsoft.com/office/powerpoint/2010/main" val="1437435658"/>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"Good [morning/afternoon] everyone. Our paper is called 'Stablecoins and the Exorbitant Privilege.' We're a team of three — Mireu, Sara, and Oybek. The core question we're trying to answer is deceptively simple: does the explosion in stablecoins like Tether and USDC actually make it cheaper for the US to borrow money, and what happens to that benefit when things go wrong? That two-sided puzzle is what this paper is about."</a:t>
            </a:r>
            <a:endParaRPr kumimoji="1" lang="ko-KR" altLang="en-US" dirty="0"/>
          </a:p>
        </p:txBody>
      </p:sp>
      <p:sp>
        <p:nvSpPr>
          <p:cNvPr id="4" name="슬라이드 번호 개체 틀 3"/>
          <p:cNvSpPr>
            <a:spLocks noGrp="1"/>
          </p:cNvSpPr>
          <p:nvPr>
            <p:ph type="sldNum" sz="quarter" idx="5"/>
          </p:nvPr>
        </p:nvSpPr>
        <p:spPr/>
        <p:txBody>
          <a:bodyPr/>
          <a:lstStyle/>
          <a:p>
            <a:fld id="{5D514313-3BDE-834F-BE4B-14A4F858B1F2}" type="slidenum">
              <a:rPr kumimoji="1" lang="ko-KR" altLang="en-US" smtClean="0"/>
              <a:t>1</a:t>
            </a:fld>
            <a:endParaRPr kumimoji="1" lang="ko-KR" altLang="en-US"/>
          </a:p>
        </p:txBody>
      </p:sp>
    </p:spTree>
    <p:extLst>
      <p:ext uri="{BB962C8B-B14F-4D97-AF65-F5344CB8AC3E}">
        <p14:creationId xmlns:p14="http://schemas.microsoft.com/office/powerpoint/2010/main" val="26736420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"Here's how we'll walk you through it. We start with why this matters, then we lay out our central argument — the New Triffin Dilemma. After that we cover the theory we built on, the data and methods, then we walk through our three results one by one, robustness checks, a summary, policy implications, and we finish with the conclusion. The three results are really the heart of the presentation, so we'll spend the most time there."</a:t>
            </a:r>
          </a:p>
          <a:p>
            <a:endParaRPr kumimoji="1" lang="ko-KR" altLang="en-US" dirty="0"/>
          </a:p>
        </p:txBody>
      </p:sp>
      <p:sp>
        <p:nvSpPr>
          <p:cNvPr id="4" name="슬라이드 번호 개체 틀 3"/>
          <p:cNvSpPr>
            <a:spLocks noGrp="1"/>
          </p:cNvSpPr>
          <p:nvPr>
            <p:ph type="sldNum" sz="quarter" idx="5"/>
          </p:nvPr>
        </p:nvSpPr>
        <p:spPr/>
        <p:txBody>
          <a:bodyPr/>
          <a:lstStyle/>
          <a:p>
            <a:fld id="{5D514313-3BDE-834F-BE4B-14A4F858B1F2}" type="slidenum">
              <a:rPr kumimoji="1" lang="ko-KR" altLang="en-US" smtClean="0"/>
              <a:t>2</a:t>
            </a:fld>
            <a:endParaRPr kumimoji="1" lang="ko-KR" altLang="en-US"/>
          </a:p>
        </p:txBody>
      </p:sp>
    </p:spTree>
    <p:extLst>
      <p:ext uri="{BB962C8B-B14F-4D97-AF65-F5344CB8AC3E}">
        <p14:creationId xmlns:p14="http://schemas.microsoft.com/office/powerpoint/2010/main" val="35561107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"So why does this matter to international finance? Look at the numbers on the right side of this slide. The combined stablecoin market has gone from under 50 billion dollars in 2021 to over 300 billion today. That's a six-fold increase in five years. Tether alone now holds 127 billion dollars in US Treasury bills — that makes them comparable to the treasury holdings of a mid-sized sovereign government. And projections say this market could reach one to two trillion dollars within this decade.</a:t>
            </a:r>
          </a:p>
          <a:p>
            <a:r>
              <a:rPr lang="en-US" altLang="ko-KR" dirty="0"/>
              <a:t>Here's the key mechanism to understand. Stablecoins work by a simple rule: every dollar of stablecoin issued must be backed 1:1 by short-term US Treasuries. So as the market grows, issuers automatically become enormous, rule-bound buyers of T-bills. They're not making discretionary investment decisions — they have to buy.</a:t>
            </a:r>
          </a:p>
          <a:p>
            <a:r>
              <a:rPr lang="en-US" altLang="ko-KR" dirty="0"/>
              <a:t>Four major jurisdictions — the US, EU, Japan, and Hong Kong — are all right now finalizing legislation on how to regulate stablecoin reserves. The question everyone is fighting about is: how much Treasury backing is enough? Our paper gives that question a data-driven answer.</a:t>
            </a:r>
          </a:p>
          <a:p>
            <a:r>
              <a:rPr lang="en-US" altLang="ko-KR" dirty="0"/>
              <a:t>As the bottom bar says: the same structural role that deepens US safe-asset demand also embeds a fragility that can rapidly reverse it."</a:t>
            </a:r>
          </a:p>
          <a:p>
            <a:endParaRPr kumimoji="1" lang="ko-KR" altLang="en-US" dirty="0"/>
          </a:p>
        </p:txBody>
      </p:sp>
      <p:sp>
        <p:nvSpPr>
          <p:cNvPr id="4" name="슬라이드 번호 개체 틀 3"/>
          <p:cNvSpPr>
            <a:spLocks noGrp="1"/>
          </p:cNvSpPr>
          <p:nvPr>
            <p:ph type="sldNum" sz="quarter" idx="5"/>
          </p:nvPr>
        </p:nvSpPr>
        <p:spPr/>
        <p:txBody>
          <a:bodyPr/>
          <a:lstStyle/>
          <a:p>
            <a:fld id="{5D514313-3BDE-834F-BE4B-14A4F858B1F2}" type="slidenum">
              <a:rPr kumimoji="1" lang="ko-KR" altLang="en-US" smtClean="0"/>
              <a:t>3</a:t>
            </a:fld>
            <a:endParaRPr kumimoji="1" lang="ko-KR" altLang="en-US"/>
          </a:p>
        </p:txBody>
      </p:sp>
    </p:spTree>
    <p:extLst>
      <p:ext uri="{BB962C8B-B14F-4D97-AF65-F5344CB8AC3E}">
        <p14:creationId xmlns:p14="http://schemas.microsoft.com/office/powerpoint/2010/main" val="17534412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"This slide is the conceptual heart of the paper. At the top you can see the original Triffin Dilemma from 1960 — Triffin argued the US dollar's reserve currency role was inherently self-defeating. The world needed dollars, so the US had to run deficits to supply them, but those deficits eventually undermined confidence in the dollar. A built-in contradiction.</a:t>
            </a:r>
          </a:p>
          <a:p>
            <a:r>
              <a:rPr lang="en-US" altLang="ko-KR" dirty="0"/>
              <a:t>We argue stablecoins create an exact analogue of this for private issuers.</a:t>
            </a:r>
          </a:p>
          <a:p>
            <a:r>
              <a:rPr lang="en-US" altLang="ko-KR" dirty="0"/>
              <a:t>Look at the green column on the left. In normal times, everything works beautifully. Stablecoin growth means more T-bill buying, which deepens safe-asset demand, which compresses the OIS-Treasury spread — meaning the US borrows more cheaply. This amplifies what economists call the exorbitant privilege.</a:t>
            </a:r>
          </a:p>
          <a:p>
            <a:r>
              <a:rPr lang="en-US" altLang="ko-KR" dirty="0"/>
              <a:t>Now look at the red column in the middle. In a run scenario, everything reverses. A run on a stablecoin issuer forces them to liquidate T-bills fast. That floods the market, yields spike above OIS, and you get a sovereign-linked liquidity shock. This is what Cole and Kehoe call the crisis zone — a self-fulfilling panic.</a:t>
            </a:r>
          </a:p>
          <a:p>
            <a:r>
              <a:rPr lang="en-US" altLang="ko-KR" dirty="0"/>
              <a:t>The key question — shown in the blue column on the right — is: what determines which scenario you end up in? The answer is the reserve buffer B. That's how many Treasuries the issuer holds above what they owe. If the buffer is large enough, it absorbs the run. If not, forced liquidation kicks in.</a:t>
            </a:r>
          </a:p>
          <a:p>
            <a:r>
              <a:rPr lang="en-US" altLang="ko-KR" dirty="0"/>
              <a:t>Our paper's entire goal is to estimate that threshold — the exact buffer level that separates safety from crisis."</a:t>
            </a:r>
          </a:p>
          <a:p>
            <a:endParaRPr kumimoji="1" lang="ko-KR" altLang="en-US" dirty="0"/>
          </a:p>
        </p:txBody>
      </p:sp>
      <p:sp>
        <p:nvSpPr>
          <p:cNvPr id="4" name="슬라이드 번호 개체 틀 3"/>
          <p:cNvSpPr>
            <a:spLocks noGrp="1"/>
          </p:cNvSpPr>
          <p:nvPr>
            <p:ph type="sldNum" sz="quarter" idx="5"/>
          </p:nvPr>
        </p:nvSpPr>
        <p:spPr/>
        <p:txBody>
          <a:bodyPr/>
          <a:lstStyle/>
          <a:p>
            <a:fld id="{5D514313-3BDE-834F-BE4B-14A4F858B1F2}" type="slidenum">
              <a:rPr kumimoji="1" lang="ko-KR" altLang="en-US" smtClean="0"/>
              <a:t>4</a:t>
            </a:fld>
            <a:endParaRPr kumimoji="1" lang="ko-KR" altLang="en-US"/>
          </a:p>
        </p:txBody>
      </p:sp>
    </p:spTree>
    <p:extLst>
      <p:ext uri="{BB962C8B-B14F-4D97-AF65-F5344CB8AC3E}">
        <p14:creationId xmlns:p14="http://schemas.microsoft.com/office/powerpoint/2010/main" val="5308079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"Now let's talk about the theory we built on. The starting point is Maggiori 2017, a landmark paper in international finance. His model shows that demand for US safe assets is driven by something called Omega-star — the marginal value of rest-of-world financial net worth. Think of it as a global stress meter. When the world's financial institutions are stressed, Omega-star goes up and the world reaches hard for US Treasuries, compressing US spreads.</a:t>
            </a:r>
          </a:p>
          <a:p>
            <a:r>
              <a:rPr lang="en-US" altLang="ko-KR" dirty="0"/>
              <a:t>But here's the gap: Maggiori's model only captures discretionary demand. A bank deciding to buy Treasuries as a precaution. It has no room for a stablecoin issuer that must buy Treasuries automatically the moment it issues a dollar.</a:t>
            </a:r>
          </a:p>
          <a:p>
            <a:r>
              <a:rPr lang="en-US" altLang="ko-KR" dirty="0"/>
              <a:t>So we added two variables. S is total stablecoin supply. B is the reserve buffer — Treasury holdings minus outstanding supply.</a:t>
            </a:r>
          </a:p>
          <a:p>
            <a:r>
              <a:rPr lang="en-US" altLang="ko-KR" dirty="0"/>
              <a:t>Our extended demand equation is on the left: total safe-asset demand now has three components — the original precautionary demand from Maggiori, the new stablecoin demand from S, and the buffer effect from B.</a:t>
            </a:r>
          </a:p>
          <a:p>
            <a:r>
              <a:rPr lang="en-US" altLang="ko-KR" dirty="0"/>
              <a:t>On the right you can see the regression equation we estimate. The predicted signs are straightforward. Beta-one should be negative — more stablecoin supply means more T-bill buying, so spreads compress. Beta-two should be negative — a bigger buffer means even more demand. And beta-three should be negative — when the buffer is low, it reverses the compression, eventually flipping it to spread widening. These are the hypotheses we go out to test."</a:t>
            </a:r>
          </a:p>
          <a:p>
            <a:endParaRPr kumimoji="1" lang="ko-KR" altLang="en-US" dirty="0"/>
          </a:p>
        </p:txBody>
      </p:sp>
      <p:sp>
        <p:nvSpPr>
          <p:cNvPr id="4" name="슬라이드 번호 개체 틀 3"/>
          <p:cNvSpPr>
            <a:spLocks noGrp="1"/>
          </p:cNvSpPr>
          <p:nvPr>
            <p:ph type="sldNum" sz="quarter" idx="5"/>
          </p:nvPr>
        </p:nvSpPr>
        <p:spPr/>
        <p:txBody>
          <a:bodyPr/>
          <a:lstStyle/>
          <a:p>
            <a:fld id="{5D514313-3BDE-834F-BE4B-14A4F858B1F2}" type="slidenum">
              <a:rPr kumimoji="1" lang="ko-KR" altLang="en-US" smtClean="0"/>
              <a:t>5</a:t>
            </a:fld>
            <a:endParaRPr kumimoji="1" lang="ko-KR" altLang="en-US"/>
          </a:p>
        </p:txBody>
      </p:sp>
    </p:spTree>
    <p:extLst>
      <p:ext uri="{BB962C8B-B14F-4D97-AF65-F5344CB8AC3E}">
        <p14:creationId xmlns:p14="http://schemas.microsoft.com/office/powerpoint/2010/main" val="26758098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"Our data comes from six sources, all shown in this table. The dependent variable — the OIS-Treasury spread — is the 3-month T-bill yield minus the 90-day SOFR average, both pulled directly from FRED. Stablecoin supply comes from </a:t>
            </a:r>
            <a:r>
              <a:rPr lang="en-US" altLang="ko-KR" dirty="0" err="1"/>
              <a:t>DeFiLlama's</a:t>
            </a:r>
            <a:r>
              <a:rPr lang="en-US" altLang="ko-KR" dirty="0"/>
              <a:t> free API. The reserve buffer is the hardest variable to construct — we built it from Tether's quarterly BDO attestation reports and Circle's monthly Deloitte and Grant Thornton attestations, which disclose how much they actually hold in T-bills.</a:t>
            </a:r>
          </a:p>
          <a:p>
            <a:r>
              <a:rPr lang="en-US" altLang="ko-KR" dirty="0"/>
              <a:t>One important note at the bottom: before Q1 2021, Tether didn't publish formal attestations. For that pre-attestation period, we estimated their T-bill holdings at 2% of supply, consistent with the 2.94% they disclosed in their first official report. Our results hold up even if we drop that period entirely — we'll show that in the robustness slide.</a:t>
            </a:r>
          </a:p>
          <a:p>
            <a:r>
              <a:rPr lang="en-US" altLang="ko-KR" dirty="0"/>
              <a:t>Total sample: 75 monthly observations from January 2020 to March 2026."</a:t>
            </a:r>
          </a:p>
          <a:p>
            <a:endParaRPr kumimoji="1" lang="ko-KR" altLang="en-US" dirty="0"/>
          </a:p>
        </p:txBody>
      </p:sp>
      <p:sp>
        <p:nvSpPr>
          <p:cNvPr id="4" name="슬라이드 번호 개체 틀 3"/>
          <p:cNvSpPr>
            <a:spLocks noGrp="1"/>
          </p:cNvSpPr>
          <p:nvPr>
            <p:ph type="sldNum" sz="quarter" idx="5"/>
          </p:nvPr>
        </p:nvSpPr>
        <p:spPr/>
        <p:txBody>
          <a:bodyPr/>
          <a:lstStyle/>
          <a:p>
            <a:fld id="{5D514313-3BDE-834F-BE4B-14A4F858B1F2}" type="slidenum">
              <a:rPr kumimoji="1" lang="ko-KR" altLang="en-US" smtClean="0"/>
              <a:t>6</a:t>
            </a:fld>
            <a:endParaRPr kumimoji="1" lang="ko-KR" altLang="en-US"/>
          </a:p>
        </p:txBody>
      </p:sp>
    </p:spTree>
    <p:extLst>
      <p:ext uri="{BB962C8B-B14F-4D97-AF65-F5344CB8AC3E}">
        <p14:creationId xmlns:p14="http://schemas.microsoft.com/office/powerpoint/2010/main" val="35119748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"This slide shows you all three key variables plotted over time, and it tells the story of the paper visually before you even look at the regressions.</a:t>
            </a:r>
          </a:p>
          <a:p>
            <a:r>
              <a:rPr lang="en-US" altLang="ko-KR" dirty="0"/>
              <a:t>Panel A at the top is the OIS-Treasury spread — our dependent variable. Notice how it tracks exactly what we'd expect. Through 2021 and into early 2022, as stablecoin supply in Panel B was growing rapidly, the spread was compressing — moving negative, meaning the US was borrowing more cheaply than the risk-free benchmark.</a:t>
            </a:r>
          </a:p>
          <a:p>
            <a:r>
              <a:rPr lang="en-US" altLang="ko-KR" dirty="0"/>
              <a:t>Then look at May 2022 — the first red dotted line. That's the LUNA collapse and the USDT </a:t>
            </a:r>
            <a:r>
              <a:rPr lang="en-US" altLang="ko-KR" dirty="0" err="1"/>
              <a:t>depeg</a:t>
            </a:r>
            <a:r>
              <a:rPr lang="en-US" altLang="ko-KR" dirty="0"/>
              <a:t>. The spread spikes violently. That's the sovereign shock we predict for low-buffer events.</a:t>
            </a:r>
          </a:p>
          <a:p>
            <a:r>
              <a:rPr lang="en-US" altLang="ko-KR" dirty="0"/>
              <a:t>Panel C is the reserve buffer ratio over time. See how it starts deeply negative — below our threshold of minus 0.524, shown by the red dashed line — meaning issuers were barely backing their liabilities with Treasuries in the early years. Then from 2023 onwards, as Tether shifted its reserves heavily into T-bills, the buffer improved dramatically and moved above the crisis zone. And look at the brief dip in early 2026 — that corresponds to the third stress event, the USDC and SVB situation.</a:t>
            </a:r>
          </a:p>
          <a:p>
            <a:r>
              <a:rPr lang="en-US" altLang="ko-KR" dirty="0"/>
              <a:t>This chart is your visual intuition for everything that follows."</a:t>
            </a:r>
          </a:p>
          <a:p>
            <a:endParaRPr kumimoji="1" lang="ko-KR" altLang="en-US" dirty="0"/>
          </a:p>
        </p:txBody>
      </p:sp>
      <p:sp>
        <p:nvSpPr>
          <p:cNvPr id="4" name="슬라이드 번호 개체 틀 3"/>
          <p:cNvSpPr>
            <a:spLocks noGrp="1"/>
          </p:cNvSpPr>
          <p:nvPr>
            <p:ph type="sldNum" sz="quarter" idx="5"/>
          </p:nvPr>
        </p:nvSpPr>
        <p:spPr/>
        <p:txBody>
          <a:bodyPr/>
          <a:lstStyle/>
          <a:p>
            <a:fld id="{5D514313-3BDE-834F-BE4B-14A4F858B1F2}" type="slidenum">
              <a:rPr kumimoji="1" lang="ko-KR" altLang="en-US" smtClean="0"/>
              <a:t>7</a:t>
            </a:fld>
            <a:endParaRPr kumimoji="1" lang="ko-KR" altLang="en-US"/>
          </a:p>
        </p:txBody>
      </p:sp>
    </p:spTree>
    <p:extLst>
      <p:ext uri="{BB962C8B-B14F-4D97-AF65-F5344CB8AC3E}">
        <p14:creationId xmlns:p14="http://schemas.microsoft.com/office/powerpoint/2010/main" val="12995711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"Now our first result. The regression table on the left shows the full OLS specification with Newey-West standard errors to handle the fact that monthly time-series data isn't independent across observations.</a:t>
            </a:r>
          </a:p>
          <a:p>
            <a:r>
              <a:rPr lang="en-US" altLang="ko-KR" dirty="0"/>
              <a:t>The two numbers that matter are highlighted on the right.</a:t>
            </a:r>
          </a:p>
          <a:p>
            <a:r>
              <a:rPr lang="en-US" altLang="ko-KR" dirty="0"/>
              <a:t>Beta-one is minus 5.95, with three stars, meaning it's significant at the 1% level. In plain English: a one standard deviation increase in monthly stablecoin supply growth — that's about 10 percentage points — is associated with a 59 basis point compression of the OIS-Treasury spread. The US is measurably borrowing more cheaply during months when stablecoins are growing fast. Hypothesis 1 confirmed.</a:t>
            </a:r>
          </a:p>
          <a:p>
            <a:r>
              <a:rPr lang="en-US" altLang="ko-KR" dirty="0"/>
              <a:t>Beta-three is minus 11.30, also three stars. This is the interaction between the buffer and supply growth. Since the buffer B is always negative in our data — issuers never held more Treasuries than they owed — a more negative buffer shrinks the compression effect and eventually reverses it.</a:t>
            </a:r>
          </a:p>
          <a:p>
            <a:r>
              <a:rPr lang="en-US" altLang="ko-KR" dirty="0"/>
              <a:t>The right-hand box shows the math. The total effect of supply growth on spreads is beta-one plus beta-three times B. At the sample average buffer of minus 0.48, the net effect is only minus 0.52 percentage points — much weaker than the raw beta-one suggests, because the low buffer is neutralizing most of the privilege. And at our estimated crisis zone boundary of B equals minus 0.524, the effect approaches zero entirely. That's exactly what the theory predicts.</a:t>
            </a:r>
          </a:p>
          <a:p>
            <a:r>
              <a:rPr lang="en-US" altLang="ko-KR" dirty="0"/>
              <a:t>Also note the R-squared of 0.32 — our model explains about a third of the variation in monthly spreads, which is strong for macro time-series data."</a:t>
            </a:r>
          </a:p>
          <a:p>
            <a:endParaRPr kumimoji="1" lang="ko-KR" altLang="en-US" dirty="0"/>
          </a:p>
        </p:txBody>
      </p:sp>
      <p:sp>
        <p:nvSpPr>
          <p:cNvPr id="4" name="슬라이드 번호 개체 틀 3"/>
          <p:cNvSpPr>
            <a:spLocks noGrp="1"/>
          </p:cNvSpPr>
          <p:nvPr>
            <p:ph type="sldNum" sz="quarter" idx="5"/>
          </p:nvPr>
        </p:nvSpPr>
        <p:spPr/>
        <p:txBody>
          <a:bodyPr/>
          <a:lstStyle/>
          <a:p>
            <a:fld id="{5D514313-3BDE-834F-BE4B-14A4F858B1F2}" type="slidenum">
              <a:rPr kumimoji="1" lang="ko-KR" altLang="en-US" smtClean="0"/>
              <a:t>8</a:t>
            </a:fld>
            <a:endParaRPr kumimoji="1" lang="ko-KR" altLang="en-US"/>
          </a:p>
        </p:txBody>
      </p:sp>
    </p:spTree>
    <p:extLst>
      <p:ext uri="{BB962C8B-B14F-4D97-AF65-F5344CB8AC3E}">
        <p14:creationId xmlns:p14="http://schemas.microsoft.com/office/powerpoint/2010/main" val="23309455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"Result 2 is where we pin down the specific number that matters for regulation. We used a technique called Hansen's threshold regression — it's a statistical grid search that finds whether there's a breakpoint in the data, without us pre-specifying where that breakpoint should be.</a:t>
            </a:r>
          </a:p>
          <a:p>
            <a:r>
              <a:rPr lang="en-US" altLang="ko-KR" dirty="0"/>
              <a:t>Look at the chart on the left. The y-axis is the sum of squared residuals — how much prediction error the model has. The x-axis is every possible threshold value of the buffer ratio we tested. The curve has a clear minimum at minus 0.524, marked by the red dashed line. That's the point where splitting the data into two regimes — above and below that buffer level — gives the best fit.</a:t>
            </a:r>
          </a:p>
          <a:p>
            <a:r>
              <a:rPr lang="en-US" altLang="ko-KR" dirty="0"/>
              <a:t>The LR statistic is 25.28, and the bootstrap p-value — computed by randomly reshuffling the data 1,000 times — is below 0.001. So this threshold is not a coincidence in the data.</a:t>
            </a:r>
          </a:p>
          <a:p>
            <a:r>
              <a:rPr lang="en-US" altLang="ko-KR" dirty="0"/>
              <a:t>What does minus 0.524 mean in practice? It means Treasury holdings must exceed 47.6% of outstanding stablecoin supply. If you're below that, you're in the crisis zone.</a:t>
            </a:r>
          </a:p>
          <a:p>
            <a:r>
              <a:rPr lang="en-US" altLang="ko-KR" dirty="0"/>
              <a:t>The two boxes at the bottom confirm the economic intuition. In the high-buffer regime — above minus 0.524, 44 observations — the coefficient on supply growth is minus 8.68. Strong privilege amplification. In the low-buffer regime — below minus 0.524, 31 observations — it's only minus 1.03. The amplification has almost completely vanished. The market is pricing in the fragility risk and not responding to the demand signal anymore."</a:t>
            </a:r>
          </a:p>
          <a:p>
            <a:endParaRPr kumimoji="1" lang="ko-KR" altLang="en-US" dirty="0"/>
          </a:p>
        </p:txBody>
      </p:sp>
      <p:sp>
        <p:nvSpPr>
          <p:cNvPr id="4" name="슬라이드 번호 개체 틀 3"/>
          <p:cNvSpPr>
            <a:spLocks noGrp="1"/>
          </p:cNvSpPr>
          <p:nvPr>
            <p:ph type="sldNum" sz="quarter" idx="5"/>
          </p:nvPr>
        </p:nvSpPr>
        <p:spPr/>
        <p:txBody>
          <a:bodyPr/>
          <a:lstStyle/>
          <a:p>
            <a:fld id="{5D514313-3BDE-834F-BE4B-14A4F858B1F2}" type="slidenum">
              <a:rPr kumimoji="1" lang="ko-KR" altLang="en-US" smtClean="0"/>
              <a:t>9</a:t>
            </a:fld>
            <a:endParaRPr kumimoji="1" lang="ko-KR" altLang="en-US"/>
          </a:p>
        </p:txBody>
      </p:sp>
    </p:spTree>
    <p:extLst>
      <p:ext uri="{BB962C8B-B14F-4D97-AF65-F5344CB8AC3E}">
        <p14:creationId xmlns:p14="http://schemas.microsoft.com/office/powerpoint/2010/main" val="29735768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"Our third result is the event study, and this is arguably our cleanest evidence because it sidesteps the statistical issues with monthly time-series data by using daily data around specific, identified crisis episodes.</a:t>
            </a:r>
          </a:p>
          <a:p>
            <a:r>
              <a:rPr lang="en-US" altLang="ko-KR" dirty="0"/>
              <a:t>We looked at three events. The first two — LUNA's collapse on May 9th 2022, and the USDT partial </a:t>
            </a:r>
            <a:r>
              <a:rPr lang="en-US" altLang="ko-KR" dirty="0" err="1"/>
              <a:t>depeg</a:t>
            </a:r>
            <a:r>
              <a:rPr lang="en-US" altLang="ko-KR" dirty="0"/>
              <a:t> three days later on May 12th — both happened when the aggregate reserve buffer was deeply below the crisis zone threshold. Low-buffer events. The third — USDC's </a:t>
            </a:r>
            <a:r>
              <a:rPr lang="en-US" altLang="ko-KR" dirty="0" err="1"/>
              <a:t>depeg</a:t>
            </a:r>
            <a:r>
              <a:rPr lang="en-US" altLang="ko-KR" dirty="0"/>
              <a:t> when Silicon Valley Bank failed on March 11th 2023 — was a higher-buffer event, because Circle held mostly Treasuries.</a:t>
            </a:r>
          </a:p>
          <a:p>
            <a:r>
              <a:rPr lang="en-US" altLang="ko-KR" dirty="0"/>
              <a:t>Look at the three charts in the middle. The red lines are the low-buffer events. You can see the cumulative abnormal spread — how much the spread moved relative to what we'd expect based on VIX and global equity returns — climbing steadily upward over 20 trading days. That's plus 8.91 percentage points for LUNA and plus 8.85 for USDT. Both are highly statistically significant. This is the Cole-Kehoe mechanism playing out in real time: forced Treasury liquidation by under-reserved issuers pushed yields up and widened the sovereign spread.</a:t>
            </a:r>
          </a:p>
          <a:p>
            <a:r>
              <a:rPr lang="en-US" altLang="ko-KR" dirty="0"/>
              <a:t>Now look at the blue line for USDC and SVB. It goes sharply negative — minus 18 percentage points. This looks counterintuitive at first. SVB failed, why did spreads compress? Because Circle held its reserves mostly in Treasuries. When SVB panic hit, investors fled into the safest possible asset — US T-bills. And because USDC's reserve structure directed that flight into Treasuries, spreads compressed rather than widened.</a:t>
            </a:r>
          </a:p>
          <a:p>
            <a:r>
              <a:rPr lang="en-US" altLang="ko-KR" dirty="0"/>
              <a:t>The Welch test at the bottom of the interpretation box — comparing the distribution of daily abnormal spreads across the two buffer regimes — gives a t-statistic of 15.22, p below 0.001. The buffer is not just a detail. It is the variable that determines whether a stablecoin crisis helps or hurts the sovereign bond market."</a:t>
            </a:r>
          </a:p>
          <a:p>
            <a:endParaRPr kumimoji="1" lang="ko-KR" altLang="en-US" dirty="0"/>
          </a:p>
        </p:txBody>
      </p:sp>
      <p:sp>
        <p:nvSpPr>
          <p:cNvPr id="4" name="슬라이드 번호 개체 틀 3"/>
          <p:cNvSpPr>
            <a:spLocks noGrp="1"/>
          </p:cNvSpPr>
          <p:nvPr>
            <p:ph type="sldNum" sz="quarter" idx="5"/>
          </p:nvPr>
        </p:nvSpPr>
        <p:spPr/>
        <p:txBody>
          <a:bodyPr/>
          <a:lstStyle/>
          <a:p>
            <a:fld id="{5D514313-3BDE-834F-BE4B-14A4F858B1F2}" type="slidenum">
              <a:rPr kumimoji="1" lang="ko-KR" altLang="en-US" smtClean="0"/>
              <a:t>10</a:t>
            </a:fld>
            <a:endParaRPr kumimoji="1" lang="ko-KR" altLang="en-US"/>
          </a:p>
        </p:txBody>
      </p:sp>
    </p:spTree>
    <p:extLst>
      <p:ext uri="{BB962C8B-B14F-4D97-AF65-F5344CB8AC3E}">
        <p14:creationId xmlns:p14="http://schemas.microsoft.com/office/powerpoint/2010/main" val="9100699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"Before we move to conclusions, here are our robustness checks — all four in one slide.</a:t>
            </a:r>
          </a:p>
          <a:p>
            <a:r>
              <a:rPr lang="en-US" altLang="ko-KR" dirty="0"/>
              <a:t>NW lag sensitivity: we tried different numbers of lags in the Newey-West correction. Beta-one and beta-three stay at minus 5.95 and minus 11.30 throughout. Pass.</a:t>
            </a:r>
          </a:p>
          <a:p>
            <a:r>
              <a:rPr lang="en-US" altLang="ko-KR" dirty="0"/>
              <a:t>Drop pre-attestation period: we dropped the 14 months before Tether's first attestation, where our buffer variable was estimated rather than observed. The coefficients actually got stronger. Pass.</a:t>
            </a:r>
          </a:p>
          <a:p>
            <a:r>
              <a:rPr lang="en-US" altLang="ko-KR" dirty="0"/>
              <a:t>Mean-centering: we centered the variables before computing the interaction term to reduce multicollinearity. VIF dropped from 24 and 32 down to 5.7 and 7.2. Results unchanged. Pass.</a:t>
            </a:r>
          </a:p>
          <a:p>
            <a:r>
              <a:rPr lang="en-US" altLang="ko-KR" dirty="0"/>
              <a:t>First-differenced: this is the honest caveat. When we first-difference all the variables to deal with potential non-stationarity, beta-one and beta-three lose significance. This tells us our level regression is capturing a slow-moving structural relationship — how stablecoins have gradually changed the market structure for Treasuries over years — rather than month-to-month causality. That's why the event study, which uses daily data around clean quasi-experimental shocks, is our primary causal identification."</a:t>
            </a:r>
          </a:p>
          <a:p>
            <a:endParaRPr kumimoji="1" lang="ko-KR" altLang="en-US" dirty="0"/>
          </a:p>
        </p:txBody>
      </p:sp>
      <p:sp>
        <p:nvSpPr>
          <p:cNvPr id="4" name="슬라이드 번호 개체 틀 3"/>
          <p:cNvSpPr>
            <a:spLocks noGrp="1"/>
          </p:cNvSpPr>
          <p:nvPr>
            <p:ph type="sldNum" sz="quarter" idx="5"/>
          </p:nvPr>
        </p:nvSpPr>
        <p:spPr/>
        <p:txBody>
          <a:bodyPr/>
          <a:lstStyle/>
          <a:p>
            <a:fld id="{5D514313-3BDE-834F-BE4B-14A4F858B1F2}" type="slidenum">
              <a:rPr kumimoji="1" lang="ko-KR" altLang="en-US" smtClean="0"/>
              <a:t>11</a:t>
            </a:fld>
            <a:endParaRPr kumimoji="1" lang="ko-KR" altLang="en-US"/>
          </a:p>
        </p:txBody>
      </p:sp>
    </p:spTree>
    <p:extLst>
      <p:ext uri="{BB962C8B-B14F-4D97-AF65-F5344CB8AC3E}">
        <p14:creationId xmlns:p14="http://schemas.microsoft.com/office/powerpoint/2010/main" val="26857201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"Quick summary of what we found. Four checkmarks and one honest caveat.</a:t>
            </a:r>
          </a:p>
          <a:p>
            <a:r>
              <a:rPr lang="en-US" altLang="ko-KR" dirty="0"/>
              <a:t>First: privilege amplification confirmed — beta-one equals minus 5.95. Second: the buffer interaction is significant — beta-three equals minus 11.30, confirming that low reserves reverse the amplification. Third: we identified a statistically significant reserve adequacy threshold at q-star equals minus 0.524 — Treasury holdings must exceed 47.6% of supply to stay outside the crisis zone. Fourth: the event study confirms the asymmetry — a 27 percentage point swing in spread behavior between low- and high-buffer stress episodes.</a:t>
            </a:r>
          </a:p>
          <a:p>
            <a:r>
              <a:rPr lang="en-US" altLang="ko-KR" dirty="0"/>
              <a:t>And the caveat: level results don't survive first-differencing. The event study provides the causal identification."</a:t>
            </a:r>
          </a:p>
          <a:p>
            <a:endParaRPr kumimoji="1" lang="ko-KR" altLang="en-US" dirty="0"/>
          </a:p>
        </p:txBody>
      </p:sp>
      <p:sp>
        <p:nvSpPr>
          <p:cNvPr id="4" name="슬라이드 번호 개체 틀 3"/>
          <p:cNvSpPr>
            <a:spLocks noGrp="1"/>
          </p:cNvSpPr>
          <p:nvPr>
            <p:ph type="sldNum" sz="quarter" idx="5"/>
          </p:nvPr>
        </p:nvSpPr>
        <p:spPr/>
        <p:txBody>
          <a:bodyPr/>
          <a:lstStyle/>
          <a:p>
            <a:fld id="{5D514313-3BDE-834F-BE4B-14A4F858B1F2}" type="slidenum">
              <a:rPr kumimoji="1" lang="ko-KR" altLang="en-US" smtClean="0"/>
              <a:t>12</a:t>
            </a:fld>
            <a:endParaRPr kumimoji="1" lang="ko-KR" altLang="en-US"/>
          </a:p>
        </p:txBody>
      </p:sp>
    </p:spTree>
    <p:extLst>
      <p:ext uri="{BB962C8B-B14F-4D97-AF65-F5344CB8AC3E}">
        <p14:creationId xmlns:p14="http://schemas.microsoft.com/office/powerpoint/2010/main" val="31667945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"So what does this mean for the regulators who are right now writing stablecoin reserve laws?</a:t>
            </a:r>
          </a:p>
          <a:p>
            <a:r>
              <a:rPr lang="en-US" altLang="ko-KR" dirty="0"/>
              <a:t>Four concrete recommendations fall out of our results.</a:t>
            </a:r>
          </a:p>
          <a:p>
            <a:r>
              <a:rPr lang="en-US" altLang="ko-KR" dirty="0"/>
              <a:t>First and most directly: require T-bill holdings of at least 50% of outstanding supply. That places issuers comfortably outside the empirically identified crisis zone of minus 0.524, which translates to 47.6%. Round up to 50% and you have a clean, defensible number.</a:t>
            </a:r>
          </a:p>
          <a:p>
            <a:r>
              <a:rPr lang="en-US" altLang="ko-KR" dirty="0"/>
              <a:t>Second: not all T-bill holdings are equal. A bill maturing in one week can be sold in a crisis much faster than one maturing in six months. Reserve requirements should be weighted by remaining maturity, not just total dollar amount.</a:t>
            </a:r>
          </a:p>
          <a:p>
            <a:r>
              <a:rPr lang="en-US" altLang="ko-KR" dirty="0"/>
              <a:t>Third: our velocity variable — how fast stablecoin supply is changing — actually predicts stress episodes in our data. This suggests regulators should consider dynamic buffer requirements that increase automatically when redemption velocity rises. Think of it like a countercyclical capital buffer, but for stablecoins.</a:t>
            </a:r>
          </a:p>
          <a:p>
            <a:r>
              <a:rPr lang="en-US" altLang="ko-KR" dirty="0"/>
              <a:t>Fourth: size matters. A 100 billion dollar issuer forced to liquidate is ten times more disruptive than a 10 billion dollar issuer. Tiered requirements by AUM make sense.</a:t>
            </a:r>
          </a:p>
          <a:p>
            <a:r>
              <a:rPr lang="en-US" altLang="ko-KR" dirty="0"/>
              <a:t>The bottom line on this slide says it all: T-bill reserves above 50% of supply keeps issuers outside the crisis zone."</a:t>
            </a:r>
          </a:p>
          <a:p>
            <a:endParaRPr kumimoji="1" lang="ko-KR" altLang="en-US" dirty="0"/>
          </a:p>
        </p:txBody>
      </p:sp>
      <p:sp>
        <p:nvSpPr>
          <p:cNvPr id="4" name="슬라이드 번호 개체 틀 3"/>
          <p:cNvSpPr>
            <a:spLocks noGrp="1"/>
          </p:cNvSpPr>
          <p:nvPr>
            <p:ph type="sldNum" sz="quarter" idx="5"/>
          </p:nvPr>
        </p:nvSpPr>
        <p:spPr/>
        <p:txBody>
          <a:bodyPr/>
          <a:lstStyle/>
          <a:p>
            <a:fld id="{5D514313-3BDE-834F-BE4B-14A4F858B1F2}" type="slidenum">
              <a:rPr kumimoji="1" lang="ko-KR" altLang="en-US" smtClean="0"/>
              <a:t>13</a:t>
            </a:fld>
            <a:endParaRPr kumimoji="1" lang="ko-KR" altLang="en-US"/>
          </a:p>
        </p:txBody>
      </p:sp>
    </p:spTree>
    <p:extLst>
      <p:ext uri="{BB962C8B-B14F-4D97-AF65-F5344CB8AC3E}">
        <p14:creationId xmlns:p14="http://schemas.microsoft.com/office/powerpoint/2010/main" val="9907133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"To wrap up. Large-scale USD-pegged stablecoins introduce a two-sided New Triffin Dilemma. The same mechanism that amplifies US exorbitant privilege in normal times embeds a fragility that can rapidly reverse that benefit when reserve buffers fall below a critical threshold.</a:t>
            </a:r>
          </a:p>
          <a:p>
            <a:r>
              <a:rPr lang="en-US" altLang="ko-KR" dirty="0"/>
              <a:t>On the theory side, we extended Maggiori 2017 with stablecoin supply S and reserve buffer B, capturing the asymmetric mechanism formally.</a:t>
            </a:r>
          </a:p>
          <a:p>
            <a:r>
              <a:rPr lang="en-US" altLang="ko-KR" dirty="0"/>
              <a:t>On the empirics, we got three results: beta-one of minus 5.95 confirms privilege amplification. Beta-three of minus 11.30 confirms buffer-conditioned fragility. The Hansen threshold of minus 0.524 is the first data-driven estimate of a reserve adequacy threshold directly applicable to stablecoin regulation. And the 27 percentage point swing in the event study confirms the asymmetry holds in clean quasi-experimental settings.</a:t>
            </a:r>
          </a:p>
          <a:p>
            <a:r>
              <a:rPr lang="en-US" altLang="ko-KR" dirty="0"/>
              <a:t>The honest limitation: our monthly regression captures structure, not causality. The event study is where the causal identification lives.</a:t>
            </a:r>
          </a:p>
          <a:p>
            <a:r>
              <a:rPr lang="en-US" altLang="ko-KR" dirty="0"/>
              <a:t>Thank you — we're happy to take questions."</a:t>
            </a:r>
          </a:p>
          <a:p>
            <a:endParaRPr kumimoji="1" lang="ko-KR" altLang="en-US" dirty="0"/>
          </a:p>
        </p:txBody>
      </p:sp>
      <p:sp>
        <p:nvSpPr>
          <p:cNvPr id="4" name="슬라이드 번호 개체 틀 3"/>
          <p:cNvSpPr>
            <a:spLocks noGrp="1"/>
          </p:cNvSpPr>
          <p:nvPr>
            <p:ph type="sldNum" sz="quarter" idx="5"/>
          </p:nvPr>
        </p:nvSpPr>
        <p:spPr/>
        <p:txBody>
          <a:bodyPr/>
          <a:lstStyle/>
          <a:p>
            <a:fld id="{5D514313-3BDE-834F-BE4B-14A4F858B1F2}" type="slidenum">
              <a:rPr kumimoji="1" lang="ko-KR" altLang="en-US" smtClean="0"/>
              <a:t>14</a:t>
            </a:fld>
            <a:endParaRPr kumimoji="1" lang="ko-KR" altLang="en-US"/>
          </a:p>
        </p:txBody>
      </p:sp>
    </p:spTree>
    <p:extLst>
      <p:ext uri="{BB962C8B-B14F-4D97-AF65-F5344CB8AC3E}">
        <p14:creationId xmlns:p14="http://schemas.microsoft.com/office/powerpoint/2010/main" val="16504400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"Thank you. We're happy to take any questions on the theory, the data construction, the Hansen threshold methodology, or the event study design."</a:t>
            </a:r>
            <a:endParaRPr kumimoji="1" lang="ko-KR" altLang="en-US" dirty="0"/>
          </a:p>
        </p:txBody>
      </p:sp>
      <p:sp>
        <p:nvSpPr>
          <p:cNvPr id="4" name="슬라이드 번호 개체 틀 3"/>
          <p:cNvSpPr>
            <a:spLocks noGrp="1"/>
          </p:cNvSpPr>
          <p:nvPr>
            <p:ph type="sldNum" sz="quarter" idx="5"/>
          </p:nvPr>
        </p:nvSpPr>
        <p:spPr/>
        <p:txBody>
          <a:bodyPr/>
          <a:lstStyle/>
          <a:p>
            <a:fld id="{5D514313-3BDE-834F-BE4B-14A4F858B1F2}" type="slidenum">
              <a:rPr kumimoji="1" lang="ko-KR" altLang="en-US" smtClean="0"/>
              <a:t>15</a:t>
            </a:fld>
            <a:endParaRPr kumimoji="1" lang="ko-KR" altLang="en-US"/>
          </a:p>
        </p:txBody>
      </p:sp>
    </p:spTree>
    <p:extLst>
      <p:ext uri="{BB962C8B-B14F-4D97-AF65-F5344CB8AC3E}">
        <p14:creationId xmlns:p14="http://schemas.microsoft.com/office/powerpoint/2010/main" val="12222217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png"/><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91E5C"/>
        </a:solidFill>
        <a:effectLst/>
      </p:bgPr>
    </p:bg>
    <p:spTree>
      <p:nvGrpSpPr>
        <p:cNvPr id="1" name=""/>
        <p:cNvGrpSpPr/>
        <p:nvPr/>
      </p:nvGrpSpPr>
      <p:grpSpPr>
        <a:xfrm>
          <a:off x="0" y="0"/>
          <a:ext cx="0" cy="0"/>
          <a:chOff x="0" y="0"/>
          <a:chExt cx="0" cy="0"/>
        </a:xfrm>
      </p:grpSpPr>
      <p:pic>
        <p:nvPicPr>
          <p:cNvPr id="5" name="그림 4" descr="원, 그래픽, 스크린샷, 그래픽 디자인이(가) 표시된 사진&#10;&#10;자동 생성된 설명">
            <a:extLst>
              <a:ext uri="{FF2B5EF4-FFF2-40B4-BE49-F238E27FC236}">
                <a16:creationId xmlns:a16="http://schemas.microsoft.com/office/drawing/2014/main" id="{D7EB7DC8-31D2-C2CA-A2F8-27FAC3902EA3}"/>
              </a:ext>
            </a:extLst>
          </p:cNvPr>
          <p:cNvPicPr>
            <a:picLocks noChangeAspect="1"/>
          </p:cNvPicPr>
          <p:nvPr/>
        </p:nvPicPr>
        <p:blipFill>
          <a:blip r:embed="rId3">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val="0"/>
              </a:ext>
            </a:extLst>
          </a:blip>
          <a:stretch>
            <a:fillRect/>
          </a:stretch>
        </p:blipFill>
        <p:spPr>
          <a:xfrm>
            <a:off x="0" y="890"/>
            <a:ext cx="4809898" cy="6856214"/>
          </a:xfrm>
          <a:prstGeom prst="rect">
            <a:avLst/>
          </a:prstGeom>
        </p:spPr>
      </p:pic>
      <p:pic>
        <p:nvPicPr>
          <p:cNvPr id="4" name="그림 3">
            <a:extLst>
              <a:ext uri="{FF2B5EF4-FFF2-40B4-BE49-F238E27FC236}">
                <a16:creationId xmlns:a16="http://schemas.microsoft.com/office/drawing/2014/main" id="{B49FCC2D-4CBD-DC60-6535-823D3BDCAEA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0427" y="5009673"/>
            <a:ext cx="1554891" cy="1554891"/>
          </a:xfrm>
          <a:prstGeom prst="rect">
            <a:avLst/>
          </a:prstGeom>
        </p:spPr>
      </p:pic>
      <p:sp>
        <p:nvSpPr>
          <p:cNvPr id="6" name="직사각형 5">
            <a:extLst>
              <a:ext uri="{FF2B5EF4-FFF2-40B4-BE49-F238E27FC236}">
                <a16:creationId xmlns:a16="http://schemas.microsoft.com/office/drawing/2014/main" id="{EE463249-DD54-8009-485B-261B3F4275D0}"/>
              </a:ext>
            </a:extLst>
          </p:cNvPr>
          <p:cNvSpPr/>
          <p:nvPr/>
        </p:nvSpPr>
        <p:spPr>
          <a:xfrm>
            <a:off x="-1" y="1879560"/>
            <a:ext cx="12188826" cy="2576274"/>
          </a:xfrm>
          <a:prstGeom prst="rect">
            <a:avLst/>
          </a:prstGeom>
          <a:solidFill>
            <a:schemeClr val="tx1">
              <a:alpha val="5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latinLnBrk="1">
              <a:defRPr/>
            </a:pPr>
            <a:r>
              <a:rPr lang="en-US" altLang="ko-KR" sz="2399" dirty="0">
                <a:solidFill>
                  <a:prstClr val="white"/>
                </a:solidFill>
                <a:latin typeface="Hiragino Kaku Gothic Std W8" panose="020B0800000000000000" pitchFamily="34" charset="-128"/>
                <a:ea typeface="Hiragino Kaku Gothic Std W8" panose="020B0800000000000000" pitchFamily="34" charset="-128"/>
              </a:rPr>
              <a:t>STABLECOINS AND THE EXORBITANT PRIVILEGE</a:t>
            </a:r>
          </a:p>
          <a:p>
            <a:pPr algn="ctr" defTabSz="914126" latinLnBrk="1">
              <a:defRPr/>
            </a:pPr>
            <a:endParaRPr lang="ko-KR" altLang="en-US" sz="2399" dirty="0">
              <a:solidFill>
                <a:prstClr val="white"/>
              </a:solidFill>
              <a:latin typeface="Hiragino Kaku Gothic Std W8" panose="020B0800000000000000" pitchFamily="34" charset="-128"/>
              <a:ea typeface="맑은 고딕" panose="020B0503020000020004" pitchFamily="50" charset="-127"/>
            </a:endParaRPr>
          </a:p>
        </p:txBody>
      </p:sp>
      <p:sp>
        <p:nvSpPr>
          <p:cNvPr id="11" name="TextBox 10">
            <a:extLst>
              <a:ext uri="{FF2B5EF4-FFF2-40B4-BE49-F238E27FC236}">
                <a16:creationId xmlns:a16="http://schemas.microsoft.com/office/drawing/2014/main" id="{B2924223-4822-8D82-13C7-9E1362F054E1}"/>
              </a:ext>
            </a:extLst>
          </p:cNvPr>
          <p:cNvSpPr txBox="1"/>
          <p:nvPr/>
        </p:nvSpPr>
        <p:spPr>
          <a:xfrm>
            <a:off x="7507054" y="5787118"/>
            <a:ext cx="4650632" cy="923073"/>
          </a:xfrm>
          <a:prstGeom prst="rect">
            <a:avLst/>
          </a:prstGeom>
          <a:noFill/>
        </p:spPr>
        <p:txBody>
          <a:bodyPr wrap="none" rtlCol="0">
            <a:spAutoFit/>
          </a:bodyPr>
          <a:lstStyle/>
          <a:p>
            <a:r>
              <a:rPr lang="en-US" altLang="ko-KR" sz="1799" b="1" dirty="0">
                <a:solidFill>
                  <a:schemeClr val="bg1"/>
                </a:solidFill>
              </a:rPr>
              <a:t>Yonsei GSIS 2026-1 </a:t>
            </a:r>
          </a:p>
          <a:p>
            <a:r>
              <a:rPr lang="en-US" altLang="ko-KR" sz="1799" b="1" dirty="0">
                <a:solidFill>
                  <a:schemeClr val="bg1"/>
                </a:solidFill>
              </a:rPr>
              <a:t>Topics in International Finance</a:t>
            </a:r>
            <a:endParaRPr lang="en-US" altLang="ko-KR" sz="1799" dirty="0">
              <a:solidFill>
                <a:schemeClr val="bg1"/>
              </a:solidFill>
            </a:endParaRPr>
          </a:p>
          <a:p>
            <a:r>
              <a:rPr lang="en-US" altLang="ko-KR" b="1" dirty="0">
                <a:solidFill>
                  <a:srgbClr val="FFFFFF"/>
                </a:solidFill>
              </a:rPr>
              <a:t>Mireu Kim · Sara Chekroune · Oybek Ibragimov</a:t>
            </a:r>
            <a:endParaRPr lang="en-US" altLang="ko-KR" sz="1799" b="1" dirty="0">
              <a:solidFill>
                <a:schemeClr val="bg1"/>
              </a:solidFill>
            </a:endParaRPr>
          </a:p>
        </p:txBody>
      </p:sp>
    </p:spTree>
    <p:extLst>
      <p:ext uri="{BB962C8B-B14F-4D97-AF65-F5344CB8AC3E}">
        <p14:creationId xmlns:p14="http://schemas.microsoft.com/office/powerpoint/2010/main" val="39546232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Roadmap</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2</a:t>
            </a:r>
          </a:p>
        </p:txBody>
      </p:sp>
      <p:sp>
        <p:nvSpPr>
          <p:cNvPr id="6" name="TextBox 5"/>
          <p:cNvSpPr txBox="1"/>
          <p:nvPr/>
        </p:nvSpPr>
        <p:spPr>
          <a:xfrm>
            <a:off x="640080" y="1005840"/>
            <a:ext cx="11155680" cy="5486400"/>
          </a:xfrm>
          <a:prstGeom prst="rect">
            <a:avLst/>
          </a:prstGeom>
          <a:noFill/>
        </p:spPr>
        <p:txBody>
          <a:bodyPr wrap="square">
            <a:spAutoFit/>
          </a:bodyPr>
          <a:lstStyle/>
          <a:p>
            <a:pPr>
              <a:spcBef>
                <a:spcPts val="0"/>
              </a:spcBef>
            </a:pPr>
            <a:endParaRPr/>
          </a:p>
          <a:p>
            <a:pPr algn="l">
              <a:spcBef>
                <a:spcPts val="200"/>
              </a:spcBef>
            </a:pPr>
            <a:r>
              <a:rPr sz="2000" b="0" i="0">
                <a:solidFill>
                  <a:srgbClr val="1A1A2E"/>
                </a:solidFill>
                <a:latin typeface="Calibri"/>
              </a:rPr>
              <a:t>❖  Motivation — why stablecoins matter for sovereign debt</a:t>
            </a:r>
          </a:p>
          <a:p>
            <a:pPr algn="l">
              <a:spcBef>
                <a:spcPts val="800"/>
              </a:spcBef>
            </a:pPr>
            <a:r>
              <a:rPr sz="2000" b="0" i="0">
                <a:solidFill>
                  <a:srgbClr val="1A1A2E"/>
                </a:solidFill>
                <a:latin typeface="Calibri"/>
              </a:rPr>
              <a:t>❖  The New Triffin Dilemma — our core argument</a:t>
            </a:r>
          </a:p>
          <a:p>
            <a:pPr algn="l">
              <a:spcBef>
                <a:spcPts val="800"/>
              </a:spcBef>
            </a:pPr>
            <a:r>
              <a:rPr sz="2000" b="0" i="0">
                <a:solidFill>
                  <a:srgbClr val="1A1A2E"/>
                </a:solidFill>
                <a:latin typeface="Calibri"/>
              </a:rPr>
              <a:t>❖  Theoretical extension of Maggiori (2017)</a:t>
            </a:r>
          </a:p>
          <a:p>
            <a:pPr algn="l">
              <a:spcBef>
                <a:spcPts val="800"/>
              </a:spcBef>
            </a:pPr>
            <a:r>
              <a:rPr sz="2000" b="0" i="0">
                <a:solidFill>
                  <a:srgbClr val="1A1A2E"/>
                </a:solidFill>
                <a:latin typeface="Calibri"/>
              </a:rPr>
              <a:t>❖  Data &amp; Methodology</a:t>
            </a:r>
          </a:p>
          <a:p>
            <a:pPr algn="l">
              <a:spcBef>
                <a:spcPts val="800"/>
              </a:spcBef>
            </a:pPr>
            <a:r>
              <a:rPr sz="2000" b="0" i="0">
                <a:solidFill>
                  <a:srgbClr val="1A1A2E"/>
                </a:solidFill>
                <a:latin typeface="Calibri"/>
              </a:rPr>
              <a:t>❖  Result 1 — Privilege amplification regression</a:t>
            </a:r>
          </a:p>
          <a:p>
            <a:pPr algn="l">
              <a:spcBef>
                <a:spcPts val="800"/>
              </a:spcBef>
            </a:pPr>
            <a:r>
              <a:rPr sz="2000" b="0" i="0">
                <a:solidFill>
                  <a:srgbClr val="1A1A2E"/>
                </a:solidFill>
                <a:latin typeface="Calibri"/>
              </a:rPr>
              <a:t>❖  Result 2 — Reserve adequacy threshold (Hansen 2000)</a:t>
            </a:r>
          </a:p>
          <a:p>
            <a:pPr algn="l">
              <a:spcBef>
                <a:spcPts val="800"/>
              </a:spcBef>
            </a:pPr>
            <a:r>
              <a:rPr sz="2000" b="0" i="0">
                <a:solidFill>
                  <a:srgbClr val="1A1A2E"/>
                </a:solidFill>
                <a:latin typeface="Calibri"/>
              </a:rPr>
              <a:t>❖  Result 3 — Buffer-conditioned event study</a:t>
            </a:r>
          </a:p>
          <a:p>
            <a:pPr algn="l">
              <a:spcBef>
                <a:spcPts val="800"/>
              </a:spcBef>
            </a:pPr>
            <a:r>
              <a:rPr sz="2000" b="0" i="0">
                <a:solidFill>
                  <a:srgbClr val="1A1A2E"/>
                </a:solidFill>
                <a:latin typeface="Calibri"/>
              </a:rPr>
              <a:t>❖  Conclusion &amp; Policy implications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Motivation: Stablecoins as Treasury Buyers</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3</a:t>
            </a:r>
          </a:p>
        </p:txBody>
      </p:sp>
      <p:sp>
        <p:nvSpPr>
          <p:cNvPr id="6" name="TextBox 5"/>
          <p:cNvSpPr txBox="1"/>
          <p:nvPr/>
        </p:nvSpPr>
        <p:spPr>
          <a:xfrm>
            <a:off x="457200" y="1005840"/>
            <a:ext cx="5669280" cy="4389120"/>
          </a:xfrm>
          <a:prstGeom prst="rect">
            <a:avLst/>
          </a:prstGeom>
          <a:noFill/>
        </p:spPr>
        <p:txBody>
          <a:bodyPr wrap="square">
            <a:spAutoFit/>
          </a:bodyPr>
          <a:lstStyle/>
          <a:p>
            <a:pPr>
              <a:spcBef>
                <a:spcPts val="0"/>
              </a:spcBef>
            </a:pPr>
            <a:endParaRPr dirty="0"/>
          </a:p>
          <a:p>
            <a:pPr algn="l">
              <a:spcBef>
                <a:spcPts val="200"/>
              </a:spcBef>
            </a:pPr>
            <a:r>
              <a:rPr sz="1800" b="1" i="0" dirty="0">
                <a:solidFill>
                  <a:srgbClr val="1B3A72"/>
                </a:solidFill>
                <a:latin typeface="Calibri"/>
              </a:rPr>
              <a:t>Key Market Trends</a:t>
            </a:r>
          </a:p>
          <a:p>
            <a:pPr algn="l">
              <a:spcBef>
                <a:spcPts val="1000"/>
              </a:spcBef>
            </a:pPr>
            <a:r>
              <a:rPr sz="1700" b="0" i="0" dirty="0">
                <a:solidFill>
                  <a:srgbClr val="1A1A2E"/>
                </a:solidFill>
                <a:latin typeface="Calibri"/>
              </a:rPr>
              <a:t>❖  Growth: Combined market cap surged from under $50bn (2021) to over $300bn (2026)</a:t>
            </a:r>
          </a:p>
          <a:p>
            <a:pPr algn="l">
              <a:spcBef>
                <a:spcPts val="1000"/>
              </a:spcBef>
            </a:pPr>
            <a:r>
              <a:rPr sz="1700" b="0" i="0" dirty="0">
                <a:solidFill>
                  <a:srgbClr val="1A1A2E"/>
                </a:solidFill>
                <a:latin typeface="Calibri"/>
              </a:rPr>
              <a:t>❖  Usage: 30%+ of on-chain crypto transactions involve stablecoins</a:t>
            </a:r>
          </a:p>
          <a:p>
            <a:pPr algn="l">
              <a:spcBef>
                <a:spcPts val="1000"/>
              </a:spcBef>
            </a:pPr>
            <a:r>
              <a:rPr sz="1700" b="0" i="0" dirty="0">
                <a:solidFill>
                  <a:srgbClr val="1A1A2E"/>
                </a:solidFill>
                <a:latin typeface="Calibri"/>
              </a:rPr>
              <a:t>❖  Regulation: US, EU, Japan, and Hong Kong each </a:t>
            </a:r>
            <a:r>
              <a:rPr sz="1700" b="0" i="0" dirty="0" err="1">
                <a:solidFill>
                  <a:srgbClr val="1A1A2E"/>
                </a:solidFill>
                <a:latin typeface="Calibri"/>
              </a:rPr>
              <a:t>finalising</a:t>
            </a:r>
            <a:r>
              <a:rPr sz="1700" b="0" i="0" dirty="0">
                <a:solidFill>
                  <a:srgbClr val="1A1A2E"/>
                </a:solidFill>
                <a:latin typeface="Calibri"/>
              </a:rPr>
              <a:t> reserve legislation</a:t>
            </a:r>
          </a:p>
          <a:p>
            <a:pPr algn="l">
              <a:spcBef>
                <a:spcPts val="1000"/>
              </a:spcBef>
            </a:pPr>
            <a:r>
              <a:rPr sz="1700" b="0" i="0" dirty="0">
                <a:solidFill>
                  <a:srgbClr val="1A1A2E"/>
                </a:solidFill>
                <a:latin typeface="Calibri"/>
              </a:rPr>
              <a:t>❖  Scale: Tether alone holds $127bn in US Treasuries (Q2 2025) — comparable to mid-sized sovereigns</a:t>
            </a:r>
          </a:p>
          <a:p>
            <a:pPr algn="l">
              <a:spcBef>
                <a:spcPts val="1000"/>
              </a:spcBef>
            </a:pPr>
            <a:r>
              <a:rPr sz="1700" b="0" i="0" dirty="0">
                <a:solidFill>
                  <a:srgbClr val="1A1A2E"/>
                </a:solidFill>
                <a:latin typeface="Calibri"/>
              </a:rPr>
              <a:t>❖  Projection: $1–2 trillion ecosystem within this decade</a:t>
            </a:r>
          </a:p>
        </p:txBody>
      </p:sp>
      <p:sp>
        <p:nvSpPr>
          <p:cNvPr id="7" name="Rectangle 6"/>
          <p:cNvSpPr/>
          <p:nvPr/>
        </p:nvSpPr>
        <p:spPr>
          <a:xfrm>
            <a:off x="6492240" y="960120"/>
            <a:ext cx="5303520" cy="10972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0" y="1033272"/>
            <a:ext cx="5120640" cy="566928"/>
          </a:xfrm>
          <a:prstGeom prst="rect">
            <a:avLst/>
          </a:prstGeom>
          <a:noFill/>
        </p:spPr>
        <p:txBody>
          <a:bodyPr wrap="square">
            <a:spAutoFit/>
          </a:bodyPr>
          <a:lstStyle/>
          <a:p>
            <a:pPr algn="ctr"/>
            <a:r>
              <a:rPr sz="2800" b="1" i="0">
                <a:solidFill>
                  <a:srgbClr val="FFFFFF"/>
                </a:solidFill>
                <a:latin typeface="Calibri"/>
              </a:rPr>
              <a:t>$300bn+</a:t>
            </a:r>
          </a:p>
        </p:txBody>
      </p:sp>
      <p:sp>
        <p:nvSpPr>
          <p:cNvPr id="9" name="TextBox 8"/>
          <p:cNvSpPr txBox="1"/>
          <p:nvPr/>
        </p:nvSpPr>
        <p:spPr>
          <a:xfrm>
            <a:off x="6583680" y="1618488"/>
            <a:ext cx="5120640" cy="365760"/>
          </a:xfrm>
          <a:prstGeom prst="rect">
            <a:avLst/>
          </a:prstGeom>
          <a:noFill/>
        </p:spPr>
        <p:txBody>
          <a:bodyPr wrap="square">
            <a:spAutoFit/>
          </a:bodyPr>
          <a:lstStyle/>
          <a:p>
            <a:pPr algn="ctr"/>
            <a:r>
              <a:rPr sz="1200" b="0" i="1">
                <a:solidFill>
                  <a:srgbClr val="AAC4E8"/>
                </a:solidFill>
                <a:latin typeface="Calibri"/>
              </a:rPr>
              <a:t>Total USD-pegged supply (2026)</a:t>
            </a:r>
          </a:p>
        </p:txBody>
      </p:sp>
      <p:sp>
        <p:nvSpPr>
          <p:cNvPr id="10" name="Rectangle 9"/>
          <p:cNvSpPr/>
          <p:nvPr/>
        </p:nvSpPr>
        <p:spPr>
          <a:xfrm>
            <a:off x="6492240" y="2221992"/>
            <a:ext cx="5303520" cy="10972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0" y="2295144"/>
            <a:ext cx="5120640" cy="566928"/>
          </a:xfrm>
          <a:prstGeom prst="rect">
            <a:avLst/>
          </a:prstGeom>
          <a:noFill/>
        </p:spPr>
        <p:txBody>
          <a:bodyPr wrap="square">
            <a:spAutoFit/>
          </a:bodyPr>
          <a:lstStyle/>
          <a:p>
            <a:pPr algn="ctr"/>
            <a:r>
              <a:rPr sz="2800" b="1" i="0">
                <a:solidFill>
                  <a:srgbClr val="FFFFFF"/>
                </a:solidFill>
                <a:latin typeface="Calibri"/>
              </a:rPr>
              <a:t>$127bn</a:t>
            </a:r>
          </a:p>
        </p:txBody>
      </p:sp>
      <p:sp>
        <p:nvSpPr>
          <p:cNvPr id="12" name="TextBox 11"/>
          <p:cNvSpPr txBox="1"/>
          <p:nvPr/>
        </p:nvSpPr>
        <p:spPr>
          <a:xfrm>
            <a:off x="6583680" y="2880360"/>
            <a:ext cx="5120640" cy="365760"/>
          </a:xfrm>
          <a:prstGeom prst="rect">
            <a:avLst/>
          </a:prstGeom>
          <a:noFill/>
        </p:spPr>
        <p:txBody>
          <a:bodyPr wrap="square">
            <a:spAutoFit/>
          </a:bodyPr>
          <a:lstStyle/>
          <a:p>
            <a:pPr algn="ctr"/>
            <a:r>
              <a:rPr sz="1200" b="0" i="1">
                <a:solidFill>
                  <a:srgbClr val="AAC4E8"/>
                </a:solidFill>
                <a:latin typeface="Calibri"/>
              </a:rPr>
              <a:t>Tether T-bill holdings (Q2 2025)</a:t>
            </a:r>
          </a:p>
        </p:txBody>
      </p:sp>
      <p:sp>
        <p:nvSpPr>
          <p:cNvPr id="13" name="Rectangle 12"/>
          <p:cNvSpPr/>
          <p:nvPr/>
        </p:nvSpPr>
        <p:spPr>
          <a:xfrm>
            <a:off x="6492240" y="3483864"/>
            <a:ext cx="5303520" cy="10972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83680" y="3557016"/>
            <a:ext cx="5120640" cy="566928"/>
          </a:xfrm>
          <a:prstGeom prst="rect">
            <a:avLst/>
          </a:prstGeom>
          <a:noFill/>
        </p:spPr>
        <p:txBody>
          <a:bodyPr wrap="square">
            <a:spAutoFit/>
          </a:bodyPr>
          <a:lstStyle/>
          <a:p>
            <a:pPr algn="ctr"/>
            <a:r>
              <a:rPr sz="2800" b="1" i="0">
                <a:solidFill>
                  <a:srgbClr val="FFFFFF"/>
                </a:solidFill>
                <a:latin typeface="Calibri"/>
              </a:rPr>
              <a:t>$1–2 tn</a:t>
            </a:r>
          </a:p>
        </p:txBody>
      </p:sp>
      <p:sp>
        <p:nvSpPr>
          <p:cNvPr id="15" name="TextBox 14"/>
          <p:cNvSpPr txBox="1"/>
          <p:nvPr/>
        </p:nvSpPr>
        <p:spPr>
          <a:xfrm>
            <a:off x="6583680" y="4142232"/>
            <a:ext cx="5120640" cy="365760"/>
          </a:xfrm>
          <a:prstGeom prst="rect">
            <a:avLst/>
          </a:prstGeom>
          <a:noFill/>
        </p:spPr>
        <p:txBody>
          <a:bodyPr wrap="square">
            <a:spAutoFit/>
          </a:bodyPr>
          <a:lstStyle/>
          <a:p>
            <a:pPr algn="ctr"/>
            <a:r>
              <a:rPr sz="1200" b="0" i="1">
                <a:solidFill>
                  <a:srgbClr val="AAC4E8"/>
                </a:solidFill>
                <a:latin typeface="Calibri"/>
              </a:rPr>
              <a:t>Projected ecosystem size</a:t>
            </a:r>
          </a:p>
        </p:txBody>
      </p:sp>
      <p:sp>
        <p:nvSpPr>
          <p:cNvPr id="16" name="Rectangle 15"/>
          <p:cNvSpPr/>
          <p:nvPr/>
        </p:nvSpPr>
        <p:spPr>
          <a:xfrm>
            <a:off x="6492240" y="4745736"/>
            <a:ext cx="5303520" cy="10972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83680" y="4818888"/>
            <a:ext cx="5120640" cy="566928"/>
          </a:xfrm>
          <a:prstGeom prst="rect">
            <a:avLst/>
          </a:prstGeom>
          <a:noFill/>
        </p:spPr>
        <p:txBody>
          <a:bodyPr wrap="square">
            <a:spAutoFit/>
          </a:bodyPr>
          <a:lstStyle/>
          <a:p>
            <a:pPr algn="ctr"/>
            <a:r>
              <a:rPr sz="2800" b="1" i="0">
                <a:solidFill>
                  <a:srgbClr val="FFFFFF"/>
                </a:solidFill>
                <a:latin typeface="Calibri"/>
              </a:rPr>
              <a:t>4</a:t>
            </a:r>
          </a:p>
        </p:txBody>
      </p:sp>
      <p:sp>
        <p:nvSpPr>
          <p:cNvPr id="18" name="TextBox 17"/>
          <p:cNvSpPr txBox="1"/>
          <p:nvPr/>
        </p:nvSpPr>
        <p:spPr>
          <a:xfrm>
            <a:off x="6583680" y="5404104"/>
            <a:ext cx="5120640" cy="365760"/>
          </a:xfrm>
          <a:prstGeom prst="rect">
            <a:avLst/>
          </a:prstGeom>
          <a:noFill/>
        </p:spPr>
        <p:txBody>
          <a:bodyPr wrap="square">
            <a:spAutoFit/>
          </a:bodyPr>
          <a:lstStyle/>
          <a:p>
            <a:pPr algn="ctr"/>
            <a:r>
              <a:rPr sz="1200" b="0" i="1">
                <a:solidFill>
                  <a:srgbClr val="AAC4E8"/>
                </a:solidFill>
                <a:latin typeface="Calibri"/>
              </a:rPr>
              <a:t>Jurisdictions finalising legislation</a:t>
            </a:r>
          </a:p>
        </p:txBody>
      </p:sp>
      <p:sp>
        <p:nvSpPr>
          <p:cNvPr id="19" name="Rectangle 18"/>
          <p:cNvSpPr/>
          <p:nvPr/>
        </p:nvSpPr>
        <p:spPr>
          <a:xfrm>
            <a:off x="0" y="5916168"/>
            <a:ext cx="12188952" cy="777240"/>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21208" y="6071616"/>
            <a:ext cx="11274552" cy="804672"/>
          </a:xfrm>
          <a:prstGeom prst="rect">
            <a:avLst/>
          </a:prstGeom>
          <a:noFill/>
        </p:spPr>
        <p:txBody>
          <a:bodyPr wrap="square">
            <a:spAutoFit/>
          </a:bodyPr>
          <a:lstStyle/>
          <a:p>
            <a:pPr algn="ctr"/>
            <a:r>
              <a:rPr sz="1800" b="1" i="0" dirty="0">
                <a:solidFill>
                  <a:srgbClr val="FFFFFF"/>
                </a:solidFill>
                <a:latin typeface="Calibri"/>
              </a:rPr>
              <a:t>The same structural role that deepens US safe-asset demand also embeds a fragility that can rapidly reverse it.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The New Triffin Dilemma</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4</a:t>
            </a:r>
          </a:p>
        </p:txBody>
      </p:sp>
      <p:sp>
        <p:nvSpPr>
          <p:cNvPr id="6" name="Rectangle 5"/>
          <p:cNvSpPr/>
          <p:nvPr/>
        </p:nvSpPr>
        <p:spPr>
          <a:xfrm>
            <a:off x="365760" y="960120"/>
            <a:ext cx="11430000" cy="7772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005840"/>
            <a:ext cx="11155680" cy="685800"/>
          </a:xfrm>
          <a:prstGeom prst="rect">
            <a:avLst/>
          </a:prstGeom>
          <a:noFill/>
        </p:spPr>
        <p:txBody>
          <a:bodyPr wrap="square">
            <a:spAutoFit/>
          </a:bodyPr>
          <a:lstStyle/>
          <a:p>
            <a:pPr>
              <a:spcBef>
                <a:spcPts val="0"/>
              </a:spcBef>
            </a:pPr>
            <a:endParaRPr/>
          </a:p>
          <a:p>
            <a:pPr algn="l">
              <a:spcBef>
                <a:spcPts val="400"/>
              </a:spcBef>
            </a:pPr>
            <a:r>
              <a:rPr sz="1400" b="0" i="1">
                <a:solidFill>
                  <a:srgbClr val="1A1A2E"/>
                </a:solidFill>
                <a:latin typeface="Calibri"/>
              </a:rPr>
              <a:t>Triffin (1960): the reserve currency country must supply safe assets to the world — but that very supply undermines confidence in the currency.</a:t>
            </a:r>
          </a:p>
        </p:txBody>
      </p:sp>
      <p:sp>
        <p:nvSpPr>
          <p:cNvPr id="8" name="TextBox 7"/>
          <p:cNvSpPr txBox="1"/>
          <p:nvPr/>
        </p:nvSpPr>
        <p:spPr>
          <a:xfrm>
            <a:off x="457200" y="1874519"/>
            <a:ext cx="11430000" cy="347472"/>
          </a:xfrm>
          <a:prstGeom prst="rect">
            <a:avLst/>
          </a:prstGeom>
          <a:noFill/>
        </p:spPr>
        <p:txBody>
          <a:bodyPr wrap="square">
            <a:spAutoFit/>
          </a:bodyPr>
          <a:lstStyle/>
          <a:p>
            <a:pPr algn="l"/>
            <a:r>
              <a:rPr sz="1700" b="1" i="0">
                <a:solidFill>
                  <a:srgbClr val="1B3A72"/>
                </a:solidFill>
                <a:latin typeface="Calibri"/>
              </a:rPr>
              <a:t>Our analogue for stablecoin issuers:</a:t>
            </a:r>
          </a:p>
        </p:txBody>
      </p:sp>
      <p:sp>
        <p:nvSpPr>
          <p:cNvPr id="9" name="Rectangle 8"/>
          <p:cNvSpPr/>
          <p:nvPr/>
        </p:nvSpPr>
        <p:spPr>
          <a:xfrm>
            <a:off x="365760" y="2286000"/>
            <a:ext cx="3749039" cy="38404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2313432"/>
            <a:ext cx="3566160" cy="329184"/>
          </a:xfrm>
          <a:prstGeom prst="rect">
            <a:avLst/>
          </a:prstGeom>
          <a:noFill/>
        </p:spPr>
        <p:txBody>
          <a:bodyPr wrap="square">
            <a:spAutoFit/>
          </a:bodyPr>
          <a:lstStyle/>
          <a:p>
            <a:pPr algn="l"/>
            <a:r>
              <a:rPr sz="1400" b="1" i="0">
                <a:solidFill>
                  <a:srgbClr val="FFFFFF"/>
                </a:solidFill>
                <a:latin typeface="Calibri"/>
              </a:rPr>
              <a:t>Normal times ✅</a:t>
            </a:r>
          </a:p>
        </p:txBody>
      </p:sp>
      <p:sp>
        <p:nvSpPr>
          <p:cNvPr id="11" name="Rectangle 10"/>
          <p:cNvSpPr/>
          <p:nvPr/>
        </p:nvSpPr>
        <p:spPr>
          <a:xfrm>
            <a:off x="365760" y="2670048"/>
            <a:ext cx="3749039" cy="233172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5488" y="2724912"/>
            <a:ext cx="3547872" cy="2194560"/>
          </a:xfrm>
          <a:prstGeom prst="rect">
            <a:avLst/>
          </a:prstGeom>
          <a:noFill/>
        </p:spPr>
        <p:txBody>
          <a:bodyPr wrap="square">
            <a:spAutoFit/>
          </a:bodyPr>
          <a:lstStyle/>
          <a:p>
            <a:pPr>
              <a:spcBef>
                <a:spcPts val="0"/>
              </a:spcBef>
            </a:pPr>
            <a:endParaRPr/>
          </a:p>
          <a:p>
            <a:pPr algn="l">
              <a:spcBef>
                <a:spcPts val="600"/>
              </a:spcBef>
            </a:pPr>
            <a:r>
              <a:rPr sz="1300" b="0" i="0">
                <a:solidFill>
                  <a:srgbClr val="1A1A2E"/>
                </a:solidFill>
                <a:latin typeface="Calibri"/>
              </a:rPr>
              <a:t>•  Stablecoin growth → more T-bill buying</a:t>
            </a:r>
          </a:p>
          <a:p>
            <a:pPr algn="l">
              <a:spcBef>
                <a:spcPts val="600"/>
              </a:spcBef>
            </a:pPr>
            <a:r>
              <a:rPr sz="1300" b="0" i="0">
                <a:solidFill>
                  <a:srgbClr val="1A1A2E"/>
                </a:solidFill>
                <a:latin typeface="Calibri"/>
              </a:rPr>
              <a:t>•  Deepens US safe-asset demand</a:t>
            </a:r>
          </a:p>
          <a:p>
            <a:pPr algn="l">
              <a:spcBef>
                <a:spcPts val="600"/>
              </a:spcBef>
            </a:pPr>
            <a:r>
              <a:rPr sz="1300" b="0" i="0">
                <a:solidFill>
                  <a:srgbClr val="1A1A2E"/>
                </a:solidFill>
                <a:latin typeface="Calibri"/>
              </a:rPr>
              <a:t>•  Compresses OIS–Treasury spreads</a:t>
            </a:r>
          </a:p>
          <a:p>
            <a:pPr algn="l">
              <a:spcBef>
                <a:spcPts val="600"/>
              </a:spcBef>
            </a:pPr>
            <a:r>
              <a:rPr sz="1300" b="0" i="0">
                <a:solidFill>
                  <a:srgbClr val="1A1A2E"/>
                </a:solidFill>
                <a:latin typeface="Calibri"/>
              </a:rPr>
              <a:t>•  Amplifies exorbitant privilege</a:t>
            </a:r>
          </a:p>
        </p:txBody>
      </p:sp>
      <p:sp>
        <p:nvSpPr>
          <p:cNvPr id="13" name="Rectangle 12"/>
          <p:cNvSpPr/>
          <p:nvPr/>
        </p:nvSpPr>
        <p:spPr>
          <a:xfrm>
            <a:off x="4297680" y="2286000"/>
            <a:ext cx="3749039" cy="38404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0" y="2313432"/>
            <a:ext cx="3566160" cy="329184"/>
          </a:xfrm>
          <a:prstGeom prst="rect">
            <a:avLst/>
          </a:prstGeom>
          <a:noFill/>
        </p:spPr>
        <p:txBody>
          <a:bodyPr wrap="square">
            <a:spAutoFit/>
          </a:bodyPr>
          <a:lstStyle/>
          <a:p>
            <a:pPr algn="l"/>
            <a:r>
              <a:rPr sz="1400" b="1" i="0">
                <a:solidFill>
                  <a:srgbClr val="FFFFFF"/>
                </a:solidFill>
                <a:latin typeface="Calibri"/>
              </a:rPr>
              <a:t>Run scenario ❌</a:t>
            </a:r>
          </a:p>
        </p:txBody>
      </p:sp>
      <p:sp>
        <p:nvSpPr>
          <p:cNvPr id="15" name="Rectangle 14"/>
          <p:cNvSpPr/>
          <p:nvPr/>
        </p:nvSpPr>
        <p:spPr>
          <a:xfrm>
            <a:off x="4297680" y="2670048"/>
            <a:ext cx="3749039" cy="2331720"/>
          </a:xfrm>
          <a:prstGeom prst="rect">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07408" y="2724912"/>
            <a:ext cx="3547872" cy="2194560"/>
          </a:xfrm>
          <a:prstGeom prst="rect">
            <a:avLst/>
          </a:prstGeom>
          <a:noFill/>
        </p:spPr>
        <p:txBody>
          <a:bodyPr wrap="square">
            <a:spAutoFit/>
          </a:bodyPr>
          <a:lstStyle/>
          <a:p>
            <a:pPr>
              <a:spcBef>
                <a:spcPts val="0"/>
              </a:spcBef>
            </a:pPr>
            <a:endParaRPr/>
          </a:p>
          <a:p>
            <a:pPr algn="l">
              <a:spcBef>
                <a:spcPts val="600"/>
              </a:spcBef>
            </a:pPr>
            <a:r>
              <a:rPr sz="1300" b="0" i="0">
                <a:solidFill>
                  <a:srgbClr val="1A1A2E"/>
                </a:solidFill>
                <a:latin typeface="Calibri"/>
              </a:rPr>
              <a:t>•  Run on issuer → forced T-bill liquidation</a:t>
            </a:r>
          </a:p>
          <a:p>
            <a:pPr algn="l">
              <a:spcBef>
                <a:spcPts val="600"/>
              </a:spcBef>
            </a:pPr>
            <a:r>
              <a:rPr sz="1300" b="0" i="0">
                <a:solidFill>
                  <a:srgbClr val="1A1A2E"/>
                </a:solidFill>
                <a:latin typeface="Calibri"/>
              </a:rPr>
              <a:t>•  Yields spike above OIS</a:t>
            </a:r>
          </a:p>
          <a:p>
            <a:pPr algn="l">
              <a:spcBef>
                <a:spcPts val="600"/>
              </a:spcBef>
            </a:pPr>
            <a:r>
              <a:rPr sz="1300" b="0" i="0">
                <a:solidFill>
                  <a:srgbClr val="1A1A2E"/>
                </a:solidFill>
                <a:latin typeface="Calibri"/>
              </a:rPr>
              <a:t>•  Sovereign-linked liquidity shock</a:t>
            </a:r>
          </a:p>
          <a:p>
            <a:pPr algn="l">
              <a:spcBef>
                <a:spcPts val="600"/>
              </a:spcBef>
            </a:pPr>
            <a:r>
              <a:rPr sz="1300" b="0" i="0">
                <a:solidFill>
                  <a:srgbClr val="1A1A2E"/>
                </a:solidFill>
                <a:latin typeface="Calibri"/>
              </a:rPr>
              <a:t>•  Cole–Kehoe crisis zone activated</a:t>
            </a:r>
          </a:p>
        </p:txBody>
      </p:sp>
      <p:sp>
        <p:nvSpPr>
          <p:cNvPr id="17" name="Rectangle 16"/>
          <p:cNvSpPr/>
          <p:nvPr/>
        </p:nvSpPr>
        <p:spPr>
          <a:xfrm>
            <a:off x="8229600" y="2286000"/>
            <a:ext cx="3749039" cy="384048"/>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21040" y="2313432"/>
            <a:ext cx="3566160" cy="329184"/>
          </a:xfrm>
          <a:prstGeom prst="rect">
            <a:avLst/>
          </a:prstGeom>
          <a:noFill/>
        </p:spPr>
        <p:txBody>
          <a:bodyPr wrap="square">
            <a:spAutoFit/>
          </a:bodyPr>
          <a:lstStyle/>
          <a:p>
            <a:pPr algn="l"/>
            <a:r>
              <a:rPr sz="1400" b="1" i="0">
                <a:solidFill>
                  <a:srgbClr val="FFFFFF"/>
                </a:solidFill>
                <a:latin typeface="Calibri"/>
              </a:rPr>
              <a:t>What determines outcome</a:t>
            </a:r>
          </a:p>
        </p:txBody>
      </p:sp>
      <p:sp>
        <p:nvSpPr>
          <p:cNvPr id="19" name="Rectangle 18"/>
          <p:cNvSpPr/>
          <p:nvPr/>
        </p:nvSpPr>
        <p:spPr>
          <a:xfrm>
            <a:off x="8229600" y="2670048"/>
            <a:ext cx="3749039" cy="2331720"/>
          </a:xfrm>
          <a:prstGeom prst="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39328" y="2724912"/>
            <a:ext cx="3547872" cy="2194560"/>
          </a:xfrm>
          <a:prstGeom prst="rect">
            <a:avLst/>
          </a:prstGeom>
          <a:noFill/>
        </p:spPr>
        <p:txBody>
          <a:bodyPr wrap="square">
            <a:spAutoFit/>
          </a:bodyPr>
          <a:lstStyle/>
          <a:p>
            <a:pPr>
              <a:spcBef>
                <a:spcPts val="0"/>
              </a:spcBef>
            </a:pPr>
            <a:endParaRPr/>
          </a:p>
          <a:p>
            <a:pPr algn="l">
              <a:spcBef>
                <a:spcPts val="600"/>
              </a:spcBef>
            </a:pPr>
            <a:r>
              <a:rPr sz="1300" b="0" i="0">
                <a:solidFill>
                  <a:srgbClr val="1A1A2E"/>
                </a:solidFill>
                <a:latin typeface="Calibri"/>
              </a:rPr>
              <a:t>•  Reserve buffer B = T-bill holdings − supply</a:t>
            </a:r>
          </a:p>
          <a:p>
            <a:pPr algn="l">
              <a:spcBef>
                <a:spcPts val="600"/>
              </a:spcBef>
            </a:pPr>
            <a:r>
              <a:rPr sz="1300" b="0" i="0">
                <a:solidFill>
                  <a:srgbClr val="1A1A2E"/>
                </a:solidFill>
                <a:latin typeface="Calibri"/>
              </a:rPr>
              <a:t>•  B adequate: absorbs run without selling</a:t>
            </a:r>
          </a:p>
          <a:p>
            <a:pPr algn="l">
              <a:spcBef>
                <a:spcPts val="600"/>
              </a:spcBef>
            </a:pPr>
            <a:r>
              <a:rPr sz="1300" b="0" i="0">
                <a:solidFill>
                  <a:srgbClr val="1A1A2E"/>
                </a:solidFill>
                <a:latin typeface="Calibri"/>
              </a:rPr>
              <a:t>•  B inadequate (|ΔS| &gt; B): liquidation forced</a:t>
            </a:r>
          </a:p>
          <a:p>
            <a:pPr algn="l">
              <a:spcBef>
                <a:spcPts val="600"/>
              </a:spcBef>
            </a:pPr>
            <a:r>
              <a:rPr sz="1300" b="0" i="0">
                <a:solidFill>
                  <a:srgbClr val="1A1A2E"/>
                </a:solidFill>
                <a:latin typeface="Calibri"/>
              </a:rPr>
              <a:t>•  → We estimate the threshold B*</a:t>
            </a:r>
          </a:p>
        </p:txBody>
      </p:sp>
      <p:sp>
        <p:nvSpPr>
          <p:cNvPr id="21" name="Rectangle 20"/>
          <p:cNvSpPr/>
          <p:nvPr/>
        </p:nvSpPr>
        <p:spPr>
          <a:xfrm>
            <a:off x="0" y="5916168"/>
            <a:ext cx="12188952" cy="777240"/>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11480" y="6094476"/>
            <a:ext cx="11274552" cy="804672"/>
          </a:xfrm>
          <a:prstGeom prst="rect">
            <a:avLst/>
          </a:prstGeom>
          <a:noFill/>
        </p:spPr>
        <p:txBody>
          <a:bodyPr wrap="square">
            <a:spAutoFit/>
          </a:bodyPr>
          <a:lstStyle/>
          <a:p>
            <a:pPr algn="ctr"/>
            <a:r>
              <a:rPr sz="1800" b="1" i="0" dirty="0">
                <a:solidFill>
                  <a:srgbClr val="FFFFFF"/>
                </a:solidFill>
                <a:latin typeface="Calibri"/>
              </a:rPr>
              <a:t>Our paper: formally quantify the reserve buffer threshold that separates the two regimes.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Theoretical Extension: Maggiori (2017)</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5</a:t>
            </a:r>
          </a:p>
        </p:txBody>
      </p:sp>
      <p:sp>
        <p:nvSpPr>
          <p:cNvPr id="6" name="Rectangle 5"/>
          <p:cNvSpPr/>
          <p:nvPr/>
        </p:nvSpPr>
        <p:spPr>
          <a:xfrm>
            <a:off x="365760" y="960120"/>
            <a:ext cx="5669280" cy="475488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024128"/>
            <a:ext cx="5394960" cy="4572000"/>
          </a:xfrm>
          <a:prstGeom prst="rect">
            <a:avLst/>
          </a:prstGeom>
          <a:noFill/>
        </p:spPr>
        <p:txBody>
          <a:bodyPr wrap="square">
            <a:spAutoFit/>
          </a:bodyPr>
          <a:lstStyle/>
          <a:p>
            <a:pPr>
              <a:spcBef>
                <a:spcPts val="0"/>
              </a:spcBef>
            </a:pPr>
            <a:endParaRPr dirty="0"/>
          </a:p>
          <a:p>
            <a:pPr algn="l">
              <a:spcBef>
                <a:spcPts val="400"/>
              </a:spcBef>
            </a:pPr>
            <a:r>
              <a:rPr sz="1400" b="1" i="0" dirty="0">
                <a:solidFill>
                  <a:srgbClr val="1B3A72"/>
                </a:solidFill>
                <a:latin typeface="Calibri"/>
              </a:rPr>
              <a:t>Maggiori (2017) original:</a:t>
            </a:r>
          </a:p>
          <a:p>
            <a:pPr algn="l">
              <a:spcBef>
                <a:spcPts val="400"/>
              </a:spcBef>
            </a:pPr>
            <a:r>
              <a:rPr sz="1300" b="0" i="0" dirty="0">
                <a:solidFill>
                  <a:srgbClr val="1A1A2E"/>
                </a:solidFill>
                <a:latin typeface="Calibri"/>
              </a:rPr>
              <a:t>Safe-asset demand driven by </a:t>
            </a:r>
            <a:r>
              <a:rPr sz="1300" b="0" i="0" dirty="0" err="1">
                <a:solidFill>
                  <a:srgbClr val="1A1A2E"/>
                </a:solidFill>
                <a:latin typeface="Calibri"/>
              </a:rPr>
              <a:t>Ω</a:t>
            </a:r>
            <a:r>
              <a:rPr sz="1300" b="0" i="0" dirty="0">
                <a:solidFill>
                  <a:srgbClr val="1A1A2E"/>
                </a:solidFill>
                <a:latin typeface="Calibri"/>
              </a:rPr>
              <a:t>* (marginal value of </a:t>
            </a:r>
            <a:r>
              <a:rPr sz="1300" b="0" i="0" dirty="0" err="1">
                <a:solidFill>
                  <a:srgbClr val="1A1A2E"/>
                </a:solidFill>
                <a:latin typeface="Calibri"/>
              </a:rPr>
              <a:t>RoW</a:t>
            </a:r>
            <a:r>
              <a:rPr sz="1300" b="0" i="0" dirty="0">
                <a:solidFill>
                  <a:srgbClr val="1A1A2E"/>
                </a:solidFill>
                <a:latin typeface="Calibri"/>
              </a:rPr>
              <a:t> net worth).</a:t>
            </a:r>
          </a:p>
          <a:p>
            <a:pPr algn="l">
              <a:spcBef>
                <a:spcPts val="400"/>
              </a:spcBef>
            </a:pPr>
            <a:r>
              <a:rPr sz="800" b="0" i="0" dirty="0">
                <a:solidFill>
                  <a:srgbClr val="1A1A2E"/>
                </a:solidFill>
                <a:latin typeface="Calibri"/>
              </a:rPr>
              <a:t> </a:t>
            </a:r>
          </a:p>
          <a:p>
            <a:pPr algn="l">
              <a:spcBef>
                <a:spcPts val="600"/>
              </a:spcBef>
            </a:pPr>
            <a:r>
              <a:rPr sz="1400" b="1" i="0" dirty="0">
                <a:solidFill>
                  <a:srgbClr val="1B3A72"/>
                </a:solidFill>
                <a:latin typeface="Calibri"/>
              </a:rPr>
              <a:t>Our extension — add stablecoin supply S and buffer B:</a:t>
            </a:r>
          </a:p>
          <a:p>
            <a:pPr algn="l">
              <a:spcBef>
                <a:spcPts val="400"/>
              </a:spcBef>
            </a:pPr>
            <a:r>
              <a:rPr sz="1300" b="0" i="1" dirty="0">
                <a:solidFill>
                  <a:srgbClr val="1A1A2E"/>
                </a:solidFill>
                <a:latin typeface="Calibri"/>
              </a:rPr>
              <a:t>B*(</a:t>
            </a:r>
            <a:r>
              <a:rPr sz="1300" b="0" i="1" dirty="0" err="1">
                <a:solidFill>
                  <a:srgbClr val="1A1A2E"/>
                </a:solidFill>
                <a:latin typeface="Calibri"/>
              </a:rPr>
              <a:t>Ñ</a:t>
            </a:r>
            <a:r>
              <a:rPr sz="1300" b="0" i="1" dirty="0">
                <a:solidFill>
                  <a:srgbClr val="1A1A2E"/>
                </a:solidFill>
                <a:latin typeface="Calibri"/>
              </a:rPr>
              <a:t>*, S, B)  =  B*precautionary(</a:t>
            </a:r>
            <a:r>
              <a:rPr sz="1300" b="0" i="1" dirty="0" err="1">
                <a:solidFill>
                  <a:srgbClr val="1A1A2E"/>
                </a:solidFill>
                <a:latin typeface="Calibri"/>
              </a:rPr>
              <a:t>Ñ</a:t>
            </a:r>
            <a:r>
              <a:rPr sz="1300" b="0" i="1" dirty="0">
                <a:solidFill>
                  <a:srgbClr val="1A1A2E"/>
                </a:solidFill>
                <a:latin typeface="Calibri"/>
              </a:rPr>
              <a:t>*)  +  B*stablecoin(S)  +  B*buffer(B)</a:t>
            </a:r>
          </a:p>
          <a:p>
            <a:pPr algn="l">
              <a:spcBef>
                <a:spcPts val="400"/>
              </a:spcBef>
            </a:pPr>
            <a:r>
              <a:rPr sz="800" b="0" i="0" dirty="0">
                <a:solidFill>
                  <a:srgbClr val="1A1A2E"/>
                </a:solidFill>
                <a:latin typeface="Calibri"/>
              </a:rPr>
              <a:t> </a:t>
            </a:r>
          </a:p>
          <a:p>
            <a:pPr algn="l">
              <a:spcBef>
                <a:spcPts val="400"/>
              </a:spcBef>
            </a:pPr>
            <a:r>
              <a:rPr sz="1400" b="1" i="0" dirty="0">
                <a:solidFill>
                  <a:srgbClr val="1B3A72"/>
                </a:solidFill>
                <a:latin typeface="Calibri"/>
              </a:rPr>
              <a:t>Buffer B enters asymmetrically:</a:t>
            </a:r>
          </a:p>
          <a:p>
            <a:pPr algn="l">
              <a:spcBef>
                <a:spcPts val="400"/>
              </a:spcBef>
            </a:pPr>
            <a:r>
              <a:rPr sz="1300" b="0" i="0" dirty="0">
                <a:solidFill>
                  <a:srgbClr val="1A7A4A"/>
                </a:solidFill>
                <a:latin typeface="Calibri"/>
              </a:rPr>
              <a:t>❖  |ΔS| &lt; B  →  run absorbed, no liquidation</a:t>
            </a:r>
          </a:p>
          <a:p>
            <a:pPr algn="l">
              <a:spcBef>
                <a:spcPts val="400"/>
              </a:spcBef>
            </a:pPr>
            <a:r>
              <a:rPr sz="1300" b="0" i="0" dirty="0">
                <a:solidFill>
                  <a:srgbClr val="C0392B"/>
                </a:solidFill>
                <a:latin typeface="Calibri"/>
              </a:rPr>
              <a:t>❖  |ΔS| &gt; B  →  liquidation channel activated</a:t>
            </a:r>
          </a:p>
        </p:txBody>
      </p:sp>
      <p:sp>
        <p:nvSpPr>
          <p:cNvPr id="8" name="Rectangle 7"/>
          <p:cNvSpPr/>
          <p:nvPr/>
        </p:nvSpPr>
        <p:spPr>
          <a:xfrm>
            <a:off x="6217920" y="960120"/>
            <a:ext cx="5577840" cy="47548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55080" y="1024128"/>
            <a:ext cx="5303520" cy="457200"/>
          </a:xfrm>
          <a:prstGeom prst="rect">
            <a:avLst/>
          </a:prstGeom>
          <a:noFill/>
        </p:spPr>
        <p:txBody>
          <a:bodyPr wrap="square">
            <a:spAutoFit/>
          </a:bodyPr>
          <a:lstStyle/>
          <a:p>
            <a:pPr algn="l"/>
            <a:r>
              <a:rPr sz="1500" b="1" i="0">
                <a:solidFill>
                  <a:srgbClr val="FFFFFF"/>
                </a:solidFill>
                <a:latin typeface="Calibri"/>
              </a:rPr>
              <a:t>Main Estimating Equation</a:t>
            </a:r>
          </a:p>
        </p:txBody>
      </p:sp>
      <p:sp>
        <p:nvSpPr>
          <p:cNvPr id="10" name="TextBox 9"/>
          <p:cNvSpPr txBox="1"/>
          <p:nvPr/>
        </p:nvSpPr>
        <p:spPr>
          <a:xfrm>
            <a:off x="6355080" y="1536192"/>
            <a:ext cx="5303520" cy="1691640"/>
          </a:xfrm>
          <a:prstGeom prst="rect">
            <a:avLst/>
          </a:prstGeom>
          <a:noFill/>
        </p:spPr>
        <p:txBody>
          <a:bodyPr wrap="square">
            <a:spAutoFit/>
          </a:bodyPr>
          <a:lstStyle/>
          <a:p>
            <a:pPr algn="l"/>
            <a:r>
              <a:rPr sz="1400" b="0" i="0">
                <a:solidFill>
                  <a:srgbClr val="FFFFFF"/>
                </a:solidFill>
                <a:latin typeface="Courier New"/>
              </a:rPr>
              <a:t>Spreadₜ = α + β₁·ΔlnSₜ + β₂·Bₜ
           + β₃·(Bₜ × ΔlnSₜ)
           + β₄·Vₜ + β₅·VIXₜ
           + β₆·ΔlnN*ₜ + εₜ</a:t>
            </a:r>
          </a:p>
        </p:txBody>
      </p:sp>
      <p:sp>
        <p:nvSpPr>
          <p:cNvPr id="11" name="TextBox 10"/>
          <p:cNvSpPr txBox="1"/>
          <p:nvPr/>
        </p:nvSpPr>
        <p:spPr>
          <a:xfrm>
            <a:off x="6355080" y="3337560"/>
            <a:ext cx="5303520" cy="2286000"/>
          </a:xfrm>
          <a:prstGeom prst="rect">
            <a:avLst/>
          </a:prstGeom>
          <a:noFill/>
        </p:spPr>
        <p:txBody>
          <a:bodyPr wrap="square">
            <a:spAutoFit/>
          </a:bodyPr>
          <a:lstStyle/>
          <a:p>
            <a:pPr>
              <a:spcBef>
                <a:spcPts val="0"/>
              </a:spcBef>
            </a:pPr>
            <a:endParaRPr/>
          </a:p>
          <a:p>
            <a:pPr algn="l">
              <a:spcBef>
                <a:spcPts val="400"/>
              </a:spcBef>
            </a:pPr>
            <a:r>
              <a:rPr sz="1300" b="1" i="0">
                <a:solidFill>
                  <a:srgbClr val="AAC4E8"/>
                </a:solidFill>
                <a:latin typeface="Calibri"/>
              </a:rPr>
              <a:t>Predicted signs:</a:t>
            </a:r>
          </a:p>
          <a:p>
            <a:pPr algn="l">
              <a:spcBef>
                <a:spcPts val="600"/>
              </a:spcBef>
            </a:pPr>
            <a:r>
              <a:rPr sz="1200" b="0" i="0">
                <a:solidFill>
                  <a:srgbClr val="FFFFFF"/>
                </a:solidFill>
                <a:latin typeface="Calibri"/>
              </a:rPr>
              <a:t>❖  β₁ &lt; 0: ΔlnS compresses spreads (privilege amplification)</a:t>
            </a:r>
          </a:p>
          <a:p>
            <a:pPr algn="l">
              <a:spcBef>
                <a:spcPts val="600"/>
              </a:spcBef>
            </a:pPr>
            <a:r>
              <a:rPr sz="1200" b="0" i="0">
                <a:solidFill>
                  <a:srgbClr val="FFFFFF"/>
                </a:solidFill>
                <a:latin typeface="Calibri"/>
              </a:rPr>
              <a:t>❖  β₂ &lt; 0: Higher buffer → more T-bill demand → lower spreads</a:t>
            </a:r>
          </a:p>
          <a:p>
            <a:pPr algn="l">
              <a:spcBef>
                <a:spcPts val="600"/>
              </a:spcBef>
            </a:pPr>
            <a:r>
              <a:rPr sz="1200" b="0" i="0">
                <a:solidFill>
                  <a:srgbClr val="FFFFFF"/>
                </a:solidFill>
                <a:latin typeface="Calibri"/>
              </a:rPr>
              <a:t>❖  β₃ &lt; 0: Lower buffer reverses the compression effect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Data &amp; Sample</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6</a:t>
            </a:r>
          </a:p>
        </p:txBody>
      </p:sp>
      <p:sp>
        <p:nvSpPr>
          <p:cNvPr id="6" name="Rectangle 5"/>
          <p:cNvSpPr/>
          <p:nvPr/>
        </p:nvSpPr>
        <p:spPr>
          <a:xfrm>
            <a:off x="320040" y="960120"/>
            <a:ext cx="11521440" cy="384048"/>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87552"/>
            <a:ext cx="2075688" cy="329184"/>
          </a:xfrm>
          <a:prstGeom prst="rect">
            <a:avLst/>
          </a:prstGeom>
          <a:noFill/>
        </p:spPr>
        <p:txBody>
          <a:bodyPr wrap="square">
            <a:spAutoFit/>
          </a:bodyPr>
          <a:lstStyle/>
          <a:p>
            <a:pPr algn="l"/>
            <a:r>
              <a:rPr sz="1300" b="1" i="0">
                <a:solidFill>
                  <a:srgbClr val="FFFFFF"/>
                </a:solidFill>
                <a:latin typeface="Calibri"/>
              </a:rPr>
              <a:t>Variable</a:t>
            </a:r>
          </a:p>
        </p:txBody>
      </p:sp>
      <p:sp>
        <p:nvSpPr>
          <p:cNvPr id="8" name="TextBox 7"/>
          <p:cNvSpPr txBox="1"/>
          <p:nvPr/>
        </p:nvSpPr>
        <p:spPr>
          <a:xfrm>
            <a:off x="2560320" y="987552"/>
            <a:ext cx="2441448" cy="329184"/>
          </a:xfrm>
          <a:prstGeom prst="rect">
            <a:avLst/>
          </a:prstGeom>
          <a:noFill/>
        </p:spPr>
        <p:txBody>
          <a:bodyPr wrap="square">
            <a:spAutoFit/>
          </a:bodyPr>
          <a:lstStyle/>
          <a:p>
            <a:pPr algn="l"/>
            <a:r>
              <a:rPr sz="1300" b="1" i="0">
                <a:solidFill>
                  <a:srgbClr val="FFFFFF"/>
                </a:solidFill>
                <a:latin typeface="Calibri"/>
              </a:rPr>
              <a:t>Definition</a:t>
            </a:r>
          </a:p>
        </p:txBody>
      </p:sp>
      <p:sp>
        <p:nvSpPr>
          <p:cNvPr id="9" name="TextBox 8"/>
          <p:cNvSpPr txBox="1"/>
          <p:nvPr/>
        </p:nvSpPr>
        <p:spPr>
          <a:xfrm>
            <a:off x="5120640" y="987552"/>
            <a:ext cx="4453128" cy="329184"/>
          </a:xfrm>
          <a:prstGeom prst="rect">
            <a:avLst/>
          </a:prstGeom>
          <a:noFill/>
        </p:spPr>
        <p:txBody>
          <a:bodyPr wrap="square">
            <a:spAutoFit/>
          </a:bodyPr>
          <a:lstStyle/>
          <a:p>
            <a:pPr algn="l"/>
            <a:r>
              <a:rPr sz="1300" b="1" i="0">
                <a:solidFill>
                  <a:srgbClr val="FFFFFF"/>
                </a:solidFill>
                <a:latin typeface="Calibri"/>
              </a:rPr>
              <a:t>Source</a:t>
            </a:r>
          </a:p>
        </p:txBody>
      </p:sp>
      <p:sp>
        <p:nvSpPr>
          <p:cNvPr id="10" name="TextBox 9"/>
          <p:cNvSpPr txBox="1"/>
          <p:nvPr/>
        </p:nvSpPr>
        <p:spPr>
          <a:xfrm>
            <a:off x="9692640" y="987552"/>
            <a:ext cx="2075688" cy="329184"/>
          </a:xfrm>
          <a:prstGeom prst="rect">
            <a:avLst/>
          </a:prstGeom>
          <a:noFill/>
        </p:spPr>
        <p:txBody>
          <a:bodyPr wrap="square">
            <a:spAutoFit/>
          </a:bodyPr>
          <a:lstStyle/>
          <a:p>
            <a:pPr algn="l"/>
            <a:r>
              <a:rPr sz="1300" b="1" i="0">
                <a:solidFill>
                  <a:srgbClr val="FFFFFF"/>
                </a:solidFill>
                <a:latin typeface="Calibri"/>
              </a:rPr>
              <a:t>Frequency</a:t>
            </a:r>
          </a:p>
        </p:txBody>
      </p:sp>
      <p:sp>
        <p:nvSpPr>
          <p:cNvPr id="11" name="Rectangle 10"/>
          <p:cNvSpPr/>
          <p:nvPr/>
        </p:nvSpPr>
        <p:spPr>
          <a:xfrm>
            <a:off x="320040" y="1344168"/>
            <a:ext cx="11521440" cy="6675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74904" y="1435608"/>
            <a:ext cx="2057400" cy="502920"/>
          </a:xfrm>
          <a:prstGeom prst="rect">
            <a:avLst/>
          </a:prstGeom>
          <a:noFill/>
        </p:spPr>
        <p:txBody>
          <a:bodyPr wrap="square">
            <a:spAutoFit/>
          </a:bodyPr>
          <a:lstStyle/>
          <a:p>
            <a:pPr algn="l"/>
            <a:r>
              <a:rPr sz="1200" b="0" i="0">
                <a:solidFill>
                  <a:srgbClr val="1A1A2E"/>
                </a:solidFill>
                <a:latin typeface="Calibri"/>
              </a:rPr>
              <a:t>OIS–Treasury Spread</a:t>
            </a:r>
          </a:p>
        </p:txBody>
      </p:sp>
      <p:sp>
        <p:nvSpPr>
          <p:cNvPr id="13" name="TextBox 12"/>
          <p:cNvSpPr txBox="1"/>
          <p:nvPr/>
        </p:nvSpPr>
        <p:spPr>
          <a:xfrm>
            <a:off x="2569464" y="1435608"/>
            <a:ext cx="2423160" cy="502920"/>
          </a:xfrm>
          <a:prstGeom prst="rect">
            <a:avLst/>
          </a:prstGeom>
          <a:noFill/>
        </p:spPr>
        <p:txBody>
          <a:bodyPr wrap="square">
            <a:spAutoFit/>
          </a:bodyPr>
          <a:lstStyle/>
          <a:p>
            <a:pPr algn="l"/>
            <a:r>
              <a:rPr sz="1200" b="0" i="0">
                <a:solidFill>
                  <a:srgbClr val="1A1A2E"/>
                </a:solidFill>
                <a:latin typeface="Calibri"/>
              </a:rPr>
              <a:t>DTB3 − SOFR90DAYAVG</a:t>
            </a:r>
          </a:p>
        </p:txBody>
      </p:sp>
      <p:sp>
        <p:nvSpPr>
          <p:cNvPr id="14" name="TextBox 13"/>
          <p:cNvSpPr txBox="1"/>
          <p:nvPr/>
        </p:nvSpPr>
        <p:spPr>
          <a:xfrm>
            <a:off x="5129784" y="1435608"/>
            <a:ext cx="4434840" cy="502920"/>
          </a:xfrm>
          <a:prstGeom prst="rect">
            <a:avLst/>
          </a:prstGeom>
          <a:noFill/>
        </p:spPr>
        <p:txBody>
          <a:bodyPr wrap="square">
            <a:spAutoFit/>
          </a:bodyPr>
          <a:lstStyle/>
          <a:p>
            <a:pPr algn="l"/>
            <a:r>
              <a:rPr sz="1200" b="0" i="0">
                <a:solidFill>
                  <a:srgbClr val="1A1A2E"/>
                </a:solidFill>
                <a:latin typeface="Calibri"/>
              </a:rPr>
              <a:t>FRED (direct CSV, no API key)</a:t>
            </a:r>
          </a:p>
        </p:txBody>
      </p:sp>
      <p:sp>
        <p:nvSpPr>
          <p:cNvPr id="15" name="TextBox 14"/>
          <p:cNvSpPr txBox="1"/>
          <p:nvPr/>
        </p:nvSpPr>
        <p:spPr>
          <a:xfrm>
            <a:off x="9701784" y="1435608"/>
            <a:ext cx="2057400" cy="502920"/>
          </a:xfrm>
          <a:prstGeom prst="rect">
            <a:avLst/>
          </a:prstGeom>
          <a:noFill/>
        </p:spPr>
        <p:txBody>
          <a:bodyPr wrap="square">
            <a:spAutoFit/>
          </a:bodyPr>
          <a:lstStyle/>
          <a:p>
            <a:pPr algn="l"/>
            <a:r>
              <a:rPr sz="1200" b="0" i="0">
                <a:solidFill>
                  <a:srgbClr val="1A1A2E"/>
                </a:solidFill>
                <a:latin typeface="Calibri"/>
              </a:rPr>
              <a:t>Daily → Monthly</a:t>
            </a:r>
          </a:p>
        </p:txBody>
      </p:sp>
      <p:sp>
        <p:nvSpPr>
          <p:cNvPr id="16" name="Rectangle 15"/>
          <p:cNvSpPr/>
          <p:nvPr/>
        </p:nvSpPr>
        <p:spPr>
          <a:xfrm>
            <a:off x="320040" y="2011680"/>
            <a:ext cx="11521440" cy="6675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74904" y="2103120"/>
            <a:ext cx="2057400" cy="502920"/>
          </a:xfrm>
          <a:prstGeom prst="rect">
            <a:avLst/>
          </a:prstGeom>
          <a:noFill/>
        </p:spPr>
        <p:txBody>
          <a:bodyPr wrap="square">
            <a:spAutoFit/>
          </a:bodyPr>
          <a:lstStyle/>
          <a:p>
            <a:pPr algn="l"/>
            <a:r>
              <a:rPr sz="1200" b="0" i="0">
                <a:solidFill>
                  <a:srgbClr val="1A1A2E"/>
                </a:solidFill>
                <a:latin typeface="Calibri"/>
              </a:rPr>
              <a:t>Stablecoin Supply S</a:t>
            </a:r>
          </a:p>
        </p:txBody>
      </p:sp>
      <p:sp>
        <p:nvSpPr>
          <p:cNvPr id="18" name="TextBox 17"/>
          <p:cNvSpPr txBox="1"/>
          <p:nvPr/>
        </p:nvSpPr>
        <p:spPr>
          <a:xfrm>
            <a:off x="2569464" y="2103120"/>
            <a:ext cx="2423160" cy="502920"/>
          </a:xfrm>
          <a:prstGeom prst="rect">
            <a:avLst/>
          </a:prstGeom>
          <a:noFill/>
        </p:spPr>
        <p:txBody>
          <a:bodyPr wrap="square">
            <a:spAutoFit/>
          </a:bodyPr>
          <a:lstStyle/>
          <a:p>
            <a:pPr algn="l"/>
            <a:r>
              <a:rPr sz="1200" b="0" i="0">
                <a:solidFill>
                  <a:srgbClr val="1A1A2E"/>
                </a:solidFill>
                <a:latin typeface="Calibri"/>
              </a:rPr>
              <a:t>USDT + USDC market cap</a:t>
            </a:r>
          </a:p>
        </p:txBody>
      </p:sp>
      <p:sp>
        <p:nvSpPr>
          <p:cNvPr id="19" name="TextBox 18"/>
          <p:cNvSpPr txBox="1"/>
          <p:nvPr/>
        </p:nvSpPr>
        <p:spPr>
          <a:xfrm>
            <a:off x="5129784" y="2103120"/>
            <a:ext cx="4434840" cy="502920"/>
          </a:xfrm>
          <a:prstGeom prst="rect">
            <a:avLst/>
          </a:prstGeom>
          <a:noFill/>
        </p:spPr>
        <p:txBody>
          <a:bodyPr wrap="square">
            <a:spAutoFit/>
          </a:bodyPr>
          <a:lstStyle/>
          <a:p>
            <a:pPr algn="l"/>
            <a:r>
              <a:rPr sz="1200" b="0" i="0">
                <a:solidFill>
                  <a:srgbClr val="1A1A2E"/>
                </a:solidFill>
                <a:latin typeface="Calibri"/>
              </a:rPr>
              <a:t>DeFiLlama stablecoins API (free)</a:t>
            </a:r>
          </a:p>
        </p:txBody>
      </p:sp>
      <p:sp>
        <p:nvSpPr>
          <p:cNvPr id="20" name="TextBox 19"/>
          <p:cNvSpPr txBox="1"/>
          <p:nvPr/>
        </p:nvSpPr>
        <p:spPr>
          <a:xfrm>
            <a:off x="9701784" y="2103120"/>
            <a:ext cx="2057400" cy="502920"/>
          </a:xfrm>
          <a:prstGeom prst="rect">
            <a:avLst/>
          </a:prstGeom>
          <a:noFill/>
        </p:spPr>
        <p:txBody>
          <a:bodyPr wrap="square">
            <a:spAutoFit/>
          </a:bodyPr>
          <a:lstStyle/>
          <a:p>
            <a:pPr algn="l"/>
            <a:r>
              <a:rPr sz="1200" b="0" i="0">
                <a:solidFill>
                  <a:srgbClr val="1A1A2E"/>
                </a:solidFill>
                <a:latin typeface="Calibri"/>
              </a:rPr>
              <a:t>Daily → Monthly</a:t>
            </a:r>
          </a:p>
        </p:txBody>
      </p:sp>
      <p:sp>
        <p:nvSpPr>
          <p:cNvPr id="21" name="Rectangle 20"/>
          <p:cNvSpPr/>
          <p:nvPr/>
        </p:nvSpPr>
        <p:spPr>
          <a:xfrm>
            <a:off x="320040" y="2679192"/>
            <a:ext cx="11521440" cy="6675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2770632"/>
            <a:ext cx="2057400" cy="502920"/>
          </a:xfrm>
          <a:prstGeom prst="rect">
            <a:avLst/>
          </a:prstGeom>
          <a:noFill/>
        </p:spPr>
        <p:txBody>
          <a:bodyPr wrap="square">
            <a:spAutoFit/>
          </a:bodyPr>
          <a:lstStyle/>
          <a:p>
            <a:pPr algn="l"/>
            <a:r>
              <a:rPr sz="1200" b="0" i="0">
                <a:solidFill>
                  <a:srgbClr val="1A1A2E"/>
                </a:solidFill>
                <a:latin typeface="Calibri"/>
              </a:rPr>
              <a:t>Reserve Buffer B</a:t>
            </a:r>
          </a:p>
        </p:txBody>
      </p:sp>
      <p:sp>
        <p:nvSpPr>
          <p:cNvPr id="23" name="TextBox 22"/>
          <p:cNvSpPr txBox="1"/>
          <p:nvPr/>
        </p:nvSpPr>
        <p:spPr>
          <a:xfrm>
            <a:off x="2569464" y="2770632"/>
            <a:ext cx="2423160" cy="502920"/>
          </a:xfrm>
          <a:prstGeom prst="rect">
            <a:avLst/>
          </a:prstGeom>
          <a:noFill/>
        </p:spPr>
        <p:txBody>
          <a:bodyPr wrap="square">
            <a:spAutoFit/>
          </a:bodyPr>
          <a:lstStyle/>
          <a:p>
            <a:pPr algn="l"/>
            <a:r>
              <a:rPr sz="1200" b="0" i="0">
                <a:solidFill>
                  <a:srgbClr val="1A1A2E"/>
                </a:solidFill>
                <a:latin typeface="Calibri"/>
              </a:rPr>
              <a:t>T-bill holdings − supply</a:t>
            </a:r>
          </a:p>
        </p:txBody>
      </p:sp>
      <p:sp>
        <p:nvSpPr>
          <p:cNvPr id="24" name="TextBox 23"/>
          <p:cNvSpPr txBox="1"/>
          <p:nvPr/>
        </p:nvSpPr>
        <p:spPr>
          <a:xfrm>
            <a:off x="5129784" y="2770632"/>
            <a:ext cx="4434840" cy="502920"/>
          </a:xfrm>
          <a:prstGeom prst="rect">
            <a:avLst/>
          </a:prstGeom>
          <a:noFill/>
        </p:spPr>
        <p:txBody>
          <a:bodyPr wrap="square">
            <a:spAutoFit/>
          </a:bodyPr>
          <a:lstStyle/>
          <a:p>
            <a:pPr algn="l"/>
            <a:r>
              <a:rPr sz="1200" b="0" i="0">
                <a:solidFill>
                  <a:srgbClr val="1A1A2E"/>
                </a:solidFill>
                <a:latin typeface="Calibri"/>
              </a:rPr>
              <a:t>Tether/BDO + Circle/Deloitte attestations</a:t>
            </a:r>
          </a:p>
        </p:txBody>
      </p:sp>
      <p:sp>
        <p:nvSpPr>
          <p:cNvPr id="25" name="TextBox 24"/>
          <p:cNvSpPr txBox="1"/>
          <p:nvPr/>
        </p:nvSpPr>
        <p:spPr>
          <a:xfrm>
            <a:off x="9701784" y="2770632"/>
            <a:ext cx="2057400" cy="502920"/>
          </a:xfrm>
          <a:prstGeom prst="rect">
            <a:avLst/>
          </a:prstGeom>
          <a:noFill/>
        </p:spPr>
        <p:txBody>
          <a:bodyPr wrap="square">
            <a:spAutoFit/>
          </a:bodyPr>
          <a:lstStyle/>
          <a:p>
            <a:pPr algn="l"/>
            <a:r>
              <a:rPr sz="1200" b="0" i="0">
                <a:solidFill>
                  <a:srgbClr val="1A1A2E"/>
                </a:solidFill>
                <a:latin typeface="Calibri"/>
              </a:rPr>
              <a:t>Quarterly/Monthly</a:t>
            </a:r>
          </a:p>
        </p:txBody>
      </p:sp>
      <p:sp>
        <p:nvSpPr>
          <p:cNvPr id="26" name="Rectangle 25"/>
          <p:cNvSpPr/>
          <p:nvPr/>
        </p:nvSpPr>
        <p:spPr>
          <a:xfrm>
            <a:off x="320040" y="3346704"/>
            <a:ext cx="11521440" cy="6675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74904" y="3438144"/>
            <a:ext cx="2057400" cy="502920"/>
          </a:xfrm>
          <a:prstGeom prst="rect">
            <a:avLst/>
          </a:prstGeom>
          <a:noFill/>
        </p:spPr>
        <p:txBody>
          <a:bodyPr wrap="square">
            <a:spAutoFit/>
          </a:bodyPr>
          <a:lstStyle/>
          <a:p>
            <a:pPr algn="l"/>
            <a:r>
              <a:rPr sz="1200" b="0" i="0">
                <a:solidFill>
                  <a:srgbClr val="1A1A2E"/>
                </a:solidFill>
                <a:latin typeface="Calibri"/>
              </a:rPr>
              <a:t>Velocity V</a:t>
            </a:r>
          </a:p>
        </p:txBody>
      </p:sp>
      <p:sp>
        <p:nvSpPr>
          <p:cNvPr id="28" name="TextBox 27"/>
          <p:cNvSpPr txBox="1"/>
          <p:nvPr/>
        </p:nvSpPr>
        <p:spPr>
          <a:xfrm>
            <a:off x="2569464" y="3438144"/>
            <a:ext cx="2423160" cy="502920"/>
          </a:xfrm>
          <a:prstGeom prst="rect">
            <a:avLst/>
          </a:prstGeom>
          <a:noFill/>
        </p:spPr>
        <p:txBody>
          <a:bodyPr wrap="square">
            <a:spAutoFit/>
          </a:bodyPr>
          <a:lstStyle/>
          <a:p>
            <a:pPr algn="l"/>
            <a:r>
              <a:rPr sz="1200" b="0" i="0">
                <a:solidFill>
                  <a:srgbClr val="1A1A2E"/>
                </a:solidFill>
                <a:latin typeface="Calibri"/>
              </a:rPr>
              <a:t>7-day rolling SD of ΔlnS</a:t>
            </a:r>
          </a:p>
        </p:txBody>
      </p:sp>
      <p:sp>
        <p:nvSpPr>
          <p:cNvPr id="29" name="TextBox 28"/>
          <p:cNvSpPr txBox="1"/>
          <p:nvPr/>
        </p:nvSpPr>
        <p:spPr>
          <a:xfrm>
            <a:off x="5129784" y="3438144"/>
            <a:ext cx="4434840" cy="502920"/>
          </a:xfrm>
          <a:prstGeom prst="rect">
            <a:avLst/>
          </a:prstGeom>
          <a:noFill/>
        </p:spPr>
        <p:txBody>
          <a:bodyPr wrap="square">
            <a:spAutoFit/>
          </a:bodyPr>
          <a:lstStyle/>
          <a:p>
            <a:pPr algn="l"/>
            <a:r>
              <a:rPr sz="1200" b="0" i="0">
                <a:solidFill>
                  <a:srgbClr val="1A1A2E"/>
                </a:solidFill>
                <a:latin typeface="Calibri"/>
              </a:rPr>
              <a:t>Computed from DeFiLlama</a:t>
            </a:r>
          </a:p>
        </p:txBody>
      </p:sp>
      <p:sp>
        <p:nvSpPr>
          <p:cNvPr id="30" name="TextBox 29"/>
          <p:cNvSpPr txBox="1"/>
          <p:nvPr/>
        </p:nvSpPr>
        <p:spPr>
          <a:xfrm>
            <a:off x="9701784" y="3438144"/>
            <a:ext cx="2057400" cy="502920"/>
          </a:xfrm>
          <a:prstGeom prst="rect">
            <a:avLst/>
          </a:prstGeom>
          <a:noFill/>
        </p:spPr>
        <p:txBody>
          <a:bodyPr wrap="square">
            <a:spAutoFit/>
          </a:bodyPr>
          <a:lstStyle/>
          <a:p>
            <a:pPr algn="l"/>
            <a:r>
              <a:rPr sz="1200" b="0" i="0">
                <a:solidFill>
                  <a:srgbClr val="1A1A2E"/>
                </a:solidFill>
                <a:latin typeface="Calibri"/>
              </a:rPr>
              <a:t>Daily → Monthly</a:t>
            </a:r>
          </a:p>
        </p:txBody>
      </p:sp>
      <p:sp>
        <p:nvSpPr>
          <p:cNvPr id="31" name="Rectangle 30"/>
          <p:cNvSpPr/>
          <p:nvPr/>
        </p:nvSpPr>
        <p:spPr>
          <a:xfrm>
            <a:off x="320040" y="4014216"/>
            <a:ext cx="11521440" cy="6675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74904" y="4105656"/>
            <a:ext cx="2057400" cy="502920"/>
          </a:xfrm>
          <a:prstGeom prst="rect">
            <a:avLst/>
          </a:prstGeom>
          <a:noFill/>
        </p:spPr>
        <p:txBody>
          <a:bodyPr wrap="square">
            <a:spAutoFit/>
          </a:bodyPr>
          <a:lstStyle/>
          <a:p>
            <a:pPr algn="l"/>
            <a:r>
              <a:rPr sz="1200" b="0" i="0">
                <a:solidFill>
                  <a:srgbClr val="1A1A2E"/>
                </a:solidFill>
                <a:latin typeface="Calibri"/>
              </a:rPr>
              <a:t>VIX</a:t>
            </a:r>
          </a:p>
        </p:txBody>
      </p:sp>
      <p:sp>
        <p:nvSpPr>
          <p:cNvPr id="33" name="TextBox 32"/>
          <p:cNvSpPr txBox="1"/>
          <p:nvPr/>
        </p:nvSpPr>
        <p:spPr>
          <a:xfrm>
            <a:off x="2569464" y="4105656"/>
            <a:ext cx="2423160" cy="502920"/>
          </a:xfrm>
          <a:prstGeom prst="rect">
            <a:avLst/>
          </a:prstGeom>
          <a:noFill/>
        </p:spPr>
        <p:txBody>
          <a:bodyPr wrap="square">
            <a:spAutoFit/>
          </a:bodyPr>
          <a:lstStyle/>
          <a:p>
            <a:pPr algn="l"/>
            <a:r>
              <a:rPr sz="1200" b="0" i="0">
                <a:solidFill>
                  <a:srgbClr val="1A1A2E"/>
                </a:solidFill>
                <a:latin typeface="Calibri"/>
              </a:rPr>
              <a:t>CBOE VIX index</a:t>
            </a:r>
          </a:p>
        </p:txBody>
      </p:sp>
      <p:sp>
        <p:nvSpPr>
          <p:cNvPr id="34" name="TextBox 33"/>
          <p:cNvSpPr txBox="1"/>
          <p:nvPr/>
        </p:nvSpPr>
        <p:spPr>
          <a:xfrm>
            <a:off x="5129784" y="4105656"/>
            <a:ext cx="4434840" cy="502920"/>
          </a:xfrm>
          <a:prstGeom prst="rect">
            <a:avLst/>
          </a:prstGeom>
          <a:noFill/>
        </p:spPr>
        <p:txBody>
          <a:bodyPr wrap="square">
            <a:spAutoFit/>
          </a:bodyPr>
          <a:lstStyle/>
          <a:p>
            <a:pPr algn="l"/>
            <a:r>
              <a:rPr sz="1200" b="0" i="0">
                <a:solidFill>
                  <a:srgbClr val="1A1A2E"/>
                </a:solidFill>
                <a:latin typeface="Calibri"/>
              </a:rPr>
              <a:t>FRED</a:t>
            </a:r>
          </a:p>
        </p:txBody>
      </p:sp>
      <p:sp>
        <p:nvSpPr>
          <p:cNvPr id="35" name="TextBox 34"/>
          <p:cNvSpPr txBox="1"/>
          <p:nvPr/>
        </p:nvSpPr>
        <p:spPr>
          <a:xfrm>
            <a:off x="9701784" y="4105656"/>
            <a:ext cx="2057400" cy="502920"/>
          </a:xfrm>
          <a:prstGeom prst="rect">
            <a:avLst/>
          </a:prstGeom>
          <a:noFill/>
        </p:spPr>
        <p:txBody>
          <a:bodyPr wrap="square">
            <a:spAutoFit/>
          </a:bodyPr>
          <a:lstStyle/>
          <a:p>
            <a:pPr algn="l"/>
            <a:r>
              <a:rPr sz="1200" b="0" i="0">
                <a:solidFill>
                  <a:srgbClr val="1A1A2E"/>
                </a:solidFill>
                <a:latin typeface="Calibri"/>
              </a:rPr>
              <a:t>Daily → Monthly</a:t>
            </a:r>
          </a:p>
        </p:txBody>
      </p:sp>
      <p:sp>
        <p:nvSpPr>
          <p:cNvPr id="36" name="Rectangle 35"/>
          <p:cNvSpPr/>
          <p:nvPr/>
        </p:nvSpPr>
        <p:spPr>
          <a:xfrm>
            <a:off x="320040" y="4681728"/>
            <a:ext cx="11521440" cy="6675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74904" y="4773168"/>
            <a:ext cx="2057400" cy="502920"/>
          </a:xfrm>
          <a:prstGeom prst="rect">
            <a:avLst/>
          </a:prstGeom>
          <a:noFill/>
        </p:spPr>
        <p:txBody>
          <a:bodyPr wrap="square">
            <a:spAutoFit/>
          </a:bodyPr>
          <a:lstStyle/>
          <a:p>
            <a:pPr algn="l"/>
            <a:r>
              <a:rPr sz="1200" b="0" i="0">
                <a:solidFill>
                  <a:srgbClr val="1A1A2E"/>
                </a:solidFill>
                <a:latin typeface="Calibri"/>
              </a:rPr>
              <a:t>ΔlnN* (RoW equity)</a:t>
            </a:r>
          </a:p>
        </p:txBody>
      </p:sp>
      <p:sp>
        <p:nvSpPr>
          <p:cNvPr id="38" name="TextBox 37"/>
          <p:cNvSpPr txBox="1"/>
          <p:nvPr/>
        </p:nvSpPr>
        <p:spPr>
          <a:xfrm>
            <a:off x="2569464" y="4773168"/>
            <a:ext cx="2423160" cy="502920"/>
          </a:xfrm>
          <a:prstGeom prst="rect">
            <a:avLst/>
          </a:prstGeom>
          <a:noFill/>
        </p:spPr>
        <p:txBody>
          <a:bodyPr wrap="square">
            <a:spAutoFit/>
          </a:bodyPr>
          <a:lstStyle/>
          <a:p>
            <a:pPr algn="l"/>
            <a:r>
              <a:rPr sz="1200" b="0" i="0">
                <a:solidFill>
                  <a:srgbClr val="1A1A2E"/>
                </a:solidFill>
                <a:latin typeface="Calibri"/>
              </a:rPr>
              <a:t>ACWX ETF log-return</a:t>
            </a:r>
          </a:p>
        </p:txBody>
      </p:sp>
      <p:sp>
        <p:nvSpPr>
          <p:cNvPr id="39" name="TextBox 38"/>
          <p:cNvSpPr txBox="1"/>
          <p:nvPr/>
        </p:nvSpPr>
        <p:spPr>
          <a:xfrm>
            <a:off x="5129784" y="4773168"/>
            <a:ext cx="4434840" cy="502920"/>
          </a:xfrm>
          <a:prstGeom prst="rect">
            <a:avLst/>
          </a:prstGeom>
          <a:noFill/>
        </p:spPr>
        <p:txBody>
          <a:bodyPr wrap="square">
            <a:spAutoFit/>
          </a:bodyPr>
          <a:lstStyle/>
          <a:p>
            <a:pPr algn="l"/>
            <a:r>
              <a:rPr sz="1200" b="0" i="0">
                <a:solidFill>
                  <a:srgbClr val="1A1A2E"/>
                </a:solidFill>
                <a:latin typeface="Calibri"/>
              </a:rPr>
              <a:t>Yahoo Finance</a:t>
            </a:r>
          </a:p>
        </p:txBody>
      </p:sp>
      <p:sp>
        <p:nvSpPr>
          <p:cNvPr id="40" name="TextBox 39"/>
          <p:cNvSpPr txBox="1"/>
          <p:nvPr/>
        </p:nvSpPr>
        <p:spPr>
          <a:xfrm>
            <a:off x="9701784" y="4773168"/>
            <a:ext cx="2057400" cy="502920"/>
          </a:xfrm>
          <a:prstGeom prst="rect">
            <a:avLst/>
          </a:prstGeom>
          <a:noFill/>
        </p:spPr>
        <p:txBody>
          <a:bodyPr wrap="square">
            <a:spAutoFit/>
          </a:bodyPr>
          <a:lstStyle/>
          <a:p>
            <a:pPr algn="l"/>
            <a:r>
              <a:rPr sz="1200" b="0" i="0">
                <a:solidFill>
                  <a:srgbClr val="1A1A2E"/>
                </a:solidFill>
                <a:latin typeface="Calibri"/>
              </a:rPr>
              <a:t>Daily → Monthly</a:t>
            </a:r>
          </a:p>
        </p:txBody>
      </p:sp>
      <p:sp>
        <p:nvSpPr>
          <p:cNvPr id="41" name="TextBox 40"/>
          <p:cNvSpPr txBox="1"/>
          <p:nvPr/>
        </p:nvSpPr>
        <p:spPr>
          <a:xfrm>
            <a:off x="320040" y="6355080"/>
            <a:ext cx="11521440" cy="384048"/>
          </a:xfrm>
          <a:prstGeom prst="rect">
            <a:avLst/>
          </a:prstGeom>
          <a:noFill/>
        </p:spPr>
        <p:txBody>
          <a:bodyPr wrap="square">
            <a:spAutoFit/>
          </a:bodyPr>
          <a:lstStyle/>
          <a:p>
            <a:pPr algn="ctr"/>
            <a:r>
              <a:rPr sz="1100" b="0" i="1">
                <a:solidFill>
                  <a:srgbClr val="555566"/>
                </a:solidFill>
                <a:latin typeface="Calibri"/>
              </a:rPr>
              <a:t>Sample: January 2020 – March 2026  |  N = 75 monthly observations  |  Pre-2021 buffer estimated at 2% of supply (first attestation: 2.94%, Moore Cayman Q1 2021)</a:t>
            </a:r>
          </a:p>
        </p:txBody>
      </p:sp>
      <p:sp>
        <p:nvSpPr>
          <p:cNvPr id="42" name="TextBox 41"/>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Key Variables: January 2020 – March 2026</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7</a:t>
            </a:r>
          </a:p>
        </p:txBody>
      </p:sp>
      <p:pic>
        <p:nvPicPr>
          <p:cNvPr id="6" name="Picture 5" descr="fig_timeseries.png"/>
          <p:cNvPicPr>
            <a:picLocks noChangeAspect="1"/>
          </p:cNvPicPr>
          <p:nvPr/>
        </p:nvPicPr>
        <p:blipFill>
          <a:blip r:embed="rId3"/>
          <a:stretch>
            <a:fillRect/>
          </a:stretch>
        </p:blipFill>
        <p:spPr>
          <a:xfrm>
            <a:off x="274320" y="914400"/>
            <a:ext cx="7772400" cy="5692886"/>
          </a:xfrm>
          <a:prstGeom prst="rect">
            <a:avLst/>
          </a:prstGeom>
        </p:spPr>
      </p:pic>
      <p:sp>
        <p:nvSpPr>
          <p:cNvPr id="7" name="TextBox 6"/>
          <p:cNvSpPr txBox="1"/>
          <p:nvPr/>
        </p:nvSpPr>
        <p:spPr>
          <a:xfrm>
            <a:off x="8229600" y="1005840"/>
            <a:ext cx="3566160" cy="5303520"/>
          </a:xfrm>
          <a:prstGeom prst="rect">
            <a:avLst/>
          </a:prstGeom>
          <a:noFill/>
        </p:spPr>
        <p:txBody>
          <a:bodyPr wrap="square">
            <a:spAutoFit/>
          </a:bodyPr>
          <a:lstStyle/>
          <a:p>
            <a:pPr>
              <a:spcBef>
                <a:spcPts val="0"/>
              </a:spcBef>
            </a:pPr>
            <a:endParaRPr/>
          </a:p>
          <a:p>
            <a:pPr algn="l">
              <a:spcBef>
                <a:spcPts val="400"/>
              </a:spcBef>
            </a:pPr>
            <a:r>
              <a:rPr sz="1500" b="1" i="0">
                <a:solidFill>
                  <a:srgbClr val="1B3A72"/>
                </a:solidFill>
                <a:latin typeface="Calibri"/>
              </a:rPr>
              <a:t>Key observations</a:t>
            </a:r>
          </a:p>
          <a:p>
            <a:pPr algn="l">
              <a:spcBef>
                <a:spcPts val="1000"/>
              </a:spcBef>
            </a:pPr>
            <a:r>
              <a:rPr sz="1300" b="0" i="0">
                <a:solidFill>
                  <a:srgbClr val="1A1A2E"/>
                </a:solidFill>
                <a:latin typeface="Calibri"/>
              </a:rPr>
              <a:t>❖  Spread compresses as stablecoin supply grows (2021–22)</a:t>
            </a:r>
          </a:p>
          <a:p>
            <a:pPr algn="l">
              <a:spcBef>
                <a:spcPts val="1000"/>
              </a:spcBef>
            </a:pPr>
            <a:r>
              <a:rPr sz="1300" b="0" i="0">
                <a:solidFill>
                  <a:srgbClr val="1A1A2E"/>
                </a:solidFill>
                <a:latin typeface="Calibri"/>
              </a:rPr>
              <a:t>❖  Spread spikes during LUNA/USDT run (May 2022)</a:t>
            </a:r>
          </a:p>
          <a:p>
            <a:pPr algn="l">
              <a:spcBef>
                <a:spcPts val="1000"/>
              </a:spcBef>
            </a:pPr>
            <a:r>
              <a:rPr sz="1300" b="0" i="0">
                <a:solidFill>
                  <a:srgbClr val="1A1A2E"/>
                </a:solidFill>
                <a:latin typeface="Calibri"/>
              </a:rPr>
              <a:t>❖  Buffer improves 2023–25 as Tether shifts to T-bills</a:t>
            </a:r>
          </a:p>
          <a:p>
            <a:pPr algn="l">
              <a:spcBef>
                <a:spcPts val="1000"/>
              </a:spcBef>
            </a:pPr>
            <a:r>
              <a:rPr sz="1300" b="0" i="0">
                <a:solidFill>
                  <a:srgbClr val="1A1A2E"/>
                </a:solidFill>
                <a:latin typeface="Calibri"/>
              </a:rPr>
              <a:t>❖  Crisis zone (B &lt; −0.524) covers 2020–2022</a:t>
            </a:r>
          </a:p>
          <a:p>
            <a:pPr algn="l">
              <a:spcBef>
                <a:spcPts val="1000"/>
              </a:spcBef>
            </a:pPr>
            <a:r>
              <a:rPr sz="1300" b="0" i="0">
                <a:solidFill>
                  <a:srgbClr val="1A1A2E"/>
                </a:solidFill>
                <a:latin typeface="Calibri"/>
              </a:rPr>
              <a:t>❖  Vertical lines: 3 stress events studied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Result 1: Privilege Amplification Regression</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8</a:t>
            </a:r>
          </a:p>
        </p:txBody>
      </p:sp>
      <p:sp>
        <p:nvSpPr>
          <p:cNvPr id="6" name="TextBox 5"/>
          <p:cNvSpPr txBox="1"/>
          <p:nvPr/>
        </p:nvSpPr>
        <p:spPr>
          <a:xfrm>
            <a:off x="365760" y="960120"/>
            <a:ext cx="11430000" cy="292608"/>
          </a:xfrm>
          <a:prstGeom prst="rect">
            <a:avLst/>
          </a:prstGeom>
          <a:noFill/>
        </p:spPr>
        <p:txBody>
          <a:bodyPr wrap="square">
            <a:spAutoFit/>
          </a:bodyPr>
          <a:lstStyle/>
          <a:p>
            <a:pPr algn="l"/>
            <a:r>
              <a:rPr sz="1200" b="0" i="1">
                <a:solidFill>
                  <a:srgbClr val="555566"/>
                </a:solidFill>
                <a:latin typeface="Calibri"/>
              </a:rPr>
              <a:t>OLS with Newey–West HAC (3 lags, N = 75)  |  Variables mean-centered before interaction</a:t>
            </a:r>
          </a:p>
        </p:txBody>
      </p:sp>
      <p:sp>
        <p:nvSpPr>
          <p:cNvPr id="7" name="Rectangle 6"/>
          <p:cNvSpPr/>
          <p:nvPr/>
        </p:nvSpPr>
        <p:spPr>
          <a:xfrm>
            <a:off x="365760" y="1316736"/>
            <a:ext cx="6355080" cy="347472"/>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02336" y="1344168"/>
            <a:ext cx="3703320" cy="274320"/>
          </a:xfrm>
          <a:prstGeom prst="rect">
            <a:avLst/>
          </a:prstGeom>
          <a:noFill/>
        </p:spPr>
        <p:txBody>
          <a:bodyPr wrap="square">
            <a:spAutoFit/>
          </a:bodyPr>
          <a:lstStyle/>
          <a:p>
            <a:pPr algn="l"/>
            <a:r>
              <a:rPr sz="1200" b="1" i="0">
                <a:solidFill>
                  <a:srgbClr val="FFFFFF"/>
                </a:solidFill>
                <a:latin typeface="Calibri"/>
              </a:rPr>
              <a:t>Variable</a:t>
            </a:r>
          </a:p>
        </p:txBody>
      </p:sp>
      <p:sp>
        <p:nvSpPr>
          <p:cNvPr id="9" name="TextBox 8"/>
          <p:cNvSpPr txBox="1"/>
          <p:nvPr/>
        </p:nvSpPr>
        <p:spPr>
          <a:xfrm>
            <a:off x="4151376" y="1344168"/>
            <a:ext cx="960120" cy="274320"/>
          </a:xfrm>
          <a:prstGeom prst="rect">
            <a:avLst/>
          </a:prstGeom>
          <a:noFill/>
        </p:spPr>
        <p:txBody>
          <a:bodyPr wrap="square">
            <a:spAutoFit/>
          </a:bodyPr>
          <a:lstStyle/>
          <a:p>
            <a:pPr algn="ctr"/>
            <a:r>
              <a:rPr sz="1200" b="1" i="0">
                <a:solidFill>
                  <a:srgbClr val="FFFFFF"/>
                </a:solidFill>
                <a:latin typeface="Calibri"/>
              </a:rPr>
              <a:t>Coef.</a:t>
            </a:r>
          </a:p>
        </p:txBody>
      </p:sp>
      <p:sp>
        <p:nvSpPr>
          <p:cNvPr id="10" name="TextBox 9"/>
          <p:cNvSpPr txBox="1"/>
          <p:nvPr/>
        </p:nvSpPr>
        <p:spPr>
          <a:xfrm>
            <a:off x="5157216" y="1344168"/>
            <a:ext cx="594360" cy="274320"/>
          </a:xfrm>
          <a:prstGeom prst="rect">
            <a:avLst/>
          </a:prstGeom>
          <a:noFill/>
        </p:spPr>
        <p:txBody>
          <a:bodyPr wrap="square">
            <a:spAutoFit/>
          </a:bodyPr>
          <a:lstStyle/>
          <a:p>
            <a:pPr algn="ctr"/>
            <a:r>
              <a:rPr sz="1200" b="1" i="0">
                <a:solidFill>
                  <a:srgbClr val="FFFFFF"/>
                </a:solidFill>
                <a:latin typeface="Calibri"/>
              </a:rPr>
              <a:t>Sig.</a:t>
            </a:r>
          </a:p>
        </p:txBody>
      </p:sp>
      <p:sp>
        <p:nvSpPr>
          <p:cNvPr id="11" name="TextBox 10"/>
          <p:cNvSpPr txBox="1"/>
          <p:nvPr/>
        </p:nvSpPr>
        <p:spPr>
          <a:xfrm>
            <a:off x="5797296" y="1344168"/>
            <a:ext cx="1097280" cy="274320"/>
          </a:xfrm>
          <a:prstGeom prst="rect">
            <a:avLst/>
          </a:prstGeom>
          <a:noFill/>
        </p:spPr>
        <p:txBody>
          <a:bodyPr wrap="square">
            <a:spAutoFit/>
          </a:bodyPr>
          <a:lstStyle/>
          <a:p>
            <a:pPr algn="ctr"/>
            <a:r>
              <a:rPr sz="1200" b="1" i="0">
                <a:solidFill>
                  <a:srgbClr val="FFFFFF"/>
                </a:solidFill>
                <a:latin typeface="Calibri"/>
              </a:rPr>
              <a:t>HAC SE</a:t>
            </a:r>
          </a:p>
        </p:txBody>
      </p:sp>
      <p:sp>
        <p:nvSpPr>
          <p:cNvPr id="12" name="Rectangle 11"/>
          <p:cNvSpPr/>
          <p:nvPr/>
        </p:nvSpPr>
        <p:spPr>
          <a:xfrm>
            <a:off x="365760" y="1664208"/>
            <a:ext cx="6355080" cy="420624"/>
          </a:xfrm>
          <a:prstGeom prst="rect">
            <a:avLst/>
          </a:prstGeom>
          <a:solidFill>
            <a:srgbClr val="FFF5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02336" y="1728216"/>
            <a:ext cx="3648456" cy="310896"/>
          </a:xfrm>
          <a:prstGeom prst="rect">
            <a:avLst/>
          </a:prstGeom>
          <a:noFill/>
        </p:spPr>
        <p:txBody>
          <a:bodyPr wrap="square">
            <a:spAutoFit/>
          </a:bodyPr>
          <a:lstStyle/>
          <a:p>
            <a:pPr algn="l"/>
            <a:r>
              <a:rPr sz="1200" b="1" i="0">
                <a:solidFill>
                  <a:srgbClr val="1A1A2E"/>
                </a:solidFill>
                <a:latin typeface="Calibri"/>
              </a:rPr>
              <a:t>ΔlnS (centered)</a:t>
            </a:r>
          </a:p>
        </p:txBody>
      </p:sp>
      <p:sp>
        <p:nvSpPr>
          <p:cNvPr id="14" name="TextBox 13"/>
          <p:cNvSpPr txBox="1"/>
          <p:nvPr/>
        </p:nvSpPr>
        <p:spPr>
          <a:xfrm>
            <a:off x="4151376" y="1728216"/>
            <a:ext cx="905256" cy="310896"/>
          </a:xfrm>
          <a:prstGeom prst="rect">
            <a:avLst/>
          </a:prstGeom>
          <a:noFill/>
        </p:spPr>
        <p:txBody>
          <a:bodyPr wrap="square">
            <a:spAutoFit/>
          </a:bodyPr>
          <a:lstStyle/>
          <a:p>
            <a:pPr algn="ctr"/>
            <a:r>
              <a:rPr sz="1200" b="1" i="0">
                <a:solidFill>
                  <a:srgbClr val="1A1A2E"/>
                </a:solidFill>
                <a:latin typeface="Calibri"/>
              </a:rPr>
              <a:t>−5.947</a:t>
            </a:r>
          </a:p>
        </p:txBody>
      </p:sp>
      <p:sp>
        <p:nvSpPr>
          <p:cNvPr id="15" name="TextBox 14"/>
          <p:cNvSpPr txBox="1"/>
          <p:nvPr/>
        </p:nvSpPr>
        <p:spPr>
          <a:xfrm>
            <a:off x="5157216" y="1728216"/>
            <a:ext cx="539496" cy="310896"/>
          </a:xfrm>
          <a:prstGeom prst="rect">
            <a:avLst/>
          </a:prstGeom>
          <a:noFill/>
        </p:spPr>
        <p:txBody>
          <a:bodyPr wrap="square">
            <a:spAutoFit/>
          </a:bodyPr>
          <a:lstStyle/>
          <a:p>
            <a:pPr algn="ctr"/>
            <a:r>
              <a:rPr sz="1200" b="1" i="0">
                <a:solidFill>
                  <a:srgbClr val="1A1A2E"/>
                </a:solidFill>
                <a:latin typeface="Calibri"/>
              </a:rPr>
              <a:t>***</a:t>
            </a:r>
          </a:p>
        </p:txBody>
      </p:sp>
      <p:sp>
        <p:nvSpPr>
          <p:cNvPr id="16" name="TextBox 15"/>
          <p:cNvSpPr txBox="1"/>
          <p:nvPr/>
        </p:nvSpPr>
        <p:spPr>
          <a:xfrm>
            <a:off x="5797296" y="1728216"/>
            <a:ext cx="1042416" cy="310896"/>
          </a:xfrm>
          <a:prstGeom prst="rect">
            <a:avLst/>
          </a:prstGeom>
          <a:noFill/>
        </p:spPr>
        <p:txBody>
          <a:bodyPr wrap="square">
            <a:spAutoFit/>
          </a:bodyPr>
          <a:lstStyle/>
          <a:p>
            <a:pPr algn="ctr"/>
            <a:r>
              <a:rPr sz="1200" b="1" i="0">
                <a:solidFill>
                  <a:srgbClr val="1A1A2E"/>
                </a:solidFill>
                <a:latin typeface="Calibri"/>
              </a:rPr>
              <a:t>(1.436)</a:t>
            </a:r>
          </a:p>
        </p:txBody>
      </p:sp>
      <p:sp>
        <p:nvSpPr>
          <p:cNvPr id="17" name="Rectangle 16"/>
          <p:cNvSpPr/>
          <p:nvPr/>
        </p:nvSpPr>
        <p:spPr>
          <a:xfrm>
            <a:off x="365760" y="2084832"/>
            <a:ext cx="6355080"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02336" y="2148840"/>
            <a:ext cx="3648456" cy="310896"/>
          </a:xfrm>
          <a:prstGeom prst="rect">
            <a:avLst/>
          </a:prstGeom>
          <a:noFill/>
        </p:spPr>
        <p:txBody>
          <a:bodyPr wrap="square">
            <a:spAutoFit/>
          </a:bodyPr>
          <a:lstStyle/>
          <a:p>
            <a:pPr algn="l"/>
            <a:r>
              <a:rPr sz="1200" b="0" i="0">
                <a:solidFill>
                  <a:srgbClr val="1A1A2E"/>
                </a:solidFill>
                <a:latin typeface="Calibri"/>
              </a:rPr>
              <a:t>B — buffer (centered)</a:t>
            </a:r>
          </a:p>
        </p:txBody>
      </p:sp>
      <p:sp>
        <p:nvSpPr>
          <p:cNvPr id="19" name="TextBox 18"/>
          <p:cNvSpPr txBox="1"/>
          <p:nvPr/>
        </p:nvSpPr>
        <p:spPr>
          <a:xfrm>
            <a:off x="4151376" y="2148840"/>
            <a:ext cx="905256" cy="310896"/>
          </a:xfrm>
          <a:prstGeom prst="rect">
            <a:avLst/>
          </a:prstGeom>
          <a:noFill/>
        </p:spPr>
        <p:txBody>
          <a:bodyPr wrap="square">
            <a:spAutoFit/>
          </a:bodyPr>
          <a:lstStyle/>
          <a:p>
            <a:pPr algn="ctr"/>
            <a:r>
              <a:rPr sz="1200" b="0" i="0">
                <a:solidFill>
                  <a:srgbClr val="1A1A2E"/>
                </a:solidFill>
                <a:latin typeface="Calibri"/>
              </a:rPr>
              <a:t>−0.555</a:t>
            </a:r>
          </a:p>
        </p:txBody>
      </p:sp>
      <p:sp>
        <p:nvSpPr>
          <p:cNvPr id="20" name="TextBox 19"/>
          <p:cNvSpPr txBox="1"/>
          <p:nvPr/>
        </p:nvSpPr>
        <p:spPr>
          <a:xfrm>
            <a:off x="5157216" y="2148840"/>
            <a:ext cx="539496" cy="310896"/>
          </a:xfrm>
          <a:prstGeom prst="rect">
            <a:avLst/>
          </a:prstGeom>
          <a:noFill/>
        </p:spPr>
        <p:txBody>
          <a:bodyPr wrap="square">
            <a:spAutoFit/>
          </a:bodyPr>
          <a:lstStyle/>
          <a:p>
            <a:pPr algn="ctr"/>
            <a:r>
              <a:rPr sz="1200" b="0" i="0">
                <a:solidFill>
                  <a:srgbClr val="1A1A2E"/>
                </a:solidFill>
                <a:latin typeface="Calibri"/>
              </a:rPr>
              <a:t>***</a:t>
            </a:r>
          </a:p>
        </p:txBody>
      </p:sp>
      <p:sp>
        <p:nvSpPr>
          <p:cNvPr id="21" name="TextBox 20"/>
          <p:cNvSpPr txBox="1"/>
          <p:nvPr/>
        </p:nvSpPr>
        <p:spPr>
          <a:xfrm>
            <a:off x="5797296" y="2148840"/>
            <a:ext cx="1042416" cy="310896"/>
          </a:xfrm>
          <a:prstGeom prst="rect">
            <a:avLst/>
          </a:prstGeom>
          <a:noFill/>
        </p:spPr>
        <p:txBody>
          <a:bodyPr wrap="square">
            <a:spAutoFit/>
          </a:bodyPr>
          <a:lstStyle/>
          <a:p>
            <a:pPr algn="ctr"/>
            <a:r>
              <a:rPr sz="1200" b="0" i="0">
                <a:solidFill>
                  <a:srgbClr val="1A1A2E"/>
                </a:solidFill>
                <a:latin typeface="Calibri"/>
              </a:rPr>
              <a:t>(0.139)</a:t>
            </a:r>
          </a:p>
        </p:txBody>
      </p:sp>
      <p:sp>
        <p:nvSpPr>
          <p:cNvPr id="22" name="Rectangle 21"/>
          <p:cNvSpPr/>
          <p:nvPr/>
        </p:nvSpPr>
        <p:spPr>
          <a:xfrm>
            <a:off x="365760" y="2505456"/>
            <a:ext cx="6355080" cy="420624"/>
          </a:xfrm>
          <a:prstGeom prst="rect">
            <a:avLst/>
          </a:prstGeom>
          <a:solidFill>
            <a:srgbClr val="FFF5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02336" y="2569464"/>
            <a:ext cx="3648456" cy="310896"/>
          </a:xfrm>
          <a:prstGeom prst="rect">
            <a:avLst/>
          </a:prstGeom>
          <a:noFill/>
        </p:spPr>
        <p:txBody>
          <a:bodyPr wrap="square">
            <a:spAutoFit/>
          </a:bodyPr>
          <a:lstStyle/>
          <a:p>
            <a:pPr algn="l"/>
            <a:r>
              <a:rPr sz="1200" b="1" i="0">
                <a:solidFill>
                  <a:srgbClr val="1A1A2E"/>
                </a:solidFill>
                <a:latin typeface="Calibri"/>
              </a:rPr>
              <a:t>B × ΔlnS (centered)</a:t>
            </a:r>
          </a:p>
        </p:txBody>
      </p:sp>
      <p:sp>
        <p:nvSpPr>
          <p:cNvPr id="24" name="TextBox 23"/>
          <p:cNvSpPr txBox="1"/>
          <p:nvPr/>
        </p:nvSpPr>
        <p:spPr>
          <a:xfrm>
            <a:off x="4151376" y="2569464"/>
            <a:ext cx="905256" cy="310896"/>
          </a:xfrm>
          <a:prstGeom prst="rect">
            <a:avLst/>
          </a:prstGeom>
          <a:noFill/>
        </p:spPr>
        <p:txBody>
          <a:bodyPr wrap="square">
            <a:spAutoFit/>
          </a:bodyPr>
          <a:lstStyle/>
          <a:p>
            <a:pPr algn="ctr"/>
            <a:r>
              <a:rPr sz="1200" b="1" i="0">
                <a:solidFill>
                  <a:srgbClr val="1A1A2E"/>
                </a:solidFill>
                <a:latin typeface="Calibri"/>
              </a:rPr>
              <a:t>−11.296</a:t>
            </a:r>
          </a:p>
        </p:txBody>
      </p:sp>
      <p:sp>
        <p:nvSpPr>
          <p:cNvPr id="25" name="TextBox 24"/>
          <p:cNvSpPr txBox="1"/>
          <p:nvPr/>
        </p:nvSpPr>
        <p:spPr>
          <a:xfrm>
            <a:off x="5157216" y="2569464"/>
            <a:ext cx="539496" cy="310896"/>
          </a:xfrm>
          <a:prstGeom prst="rect">
            <a:avLst/>
          </a:prstGeom>
          <a:noFill/>
        </p:spPr>
        <p:txBody>
          <a:bodyPr wrap="square">
            <a:spAutoFit/>
          </a:bodyPr>
          <a:lstStyle/>
          <a:p>
            <a:pPr algn="ctr"/>
            <a:r>
              <a:rPr sz="1200" b="1" i="0">
                <a:solidFill>
                  <a:srgbClr val="1A1A2E"/>
                </a:solidFill>
                <a:latin typeface="Calibri"/>
              </a:rPr>
              <a:t>***</a:t>
            </a:r>
          </a:p>
        </p:txBody>
      </p:sp>
      <p:sp>
        <p:nvSpPr>
          <p:cNvPr id="26" name="TextBox 25"/>
          <p:cNvSpPr txBox="1"/>
          <p:nvPr/>
        </p:nvSpPr>
        <p:spPr>
          <a:xfrm>
            <a:off x="5797296" y="2569464"/>
            <a:ext cx="1042416" cy="310896"/>
          </a:xfrm>
          <a:prstGeom prst="rect">
            <a:avLst/>
          </a:prstGeom>
          <a:noFill/>
        </p:spPr>
        <p:txBody>
          <a:bodyPr wrap="square">
            <a:spAutoFit/>
          </a:bodyPr>
          <a:lstStyle/>
          <a:p>
            <a:pPr algn="ctr"/>
            <a:r>
              <a:rPr sz="1200" b="1" i="0">
                <a:solidFill>
                  <a:srgbClr val="1A1A2E"/>
                </a:solidFill>
                <a:latin typeface="Calibri"/>
              </a:rPr>
              <a:t>(3.873)</a:t>
            </a:r>
          </a:p>
        </p:txBody>
      </p:sp>
      <p:sp>
        <p:nvSpPr>
          <p:cNvPr id="27" name="Rectangle 26"/>
          <p:cNvSpPr/>
          <p:nvPr/>
        </p:nvSpPr>
        <p:spPr>
          <a:xfrm>
            <a:off x="365760" y="2926080"/>
            <a:ext cx="6355080"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02336" y="2990088"/>
            <a:ext cx="3648456" cy="310896"/>
          </a:xfrm>
          <a:prstGeom prst="rect">
            <a:avLst/>
          </a:prstGeom>
          <a:noFill/>
        </p:spPr>
        <p:txBody>
          <a:bodyPr wrap="square">
            <a:spAutoFit/>
          </a:bodyPr>
          <a:lstStyle/>
          <a:p>
            <a:pPr algn="l"/>
            <a:r>
              <a:rPr sz="1200" b="0" i="0">
                <a:solidFill>
                  <a:srgbClr val="1A1A2E"/>
                </a:solidFill>
                <a:latin typeface="Calibri"/>
              </a:rPr>
              <a:t>V — velocity</a:t>
            </a:r>
          </a:p>
        </p:txBody>
      </p:sp>
      <p:sp>
        <p:nvSpPr>
          <p:cNvPr id="29" name="TextBox 28"/>
          <p:cNvSpPr txBox="1"/>
          <p:nvPr/>
        </p:nvSpPr>
        <p:spPr>
          <a:xfrm>
            <a:off x="4151376" y="2990088"/>
            <a:ext cx="905256" cy="310896"/>
          </a:xfrm>
          <a:prstGeom prst="rect">
            <a:avLst/>
          </a:prstGeom>
          <a:noFill/>
        </p:spPr>
        <p:txBody>
          <a:bodyPr wrap="square">
            <a:spAutoFit/>
          </a:bodyPr>
          <a:lstStyle/>
          <a:p>
            <a:pPr algn="ctr"/>
            <a:r>
              <a:rPr sz="1200" b="0" i="0">
                <a:solidFill>
                  <a:srgbClr val="1A1A2E"/>
                </a:solidFill>
                <a:latin typeface="Calibri"/>
              </a:rPr>
              <a:t>−16.027</a:t>
            </a:r>
          </a:p>
        </p:txBody>
      </p:sp>
      <p:sp>
        <p:nvSpPr>
          <p:cNvPr id="30" name="TextBox 29"/>
          <p:cNvSpPr txBox="1"/>
          <p:nvPr/>
        </p:nvSpPr>
        <p:spPr>
          <a:xfrm>
            <a:off x="5157216" y="2990088"/>
            <a:ext cx="539496" cy="310896"/>
          </a:xfrm>
          <a:prstGeom prst="rect">
            <a:avLst/>
          </a:prstGeom>
          <a:noFill/>
        </p:spPr>
        <p:txBody>
          <a:bodyPr wrap="square">
            <a:spAutoFit/>
          </a:bodyPr>
          <a:lstStyle/>
          <a:p>
            <a:pPr algn="ctr"/>
            <a:r>
              <a:rPr sz="1200" b="0" i="0">
                <a:solidFill>
                  <a:srgbClr val="1A1A2E"/>
                </a:solidFill>
                <a:latin typeface="Calibri"/>
              </a:rPr>
              <a:t>*</a:t>
            </a:r>
          </a:p>
        </p:txBody>
      </p:sp>
      <p:sp>
        <p:nvSpPr>
          <p:cNvPr id="31" name="TextBox 30"/>
          <p:cNvSpPr txBox="1"/>
          <p:nvPr/>
        </p:nvSpPr>
        <p:spPr>
          <a:xfrm>
            <a:off x="5797296" y="2990088"/>
            <a:ext cx="1042416" cy="310896"/>
          </a:xfrm>
          <a:prstGeom prst="rect">
            <a:avLst/>
          </a:prstGeom>
          <a:noFill/>
        </p:spPr>
        <p:txBody>
          <a:bodyPr wrap="square">
            <a:spAutoFit/>
          </a:bodyPr>
          <a:lstStyle/>
          <a:p>
            <a:pPr algn="ctr"/>
            <a:r>
              <a:rPr sz="1200" b="0" i="0">
                <a:solidFill>
                  <a:srgbClr val="1A1A2E"/>
                </a:solidFill>
                <a:latin typeface="Calibri"/>
              </a:rPr>
              <a:t>(9.125)</a:t>
            </a:r>
          </a:p>
        </p:txBody>
      </p:sp>
      <p:sp>
        <p:nvSpPr>
          <p:cNvPr id="32" name="Rectangle 31"/>
          <p:cNvSpPr/>
          <p:nvPr/>
        </p:nvSpPr>
        <p:spPr>
          <a:xfrm>
            <a:off x="365760" y="3346704"/>
            <a:ext cx="6355080" cy="420624"/>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02336" y="3410712"/>
            <a:ext cx="3648456" cy="310896"/>
          </a:xfrm>
          <a:prstGeom prst="rect">
            <a:avLst/>
          </a:prstGeom>
          <a:noFill/>
        </p:spPr>
        <p:txBody>
          <a:bodyPr wrap="square">
            <a:spAutoFit/>
          </a:bodyPr>
          <a:lstStyle/>
          <a:p>
            <a:pPr algn="l"/>
            <a:r>
              <a:rPr sz="1200" b="0" i="0">
                <a:solidFill>
                  <a:srgbClr val="1A1A2E"/>
                </a:solidFill>
                <a:latin typeface="Calibri"/>
              </a:rPr>
              <a:t>VIX</a:t>
            </a:r>
          </a:p>
        </p:txBody>
      </p:sp>
      <p:sp>
        <p:nvSpPr>
          <p:cNvPr id="34" name="TextBox 33"/>
          <p:cNvSpPr txBox="1"/>
          <p:nvPr/>
        </p:nvSpPr>
        <p:spPr>
          <a:xfrm>
            <a:off x="4151376" y="3410712"/>
            <a:ext cx="905256" cy="310896"/>
          </a:xfrm>
          <a:prstGeom prst="rect">
            <a:avLst/>
          </a:prstGeom>
          <a:noFill/>
        </p:spPr>
        <p:txBody>
          <a:bodyPr wrap="square">
            <a:spAutoFit/>
          </a:bodyPr>
          <a:lstStyle/>
          <a:p>
            <a:pPr algn="ctr"/>
            <a:r>
              <a:rPr sz="1200" b="0" i="0">
                <a:solidFill>
                  <a:srgbClr val="1A1A2E"/>
                </a:solidFill>
                <a:latin typeface="Calibri"/>
              </a:rPr>
              <a:t>−0.003</a:t>
            </a:r>
          </a:p>
        </p:txBody>
      </p:sp>
      <p:sp>
        <p:nvSpPr>
          <p:cNvPr id="35" name="TextBox 34"/>
          <p:cNvSpPr txBox="1"/>
          <p:nvPr/>
        </p:nvSpPr>
        <p:spPr>
          <a:xfrm>
            <a:off x="5157216" y="3410712"/>
            <a:ext cx="539496" cy="310896"/>
          </a:xfrm>
          <a:prstGeom prst="rect">
            <a:avLst/>
          </a:prstGeom>
          <a:noFill/>
        </p:spPr>
        <p:txBody>
          <a:bodyPr wrap="square">
            <a:spAutoFit/>
          </a:bodyPr>
          <a:lstStyle/>
          <a:p>
            <a:pPr algn="ctr"/>
            <a:endParaRPr/>
          </a:p>
        </p:txBody>
      </p:sp>
      <p:sp>
        <p:nvSpPr>
          <p:cNvPr id="36" name="TextBox 35"/>
          <p:cNvSpPr txBox="1"/>
          <p:nvPr/>
        </p:nvSpPr>
        <p:spPr>
          <a:xfrm>
            <a:off x="5797296" y="3410712"/>
            <a:ext cx="1042416" cy="310896"/>
          </a:xfrm>
          <a:prstGeom prst="rect">
            <a:avLst/>
          </a:prstGeom>
          <a:noFill/>
        </p:spPr>
        <p:txBody>
          <a:bodyPr wrap="square">
            <a:spAutoFit/>
          </a:bodyPr>
          <a:lstStyle/>
          <a:p>
            <a:pPr algn="ctr"/>
            <a:r>
              <a:rPr sz="1200" b="0" i="0">
                <a:solidFill>
                  <a:srgbClr val="1A1A2E"/>
                </a:solidFill>
                <a:latin typeface="Calibri"/>
              </a:rPr>
              <a:t>(0.016)</a:t>
            </a:r>
          </a:p>
        </p:txBody>
      </p:sp>
      <p:sp>
        <p:nvSpPr>
          <p:cNvPr id="37" name="Rectangle 36"/>
          <p:cNvSpPr/>
          <p:nvPr/>
        </p:nvSpPr>
        <p:spPr>
          <a:xfrm>
            <a:off x="365760" y="3767328"/>
            <a:ext cx="6355080"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02336" y="3831336"/>
            <a:ext cx="3648456" cy="310896"/>
          </a:xfrm>
          <a:prstGeom prst="rect">
            <a:avLst/>
          </a:prstGeom>
          <a:noFill/>
        </p:spPr>
        <p:txBody>
          <a:bodyPr wrap="square">
            <a:spAutoFit/>
          </a:bodyPr>
          <a:lstStyle/>
          <a:p>
            <a:pPr algn="l"/>
            <a:r>
              <a:rPr sz="1200" b="0" i="0">
                <a:solidFill>
                  <a:srgbClr val="1A1A2E"/>
                </a:solidFill>
                <a:latin typeface="Calibri"/>
              </a:rPr>
              <a:t>ΔlnN*</a:t>
            </a:r>
          </a:p>
        </p:txBody>
      </p:sp>
      <p:sp>
        <p:nvSpPr>
          <p:cNvPr id="39" name="TextBox 38"/>
          <p:cNvSpPr txBox="1"/>
          <p:nvPr/>
        </p:nvSpPr>
        <p:spPr>
          <a:xfrm>
            <a:off x="4151376" y="3831336"/>
            <a:ext cx="905256" cy="310896"/>
          </a:xfrm>
          <a:prstGeom prst="rect">
            <a:avLst/>
          </a:prstGeom>
          <a:noFill/>
        </p:spPr>
        <p:txBody>
          <a:bodyPr wrap="square">
            <a:spAutoFit/>
          </a:bodyPr>
          <a:lstStyle/>
          <a:p>
            <a:pPr algn="ctr"/>
            <a:r>
              <a:rPr sz="1200" b="0" i="0">
                <a:solidFill>
                  <a:srgbClr val="1A1A2E"/>
                </a:solidFill>
                <a:latin typeface="Calibri"/>
              </a:rPr>
              <a:t>−0.211</a:t>
            </a:r>
          </a:p>
        </p:txBody>
      </p:sp>
      <p:sp>
        <p:nvSpPr>
          <p:cNvPr id="40" name="TextBox 39"/>
          <p:cNvSpPr txBox="1"/>
          <p:nvPr/>
        </p:nvSpPr>
        <p:spPr>
          <a:xfrm>
            <a:off x="5157216" y="3831336"/>
            <a:ext cx="539496" cy="310896"/>
          </a:xfrm>
          <a:prstGeom prst="rect">
            <a:avLst/>
          </a:prstGeom>
          <a:noFill/>
        </p:spPr>
        <p:txBody>
          <a:bodyPr wrap="square">
            <a:spAutoFit/>
          </a:bodyPr>
          <a:lstStyle/>
          <a:p>
            <a:pPr algn="ctr"/>
            <a:endParaRPr/>
          </a:p>
        </p:txBody>
      </p:sp>
      <p:sp>
        <p:nvSpPr>
          <p:cNvPr id="41" name="TextBox 40"/>
          <p:cNvSpPr txBox="1"/>
          <p:nvPr/>
        </p:nvSpPr>
        <p:spPr>
          <a:xfrm>
            <a:off x="5797296" y="3831336"/>
            <a:ext cx="1042416" cy="310896"/>
          </a:xfrm>
          <a:prstGeom prst="rect">
            <a:avLst/>
          </a:prstGeom>
          <a:noFill/>
        </p:spPr>
        <p:txBody>
          <a:bodyPr wrap="square">
            <a:spAutoFit/>
          </a:bodyPr>
          <a:lstStyle/>
          <a:p>
            <a:pPr algn="ctr"/>
            <a:r>
              <a:rPr sz="1200" b="0" i="0">
                <a:solidFill>
                  <a:srgbClr val="1A1A2E"/>
                </a:solidFill>
                <a:latin typeface="Calibri"/>
              </a:rPr>
              <a:t>(0.603)</a:t>
            </a:r>
          </a:p>
        </p:txBody>
      </p:sp>
      <p:sp>
        <p:nvSpPr>
          <p:cNvPr id="42" name="Rectangle 41"/>
          <p:cNvSpPr/>
          <p:nvPr/>
        </p:nvSpPr>
        <p:spPr>
          <a:xfrm>
            <a:off x="365760" y="4187952"/>
            <a:ext cx="6355080" cy="420624"/>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02336" y="4251960"/>
            <a:ext cx="3648456" cy="310896"/>
          </a:xfrm>
          <a:prstGeom prst="rect">
            <a:avLst/>
          </a:prstGeom>
          <a:noFill/>
        </p:spPr>
        <p:txBody>
          <a:bodyPr wrap="square">
            <a:spAutoFit/>
          </a:bodyPr>
          <a:lstStyle/>
          <a:p>
            <a:pPr algn="l"/>
            <a:r>
              <a:rPr sz="1200" b="0" i="0">
                <a:solidFill>
                  <a:srgbClr val="1A1A2E"/>
                </a:solidFill>
                <a:latin typeface="Calibri"/>
              </a:rPr>
              <a:t>N</a:t>
            </a:r>
          </a:p>
        </p:txBody>
      </p:sp>
      <p:sp>
        <p:nvSpPr>
          <p:cNvPr id="44" name="TextBox 43"/>
          <p:cNvSpPr txBox="1"/>
          <p:nvPr/>
        </p:nvSpPr>
        <p:spPr>
          <a:xfrm>
            <a:off x="4151376" y="4251960"/>
            <a:ext cx="905256" cy="310896"/>
          </a:xfrm>
          <a:prstGeom prst="rect">
            <a:avLst/>
          </a:prstGeom>
          <a:noFill/>
        </p:spPr>
        <p:txBody>
          <a:bodyPr wrap="square">
            <a:spAutoFit/>
          </a:bodyPr>
          <a:lstStyle/>
          <a:p>
            <a:pPr algn="ctr"/>
            <a:r>
              <a:rPr sz="1200" b="0" i="0">
                <a:solidFill>
                  <a:srgbClr val="1A1A2E"/>
                </a:solidFill>
                <a:latin typeface="Calibri"/>
              </a:rPr>
              <a:t>75</a:t>
            </a:r>
          </a:p>
        </p:txBody>
      </p:sp>
      <p:sp>
        <p:nvSpPr>
          <p:cNvPr id="45" name="TextBox 44"/>
          <p:cNvSpPr txBox="1"/>
          <p:nvPr/>
        </p:nvSpPr>
        <p:spPr>
          <a:xfrm>
            <a:off x="5157216" y="4251960"/>
            <a:ext cx="539496" cy="310896"/>
          </a:xfrm>
          <a:prstGeom prst="rect">
            <a:avLst/>
          </a:prstGeom>
          <a:noFill/>
        </p:spPr>
        <p:txBody>
          <a:bodyPr wrap="square">
            <a:spAutoFit/>
          </a:bodyPr>
          <a:lstStyle/>
          <a:p>
            <a:pPr algn="ctr"/>
            <a:endParaRPr/>
          </a:p>
        </p:txBody>
      </p:sp>
      <p:sp>
        <p:nvSpPr>
          <p:cNvPr id="46" name="TextBox 45"/>
          <p:cNvSpPr txBox="1"/>
          <p:nvPr/>
        </p:nvSpPr>
        <p:spPr>
          <a:xfrm>
            <a:off x="5797296" y="4251960"/>
            <a:ext cx="1042416" cy="310896"/>
          </a:xfrm>
          <a:prstGeom prst="rect">
            <a:avLst/>
          </a:prstGeom>
          <a:noFill/>
        </p:spPr>
        <p:txBody>
          <a:bodyPr wrap="square">
            <a:spAutoFit/>
          </a:bodyPr>
          <a:lstStyle/>
          <a:p>
            <a:pPr algn="ctr"/>
            <a:endParaRPr/>
          </a:p>
        </p:txBody>
      </p:sp>
      <p:sp>
        <p:nvSpPr>
          <p:cNvPr id="47" name="Rectangle 46"/>
          <p:cNvSpPr/>
          <p:nvPr/>
        </p:nvSpPr>
        <p:spPr>
          <a:xfrm>
            <a:off x="365760" y="4608576"/>
            <a:ext cx="6355080"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02336" y="4672584"/>
            <a:ext cx="3648456" cy="310896"/>
          </a:xfrm>
          <a:prstGeom prst="rect">
            <a:avLst/>
          </a:prstGeom>
          <a:noFill/>
        </p:spPr>
        <p:txBody>
          <a:bodyPr wrap="square">
            <a:spAutoFit/>
          </a:bodyPr>
          <a:lstStyle/>
          <a:p>
            <a:pPr algn="l"/>
            <a:r>
              <a:rPr sz="1200" b="0" i="0">
                <a:solidFill>
                  <a:srgbClr val="1A1A2E"/>
                </a:solidFill>
                <a:latin typeface="Calibri"/>
              </a:rPr>
              <a:t>R²</a:t>
            </a:r>
          </a:p>
        </p:txBody>
      </p:sp>
      <p:sp>
        <p:nvSpPr>
          <p:cNvPr id="49" name="TextBox 48"/>
          <p:cNvSpPr txBox="1"/>
          <p:nvPr/>
        </p:nvSpPr>
        <p:spPr>
          <a:xfrm>
            <a:off x="4151376" y="4672584"/>
            <a:ext cx="905256" cy="310896"/>
          </a:xfrm>
          <a:prstGeom prst="rect">
            <a:avLst/>
          </a:prstGeom>
          <a:noFill/>
        </p:spPr>
        <p:txBody>
          <a:bodyPr wrap="square">
            <a:spAutoFit/>
          </a:bodyPr>
          <a:lstStyle/>
          <a:p>
            <a:pPr algn="ctr"/>
            <a:r>
              <a:rPr sz="1200" b="0" i="0">
                <a:solidFill>
                  <a:srgbClr val="1A1A2E"/>
                </a:solidFill>
                <a:latin typeface="Calibri"/>
              </a:rPr>
              <a:t>0.324</a:t>
            </a:r>
          </a:p>
        </p:txBody>
      </p:sp>
      <p:sp>
        <p:nvSpPr>
          <p:cNvPr id="50" name="TextBox 49"/>
          <p:cNvSpPr txBox="1"/>
          <p:nvPr/>
        </p:nvSpPr>
        <p:spPr>
          <a:xfrm>
            <a:off x="5157216" y="4672584"/>
            <a:ext cx="539496" cy="310896"/>
          </a:xfrm>
          <a:prstGeom prst="rect">
            <a:avLst/>
          </a:prstGeom>
          <a:noFill/>
        </p:spPr>
        <p:txBody>
          <a:bodyPr wrap="square">
            <a:spAutoFit/>
          </a:bodyPr>
          <a:lstStyle/>
          <a:p>
            <a:pPr algn="ctr"/>
            <a:endParaRPr/>
          </a:p>
        </p:txBody>
      </p:sp>
      <p:sp>
        <p:nvSpPr>
          <p:cNvPr id="51" name="TextBox 50"/>
          <p:cNvSpPr txBox="1"/>
          <p:nvPr/>
        </p:nvSpPr>
        <p:spPr>
          <a:xfrm>
            <a:off x="5797296" y="4672584"/>
            <a:ext cx="1042416" cy="310896"/>
          </a:xfrm>
          <a:prstGeom prst="rect">
            <a:avLst/>
          </a:prstGeom>
          <a:noFill/>
        </p:spPr>
        <p:txBody>
          <a:bodyPr wrap="square">
            <a:spAutoFit/>
          </a:bodyPr>
          <a:lstStyle/>
          <a:p>
            <a:pPr algn="ctr"/>
            <a:endParaRPr/>
          </a:p>
        </p:txBody>
      </p:sp>
      <p:sp>
        <p:nvSpPr>
          <p:cNvPr id="52" name="Rectangle 51"/>
          <p:cNvSpPr/>
          <p:nvPr/>
        </p:nvSpPr>
        <p:spPr>
          <a:xfrm>
            <a:off x="365760" y="5029200"/>
            <a:ext cx="6355080" cy="420624"/>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402336" y="5093208"/>
            <a:ext cx="3648456" cy="310896"/>
          </a:xfrm>
          <a:prstGeom prst="rect">
            <a:avLst/>
          </a:prstGeom>
          <a:noFill/>
        </p:spPr>
        <p:txBody>
          <a:bodyPr wrap="square">
            <a:spAutoFit/>
          </a:bodyPr>
          <a:lstStyle/>
          <a:p>
            <a:pPr algn="l"/>
            <a:r>
              <a:rPr sz="1200" b="0" i="0">
                <a:solidFill>
                  <a:srgbClr val="1A1A2E"/>
                </a:solidFill>
                <a:latin typeface="Calibri"/>
              </a:rPr>
              <a:t>Adj. R²</a:t>
            </a:r>
          </a:p>
        </p:txBody>
      </p:sp>
      <p:sp>
        <p:nvSpPr>
          <p:cNvPr id="54" name="TextBox 53"/>
          <p:cNvSpPr txBox="1"/>
          <p:nvPr/>
        </p:nvSpPr>
        <p:spPr>
          <a:xfrm>
            <a:off x="4151376" y="5093208"/>
            <a:ext cx="905256" cy="310896"/>
          </a:xfrm>
          <a:prstGeom prst="rect">
            <a:avLst/>
          </a:prstGeom>
          <a:noFill/>
        </p:spPr>
        <p:txBody>
          <a:bodyPr wrap="square">
            <a:spAutoFit/>
          </a:bodyPr>
          <a:lstStyle/>
          <a:p>
            <a:pPr algn="ctr"/>
            <a:r>
              <a:rPr sz="1200" b="0" i="0">
                <a:solidFill>
                  <a:srgbClr val="1A1A2E"/>
                </a:solidFill>
                <a:latin typeface="Calibri"/>
              </a:rPr>
              <a:t>0.264</a:t>
            </a:r>
          </a:p>
        </p:txBody>
      </p:sp>
      <p:sp>
        <p:nvSpPr>
          <p:cNvPr id="55" name="TextBox 54"/>
          <p:cNvSpPr txBox="1"/>
          <p:nvPr/>
        </p:nvSpPr>
        <p:spPr>
          <a:xfrm>
            <a:off x="5157216" y="5093208"/>
            <a:ext cx="539496" cy="310896"/>
          </a:xfrm>
          <a:prstGeom prst="rect">
            <a:avLst/>
          </a:prstGeom>
          <a:noFill/>
        </p:spPr>
        <p:txBody>
          <a:bodyPr wrap="square">
            <a:spAutoFit/>
          </a:bodyPr>
          <a:lstStyle/>
          <a:p>
            <a:pPr algn="ctr"/>
            <a:endParaRPr/>
          </a:p>
        </p:txBody>
      </p:sp>
      <p:sp>
        <p:nvSpPr>
          <p:cNvPr id="56" name="TextBox 55"/>
          <p:cNvSpPr txBox="1"/>
          <p:nvPr/>
        </p:nvSpPr>
        <p:spPr>
          <a:xfrm>
            <a:off x="5797296" y="5093208"/>
            <a:ext cx="1042416" cy="310896"/>
          </a:xfrm>
          <a:prstGeom prst="rect">
            <a:avLst/>
          </a:prstGeom>
          <a:noFill/>
        </p:spPr>
        <p:txBody>
          <a:bodyPr wrap="square">
            <a:spAutoFit/>
          </a:bodyPr>
          <a:lstStyle/>
          <a:p>
            <a:pPr algn="ctr"/>
            <a:endParaRPr/>
          </a:p>
        </p:txBody>
      </p:sp>
      <p:sp>
        <p:nvSpPr>
          <p:cNvPr id="57" name="TextBox 56"/>
          <p:cNvSpPr txBox="1"/>
          <p:nvPr/>
        </p:nvSpPr>
        <p:spPr>
          <a:xfrm>
            <a:off x="365760" y="5596128"/>
            <a:ext cx="6858000" cy="256032"/>
          </a:xfrm>
          <a:prstGeom prst="rect">
            <a:avLst/>
          </a:prstGeom>
          <a:noFill/>
        </p:spPr>
        <p:txBody>
          <a:bodyPr wrap="square">
            <a:spAutoFit/>
          </a:bodyPr>
          <a:lstStyle/>
          <a:p>
            <a:pPr algn="l"/>
            <a:r>
              <a:rPr sz="1000" b="0" i="1">
                <a:solidFill>
                  <a:srgbClr val="555566"/>
                </a:solidFill>
                <a:latin typeface="Calibri"/>
              </a:rPr>
              <a:t>*** p&lt;0.01  * p&lt;0.10</a:t>
            </a:r>
          </a:p>
        </p:txBody>
      </p:sp>
      <p:sp>
        <p:nvSpPr>
          <p:cNvPr id="58" name="Rectangle 57"/>
          <p:cNvSpPr/>
          <p:nvPr/>
        </p:nvSpPr>
        <p:spPr>
          <a:xfrm>
            <a:off x="7223760" y="1316736"/>
            <a:ext cx="4572000" cy="205740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7315200" y="1389888"/>
            <a:ext cx="4389120" cy="548640"/>
          </a:xfrm>
          <a:prstGeom prst="rect">
            <a:avLst/>
          </a:prstGeom>
          <a:noFill/>
        </p:spPr>
        <p:txBody>
          <a:bodyPr wrap="square">
            <a:spAutoFit/>
          </a:bodyPr>
          <a:lstStyle/>
          <a:p>
            <a:pPr algn="l"/>
            <a:r>
              <a:rPr sz="2400" b="1" i="0">
                <a:solidFill>
                  <a:srgbClr val="FFFFFF"/>
                </a:solidFill>
                <a:latin typeface="Calibri"/>
              </a:rPr>
              <a:t>β₁ = −5.95***</a:t>
            </a:r>
          </a:p>
        </p:txBody>
      </p:sp>
      <p:sp>
        <p:nvSpPr>
          <p:cNvPr id="60" name="TextBox 59"/>
          <p:cNvSpPr txBox="1"/>
          <p:nvPr/>
        </p:nvSpPr>
        <p:spPr>
          <a:xfrm>
            <a:off x="7315200" y="1920240"/>
            <a:ext cx="4389120" cy="804672"/>
          </a:xfrm>
          <a:prstGeom prst="rect">
            <a:avLst/>
          </a:prstGeom>
          <a:noFill/>
        </p:spPr>
        <p:txBody>
          <a:bodyPr wrap="square">
            <a:spAutoFit/>
          </a:bodyPr>
          <a:lstStyle/>
          <a:p>
            <a:pPr algn="l"/>
            <a:r>
              <a:rPr sz="1300" b="0" i="0">
                <a:solidFill>
                  <a:srgbClr val="AAC4E8"/>
                </a:solidFill>
                <a:latin typeface="Calibri"/>
              </a:rPr>
              <a:t>1 SD supply growth (9.9 pp) → −59 bp spread compression
→ Privilege amplification confirmed ✅</a:t>
            </a:r>
          </a:p>
        </p:txBody>
      </p:sp>
      <p:sp>
        <p:nvSpPr>
          <p:cNvPr id="61" name="Rectangle 60"/>
          <p:cNvSpPr/>
          <p:nvPr/>
        </p:nvSpPr>
        <p:spPr>
          <a:xfrm>
            <a:off x="7223760" y="3493008"/>
            <a:ext cx="4572000" cy="2057400"/>
          </a:xfrm>
          <a:prstGeom prst="rect">
            <a:avLst/>
          </a:prstGeom>
          <a:solidFill>
            <a:srgbClr val="143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7315200" y="3566160"/>
            <a:ext cx="4389120" cy="548640"/>
          </a:xfrm>
          <a:prstGeom prst="rect">
            <a:avLst/>
          </a:prstGeom>
          <a:noFill/>
        </p:spPr>
        <p:txBody>
          <a:bodyPr wrap="square">
            <a:spAutoFit/>
          </a:bodyPr>
          <a:lstStyle/>
          <a:p>
            <a:pPr algn="l"/>
            <a:r>
              <a:rPr sz="2400" b="1" i="0">
                <a:solidFill>
                  <a:srgbClr val="FFFFFF"/>
                </a:solidFill>
                <a:latin typeface="Calibri"/>
              </a:rPr>
              <a:t>β₃ = −11.30***</a:t>
            </a:r>
          </a:p>
        </p:txBody>
      </p:sp>
      <p:sp>
        <p:nvSpPr>
          <p:cNvPr id="63" name="TextBox 62"/>
          <p:cNvSpPr txBox="1"/>
          <p:nvPr/>
        </p:nvSpPr>
        <p:spPr>
          <a:xfrm>
            <a:off x="7315200" y="4096512"/>
            <a:ext cx="4389120" cy="804672"/>
          </a:xfrm>
          <a:prstGeom prst="rect">
            <a:avLst/>
          </a:prstGeom>
          <a:noFill/>
        </p:spPr>
        <p:txBody>
          <a:bodyPr wrap="square">
            <a:spAutoFit/>
          </a:bodyPr>
          <a:lstStyle/>
          <a:p>
            <a:pPr algn="l"/>
            <a:r>
              <a:rPr sz="1300" b="0" i="0">
                <a:solidFill>
                  <a:srgbClr val="AAC4E8"/>
                </a:solidFill>
                <a:latin typeface="Calibri"/>
              </a:rPr>
              <a:t>Total effect of ΔlnS = β₁ + β₃·B
At mean B (−0.48): effect = −0.52 pp
At threshold B = −0.524: effect ≈ 0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Result 2: Reserve Adequacy Threshold (Hansen 2000)</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9</a:t>
            </a:r>
          </a:p>
        </p:txBody>
      </p:sp>
      <p:pic>
        <p:nvPicPr>
          <p:cNvPr id="6" name="Picture 5" descr="threshold_ssr.png"/>
          <p:cNvPicPr>
            <a:picLocks noChangeAspect="1"/>
          </p:cNvPicPr>
          <p:nvPr/>
        </p:nvPicPr>
        <p:blipFill>
          <a:blip r:embed="rId3"/>
          <a:stretch>
            <a:fillRect/>
          </a:stretch>
        </p:blipFill>
        <p:spPr>
          <a:xfrm>
            <a:off x="274320" y="914400"/>
            <a:ext cx="5943600" cy="3345431"/>
          </a:xfrm>
          <a:prstGeom prst="rect">
            <a:avLst/>
          </a:prstGeom>
        </p:spPr>
      </p:pic>
      <p:sp>
        <p:nvSpPr>
          <p:cNvPr id="7" name="TextBox 6"/>
          <p:cNvSpPr txBox="1"/>
          <p:nvPr/>
        </p:nvSpPr>
        <p:spPr>
          <a:xfrm>
            <a:off x="6400800" y="960120"/>
            <a:ext cx="5394960" cy="3840480"/>
          </a:xfrm>
          <a:prstGeom prst="rect">
            <a:avLst/>
          </a:prstGeom>
          <a:noFill/>
        </p:spPr>
        <p:txBody>
          <a:bodyPr wrap="square">
            <a:spAutoFit/>
          </a:bodyPr>
          <a:lstStyle/>
          <a:p>
            <a:pPr>
              <a:spcBef>
                <a:spcPts val="0"/>
              </a:spcBef>
            </a:pPr>
            <a:endParaRPr/>
          </a:p>
          <a:p>
            <a:pPr algn="l">
              <a:spcBef>
                <a:spcPts val="400"/>
              </a:spcBef>
            </a:pPr>
            <a:r>
              <a:rPr sz="1600" b="1" i="0">
                <a:solidFill>
                  <a:srgbClr val="1B3A72"/>
                </a:solidFill>
                <a:latin typeface="Calibri"/>
              </a:rPr>
              <a:t>Threshold estimate</a:t>
            </a:r>
          </a:p>
          <a:p>
            <a:pPr algn="l">
              <a:spcBef>
                <a:spcPts val="800"/>
              </a:spcBef>
            </a:pPr>
            <a:r>
              <a:rPr sz="1500" b="0" i="0">
                <a:solidFill>
                  <a:srgbClr val="1A1A2E"/>
                </a:solidFill>
                <a:latin typeface="Calibri"/>
              </a:rPr>
              <a:t>❖  Optimal q*:  −0.524</a:t>
            </a:r>
          </a:p>
          <a:p>
            <a:pPr algn="l">
              <a:spcBef>
                <a:spcPts val="800"/>
              </a:spcBef>
            </a:pPr>
            <a:r>
              <a:rPr sz="1500" b="0" i="0">
                <a:solidFill>
                  <a:srgbClr val="1A1A2E"/>
                </a:solidFill>
                <a:latin typeface="Calibri"/>
              </a:rPr>
              <a:t>❖  LR statistic:  25.28</a:t>
            </a:r>
          </a:p>
          <a:p>
            <a:pPr algn="l">
              <a:spcBef>
                <a:spcPts val="800"/>
              </a:spcBef>
            </a:pPr>
            <a:r>
              <a:rPr sz="1500" b="0" i="0">
                <a:solidFill>
                  <a:srgbClr val="1A1A2E"/>
                </a:solidFill>
                <a:latin typeface="Calibri"/>
              </a:rPr>
              <a:t>❖  Bootstrap p-value:  &lt; 0.001  (1,000 replications)</a:t>
            </a:r>
          </a:p>
          <a:p>
            <a:pPr algn="l">
              <a:spcBef>
                <a:spcPts val="800"/>
              </a:spcBef>
            </a:pPr>
            <a:r>
              <a:rPr sz="1500" b="0" i="0">
                <a:solidFill>
                  <a:srgbClr val="1A1A2E"/>
                </a:solidFill>
                <a:latin typeface="Calibri"/>
              </a:rPr>
              <a:t>❖  90% CI:  [−0.524, −0.344]</a:t>
            </a:r>
          </a:p>
          <a:p>
            <a:pPr algn="l">
              <a:spcBef>
                <a:spcPts val="400"/>
              </a:spcBef>
            </a:pPr>
            <a:r>
              <a:rPr sz="600" b="0" i="0">
                <a:solidFill>
                  <a:srgbClr val="1A1A2E"/>
                </a:solidFill>
                <a:latin typeface="Calibri"/>
              </a:rPr>
              <a:t> </a:t>
            </a:r>
          </a:p>
          <a:p>
            <a:pPr algn="l">
              <a:spcBef>
                <a:spcPts val="600"/>
              </a:spcBef>
            </a:pPr>
            <a:r>
              <a:rPr sz="1500" b="1" i="0">
                <a:solidFill>
                  <a:srgbClr val="1B3A72"/>
                </a:solidFill>
                <a:latin typeface="Calibri"/>
              </a:rPr>
              <a:t>What q* = −0.524 means:</a:t>
            </a:r>
          </a:p>
          <a:p>
            <a:pPr algn="l">
              <a:spcBef>
                <a:spcPts val="400"/>
              </a:spcBef>
            </a:pPr>
            <a:r>
              <a:rPr sz="1400" b="0" i="0">
                <a:solidFill>
                  <a:srgbClr val="1A1A2E"/>
                </a:solidFill>
                <a:latin typeface="Calibri"/>
              </a:rPr>
              <a:t>Treasury holdings must exceed 47.6% of outstanding supply
to stay outside the crisis zone.</a:t>
            </a:r>
          </a:p>
        </p:txBody>
      </p:sp>
      <p:sp>
        <p:nvSpPr>
          <p:cNvPr id="8" name="Rectangle 7"/>
          <p:cNvSpPr/>
          <p:nvPr/>
        </p:nvSpPr>
        <p:spPr>
          <a:xfrm>
            <a:off x="274320" y="5257800"/>
            <a:ext cx="5669280" cy="777240"/>
          </a:xfrm>
          <a:prstGeom prst="rect">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5321808"/>
            <a:ext cx="5394960" cy="640080"/>
          </a:xfrm>
          <a:prstGeom prst="rect">
            <a:avLst/>
          </a:prstGeom>
          <a:noFill/>
        </p:spPr>
        <p:txBody>
          <a:bodyPr wrap="square">
            <a:spAutoFit/>
          </a:bodyPr>
          <a:lstStyle/>
          <a:p>
            <a:pPr algn="l"/>
            <a:r>
              <a:rPr sz="1300" b="0" i="0">
                <a:solidFill>
                  <a:srgbClr val="C0392B"/>
                </a:solidFill>
                <a:latin typeface="Calibri"/>
              </a:rPr>
              <a:t>Low buffer  (B ≤ −0.524, N=31):  β_ΔlnS = −1.03  →  No privilege amplification</a:t>
            </a:r>
          </a:p>
        </p:txBody>
      </p:sp>
      <p:sp>
        <p:nvSpPr>
          <p:cNvPr id="10" name="Rectangle 9"/>
          <p:cNvSpPr/>
          <p:nvPr/>
        </p:nvSpPr>
        <p:spPr>
          <a:xfrm>
            <a:off x="6172200" y="5257800"/>
            <a:ext cx="5669280" cy="77724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09360" y="5321808"/>
            <a:ext cx="5394960" cy="640080"/>
          </a:xfrm>
          <a:prstGeom prst="rect">
            <a:avLst/>
          </a:prstGeom>
          <a:noFill/>
        </p:spPr>
        <p:txBody>
          <a:bodyPr wrap="square">
            <a:spAutoFit/>
          </a:bodyPr>
          <a:lstStyle/>
          <a:p>
            <a:pPr algn="l"/>
            <a:r>
              <a:rPr sz="1300" b="0" i="0">
                <a:solidFill>
                  <a:srgbClr val="1A7A4A"/>
                </a:solidFill>
                <a:latin typeface="Calibri"/>
              </a:rPr>
              <a:t>High buffer  (B &gt; −0.524, N=44):  β_ΔlnS = −8.68  →  Strong privilege compression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Result 3: Buffer-Conditioned Event Study</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10</a:t>
            </a:r>
          </a:p>
        </p:txBody>
      </p:sp>
      <p:sp>
        <p:nvSpPr>
          <p:cNvPr id="6" name="Rectangle 5"/>
          <p:cNvSpPr/>
          <p:nvPr/>
        </p:nvSpPr>
        <p:spPr>
          <a:xfrm>
            <a:off x="320040" y="960120"/>
            <a:ext cx="3749039" cy="347472"/>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93192" y="987552"/>
            <a:ext cx="3611880" cy="274320"/>
          </a:xfrm>
          <a:prstGeom prst="rect">
            <a:avLst/>
          </a:prstGeom>
          <a:noFill/>
        </p:spPr>
        <p:txBody>
          <a:bodyPr wrap="square">
            <a:spAutoFit/>
          </a:bodyPr>
          <a:lstStyle/>
          <a:p>
            <a:pPr algn="l"/>
            <a:r>
              <a:rPr sz="1300" b="1" i="0">
                <a:solidFill>
                  <a:srgbClr val="FFFFFF"/>
                </a:solidFill>
                <a:latin typeface="Calibri"/>
              </a:rPr>
              <a:t>LUNA / UST Collapse</a:t>
            </a:r>
          </a:p>
        </p:txBody>
      </p:sp>
      <p:sp>
        <p:nvSpPr>
          <p:cNvPr id="8" name="Rectangle 7"/>
          <p:cNvSpPr/>
          <p:nvPr/>
        </p:nvSpPr>
        <p:spPr>
          <a:xfrm>
            <a:off x="320040" y="1307592"/>
            <a:ext cx="3749039" cy="29260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93192" y="1335024"/>
            <a:ext cx="3611880" cy="237744"/>
          </a:xfrm>
          <a:prstGeom prst="rect">
            <a:avLst/>
          </a:prstGeom>
          <a:noFill/>
        </p:spPr>
        <p:txBody>
          <a:bodyPr wrap="square">
            <a:spAutoFit/>
          </a:bodyPr>
          <a:lstStyle/>
          <a:p>
            <a:pPr algn="ctr"/>
            <a:r>
              <a:rPr sz="1200" b="1" i="0">
                <a:solidFill>
                  <a:srgbClr val="FFFFFF"/>
                </a:solidFill>
                <a:latin typeface="Calibri"/>
              </a:rPr>
              <a:t>Low buffer</a:t>
            </a:r>
          </a:p>
        </p:txBody>
      </p:sp>
      <p:sp>
        <p:nvSpPr>
          <p:cNvPr id="10" name="Rectangle 9"/>
          <p:cNvSpPr/>
          <p:nvPr/>
        </p:nvSpPr>
        <p:spPr>
          <a:xfrm>
            <a:off x="320040" y="1600200"/>
            <a:ext cx="3749039" cy="10058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11480" y="1645920"/>
            <a:ext cx="3566160" cy="868680"/>
          </a:xfrm>
          <a:prstGeom prst="rect">
            <a:avLst/>
          </a:prstGeom>
          <a:noFill/>
        </p:spPr>
        <p:txBody>
          <a:bodyPr wrap="square">
            <a:spAutoFit/>
          </a:bodyPr>
          <a:lstStyle/>
          <a:p>
            <a:pPr algn="ctr"/>
            <a:r>
              <a:rPr sz="1400" b="1" i="0">
                <a:solidFill>
                  <a:srgbClr val="C0392B"/>
                </a:solidFill>
                <a:latin typeface="Calibri"/>
              </a:rPr>
              <a:t>May 9, 2022
CAR = +8.91 pp***</a:t>
            </a:r>
          </a:p>
        </p:txBody>
      </p:sp>
      <p:sp>
        <p:nvSpPr>
          <p:cNvPr id="12" name="Rectangle 11"/>
          <p:cNvSpPr/>
          <p:nvPr/>
        </p:nvSpPr>
        <p:spPr>
          <a:xfrm>
            <a:off x="4297679" y="960120"/>
            <a:ext cx="3749039" cy="347472"/>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70831" y="987552"/>
            <a:ext cx="3611880" cy="274320"/>
          </a:xfrm>
          <a:prstGeom prst="rect">
            <a:avLst/>
          </a:prstGeom>
          <a:noFill/>
        </p:spPr>
        <p:txBody>
          <a:bodyPr wrap="square">
            <a:spAutoFit/>
          </a:bodyPr>
          <a:lstStyle/>
          <a:p>
            <a:pPr algn="l"/>
            <a:r>
              <a:rPr sz="1300" b="1" i="0">
                <a:solidFill>
                  <a:srgbClr val="FFFFFF"/>
                </a:solidFill>
                <a:latin typeface="Calibri"/>
              </a:rPr>
              <a:t>USDT Partial Depeg</a:t>
            </a:r>
          </a:p>
        </p:txBody>
      </p:sp>
      <p:sp>
        <p:nvSpPr>
          <p:cNvPr id="14" name="Rectangle 13"/>
          <p:cNvSpPr/>
          <p:nvPr/>
        </p:nvSpPr>
        <p:spPr>
          <a:xfrm>
            <a:off x="4297679" y="1307592"/>
            <a:ext cx="3749039" cy="29260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70831" y="1335024"/>
            <a:ext cx="3611880" cy="237744"/>
          </a:xfrm>
          <a:prstGeom prst="rect">
            <a:avLst/>
          </a:prstGeom>
          <a:noFill/>
        </p:spPr>
        <p:txBody>
          <a:bodyPr wrap="square">
            <a:spAutoFit/>
          </a:bodyPr>
          <a:lstStyle/>
          <a:p>
            <a:pPr algn="ctr"/>
            <a:r>
              <a:rPr sz="1200" b="1" i="0">
                <a:solidFill>
                  <a:srgbClr val="FFFFFF"/>
                </a:solidFill>
                <a:latin typeface="Calibri"/>
              </a:rPr>
              <a:t>Low buffer</a:t>
            </a:r>
          </a:p>
        </p:txBody>
      </p:sp>
      <p:sp>
        <p:nvSpPr>
          <p:cNvPr id="16" name="Rectangle 15"/>
          <p:cNvSpPr/>
          <p:nvPr/>
        </p:nvSpPr>
        <p:spPr>
          <a:xfrm>
            <a:off x="4297679" y="1600200"/>
            <a:ext cx="3749039" cy="10058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389119" y="1645920"/>
            <a:ext cx="3566160" cy="868680"/>
          </a:xfrm>
          <a:prstGeom prst="rect">
            <a:avLst/>
          </a:prstGeom>
          <a:noFill/>
        </p:spPr>
        <p:txBody>
          <a:bodyPr wrap="square">
            <a:spAutoFit/>
          </a:bodyPr>
          <a:lstStyle/>
          <a:p>
            <a:pPr algn="ctr"/>
            <a:r>
              <a:rPr sz="1400" b="1" i="0">
                <a:solidFill>
                  <a:srgbClr val="C0392B"/>
                </a:solidFill>
                <a:latin typeface="Calibri"/>
              </a:rPr>
              <a:t>May 12, 2022
CAR = +8.85 pp***</a:t>
            </a:r>
          </a:p>
        </p:txBody>
      </p:sp>
      <p:sp>
        <p:nvSpPr>
          <p:cNvPr id="18" name="Rectangle 17"/>
          <p:cNvSpPr/>
          <p:nvPr/>
        </p:nvSpPr>
        <p:spPr>
          <a:xfrm>
            <a:off x="8275318" y="960120"/>
            <a:ext cx="3749039" cy="347472"/>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48470" y="987552"/>
            <a:ext cx="3611880" cy="274320"/>
          </a:xfrm>
          <a:prstGeom prst="rect">
            <a:avLst/>
          </a:prstGeom>
          <a:noFill/>
        </p:spPr>
        <p:txBody>
          <a:bodyPr wrap="square">
            <a:spAutoFit/>
          </a:bodyPr>
          <a:lstStyle/>
          <a:p>
            <a:pPr algn="l"/>
            <a:r>
              <a:rPr sz="1300" b="1" i="0">
                <a:solidFill>
                  <a:srgbClr val="FFFFFF"/>
                </a:solidFill>
                <a:latin typeface="Calibri"/>
              </a:rPr>
              <a:t>USDC / SVB Failure</a:t>
            </a:r>
          </a:p>
        </p:txBody>
      </p:sp>
      <p:sp>
        <p:nvSpPr>
          <p:cNvPr id="20" name="Rectangle 19"/>
          <p:cNvSpPr/>
          <p:nvPr/>
        </p:nvSpPr>
        <p:spPr>
          <a:xfrm>
            <a:off x="8275318" y="1307592"/>
            <a:ext cx="3749039" cy="29260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48470" y="1335024"/>
            <a:ext cx="3611880" cy="237744"/>
          </a:xfrm>
          <a:prstGeom prst="rect">
            <a:avLst/>
          </a:prstGeom>
          <a:noFill/>
        </p:spPr>
        <p:txBody>
          <a:bodyPr wrap="square">
            <a:spAutoFit/>
          </a:bodyPr>
          <a:lstStyle/>
          <a:p>
            <a:pPr algn="ctr"/>
            <a:r>
              <a:rPr sz="1200" b="1" i="0">
                <a:solidFill>
                  <a:srgbClr val="FFFFFF"/>
                </a:solidFill>
                <a:latin typeface="Calibri"/>
              </a:rPr>
              <a:t>High buffer</a:t>
            </a:r>
          </a:p>
        </p:txBody>
      </p:sp>
      <p:sp>
        <p:nvSpPr>
          <p:cNvPr id="22" name="Rectangle 21"/>
          <p:cNvSpPr/>
          <p:nvPr/>
        </p:nvSpPr>
        <p:spPr>
          <a:xfrm>
            <a:off x="8275318" y="1600200"/>
            <a:ext cx="3749039" cy="10058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366758" y="1645920"/>
            <a:ext cx="3566160" cy="868680"/>
          </a:xfrm>
          <a:prstGeom prst="rect">
            <a:avLst/>
          </a:prstGeom>
          <a:noFill/>
        </p:spPr>
        <p:txBody>
          <a:bodyPr wrap="square">
            <a:spAutoFit/>
          </a:bodyPr>
          <a:lstStyle/>
          <a:p>
            <a:pPr algn="ctr"/>
            <a:r>
              <a:rPr sz="1400" b="1" i="0">
                <a:solidFill>
                  <a:srgbClr val="1A7A4A"/>
                </a:solidFill>
                <a:latin typeface="Calibri"/>
              </a:rPr>
              <a:t>Mar 11, 2023
CAR = −18.01 pp***</a:t>
            </a:r>
          </a:p>
        </p:txBody>
      </p:sp>
      <p:pic>
        <p:nvPicPr>
          <p:cNvPr id="24" name="Picture 23" descr="event_study_cars.png"/>
          <p:cNvPicPr>
            <a:picLocks noChangeAspect="1"/>
          </p:cNvPicPr>
          <p:nvPr/>
        </p:nvPicPr>
        <p:blipFill>
          <a:blip r:embed="rId3"/>
          <a:stretch>
            <a:fillRect/>
          </a:stretch>
        </p:blipFill>
        <p:spPr>
          <a:xfrm>
            <a:off x="320040" y="2743200"/>
            <a:ext cx="6858000" cy="1820409"/>
          </a:xfrm>
          <a:prstGeom prst="rect">
            <a:avLst/>
          </a:prstGeom>
        </p:spPr>
      </p:pic>
      <p:sp>
        <p:nvSpPr>
          <p:cNvPr id="25" name="TextBox 24"/>
          <p:cNvSpPr txBox="1"/>
          <p:nvPr/>
        </p:nvSpPr>
        <p:spPr>
          <a:xfrm>
            <a:off x="7315200" y="2788920"/>
            <a:ext cx="4480560" cy="3108960"/>
          </a:xfrm>
          <a:prstGeom prst="rect">
            <a:avLst/>
          </a:prstGeom>
          <a:noFill/>
        </p:spPr>
        <p:txBody>
          <a:bodyPr wrap="square">
            <a:spAutoFit/>
          </a:bodyPr>
          <a:lstStyle/>
          <a:p>
            <a:pPr>
              <a:spcBef>
                <a:spcPts val="0"/>
              </a:spcBef>
            </a:pPr>
            <a:endParaRPr/>
          </a:p>
          <a:p>
            <a:pPr algn="l">
              <a:spcBef>
                <a:spcPts val="400"/>
              </a:spcBef>
            </a:pPr>
            <a:r>
              <a:rPr sz="1500" b="1" i="0">
                <a:solidFill>
                  <a:srgbClr val="1B3A72"/>
                </a:solidFill>
                <a:latin typeface="Calibri"/>
              </a:rPr>
              <a:t>Interpretation</a:t>
            </a:r>
          </a:p>
          <a:p>
            <a:pPr algn="l">
              <a:spcBef>
                <a:spcPts val="800"/>
              </a:spcBef>
            </a:pPr>
            <a:r>
              <a:rPr sz="1300" b="0" i="0">
                <a:solidFill>
                  <a:srgbClr val="1A1A2E"/>
                </a:solidFill>
                <a:latin typeface="Calibri"/>
              </a:rPr>
              <a:t>❖  Low-buffer runs → T-bill yields spike (+8.9 pp)
    Cole–Kehoe crisis zone activated</a:t>
            </a:r>
          </a:p>
          <a:p>
            <a:pPr algn="l">
              <a:spcBef>
                <a:spcPts val="800"/>
              </a:spcBef>
            </a:pPr>
            <a:r>
              <a:rPr sz="1300" b="0" i="0">
                <a:solidFill>
                  <a:srgbClr val="1A1A2E"/>
                </a:solidFill>
                <a:latin typeface="Calibri"/>
              </a:rPr>
              <a:t>❖  High-buffer stress → flight to Treasuries
    compresses spread (−18.0 pp)</a:t>
            </a:r>
          </a:p>
          <a:p>
            <a:pPr algn="l">
              <a:spcBef>
                <a:spcPts val="800"/>
              </a:spcBef>
            </a:pPr>
            <a:r>
              <a:rPr sz="1300" b="0" i="0">
                <a:solidFill>
                  <a:srgbClr val="1A1A2E"/>
                </a:solidFill>
                <a:latin typeface="Calibri"/>
              </a:rPr>
              <a:t>❖  Welch test: t = 15.22, p &lt; 0.001
    Buffer regime is the key conditioning variable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Robustness Checks</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11</a:t>
            </a:r>
          </a:p>
        </p:txBody>
      </p:sp>
      <p:sp>
        <p:nvSpPr>
          <p:cNvPr id="6" name="Rectangle 5"/>
          <p:cNvSpPr/>
          <p:nvPr/>
        </p:nvSpPr>
        <p:spPr>
          <a:xfrm>
            <a:off x="320040" y="1024128"/>
            <a:ext cx="5532120" cy="2286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040" y="1024128"/>
            <a:ext cx="5532120" cy="384048"/>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 y="1088136"/>
            <a:ext cx="3657600" cy="274320"/>
          </a:xfrm>
          <a:prstGeom prst="rect">
            <a:avLst/>
          </a:prstGeom>
          <a:noFill/>
        </p:spPr>
        <p:txBody>
          <a:bodyPr wrap="square">
            <a:spAutoFit/>
          </a:bodyPr>
          <a:lstStyle/>
          <a:p>
            <a:pPr algn="l"/>
            <a:r>
              <a:rPr sz="1300" b="1" i="0">
                <a:solidFill>
                  <a:srgbClr val="FFFFFF"/>
                </a:solidFill>
                <a:latin typeface="Calibri"/>
              </a:rPr>
              <a:t>NW lag sensitivity</a:t>
            </a:r>
          </a:p>
        </p:txBody>
      </p:sp>
      <p:sp>
        <p:nvSpPr>
          <p:cNvPr id="9" name="TextBox 8"/>
          <p:cNvSpPr txBox="1"/>
          <p:nvPr/>
        </p:nvSpPr>
        <p:spPr>
          <a:xfrm>
            <a:off x="4069079" y="1088136"/>
            <a:ext cx="1691640" cy="274320"/>
          </a:xfrm>
          <a:prstGeom prst="rect">
            <a:avLst/>
          </a:prstGeom>
          <a:noFill/>
        </p:spPr>
        <p:txBody>
          <a:bodyPr wrap="square">
            <a:spAutoFit/>
          </a:bodyPr>
          <a:lstStyle/>
          <a:p>
            <a:pPr algn="r"/>
            <a:r>
              <a:rPr sz="1200" b="1" i="0">
                <a:solidFill>
                  <a:srgbClr val="1A7A4A"/>
                </a:solidFill>
                <a:latin typeface="Calibri"/>
              </a:rPr>
              <a:t>✅  PASS</a:t>
            </a:r>
          </a:p>
        </p:txBody>
      </p:sp>
      <p:sp>
        <p:nvSpPr>
          <p:cNvPr id="10" name="TextBox 9"/>
          <p:cNvSpPr txBox="1"/>
          <p:nvPr/>
        </p:nvSpPr>
        <p:spPr>
          <a:xfrm>
            <a:off x="429768" y="1527048"/>
            <a:ext cx="5321808" cy="1600200"/>
          </a:xfrm>
          <a:prstGeom prst="rect">
            <a:avLst/>
          </a:prstGeom>
          <a:noFill/>
        </p:spPr>
        <p:txBody>
          <a:bodyPr wrap="square">
            <a:spAutoFit/>
          </a:bodyPr>
          <a:lstStyle/>
          <a:p>
            <a:pPr algn="l"/>
            <a:r>
              <a:rPr sz="1300" b="0" i="0">
                <a:solidFill>
                  <a:srgbClr val="1A1A2E"/>
                </a:solidFill>
                <a:latin typeface="Calibri"/>
              </a:rPr>
              <a:t>β₁ and β₃ stable across all lag choices
(−5.95 and −11.30, p &lt; 0.01 throughout)</a:t>
            </a:r>
          </a:p>
        </p:txBody>
      </p:sp>
      <p:sp>
        <p:nvSpPr>
          <p:cNvPr id="11" name="Rectangle 10"/>
          <p:cNvSpPr/>
          <p:nvPr/>
        </p:nvSpPr>
        <p:spPr>
          <a:xfrm>
            <a:off x="6126480" y="1024128"/>
            <a:ext cx="5532120" cy="2286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26480" y="1024128"/>
            <a:ext cx="5532120" cy="384048"/>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17920" y="1088136"/>
            <a:ext cx="3657600" cy="274320"/>
          </a:xfrm>
          <a:prstGeom prst="rect">
            <a:avLst/>
          </a:prstGeom>
          <a:noFill/>
        </p:spPr>
        <p:txBody>
          <a:bodyPr wrap="square">
            <a:spAutoFit/>
          </a:bodyPr>
          <a:lstStyle/>
          <a:p>
            <a:pPr algn="l"/>
            <a:r>
              <a:rPr sz="1300" b="1" i="0">
                <a:solidFill>
                  <a:srgbClr val="FFFFFF"/>
                </a:solidFill>
                <a:latin typeface="Calibri"/>
              </a:rPr>
              <a:t>Drop pre-attestation period</a:t>
            </a:r>
          </a:p>
        </p:txBody>
      </p:sp>
      <p:sp>
        <p:nvSpPr>
          <p:cNvPr id="14" name="TextBox 13"/>
          <p:cNvSpPr txBox="1"/>
          <p:nvPr/>
        </p:nvSpPr>
        <p:spPr>
          <a:xfrm>
            <a:off x="9875519" y="1088136"/>
            <a:ext cx="1691640" cy="274320"/>
          </a:xfrm>
          <a:prstGeom prst="rect">
            <a:avLst/>
          </a:prstGeom>
          <a:noFill/>
        </p:spPr>
        <p:txBody>
          <a:bodyPr wrap="square">
            <a:spAutoFit/>
          </a:bodyPr>
          <a:lstStyle/>
          <a:p>
            <a:pPr algn="r"/>
            <a:r>
              <a:rPr sz="1200" b="1" i="0">
                <a:solidFill>
                  <a:srgbClr val="1A7A4A"/>
                </a:solidFill>
                <a:latin typeface="Calibri"/>
              </a:rPr>
              <a:t>✅  PASS</a:t>
            </a:r>
          </a:p>
        </p:txBody>
      </p:sp>
      <p:sp>
        <p:nvSpPr>
          <p:cNvPr id="15" name="TextBox 14"/>
          <p:cNvSpPr txBox="1"/>
          <p:nvPr/>
        </p:nvSpPr>
        <p:spPr>
          <a:xfrm>
            <a:off x="6236208" y="1527048"/>
            <a:ext cx="5321808" cy="1600200"/>
          </a:xfrm>
          <a:prstGeom prst="rect">
            <a:avLst/>
          </a:prstGeom>
          <a:noFill/>
        </p:spPr>
        <p:txBody>
          <a:bodyPr wrap="square">
            <a:spAutoFit/>
          </a:bodyPr>
          <a:lstStyle/>
          <a:p>
            <a:pPr algn="l"/>
            <a:r>
              <a:rPr sz="1300" b="0" i="0">
                <a:solidFill>
                  <a:srgbClr val="1A1A2E"/>
                </a:solidFill>
                <a:latin typeface="Calibri"/>
              </a:rPr>
              <a:t>N = 61  →  β₁ = −8.04*** (p &lt; 0.001)
β₃ = −7.97** (p = 0.008)  |  Threshold unchanged</a:t>
            </a:r>
          </a:p>
        </p:txBody>
      </p:sp>
      <p:sp>
        <p:nvSpPr>
          <p:cNvPr id="16" name="Rectangle 15"/>
          <p:cNvSpPr/>
          <p:nvPr/>
        </p:nvSpPr>
        <p:spPr>
          <a:xfrm>
            <a:off x="320040" y="3447288"/>
            <a:ext cx="5532120" cy="2286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20040" y="3447288"/>
            <a:ext cx="5532120" cy="384048"/>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11480" y="3511296"/>
            <a:ext cx="3657600" cy="274320"/>
          </a:xfrm>
          <a:prstGeom prst="rect">
            <a:avLst/>
          </a:prstGeom>
          <a:noFill/>
        </p:spPr>
        <p:txBody>
          <a:bodyPr wrap="square">
            <a:spAutoFit/>
          </a:bodyPr>
          <a:lstStyle/>
          <a:p>
            <a:pPr algn="l"/>
            <a:r>
              <a:rPr sz="1300" b="1" i="0">
                <a:solidFill>
                  <a:srgbClr val="FFFFFF"/>
                </a:solidFill>
                <a:latin typeface="Calibri"/>
              </a:rPr>
              <a:t>Mean-centering</a:t>
            </a:r>
          </a:p>
        </p:txBody>
      </p:sp>
      <p:sp>
        <p:nvSpPr>
          <p:cNvPr id="19" name="TextBox 18"/>
          <p:cNvSpPr txBox="1"/>
          <p:nvPr/>
        </p:nvSpPr>
        <p:spPr>
          <a:xfrm>
            <a:off x="4069079" y="3511296"/>
            <a:ext cx="1691640" cy="274320"/>
          </a:xfrm>
          <a:prstGeom prst="rect">
            <a:avLst/>
          </a:prstGeom>
          <a:noFill/>
        </p:spPr>
        <p:txBody>
          <a:bodyPr wrap="square">
            <a:spAutoFit/>
          </a:bodyPr>
          <a:lstStyle/>
          <a:p>
            <a:pPr algn="r"/>
            <a:r>
              <a:rPr sz="1200" b="1" i="0">
                <a:solidFill>
                  <a:srgbClr val="1A7A4A"/>
                </a:solidFill>
                <a:latin typeface="Calibri"/>
              </a:rPr>
              <a:t>✅  PASS</a:t>
            </a:r>
          </a:p>
        </p:txBody>
      </p:sp>
      <p:sp>
        <p:nvSpPr>
          <p:cNvPr id="20" name="TextBox 19"/>
          <p:cNvSpPr txBox="1"/>
          <p:nvPr/>
        </p:nvSpPr>
        <p:spPr>
          <a:xfrm>
            <a:off x="429768" y="3950208"/>
            <a:ext cx="5321808" cy="1600200"/>
          </a:xfrm>
          <a:prstGeom prst="rect">
            <a:avLst/>
          </a:prstGeom>
          <a:noFill/>
        </p:spPr>
        <p:txBody>
          <a:bodyPr wrap="square">
            <a:spAutoFit/>
          </a:bodyPr>
          <a:lstStyle/>
          <a:p>
            <a:pPr algn="l"/>
            <a:r>
              <a:rPr sz="1300" b="0" i="0">
                <a:solidFill>
                  <a:srgbClr val="1A1A2E"/>
                </a:solidFill>
                <a:latin typeface="Calibri"/>
              </a:rPr>
              <a:t>VIF reduced from 24/32 to 5.7/7.2
Coefficients and significance unchanged</a:t>
            </a:r>
          </a:p>
        </p:txBody>
      </p:sp>
      <p:sp>
        <p:nvSpPr>
          <p:cNvPr id="21" name="Rectangle 20"/>
          <p:cNvSpPr/>
          <p:nvPr/>
        </p:nvSpPr>
        <p:spPr>
          <a:xfrm>
            <a:off x="6126480" y="3447288"/>
            <a:ext cx="5532120" cy="2286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126480" y="3447288"/>
            <a:ext cx="5532120" cy="384048"/>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17920" y="3511296"/>
            <a:ext cx="3657600" cy="274320"/>
          </a:xfrm>
          <a:prstGeom prst="rect">
            <a:avLst/>
          </a:prstGeom>
          <a:noFill/>
        </p:spPr>
        <p:txBody>
          <a:bodyPr wrap="square">
            <a:spAutoFit/>
          </a:bodyPr>
          <a:lstStyle/>
          <a:p>
            <a:pPr algn="l"/>
            <a:r>
              <a:rPr sz="1300" b="1" i="0">
                <a:solidFill>
                  <a:srgbClr val="FFFFFF"/>
                </a:solidFill>
                <a:latin typeface="Calibri"/>
              </a:rPr>
              <a:t>First-differenced</a:t>
            </a:r>
          </a:p>
        </p:txBody>
      </p:sp>
      <p:sp>
        <p:nvSpPr>
          <p:cNvPr id="24" name="TextBox 23"/>
          <p:cNvSpPr txBox="1"/>
          <p:nvPr/>
        </p:nvSpPr>
        <p:spPr>
          <a:xfrm>
            <a:off x="9875519" y="3511296"/>
            <a:ext cx="1691640" cy="274320"/>
          </a:xfrm>
          <a:prstGeom prst="rect">
            <a:avLst/>
          </a:prstGeom>
          <a:noFill/>
        </p:spPr>
        <p:txBody>
          <a:bodyPr wrap="square">
            <a:spAutoFit/>
          </a:bodyPr>
          <a:lstStyle/>
          <a:p>
            <a:pPr algn="r"/>
            <a:r>
              <a:rPr sz="1200" b="1" i="0">
                <a:solidFill>
                  <a:srgbClr val="D4632A"/>
                </a:solidFill>
                <a:latin typeface="Calibri"/>
              </a:rPr>
              <a:t>⚠️  PARTIAL</a:t>
            </a:r>
          </a:p>
        </p:txBody>
      </p:sp>
      <p:sp>
        <p:nvSpPr>
          <p:cNvPr id="25" name="TextBox 24"/>
          <p:cNvSpPr txBox="1"/>
          <p:nvPr/>
        </p:nvSpPr>
        <p:spPr>
          <a:xfrm>
            <a:off x="6236208" y="3950208"/>
            <a:ext cx="5321808" cy="1600200"/>
          </a:xfrm>
          <a:prstGeom prst="rect">
            <a:avLst/>
          </a:prstGeom>
          <a:noFill/>
        </p:spPr>
        <p:txBody>
          <a:bodyPr wrap="square">
            <a:spAutoFit/>
          </a:bodyPr>
          <a:lstStyle/>
          <a:p>
            <a:pPr algn="l"/>
            <a:r>
              <a:rPr sz="1300" b="0" i="0">
                <a:solidFill>
                  <a:srgbClr val="1A1A2E"/>
                </a:solidFill>
                <a:latin typeface="Calibri"/>
              </a:rPr>
              <a:t>β₁ and β₃ not significant in differences
Level spec captures slow structural relationship;
event study provides causal identification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Summary of Results</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12</a:t>
            </a:r>
          </a:p>
        </p:txBody>
      </p:sp>
      <p:sp>
        <p:nvSpPr>
          <p:cNvPr id="6" name="Rectangle 5"/>
          <p:cNvSpPr/>
          <p:nvPr/>
        </p:nvSpPr>
        <p:spPr>
          <a:xfrm>
            <a:off x="320040" y="1005840"/>
            <a:ext cx="502920" cy="850392"/>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20040" y="1188720"/>
            <a:ext cx="502920" cy="502920"/>
          </a:xfrm>
          <a:prstGeom prst="rect">
            <a:avLst/>
          </a:prstGeom>
          <a:noFill/>
        </p:spPr>
        <p:txBody>
          <a:bodyPr wrap="square">
            <a:spAutoFit/>
          </a:bodyPr>
          <a:lstStyle/>
          <a:p>
            <a:pPr algn="ctr"/>
            <a:r>
              <a:rPr sz="1800" b="0" i="0">
                <a:solidFill>
                  <a:srgbClr val="FFFFFF"/>
                </a:solidFill>
                <a:latin typeface="Calibri"/>
              </a:rPr>
              <a:t>✅</a:t>
            </a:r>
          </a:p>
        </p:txBody>
      </p:sp>
      <p:sp>
        <p:nvSpPr>
          <p:cNvPr id="8" name="Rectangle 7"/>
          <p:cNvSpPr/>
          <p:nvPr/>
        </p:nvSpPr>
        <p:spPr>
          <a:xfrm>
            <a:off x="868680" y="1005840"/>
            <a:ext cx="10972800" cy="85039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1060704"/>
            <a:ext cx="10698480" cy="329184"/>
          </a:xfrm>
          <a:prstGeom prst="rect">
            <a:avLst/>
          </a:prstGeom>
          <a:noFill/>
        </p:spPr>
        <p:txBody>
          <a:bodyPr wrap="square">
            <a:spAutoFit/>
          </a:bodyPr>
          <a:lstStyle/>
          <a:p>
            <a:pPr algn="l"/>
            <a:r>
              <a:rPr sz="1500" b="1" i="0">
                <a:solidFill>
                  <a:srgbClr val="1B3A72"/>
                </a:solidFill>
                <a:latin typeface="Calibri"/>
              </a:rPr>
              <a:t>Privilege amplification confirmed</a:t>
            </a:r>
          </a:p>
        </p:txBody>
      </p:sp>
      <p:sp>
        <p:nvSpPr>
          <p:cNvPr id="10" name="TextBox 9"/>
          <p:cNvSpPr txBox="1"/>
          <p:nvPr/>
        </p:nvSpPr>
        <p:spPr>
          <a:xfrm>
            <a:off x="1005840" y="1426464"/>
            <a:ext cx="10698480" cy="365760"/>
          </a:xfrm>
          <a:prstGeom prst="rect">
            <a:avLst/>
          </a:prstGeom>
          <a:noFill/>
        </p:spPr>
        <p:txBody>
          <a:bodyPr wrap="square">
            <a:spAutoFit/>
          </a:bodyPr>
          <a:lstStyle/>
          <a:p>
            <a:pPr algn="l"/>
            <a:r>
              <a:rPr sz="1300" b="0" i="0">
                <a:solidFill>
                  <a:srgbClr val="1A1A2E"/>
                </a:solidFill>
                <a:latin typeface="Calibri"/>
              </a:rPr>
              <a:t>β₁ = −5.95***  |  1 SD supply growth → −59 bp spread compression</a:t>
            </a:r>
          </a:p>
        </p:txBody>
      </p:sp>
      <p:sp>
        <p:nvSpPr>
          <p:cNvPr id="11" name="Rectangle 10"/>
          <p:cNvSpPr/>
          <p:nvPr/>
        </p:nvSpPr>
        <p:spPr>
          <a:xfrm>
            <a:off x="320040" y="1993392"/>
            <a:ext cx="502920" cy="850392"/>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0040" y="2176272"/>
            <a:ext cx="502920" cy="502920"/>
          </a:xfrm>
          <a:prstGeom prst="rect">
            <a:avLst/>
          </a:prstGeom>
          <a:noFill/>
        </p:spPr>
        <p:txBody>
          <a:bodyPr wrap="square">
            <a:spAutoFit/>
          </a:bodyPr>
          <a:lstStyle/>
          <a:p>
            <a:pPr algn="ctr"/>
            <a:r>
              <a:rPr sz="1800" b="0" i="0">
                <a:solidFill>
                  <a:srgbClr val="FFFFFF"/>
                </a:solidFill>
                <a:latin typeface="Calibri"/>
              </a:rPr>
              <a:t>✅</a:t>
            </a:r>
          </a:p>
        </p:txBody>
      </p:sp>
      <p:sp>
        <p:nvSpPr>
          <p:cNvPr id="13" name="Rectangle 12"/>
          <p:cNvSpPr/>
          <p:nvPr/>
        </p:nvSpPr>
        <p:spPr>
          <a:xfrm>
            <a:off x="868680" y="1993392"/>
            <a:ext cx="10972800" cy="8503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05840" y="2048256"/>
            <a:ext cx="10698480" cy="329184"/>
          </a:xfrm>
          <a:prstGeom prst="rect">
            <a:avLst/>
          </a:prstGeom>
          <a:noFill/>
        </p:spPr>
        <p:txBody>
          <a:bodyPr wrap="square">
            <a:spAutoFit/>
          </a:bodyPr>
          <a:lstStyle/>
          <a:p>
            <a:pPr algn="l"/>
            <a:r>
              <a:rPr sz="1500" b="1" i="0">
                <a:solidFill>
                  <a:srgbClr val="1B3A72"/>
                </a:solidFill>
                <a:latin typeface="Calibri"/>
              </a:rPr>
              <a:t>Buffer interaction significant</a:t>
            </a:r>
          </a:p>
        </p:txBody>
      </p:sp>
      <p:sp>
        <p:nvSpPr>
          <p:cNvPr id="15" name="TextBox 14"/>
          <p:cNvSpPr txBox="1"/>
          <p:nvPr/>
        </p:nvSpPr>
        <p:spPr>
          <a:xfrm>
            <a:off x="1005840" y="2414016"/>
            <a:ext cx="10698480" cy="365760"/>
          </a:xfrm>
          <a:prstGeom prst="rect">
            <a:avLst/>
          </a:prstGeom>
          <a:noFill/>
        </p:spPr>
        <p:txBody>
          <a:bodyPr wrap="square">
            <a:spAutoFit/>
          </a:bodyPr>
          <a:lstStyle/>
          <a:p>
            <a:pPr algn="l"/>
            <a:r>
              <a:rPr sz="1300" b="0" i="0">
                <a:solidFill>
                  <a:srgbClr val="1A1A2E"/>
                </a:solidFill>
                <a:latin typeface="Calibri"/>
              </a:rPr>
              <a:t>β₃ = −11.30***  |  Lower buffer reverses the privilege amplification</a:t>
            </a:r>
          </a:p>
        </p:txBody>
      </p:sp>
      <p:sp>
        <p:nvSpPr>
          <p:cNvPr id="16" name="Rectangle 15"/>
          <p:cNvSpPr/>
          <p:nvPr/>
        </p:nvSpPr>
        <p:spPr>
          <a:xfrm>
            <a:off x="320040" y="2980944"/>
            <a:ext cx="502920" cy="850392"/>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0040" y="3163824"/>
            <a:ext cx="502920" cy="502920"/>
          </a:xfrm>
          <a:prstGeom prst="rect">
            <a:avLst/>
          </a:prstGeom>
          <a:noFill/>
        </p:spPr>
        <p:txBody>
          <a:bodyPr wrap="square">
            <a:spAutoFit/>
          </a:bodyPr>
          <a:lstStyle/>
          <a:p>
            <a:pPr algn="ctr"/>
            <a:r>
              <a:rPr sz="1800" b="0" i="0">
                <a:solidFill>
                  <a:srgbClr val="FFFFFF"/>
                </a:solidFill>
                <a:latin typeface="Calibri"/>
              </a:rPr>
              <a:t>✅</a:t>
            </a:r>
          </a:p>
        </p:txBody>
      </p:sp>
      <p:sp>
        <p:nvSpPr>
          <p:cNvPr id="18" name="Rectangle 17"/>
          <p:cNvSpPr/>
          <p:nvPr/>
        </p:nvSpPr>
        <p:spPr>
          <a:xfrm>
            <a:off x="868680" y="2980944"/>
            <a:ext cx="10972800" cy="85039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05840" y="3035808"/>
            <a:ext cx="10698480" cy="329184"/>
          </a:xfrm>
          <a:prstGeom prst="rect">
            <a:avLst/>
          </a:prstGeom>
          <a:noFill/>
        </p:spPr>
        <p:txBody>
          <a:bodyPr wrap="square">
            <a:spAutoFit/>
          </a:bodyPr>
          <a:lstStyle/>
          <a:p>
            <a:pPr algn="l"/>
            <a:r>
              <a:rPr sz="1500" b="1" i="0">
                <a:solidFill>
                  <a:srgbClr val="1B3A72"/>
                </a:solidFill>
                <a:latin typeface="Calibri"/>
              </a:rPr>
              <a:t>Reserve adequacy threshold identified</a:t>
            </a:r>
          </a:p>
        </p:txBody>
      </p:sp>
      <p:sp>
        <p:nvSpPr>
          <p:cNvPr id="20" name="TextBox 19"/>
          <p:cNvSpPr txBox="1"/>
          <p:nvPr/>
        </p:nvSpPr>
        <p:spPr>
          <a:xfrm>
            <a:off x="1005840" y="3401568"/>
            <a:ext cx="10698480" cy="365760"/>
          </a:xfrm>
          <a:prstGeom prst="rect">
            <a:avLst/>
          </a:prstGeom>
          <a:noFill/>
        </p:spPr>
        <p:txBody>
          <a:bodyPr wrap="square">
            <a:spAutoFit/>
          </a:bodyPr>
          <a:lstStyle/>
          <a:p>
            <a:pPr algn="l"/>
            <a:r>
              <a:rPr sz="1300" b="0" i="0">
                <a:solidFill>
                  <a:srgbClr val="1A1A2E"/>
                </a:solidFill>
                <a:latin typeface="Calibri"/>
              </a:rPr>
              <a:t>q* = −0.524, Bootstrap p &lt; 0.001  |  Treasury holdings must exceed 47.6% of supply</a:t>
            </a:r>
          </a:p>
        </p:txBody>
      </p:sp>
      <p:sp>
        <p:nvSpPr>
          <p:cNvPr id="21" name="Rectangle 20"/>
          <p:cNvSpPr/>
          <p:nvPr/>
        </p:nvSpPr>
        <p:spPr>
          <a:xfrm>
            <a:off x="320040" y="3968496"/>
            <a:ext cx="502920" cy="850392"/>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20040" y="4151376"/>
            <a:ext cx="502920" cy="502920"/>
          </a:xfrm>
          <a:prstGeom prst="rect">
            <a:avLst/>
          </a:prstGeom>
          <a:noFill/>
        </p:spPr>
        <p:txBody>
          <a:bodyPr wrap="square">
            <a:spAutoFit/>
          </a:bodyPr>
          <a:lstStyle/>
          <a:p>
            <a:pPr algn="ctr"/>
            <a:r>
              <a:rPr sz="1800" b="0" i="0">
                <a:solidFill>
                  <a:srgbClr val="FFFFFF"/>
                </a:solidFill>
                <a:latin typeface="Calibri"/>
              </a:rPr>
              <a:t>✅</a:t>
            </a:r>
          </a:p>
        </p:txBody>
      </p:sp>
      <p:sp>
        <p:nvSpPr>
          <p:cNvPr id="23" name="Rectangle 22"/>
          <p:cNvSpPr/>
          <p:nvPr/>
        </p:nvSpPr>
        <p:spPr>
          <a:xfrm>
            <a:off x="868680" y="3968496"/>
            <a:ext cx="10972800" cy="8503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05840" y="4023360"/>
            <a:ext cx="10698480" cy="329184"/>
          </a:xfrm>
          <a:prstGeom prst="rect">
            <a:avLst/>
          </a:prstGeom>
          <a:noFill/>
        </p:spPr>
        <p:txBody>
          <a:bodyPr wrap="square">
            <a:spAutoFit/>
          </a:bodyPr>
          <a:lstStyle/>
          <a:p>
            <a:pPr algn="l"/>
            <a:r>
              <a:rPr sz="1500" b="1" i="0">
                <a:solidFill>
                  <a:srgbClr val="1B3A72"/>
                </a:solidFill>
                <a:latin typeface="Calibri"/>
              </a:rPr>
              <a:t>Event study confirms asymmetry</a:t>
            </a:r>
          </a:p>
        </p:txBody>
      </p:sp>
      <p:sp>
        <p:nvSpPr>
          <p:cNvPr id="25" name="TextBox 24"/>
          <p:cNvSpPr txBox="1"/>
          <p:nvPr/>
        </p:nvSpPr>
        <p:spPr>
          <a:xfrm>
            <a:off x="1005840" y="4389120"/>
            <a:ext cx="10698480" cy="365760"/>
          </a:xfrm>
          <a:prstGeom prst="rect">
            <a:avLst/>
          </a:prstGeom>
          <a:noFill/>
        </p:spPr>
        <p:txBody>
          <a:bodyPr wrap="square">
            <a:spAutoFit/>
          </a:bodyPr>
          <a:lstStyle/>
          <a:p>
            <a:pPr algn="l"/>
            <a:r>
              <a:rPr sz="1300" b="0" i="0">
                <a:solidFill>
                  <a:srgbClr val="1A1A2E"/>
                </a:solidFill>
                <a:latin typeface="Calibri"/>
              </a:rPr>
              <a:t>Low-buffer runs: CAR +8.9 pp  vs.  High-buffer stress: CAR −18.0 pp  (Welch t = 15.2***)</a:t>
            </a:r>
          </a:p>
        </p:txBody>
      </p:sp>
      <p:sp>
        <p:nvSpPr>
          <p:cNvPr id="26" name="Rectangle 25"/>
          <p:cNvSpPr/>
          <p:nvPr/>
        </p:nvSpPr>
        <p:spPr>
          <a:xfrm>
            <a:off x="320040" y="4956048"/>
            <a:ext cx="502920" cy="850392"/>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20040" y="5138928"/>
            <a:ext cx="502920" cy="502920"/>
          </a:xfrm>
          <a:prstGeom prst="rect">
            <a:avLst/>
          </a:prstGeom>
          <a:noFill/>
        </p:spPr>
        <p:txBody>
          <a:bodyPr wrap="square">
            <a:spAutoFit/>
          </a:bodyPr>
          <a:lstStyle/>
          <a:p>
            <a:pPr algn="ctr"/>
            <a:r>
              <a:rPr sz="1800" b="0" i="0">
                <a:solidFill>
                  <a:srgbClr val="FFFFFF"/>
                </a:solidFill>
                <a:latin typeface="Calibri"/>
              </a:rPr>
              <a:t>⚠️</a:t>
            </a:r>
          </a:p>
        </p:txBody>
      </p:sp>
      <p:sp>
        <p:nvSpPr>
          <p:cNvPr id="28" name="Rectangle 27"/>
          <p:cNvSpPr/>
          <p:nvPr/>
        </p:nvSpPr>
        <p:spPr>
          <a:xfrm>
            <a:off x="868680" y="4956048"/>
            <a:ext cx="10972800" cy="85039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05840" y="5010912"/>
            <a:ext cx="10698480" cy="329184"/>
          </a:xfrm>
          <a:prstGeom prst="rect">
            <a:avLst/>
          </a:prstGeom>
          <a:noFill/>
        </p:spPr>
        <p:txBody>
          <a:bodyPr wrap="square">
            <a:spAutoFit/>
          </a:bodyPr>
          <a:lstStyle/>
          <a:p>
            <a:pPr algn="l"/>
            <a:r>
              <a:rPr sz="1500" b="1" i="0">
                <a:solidFill>
                  <a:srgbClr val="1B3A72"/>
                </a:solidFill>
                <a:latin typeface="Calibri"/>
              </a:rPr>
              <a:t>Stationarity caveat</a:t>
            </a:r>
          </a:p>
        </p:txBody>
      </p:sp>
      <p:sp>
        <p:nvSpPr>
          <p:cNvPr id="30" name="TextBox 29"/>
          <p:cNvSpPr txBox="1"/>
          <p:nvPr/>
        </p:nvSpPr>
        <p:spPr>
          <a:xfrm>
            <a:off x="1005840" y="5376672"/>
            <a:ext cx="10698480" cy="365760"/>
          </a:xfrm>
          <a:prstGeom prst="rect">
            <a:avLst/>
          </a:prstGeom>
          <a:noFill/>
        </p:spPr>
        <p:txBody>
          <a:bodyPr wrap="square">
            <a:spAutoFit/>
          </a:bodyPr>
          <a:lstStyle/>
          <a:p>
            <a:pPr algn="l"/>
            <a:r>
              <a:rPr sz="1300" b="0" i="0">
                <a:solidFill>
                  <a:srgbClr val="1A1A2E"/>
                </a:solidFill>
                <a:latin typeface="Calibri"/>
              </a:rPr>
              <a:t>Level results don't survive first-differencing; event study provides causal identification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Policy Implications</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13</a:t>
            </a:r>
          </a:p>
        </p:txBody>
      </p:sp>
      <p:sp>
        <p:nvSpPr>
          <p:cNvPr id="6" name="TextBox 5"/>
          <p:cNvSpPr txBox="1"/>
          <p:nvPr/>
        </p:nvSpPr>
        <p:spPr>
          <a:xfrm>
            <a:off x="365760" y="960120"/>
            <a:ext cx="11430000" cy="457200"/>
          </a:xfrm>
          <a:prstGeom prst="rect">
            <a:avLst/>
          </a:prstGeom>
          <a:noFill/>
        </p:spPr>
        <p:txBody>
          <a:bodyPr wrap="square">
            <a:spAutoFit/>
          </a:bodyPr>
          <a:lstStyle/>
          <a:p>
            <a:pPr algn="l"/>
            <a:r>
              <a:rPr sz="1400" b="0" i="1">
                <a:solidFill>
                  <a:srgbClr val="555566"/>
                </a:solidFill>
                <a:latin typeface="Calibri"/>
              </a:rPr>
              <a:t>Our threshold estimate provides a direct reference point at a moment when the US, EU, Japan, and Hong Kong are each finalising stablecoin reserve legislation.</a:t>
            </a:r>
          </a:p>
        </p:txBody>
      </p:sp>
      <p:sp>
        <p:nvSpPr>
          <p:cNvPr id="7" name="Rectangle 6"/>
          <p:cNvSpPr/>
          <p:nvPr/>
        </p:nvSpPr>
        <p:spPr>
          <a:xfrm>
            <a:off x="320040" y="1572768"/>
            <a:ext cx="5577840" cy="201168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572768"/>
            <a:ext cx="164592" cy="2011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76072" y="1682496"/>
            <a:ext cx="5212080" cy="347472"/>
          </a:xfrm>
          <a:prstGeom prst="rect">
            <a:avLst/>
          </a:prstGeom>
          <a:noFill/>
        </p:spPr>
        <p:txBody>
          <a:bodyPr wrap="square">
            <a:spAutoFit/>
          </a:bodyPr>
          <a:lstStyle/>
          <a:p>
            <a:pPr algn="l"/>
            <a:r>
              <a:rPr sz="1400" b="1" i="0">
                <a:solidFill>
                  <a:srgbClr val="1B3A72"/>
                </a:solidFill>
                <a:latin typeface="Calibri"/>
              </a:rPr>
              <a:t>Minimum reserve ratio</a:t>
            </a:r>
          </a:p>
        </p:txBody>
      </p:sp>
      <p:sp>
        <p:nvSpPr>
          <p:cNvPr id="10" name="TextBox 9"/>
          <p:cNvSpPr txBox="1"/>
          <p:nvPr/>
        </p:nvSpPr>
        <p:spPr>
          <a:xfrm>
            <a:off x="576072" y="2075688"/>
            <a:ext cx="5212080" cy="1371600"/>
          </a:xfrm>
          <a:prstGeom prst="rect">
            <a:avLst/>
          </a:prstGeom>
          <a:noFill/>
        </p:spPr>
        <p:txBody>
          <a:bodyPr wrap="square">
            <a:spAutoFit/>
          </a:bodyPr>
          <a:lstStyle/>
          <a:p>
            <a:pPr algn="l"/>
            <a:r>
              <a:rPr sz="1300" b="0" i="0">
                <a:solidFill>
                  <a:srgbClr val="1A1A2E"/>
                </a:solidFill>
                <a:latin typeface="Calibri"/>
              </a:rPr>
              <a:t>Require T-bill holdings ≥ 50% of outstanding supply — this places issuers outside the empirically identified crisis zone (q* = −0.524 → 47.6%).</a:t>
            </a:r>
          </a:p>
        </p:txBody>
      </p:sp>
      <p:sp>
        <p:nvSpPr>
          <p:cNvPr id="11" name="Rectangle 10"/>
          <p:cNvSpPr/>
          <p:nvPr/>
        </p:nvSpPr>
        <p:spPr>
          <a:xfrm>
            <a:off x="6217920" y="1572768"/>
            <a:ext cx="5577840" cy="201168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17920" y="1572768"/>
            <a:ext cx="164592" cy="2011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73952" y="1682496"/>
            <a:ext cx="5212080" cy="347472"/>
          </a:xfrm>
          <a:prstGeom prst="rect">
            <a:avLst/>
          </a:prstGeom>
          <a:noFill/>
        </p:spPr>
        <p:txBody>
          <a:bodyPr wrap="square">
            <a:spAutoFit/>
          </a:bodyPr>
          <a:lstStyle/>
          <a:p>
            <a:pPr algn="l"/>
            <a:r>
              <a:rPr sz="1400" b="1" i="0">
                <a:solidFill>
                  <a:srgbClr val="1B3A72"/>
                </a:solidFill>
                <a:latin typeface="Calibri"/>
              </a:rPr>
              <a:t>Liquidity-weighted requirements</a:t>
            </a:r>
          </a:p>
        </p:txBody>
      </p:sp>
      <p:sp>
        <p:nvSpPr>
          <p:cNvPr id="14" name="TextBox 13"/>
          <p:cNvSpPr txBox="1"/>
          <p:nvPr/>
        </p:nvSpPr>
        <p:spPr>
          <a:xfrm>
            <a:off x="6473952" y="2075688"/>
            <a:ext cx="5212080" cy="1371600"/>
          </a:xfrm>
          <a:prstGeom prst="rect">
            <a:avLst/>
          </a:prstGeom>
          <a:noFill/>
        </p:spPr>
        <p:txBody>
          <a:bodyPr wrap="square">
            <a:spAutoFit/>
          </a:bodyPr>
          <a:lstStyle/>
          <a:p>
            <a:pPr algn="l"/>
            <a:r>
              <a:rPr sz="1300" b="0" i="0">
                <a:solidFill>
                  <a:srgbClr val="1A1A2E"/>
                </a:solidFill>
                <a:latin typeface="Calibri"/>
              </a:rPr>
              <a:t>Not all T-bill holdings are equal. Short-duration bills can be sold faster. Weight reserves by remaining maturity, not just dollar amount.</a:t>
            </a:r>
          </a:p>
        </p:txBody>
      </p:sp>
      <p:sp>
        <p:nvSpPr>
          <p:cNvPr id="15" name="Rectangle 14"/>
          <p:cNvSpPr/>
          <p:nvPr/>
        </p:nvSpPr>
        <p:spPr>
          <a:xfrm>
            <a:off x="320040" y="3721608"/>
            <a:ext cx="5577840" cy="201168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20040" y="3721608"/>
            <a:ext cx="164592" cy="2011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76072" y="3831336"/>
            <a:ext cx="5212080" cy="347472"/>
          </a:xfrm>
          <a:prstGeom prst="rect">
            <a:avLst/>
          </a:prstGeom>
          <a:noFill/>
        </p:spPr>
        <p:txBody>
          <a:bodyPr wrap="square">
            <a:spAutoFit/>
          </a:bodyPr>
          <a:lstStyle/>
          <a:p>
            <a:pPr algn="l"/>
            <a:r>
              <a:rPr sz="1400" b="1" i="0">
                <a:solidFill>
                  <a:srgbClr val="1B3A72"/>
                </a:solidFill>
                <a:latin typeface="Calibri"/>
              </a:rPr>
              <a:t>Velocity-contingent buffers</a:t>
            </a:r>
          </a:p>
        </p:txBody>
      </p:sp>
      <p:sp>
        <p:nvSpPr>
          <p:cNvPr id="18" name="TextBox 17"/>
          <p:cNvSpPr txBox="1"/>
          <p:nvPr/>
        </p:nvSpPr>
        <p:spPr>
          <a:xfrm>
            <a:off x="576072" y="4224528"/>
            <a:ext cx="5212080" cy="1371600"/>
          </a:xfrm>
          <a:prstGeom prst="rect">
            <a:avLst/>
          </a:prstGeom>
          <a:noFill/>
        </p:spPr>
        <p:txBody>
          <a:bodyPr wrap="square">
            <a:spAutoFit/>
          </a:bodyPr>
          <a:lstStyle/>
          <a:p>
            <a:pPr algn="l"/>
            <a:r>
              <a:rPr sz="1300" b="0" i="0">
                <a:solidFill>
                  <a:srgbClr val="1A1A2E"/>
                </a:solidFill>
                <a:latin typeface="Calibri"/>
              </a:rPr>
              <a:t>Our velocity variable V (7-day rolling SD of supply changes) predicts stress. Higher recent redemption velocity → higher required buffer. Dynamic rules.</a:t>
            </a:r>
          </a:p>
        </p:txBody>
      </p:sp>
      <p:sp>
        <p:nvSpPr>
          <p:cNvPr id="19" name="Rectangle 18"/>
          <p:cNvSpPr/>
          <p:nvPr/>
        </p:nvSpPr>
        <p:spPr>
          <a:xfrm>
            <a:off x="6217920" y="3721608"/>
            <a:ext cx="5577840" cy="201168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17920" y="3721608"/>
            <a:ext cx="164592" cy="2011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73952" y="3831336"/>
            <a:ext cx="5212080" cy="347472"/>
          </a:xfrm>
          <a:prstGeom prst="rect">
            <a:avLst/>
          </a:prstGeom>
          <a:noFill/>
        </p:spPr>
        <p:txBody>
          <a:bodyPr wrap="square">
            <a:spAutoFit/>
          </a:bodyPr>
          <a:lstStyle/>
          <a:p>
            <a:pPr algn="l"/>
            <a:r>
              <a:rPr sz="1400" b="1" i="0">
                <a:solidFill>
                  <a:srgbClr val="1B3A72"/>
                </a:solidFill>
                <a:latin typeface="Calibri"/>
              </a:rPr>
              <a:t>Systemic size threshold</a:t>
            </a:r>
          </a:p>
        </p:txBody>
      </p:sp>
      <p:sp>
        <p:nvSpPr>
          <p:cNvPr id="22" name="TextBox 21"/>
          <p:cNvSpPr txBox="1"/>
          <p:nvPr/>
        </p:nvSpPr>
        <p:spPr>
          <a:xfrm>
            <a:off x="6473952" y="4224528"/>
            <a:ext cx="5212080" cy="1371600"/>
          </a:xfrm>
          <a:prstGeom prst="rect">
            <a:avLst/>
          </a:prstGeom>
          <a:noFill/>
        </p:spPr>
        <p:txBody>
          <a:bodyPr wrap="square">
            <a:spAutoFit/>
          </a:bodyPr>
          <a:lstStyle/>
          <a:p>
            <a:pPr algn="l"/>
            <a:r>
              <a:rPr sz="1300" b="0" i="0">
                <a:solidFill>
                  <a:srgbClr val="1A1A2E"/>
                </a:solidFill>
                <a:latin typeface="Calibri"/>
              </a:rPr>
              <a:t>Fragility is proportional to scale. A $100bn issuer's forced liquidation is 10× more disruptive than a $10bn issuer. Tiered requirements by AUM.</a:t>
            </a:r>
          </a:p>
        </p:txBody>
      </p:sp>
      <p:sp>
        <p:nvSpPr>
          <p:cNvPr id="23" name="Rectangle 22"/>
          <p:cNvSpPr/>
          <p:nvPr/>
        </p:nvSpPr>
        <p:spPr>
          <a:xfrm>
            <a:off x="0" y="5596128"/>
            <a:ext cx="12188952" cy="1097280"/>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48640" y="5760720"/>
            <a:ext cx="11274552" cy="804672"/>
          </a:xfrm>
          <a:prstGeom prst="rect">
            <a:avLst/>
          </a:prstGeom>
          <a:noFill/>
        </p:spPr>
        <p:txBody>
          <a:bodyPr wrap="square">
            <a:spAutoFit/>
          </a:bodyPr>
          <a:lstStyle/>
          <a:p>
            <a:pPr algn="ctr"/>
            <a:r>
              <a:rPr sz="1700" b="1" i="0">
                <a:solidFill>
                  <a:srgbClr val="FFFFFF"/>
                </a:solidFill>
                <a:latin typeface="Calibri"/>
              </a:rPr>
              <a:t>Policy bottom line: T-bill reserves ≥ 50% of supply keeps issuers outside the crisis zone.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Conclusion</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14</a:t>
            </a:r>
          </a:p>
        </p:txBody>
      </p:sp>
      <p:sp>
        <p:nvSpPr>
          <p:cNvPr id="6" name="Rectangle 5"/>
          <p:cNvSpPr/>
          <p:nvPr/>
        </p:nvSpPr>
        <p:spPr>
          <a:xfrm>
            <a:off x="320040" y="960120"/>
            <a:ext cx="11521440" cy="105156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005840"/>
            <a:ext cx="11247120" cy="960120"/>
          </a:xfrm>
          <a:prstGeom prst="rect">
            <a:avLst/>
          </a:prstGeom>
          <a:noFill/>
        </p:spPr>
        <p:txBody>
          <a:bodyPr wrap="square">
            <a:spAutoFit/>
          </a:bodyPr>
          <a:lstStyle/>
          <a:p>
            <a:pPr algn="l"/>
            <a:r>
              <a:rPr sz="1500" b="0" i="0" dirty="0">
                <a:solidFill>
                  <a:srgbClr val="1B3A72"/>
                </a:solidFill>
                <a:latin typeface="Calibri"/>
              </a:rPr>
              <a:t>Large-scale USD-pegged stablecoins introduce a two-sided 'New Triffin Dilemma': amplifying U.S. exorbitant privilege in normal times, while embedding a fragility that can rapidly reverse that benefit when reserve buffers fall below a critical threshold.</a:t>
            </a:r>
          </a:p>
        </p:txBody>
      </p:sp>
      <p:sp>
        <p:nvSpPr>
          <p:cNvPr id="8" name="Rectangle 7"/>
          <p:cNvSpPr/>
          <p:nvPr/>
        </p:nvSpPr>
        <p:spPr>
          <a:xfrm>
            <a:off x="320040" y="2148840"/>
            <a:ext cx="5577840" cy="1417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20040" y="2148840"/>
            <a:ext cx="1188720" cy="141732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606040"/>
            <a:ext cx="1097280" cy="502920"/>
          </a:xfrm>
          <a:prstGeom prst="rect">
            <a:avLst/>
          </a:prstGeom>
          <a:noFill/>
        </p:spPr>
        <p:txBody>
          <a:bodyPr wrap="square">
            <a:spAutoFit/>
          </a:bodyPr>
          <a:lstStyle/>
          <a:p>
            <a:pPr algn="ctr"/>
            <a:r>
              <a:rPr sz="1300" b="1" i="0">
                <a:solidFill>
                  <a:srgbClr val="FFFFFF"/>
                </a:solidFill>
                <a:latin typeface="Calibri"/>
              </a:rPr>
              <a:t>Theory</a:t>
            </a:r>
          </a:p>
        </p:txBody>
      </p:sp>
      <p:sp>
        <p:nvSpPr>
          <p:cNvPr id="11" name="TextBox 10"/>
          <p:cNvSpPr txBox="1"/>
          <p:nvPr/>
        </p:nvSpPr>
        <p:spPr>
          <a:xfrm>
            <a:off x="1581912" y="2286000"/>
            <a:ext cx="4206240" cy="1143000"/>
          </a:xfrm>
          <a:prstGeom prst="rect">
            <a:avLst/>
          </a:prstGeom>
          <a:noFill/>
        </p:spPr>
        <p:txBody>
          <a:bodyPr wrap="square">
            <a:spAutoFit/>
          </a:bodyPr>
          <a:lstStyle/>
          <a:p>
            <a:pPr algn="l"/>
            <a:r>
              <a:rPr sz="1300" b="0" i="0">
                <a:solidFill>
                  <a:srgbClr val="1A1A2E"/>
                </a:solidFill>
                <a:latin typeface="Calibri"/>
              </a:rPr>
              <a:t>Extended Maggiori (2017) with stablecoin supply S
and reserve buffer B — asymmetric mechanism</a:t>
            </a:r>
          </a:p>
        </p:txBody>
      </p:sp>
      <p:sp>
        <p:nvSpPr>
          <p:cNvPr id="12" name="Rectangle 11"/>
          <p:cNvSpPr/>
          <p:nvPr/>
        </p:nvSpPr>
        <p:spPr>
          <a:xfrm>
            <a:off x="6126480" y="2148840"/>
            <a:ext cx="5577840" cy="1417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126480" y="2148840"/>
            <a:ext cx="1188720" cy="141732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72200" y="2606040"/>
            <a:ext cx="1097280" cy="502920"/>
          </a:xfrm>
          <a:prstGeom prst="rect">
            <a:avLst/>
          </a:prstGeom>
          <a:noFill/>
        </p:spPr>
        <p:txBody>
          <a:bodyPr wrap="square">
            <a:spAutoFit/>
          </a:bodyPr>
          <a:lstStyle/>
          <a:p>
            <a:pPr algn="ctr"/>
            <a:r>
              <a:rPr sz="1300" b="1" i="0">
                <a:solidFill>
                  <a:srgbClr val="FFFFFF"/>
                </a:solidFill>
                <a:latin typeface="Calibri"/>
              </a:rPr>
              <a:t>Empirics 1</a:t>
            </a:r>
          </a:p>
        </p:txBody>
      </p:sp>
      <p:sp>
        <p:nvSpPr>
          <p:cNvPr id="15" name="TextBox 14"/>
          <p:cNvSpPr txBox="1"/>
          <p:nvPr/>
        </p:nvSpPr>
        <p:spPr>
          <a:xfrm>
            <a:off x="7388352" y="2286000"/>
            <a:ext cx="4206240" cy="1143000"/>
          </a:xfrm>
          <a:prstGeom prst="rect">
            <a:avLst/>
          </a:prstGeom>
          <a:noFill/>
        </p:spPr>
        <p:txBody>
          <a:bodyPr wrap="square">
            <a:spAutoFit/>
          </a:bodyPr>
          <a:lstStyle/>
          <a:p>
            <a:pPr algn="l"/>
            <a:r>
              <a:rPr sz="1300" b="0" i="0">
                <a:solidFill>
                  <a:srgbClr val="1A1A2E"/>
                </a:solidFill>
                <a:latin typeface="Calibri"/>
              </a:rPr>
              <a:t>β₁ = −5.95*** (privilege amplification)
β₃ = −11.30*** (buffer-conditioned fragility)</a:t>
            </a:r>
          </a:p>
        </p:txBody>
      </p:sp>
      <p:sp>
        <p:nvSpPr>
          <p:cNvPr id="16" name="Rectangle 15"/>
          <p:cNvSpPr/>
          <p:nvPr/>
        </p:nvSpPr>
        <p:spPr>
          <a:xfrm>
            <a:off x="320040" y="3703320"/>
            <a:ext cx="5577840" cy="1417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20040" y="3703320"/>
            <a:ext cx="1188720" cy="141732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4160520"/>
            <a:ext cx="1097280" cy="502920"/>
          </a:xfrm>
          <a:prstGeom prst="rect">
            <a:avLst/>
          </a:prstGeom>
          <a:noFill/>
        </p:spPr>
        <p:txBody>
          <a:bodyPr wrap="square">
            <a:spAutoFit/>
          </a:bodyPr>
          <a:lstStyle/>
          <a:p>
            <a:pPr algn="ctr"/>
            <a:r>
              <a:rPr sz="1300" b="1" i="0">
                <a:solidFill>
                  <a:srgbClr val="FFFFFF"/>
                </a:solidFill>
                <a:latin typeface="Calibri"/>
              </a:rPr>
              <a:t>Empirics 2</a:t>
            </a:r>
          </a:p>
        </p:txBody>
      </p:sp>
      <p:sp>
        <p:nvSpPr>
          <p:cNvPr id="19" name="TextBox 18"/>
          <p:cNvSpPr txBox="1"/>
          <p:nvPr/>
        </p:nvSpPr>
        <p:spPr>
          <a:xfrm>
            <a:off x="1581912" y="3840480"/>
            <a:ext cx="4206240" cy="1143000"/>
          </a:xfrm>
          <a:prstGeom prst="rect">
            <a:avLst/>
          </a:prstGeom>
          <a:noFill/>
        </p:spPr>
        <p:txBody>
          <a:bodyPr wrap="square">
            <a:spAutoFit/>
          </a:bodyPr>
          <a:lstStyle/>
          <a:p>
            <a:pPr algn="l"/>
            <a:r>
              <a:rPr sz="1300" b="0" i="0">
                <a:solidFill>
                  <a:srgbClr val="1A1A2E"/>
                </a:solidFill>
                <a:latin typeface="Calibri"/>
              </a:rPr>
              <a:t>First data-driven threshold: q* = −0.524
Bootstrap p &lt; 0.001 — applicable to regulation</a:t>
            </a:r>
          </a:p>
        </p:txBody>
      </p:sp>
      <p:sp>
        <p:nvSpPr>
          <p:cNvPr id="20" name="Rectangle 19"/>
          <p:cNvSpPr/>
          <p:nvPr/>
        </p:nvSpPr>
        <p:spPr>
          <a:xfrm>
            <a:off x="6126480" y="3703320"/>
            <a:ext cx="5577840" cy="1417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126480" y="3703320"/>
            <a:ext cx="1188720" cy="141732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172200" y="4160520"/>
            <a:ext cx="1097280" cy="502920"/>
          </a:xfrm>
          <a:prstGeom prst="rect">
            <a:avLst/>
          </a:prstGeom>
          <a:noFill/>
        </p:spPr>
        <p:txBody>
          <a:bodyPr wrap="square">
            <a:spAutoFit/>
          </a:bodyPr>
          <a:lstStyle/>
          <a:p>
            <a:pPr algn="ctr"/>
            <a:r>
              <a:rPr sz="1300" b="1" i="0">
                <a:solidFill>
                  <a:srgbClr val="FFFFFF"/>
                </a:solidFill>
                <a:latin typeface="Calibri"/>
              </a:rPr>
              <a:t>Empirics 3</a:t>
            </a:r>
          </a:p>
        </p:txBody>
      </p:sp>
      <p:sp>
        <p:nvSpPr>
          <p:cNvPr id="23" name="TextBox 22"/>
          <p:cNvSpPr txBox="1"/>
          <p:nvPr/>
        </p:nvSpPr>
        <p:spPr>
          <a:xfrm>
            <a:off x="7388352" y="3840480"/>
            <a:ext cx="4206240" cy="1143000"/>
          </a:xfrm>
          <a:prstGeom prst="rect">
            <a:avLst/>
          </a:prstGeom>
          <a:noFill/>
        </p:spPr>
        <p:txBody>
          <a:bodyPr wrap="square">
            <a:spAutoFit/>
          </a:bodyPr>
          <a:lstStyle/>
          <a:p>
            <a:pPr algn="l"/>
            <a:r>
              <a:rPr sz="1300" b="0" i="0">
                <a:solidFill>
                  <a:srgbClr val="1A1A2E"/>
                </a:solidFill>
                <a:latin typeface="Calibri"/>
              </a:rPr>
              <a:t>27 pp CAR swing between low- and
high-buffer stress episodes</a:t>
            </a:r>
          </a:p>
        </p:txBody>
      </p:sp>
      <p:sp>
        <p:nvSpPr>
          <p:cNvPr id="24" name="TextBox 23"/>
          <p:cNvSpPr txBox="1"/>
          <p:nvPr/>
        </p:nvSpPr>
        <p:spPr>
          <a:xfrm>
            <a:off x="457200" y="5349240"/>
            <a:ext cx="11338560" cy="502920"/>
          </a:xfrm>
          <a:prstGeom prst="rect">
            <a:avLst/>
          </a:prstGeom>
          <a:noFill/>
        </p:spPr>
        <p:txBody>
          <a:bodyPr wrap="square">
            <a:spAutoFit/>
          </a:bodyPr>
          <a:lstStyle/>
          <a:p>
            <a:pPr>
              <a:spcBef>
                <a:spcPts val="0"/>
              </a:spcBef>
            </a:pPr>
            <a:endParaRPr dirty="0"/>
          </a:p>
          <a:p>
            <a:pPr algn="l">
              <a:spcBef>
                <a:spcPts val="400"/>
              </a:spcBef>
            </a:pPr>
            <a:r>
              <a:rPr sz="1200" b="0" i="1" dirty="0">
                <a:solidFill>
                  <a:srgbClr val="555566"/>
                </a:solidFill>
                <a:latin typeface="Calibri"/>
              </a:rPr>
              <a:t>Limitation: Level results don't survive first-differencing. Event study (daily data, quasi-experimental) provides the primary causal identification.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91E5C"/>
        </a:solidFill>
        <a:effectLst/>
      </p:bgPr>
    </p:bg>
    <p:spTree>
      <p:nvGrpSpPr>
        <p:cNvPr id="1" name="">
          <a:extLst>
            <a:ext uri="{FF2B5EF4-FFF2-40B4-BE49-F238E27FC236}">
              <a16:creationId xmlns:a16="http://schemas.microsoft.com/office/drawing/2014/main" id="{BFB7E374-D243-23C6-B67C-3CAF574932FD}"/>
            </a:ext>
          </a:extLst>
        </p:cNvPr>
        <p:cNvGrpSpPr/>
        <p:nvPr/>
      </p:nvGrpSpPr>
      <p:grpSpPr>
        <a:xfrm>
          <a:off x="0" y="0"/>
          <a:ext cx="0" cy="0"/>
          <a:chOff x="0" y="0"/>
          <a:chExt cx="0" cy="0"/>
        </a:xfrm>
      </p:grpSpPr>
      <p:pic>
        <p:nvPicPr>
          <p:cNvPr id="5" name="그림 4" descr="원, 그래픽, 스크린샷, 그래픽 디자인이(가) 표시된 사진&#10;&#10;자동 생성된 설명">
            <a:extLst>
              <a:ext uri="{FF2B5EF4-FFF2-40B4-BE49-F238E27FC236}">
                <a16:creationId xmlns:a16="http://schemas.microsoft.com/office/drawing/2014/main" id="{CA9BBA08-064C-BA6F-302C-D6CFFC5FA398}"/>
              </a:ext>
            </a:extLst>
          </p:cNvPr>
          <p:cNvPicPr>
            <a:picLocks noChangeAspect="1"/>
          </p:cNvPicPr>
          <p:nvPr/>
        </p:nvPicPr>
        <p:blipFill>
          <a:blip r:embed="rId3">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val="0"/>
              </a:ext>
            </a:extLst>
          </a:blip>
          <a:stretch>
            <a:fillRect/>
          </a:stretch>
        </p:blipFill>
        <p:spPr>
          <a:xfrm>
            <a:off x="0" y="890"/>
            <a:ext cx="4809898" cy="6856214"/>
          </a:xfrm>
          <a:prstGeom prst="rect">
            <a:avLst/>
          </a:prstGeom>
        </p:spPr>
      </p:pic>
      <p:pic>
        <p:nvPicPr>
          <p:cNvPr id="4" name="그림 3">
            <a:extLst>
              <a:ext uri="{FF2B5EF4-FFF2-40B4-BE49-F238E27FC236}">
                <a16:creationId xmlns:a16="http://schemas.microsoft.com/office/drawing/2014/main" id="{A6476964-D562-D15F-1E0D-F212F4CEF63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0427" y="5009673"/>
            <a:ext cx="1554891" cy="1554891"/>
          </a:xfrm>
          <a:prstGeom prst="rect">
            <a:avLst/>
          </a:prstGeom>
        </p:spPr>
      </p:pic>
      <p:sp>
        <p:nvSpPr>
          <p:cNvPr id="6" name="직사각형 5">
            <a:extLst>
              <a:ext uri="{FF2B5EF4-FFF2-40B4-BE49-F238E27FC236}">
                <a16:creationId xmlns:a16="http://schemas.microsoft.com/office/drawing/2014/main" id="{962CE00F-DCA5-846E-81CE-D52C1B8523F5}"/>
              </a:ext>
            </a:extLst>
          </p:cNvPr>
          <p:cNvSpPr/>
          <p:nvPr/>
        </p:nvSpPr>
        <p:spPr>
          <a:xfrm>
            <a:off x="-1" y="1879560"/>
            <a:ext cx="12188826" cy="2576274"/>
          </a:xfrm>
          <a:prstGeom prst="rect">
            <a:avLst/>
          </a:prstGeom>
          <a:solidFill>
            <a:schemeClr val="tx1">
              <a:alpha val="5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latinLnBrk="1">
              <a:defRPr/>
            </a:pPr>
            <a:r>
              <a:rPr lang="en-US" altLang="ko-KR" sz="2399" dirty="0">
                <a:solidFill>
                  <a:prstClr val="white"/>
                </a:solidFill>
                <a:latin typeface="Hiragino Kaku Gothic Std W8" panose="020B0800000000000000" pitchFamily="34" charset="-128"/>
                <a:ea typeface="Hiragino Kaku Gothic Std W8" panose="020B0800000000000000" pitchFamily="34" charset="-128"/>
              </a:rPr>
              <a:t>THANK YOU</a:t>
            </a:r>
          </a:p>
          <a:p>
            <a:pPr algn="ctr" defTabSz="914126" latinLnBrk="1">
              <a:defRPr/>
            </a:pPr>
            <a:endParaRPr lang="ko-KR" altLang="en-US" sz="2399" dirty="0">
              <a:solidFill>
                <a:prstClr val="white"/>
              </a:solidFill>
              <a:latin typeface="Hiragino Kaku Gothic Std W8" panose="020B0800000000000000" pitchFamily="34" charset="-128"/>
              <a:ea typeface="맑은 고딕" panose="020B0503020000020004" pitchFamily="50" charset="-127"/>
            </a:endParaRPr>
          </a:p>
        </p:txBody>
      </p:sp>
      <p:sp>
        <p:nvSpPr>
          <p:cNvPr id="11" name="TextBox 10">
            <a:extLst>
              <a:ext uri="{FF2B5EF4-FFF2-40B4-BE49-F238E27FC236}">
                <a16:creationId xmlns:a16="http://schemas.microsoft.com/office/drawing/2014/main" id="{B7DA3265-719E-3F00-D94A-3D163CF28C1E}"/>
              </a:ext>
            </a:extLst>
          </p:cNvPr>
          <p:cNvSpPr txBox="1"/>
          <p:nvPr/>
        </p:nvSpPr>
        <p:spPr>
          <a:xfrm>
            <a:off x="7507054" y="5787118"/>
            <a:ext cx="4650632" cy="923073"/>
          </a:xfrm>
          <a:prstGeom prst="rect">
            <a:avLst/>
          </a:prstGeom>
          <a:noFill/>
        </p:spPr>
        <p:txBody>
          <a:bodyPr wrap="none" rtlCol="0">
            <a:spAutoFit/>
          </a:bodyPr>
          <a:lstStyle/>
          <a:p>
            <a:r>
              <a:rPr lang="en-US" altLang="ko-KR" sz="1799" b="1" dirty="0">
                <a:solidFill>
                  <a:schemeClr val="bg1"/>
                </a:solidFill>
              </a:rPr>
              <a:t>Yonsei GSIS 2026-1 </a:t>
            </a:r>
          </a:p>
          <a:p>
            <a:r>
              <a:rPr lang="en-US" altLang="ko-KR" sz="1799" b="1" dirty="0">
                <a:solidFill>
                  <a:schemeClr val="bg1"/>
                </a:solidFill>
              </a:rPr>
              <a:t>Topics in International Finance</a:t>
            </a:r>
            <a:endParaRPr lang="en-US" altLang="ko-KR" sz="1799" dirty="0">
              <a:solidFill>
                <a:schemeClr val="bg1"/>
              </a:solidFill>
            </a:endParaRPr>
          </a:p>
          <a:p>
            <a:r>
              <a:rPr lang="en-US" altLang="ko-KR" b="1" dirty="0">
                <a:solidFill>
                  <a:srgbClr val="FFFFFF"/>
                </a:solidFill>
              </a:rPr>
              <a:t>Mireu Kim · Sara Chekroune · Oybek Ibragimov</a:t>
            </a:r>
            <a:endParaRPr lang="en-US" altLang="ko-KR" sz="1799" b="1" dirty="0">
              <a:solidFill>
                <a:schemeClr val="bg1"/>
              </a:solidFill>
            </a:endParaRPr>
          </a:p>
        </p:txBody>
      </p:sp>
    </p:spTree>
    <p:extLst>
      <p:ext uri="{BB962C8B-B14F-4D97-AF65-F5344CB8AC3E}">
        <p14:creationId xmlns:p14="http://schemas.microsoft.com/office/powerpoint/2010/main" val="22268909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4667</Words>
  <Application>Microsoft Macintosh PowerPoint</Application>
  <PresentationFormat>사용자 지정</PresentationFormat>
  <Paragraphs>323</Paragraphs>
  <Slides>15</Slides>
  <Notes>15</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15</vt:i4>
      </vt:variant>
    </vt:vector>
  </HeadingPairs>
  <TitlesOfParts>
    <vt:vector size="21" baseType="lpstr">
      <vt:lpstr>맑은 고딕</vt:lpstr>
      <vt:lpstr>Hiragino Kaku Gothic Std W8</vt:lpstr>
      <vt:lpstr>Arial</vt:lpstr>
      <vt:lpstr>Calibri</vt:lpstr>
      <vt:lpstr>Courier New</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김미르</cp:lastModifiedBy>
  <cp:revision>4</cp:revision>
  <dcterms:created xsi:type="dcterms:W3CDTF">2013-01-27T09:14:16Z</dcterms:created>
  <dcterms:modified xsi:type="dcterms:W3CDTF">2026-05-07T07:28:41Z</dcterms:modified>
  <cp:category/>
</cp:coreProperties>
</file>