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71" r:id="rId3"/>
    <p:sldId id="257" r:id="rId5"/>
    <p:sldId id="258" r:id="rId6"/>
    <p:sldId id="275" r:id="rId7"/>
    <p:sldId id="276" r:id="rId8"/>
    <p:sldId id="260" r:id="rId9"/>
    <p:sldId id="261" r:id="rId10"/>
    <p:sldId id="262" r:id="rId11"/>
    <p:sldId id="263" r:id="rId12"/>
    <p:sldId id="264" r:id="rId13"/>
    <p:sldId id="265" r:id="rId14"/>
    <p:sldId id="266" r:id="rId15"/>
    <p:sldId id="267" r:id="rId16"/>
    <p:sldId id="273" r:id="rId17"/>
    <p:sldId id="272"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130"/>
    <p:restoredTop sz="55972"/>
  </p:normalViewPr>
  <p:slideViewPr>
    <p:cSldViewPr snapToGrid="0" snapToObjects="1" showGuides="1">
      <p:cViewPr varScale="1">
        <p:scale>
          <a:sx n="65" d="100"/>
          <a:sy n="65" d="100"/>
        </p:scale>
        <p:origin x="1312" y="192"/>
      </p:cViewPr>
      <p:guideLst>
        <p:guide orient="horz" pos="2160"/>
        <p:guide pos="285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endParaRPr kumimoji="1" lang="ko-KR" altLang="en-US"/>
          </a:p>
          <a:p>
            <a:pPr lvl="1"/>
            <a:r>
              <a:rPr kumimoji="1" lang="ko-KR" altLang="en-US"/>
              <a:t>두 번째 수준</a:t>
            </a:r>
            <a:endParaRPr kumimoji="1" lang="ko-KR" altLang="en-US"/>
          </a:p>
          <a:p>
            <a:pPr lvl="2"/>
            <a:r>
              <a:rPr kumimoji="1" lang="ko-KR" altLang="en-US"/>
              <a:t>세 번째 수준</a:t>
            </a:r>
            <a:endParaRPr kumimoji="1" lang="ko-KR" altLang="en-US"/>
          </a:p>
          <a:p>
            <a:pPr lvl="3"/>
            <a:r>
              <a:rPr kumimoji="1" lang="ko-KR" altLang="en-US"/>
              <a:t>네 번째 수준</a:t>
            </a:r>
            <a:endParaRPr kumimoji="1" lang="ko-KR" altLang="en-US"/>
          </a:p>
          <a:p>
            <a:pPr lvl="4"/>
            <a:r>
              <a:rPr kumimoji="1" lang="ko-KR" altLang="en-US"/>
              <a:t>다섯 번째 수준</a:t>
            </a:r>
            <a:endParaRPr kumimoji="1"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fld>
            <a:endParaRPr kumimoji="1" lang="ko-KR" altLang="en-US"/>
          </a:p>
        </p:txBody>
      </p:sp>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endParaRPr lang="en-US" altLang="ko-KR" sz="1200" i="1"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endParaRPr lang="en-US" altLang="ko-KR" sz="1200" kern="1200" dirty="0">
              <a:solidFill>
                <a:schemeClr val="tx1"/>
              </a:solidFill>
              <a:effectLst/>
              <a:latin typeface="+mn-lt"/>
              <a:ea typeface="+mn-ea"/>
              <a:cs typeface="+mn-cs"/>
            </a:endParaRP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endParaRPr lang="en-US" altLang="ko-KR" sz="1200" b="0" i="0" kern="1200" dirty="0">
              <a:solidFill>
                <a:schemeClr val="tx1"/>
              </a:solidFill>
              <a:effectLst/>
              <a:latin typeface="+mn-lt"/>
              <a:ea typeface="+mn-ea"/>
              <a:cs typeface="+mn-cs"/>
            </a:endParaRP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endParaRPr lang="en-US" altLang="ko-KR" dirty="0"/>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endParaRPr lang="en-US" altLang="ko-KR" dirty="0"/>
          </a:p>
          <a:p>
            <a:r>
              <a:rPr lang="en-US" altLang="ko-KR" dirty="0"/>
              <a:t>See you next week for the causal proof and the policy solutions!"</a:t>
            </a:r>
            <a:endParaRPr lang="en-US" altLang="ko-KR" dirty="0"/>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A1C20BC9-927F-2446-AECF-AD03478862A8}"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9EB9A13-99E8-C946-8422-525720E95D70}"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8D0CDB8A-853B-5741-A8F8-E6BEBA996F73}"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1F728279-CA28-1D46-8FD5-CDFF7ECB90D0}"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985D133D-FD79-3A46-B04D-862544638E9C}" type="datetime1">
              <a:rPr lang="ko-KR" alt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407E052-61D9-C94D-A482-A8E176EE8505}" type="datetime1">
              <a:rPr lang="ko-KR" alt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8ED6F0-C5A3-C147-B913-05FB2436882F}" type="datetime1">
              <a:rPr lang="ko-KR" alt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384C738C-69A7-E546-A7AB-BA1A924CC786}"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EACC9D5A-263E-3C4A-980D-8614F39CB45A}"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C6249789-0936-6140-A27E-880DD3FC8288}"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EEA7C15-8000-344F-B602-B2D07D350112}"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F2B9D6-7B72-8E44-8AB8-D2FC2E171B08}" type="datetime1">
              <a:rPr lang="ko-KR" alt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786755"/>
            <a:ext cx="5470525" cy="92202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endParaRPr sz="2600" b="0" i="0">
              <a:solidFill>
                <a:srgbClr val="FFFFFF"/>
              </a:solidFill>
              <a:latin typeface="Calibri"/>
            </a:endParaRP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endParaRPr sz="2000" b="0" i="0" dirty="0">
              <a:solidFill>
                <a:srgbClr val="1A1A2E"/>
              </a:solidFill>
              <a:latin typeface="Calibri"/>
            </a:endParaRPr>
          </a:p>
          <a:p>
            <a:pPr algn="l">
              <a:spcBef>
                <a:spcPts val="800"/>
              </a:spcBef>
            </a:pPr>
            <a:r>
              <a:rPr sz="2000" b="0" i="0" dirty="0">
                <a:solidFill>
                  <a:srgbClr val="1A1A2E"/>
                </a:solidFill>
                <a:latin typeface="Calibri"/>
              </a:rPr>
              <a:t>❖  The New Triffin Dilemma — our core argument</a:t>
            </a:r>
            <a:endParaRPr sz="2000" b="0" i="0" dirty="0">
              <a:solidFill>
                <a:srgbClr val="1A1A2E"/>
              </a:solidFill>
              <a:latin typeface="Calibri"/>
            </a:endParaRPr>
          </a:p>
          <a:p>
            <a:pPr algn="l">
              <a:spcBef>
                <a:spcPts val="800"/>
              </a:spcBef>
            </a:pPr>
            <a:r>
              <a:rPr sz="2000" b="0" i="0" dirty="0">
                <a:solidFill>
                  <a:srgbClr val="1A1A2E"/>
                </a:solidFill>
                <a:latin typeface="Calibri"/>
              </a:rPr>
              <a:t>❖  Theoretical extension of Maggiori (2017)</a:t>
            </a:r>
            <a:endParaRPr sz="2000" b="0" i="0" dirty="0">
              <a:solidFill>
                <a:srgbClr val="1A1A2E"/>
              </a:solidFill>
              <a:latin typeface="Calibri"/>
            </a:endParaRPr>
          </a:p>
          <a:p>
            <a:pPr algn="l">
              <a:spcBef>
                <a:spcPts val="800"/>
              </a:spcBef>
            </a:pPr>
            <a:r>
              <a:rPr sz="2000" b="0" i="0" dirty="0">
                <a:solidFill>
                  <a:srgbClr val="1A1A2E"/>
                </a:solidFill>
                <a:latin typeface="Calibri"/>
              </a:rPr>
              <a:t>❖  Data &amp; Methodology</a:t>
            </a:r>
            <a:endParaRPr sz="2000" b="0" i="0" dirty="0">
              <a:solidFill>
                <a:srgbClr val="1A1A2E"/>
              </a:solidFill>
              <a:latin typeface="Calibri"/>
            </a:endParaRPr>
          </a:p>
          <a:p>
            <a:pPr algn="l">
              <a:spcBef>
                <a:spcPts val="800"/>
              </a:spcBef>
            </a:pPr>
            <a:r>
              <a:rPr sz="2000" b="0" i="0" dirty="0">
                <a:solidFill>
                  <a:srgbClr val="1A1A2E"/>
                </a:solidFill>
                <a:latin typeface="Calibri"/>
              </a:rPr>
              <a:t>❖  Result 1 — Privilege amplification regression</a:t>
            </a:r>
            <a:endParaRPr sz="2000" b="0" i="0" dirty="0">
              <a:solidFill>
                <a:srgbClr val="1A1A2E"/>
              </a:solidFill>
              <a:latin typeface="Calibri"/>
            </a:endParaRP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endParaRPr sz="2000" b="0" i="0" dirty="0">
              <a:solidFill>
                <a:srgbClr val="1A1A2E"/>
              </a:solidFill>
              <a:latin typeface="Calibri"/>
            </a:endParaRPr>
          </a:p>
          <a:p>
            <a:pPr algn="l">
              <a:spcBef>
                <a:spcPts val="800"/>
              </a:spcBef>
            </a:pPr>
            <a:r>
              <a:rPr sz="2000" b="0" i="0" dirty="0">
                <a:solidFill>
                  <a:srgbClr val="1A1A2E"/>
                </a:solidFill>
                <a:latin typeface="Calibri"/>
              </a:rPr>
              <a:t>❖  Conclusion &amp; Policy implications</a:t>
            </a:r>
            <a:endParaRPr sz="2000" b="0" i="0" dirty="0">
              <a:solidFill>
                <a:srgbClr val="1A1A2E"/>
              </a:solidFill>
              <a:latin typeface="Calibri"/>
            </a:endParaRPr>
          </a:p>
        </p:txBody>
      </p:sp>
      <p:sp>
        <p:nvSpPr>
          <p:cNvPr id="7" name="TextBox 6"/>
          <p:cNvSpPr txBox="1"/>
          <p:nvPr/>
        </p:nvSpPr>
        <p:spPr>
          <a:xfrm>
            <a:off x="10055225" y="207010"/>
            <a:ext cx="1951990" cy="368300"/>
          </a:xfrm>
          <a:prstGeom prst="rect">
            <a:avLst/>
          </a:prstGeom>
          <a:noFill/>
        </p:spPr>
        <p:txBody>
          <a:bodyPr wrap="square" rtlCol="0">
            <a:spAutoFit/>
          </a:bodyPr>
          <a:lstStyle/>
          <a:p>
            <a:r>
              <a:rPr kumimoji="1" lang="en-US" altLang="ko-KR" dirty="0">
                <a:solidFill>
                  <a:schemeClr val="bg1"/>
                </a:solidFill>
              </a:rPr>
              <a:t>Sara Page2/15</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p>
          <a:p>
            <a:pPr algn="l">
              <a:spcBef>
                <a:spcPts val="200"/>
              </a:spcBef>
            </a:pPr>
            <a:r>
              <a:rPr sz="1800" b="1" i="0">
                <a:solidFill>
                  <a:srgbClr val="1B3A72"/>
                </a:solidFill>
                <a:latin typeface="Calibri"/>
              </a:rPr>
              <a:t>Key Market Trends</a:t>
            </a:r>
            <a:endParaRPr sz="1800" b="1" i="0">
              <a:solidFill>
                <a:srgbClr val="1B3A72"/>
              </a:solidFill>
              <a:latin typeface="Calibri"/>
            </a:endParaRPr>
          </a:p>
          <a:p>
            <a:pPr algn="l">
              <a:spcBef>
                <a:spcPts val="1000"/>
              </a:spcBef>
            </a:pPr>
            <a:r>
              <a:rPr sz="1700" b="0" i="0">
                <a:solidFill>
                  <a:srgbClr val="1A1A2E"/>
                </a:solidFill>
                <a:latin typeface="Calibri"/>
              </a:rPr>
              <a:t>❖  Growth: Combined market cap surged from under $50bn (2021) to over $300bn (2026)</a:t>
            </a:r>
            <a:endParaRPr sz="1700" b="0" i="0">
              <a:solidFill>
                <a:srgbClr val="1A1A2E"/>
              </a:solidFill>
              <a:latin typeface="Calibri"/>
            </a:endParaRPr>
          </a:p>
          <a:p>
            <a:pPr algn="l">
              <a:spcBef>
                <a:spcPts val="1000"/>
              </a:spcBef>
            </a:pPr>
            <a:r>
              <a:rPr sz="1700" b="0" i="0">
                <a:solidFill>
                  <a:srgbClr val="1A1A2E"/>
                </a:solidFill>
                <a:latin typeface="Calibri"/>
              </a:rPr>
              <a:t>❖  Usage: 30%+ of on-chain crypto transactions involve stablecoins</a:t>
            </a:r>
            <a:endParaRPr sz="1700" b="0" i="0">
              <a:solidFill>
                <a:srgbClr val="1A1A2E"/>
              </a:solidFill>
              <a:latin typeface="Calibri"/>
            </a:endParaRPr>
          </a:p>
          <a:p>
            <a:pPr algn="l">
              <a:spcBef>
                <a:spcPts val="1000"/>
              </a:spcBef>
            </a:pPr>
            <a:r>
              <a:rPr sz="1700" b="0" i="0">
                <a:solidFill>
                  <a:srgbClr val="1A1A2E"/>
                </a:solidFill>
                <a:latin typeface="Calibri"/>
              </a:rPr>
              <a:t>❖  Regulation: US, EU, Japan, and Hong Kong each finalising reserve legislation</a:t>
            </a:r>
            <a:endParaRPr sz="1700" b="0" i="0">
              <a:solidFill>
                <a:srgbClr val="1A1A2E"/>
              </a:solidFill>
              <a:latin typeface="Calibri"/>
            </a:endParaRPr>
          </a:p>
          <a:p>
            <a:pPr algn="l">
              <a:spcBef>
                <a:spcPts val="1000"/>
              </a:spcBef>
            </a:pPr>
            <a:r>
              <a:rPr sz="1700" b="0" i="0">
                <a:solidFill>
                  <a:srgbClr val="1A1A2E"/>
                </a:solidFill>
                <a:latin typeface="Calibri"/>
              </a:rPr>
              <a:t>❖  Scale: Tether alone holds $127bn in US Treasuries (Q2 2025) — comparable to mid-sized sovereigns</a:t>
            </a:r>
            <a:endParaRPr sz="1700" b="0" i="0">
              <a:solidFill>
                <a:srgbClr val="1A1A2E"/>
              </a:solidFill>
              <a:latin typeface="Calibri"/>
            </a:endParaRPr>
          </a:p>
          <a:p>
            <a:pPr algn="l">
              <a:spcBef>
                <a:spcPts val="1000"/>
              </a:spcBef>
            </a:pPr>
            <a:r>
              <a:rPr sz="1700" b="0" i="0">
                <a:solidFill>
                  <a:srgbClr val="1A1A2E"/>
                </a:solidFill>
                <a:latin typeface="Calibri"/>
              </a:rPr>
              <a:t>❖  Projection: $1–2 trillion ecosystem within this decade</a:t>
            </a:r>
            <a:endParaRPr sz="1700" b="0" i="0">
              <a:solidFill>
                <a:srgbClr val="1A1A2E"/>
              </a:solidFill>
              <a:latin typeface="Calibri"/>
            </a:endParaRP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endParaRPr sz="2800" b="1" i="0">
              <a:solidFill>
                <a:srgbClr val="FFFFFF"/>
              </a:solidFill>
              <a:latin typeface="Calibri"/>
            </a:endParaRP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endParaRPr sz="1200" b="0" i="1">
              <a:solidFill>
                <a:srgbClr val="AAC4E8"/>
              </a:solidFill>
              <a:latin typeface="Calibri"/>
            </a:endParaRP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endParaRPr sz="2800" b="1" i="0">
              <a:solidFill>
                <a:srgbClr val="FFFFFF"/>
              </a:solidFill>
              <a:latin typeface="Calibri"/>
            </a:endParaRP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endParaRPr sz="1200" b="0" i="1">
              <a:solidFill>
                <a:srgbClr val="AAC4E8"/>
              </a:solidFill>
              <a:latin typeface="Calibri"/>
            </a:endParaRP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endParaRPr sz="2800" b="1" i="0">
              <a:solidFill>
                <a:srgbClr val="FFFFFF"/>
              </a:solidFill>
              <a:latin typeface="Calibri"/>
            </a:endParaRP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endParaRPr sz="1200" b="0" i="1">
              <a:solidFill>
                <a:srgbClr val="AAC4E8"/>
              </a:solidFill>
              <a:latin typeface="Calibri"/>
            </a:endParaRPr>
          </a:p>
        </p:txBody>
      </p:sp>
      <p:sp>
        <p:nvSpPr>
          <p:cNvPr id="16" name="Rectangle 15"/>
          <p:cNvSpPr/>
          <p:nvPr/>
        </p:nvSpPr>
        <p:spPr>
          <a:xfrm>
            <a:off x="6492240" y="4745990"/>
            <a:ext cx="5303520" cy="86233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4714113"/>
            <a:ext cx="5120640" cy="566928"/>
          </a:xfrm>
          <a:prstGeom prst="rect">
            <a:avLst/>
          </a:prstGeom>
          <a:noFill/>
        </p:spPr>
        <p:txBody>
          <a:bodyPr wrap="square">
            <a:spAutoFit/>
          </a:bodyPr>
          <a:lstStyle/>
          <a:p>
            <a:pPr algn="ctr"/>
            <a:r>
              <a:rPr sz="2800" b="1" i="0">
                <a:solidFill>
                  <a:srgbClr val="FFFFFF"/>
                </a:solidFill>
                <a:latin typeface="Calibri"/>
              </a:rPr>
              <a:t>4</a:t>
            </a:r>
            <a:endParaRPr sz="2800" b="1" i="0">
              <a:solidFill>
                <a:srgbClr val="FFFFFF"/>
              </a:solidFill>
              <a:latin typeface="Calibri"/>
            </a:endParaRPr>
          </a:p>
        </p:txBody>
      </p:sp>
      <p:sp>
        <p:nvSpPr>
          <p:cNvPr id="18" name="TextBox 17"/>
          <p:cNvSpPr txBox="1"/>
          <p:nvPr/>
        </p:nvSpPr>
        <p:spPr>
          <a:xfrm>
            <a:off x="6583680" y="53279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endParaRPr sz="1200" b="0" i="1">
              <a:solidFill>
                <a:srgbClr val="AAC4E8"/>
              </a:solidFill>
              <a:latin typeface="Calibri"/>
            </a:endParaRPr>
          </a:p>
        </p:txBody>
      </p:sp>
      <p:sp>
        <p:nvSpPr>
          <p:cNvPr id="19" name="Rectangle 18"/>
          <p:cNvSpPr/>
          <p:nvPr/>
        </p:nvSpPr>
        <p:spPr>
          <a:xfrm>
            <a:off x="0" y="5777103"/>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922645"/>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endParaRPr sz="1800" b="1" i="0">
              <a:solidFill>
                <a:srgbClr val="FFFFFF"/>
              </a:solidFill>
              <a:latin typeface="Calibri"/>
            </a:endParaRPr>
          </a:p>
        </p:txBody>
      </p:sp>
      <p:sp>
        <p:nvSpPr>
          <p:cNvPr id="25" name="TextBox 24"/>
          <p:cNvSpPr txBox="1"/>
          <p:nvPr/>
        </p:nvSpPr>
        <p:spPr>
          <a:xfrm>
            <a:off x="10045065" y="207010"/>
            <a:ext cx="1962150" cy="368300"/>
          </a:xfrm>
          <a:prstGeom prst="rect">
            <a:avLst/>
          </a:prstGeom>
          <a:noFill/>
        </p:spPr>
        <p:txBody>
          <a:bodyPr wrap="square" rtlCol="0">
            <a:spAutoFit/>
          </a:bodyPr>
          <a:lstStyle/>
          <a:p>
            <a:r>
              <a:rPr kumimoji="1" lang="en-US" altLang="ko-KR" dirty="0">
                <a:solidFill>
                  <a:schemeClr val="bg1"/>
                </a:solidFill>
              </a:rPr>
              <a:t>Sara Page3/15</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1490"/>
          </a:xfrm>
          <a:prstGeom prst="rect">
            <a:avLst/>
          </a:prstGeom>
          <a:noFill/>
        </p:spPr>
        <p:txBody>
          <a:bodyPr wrap="square">
            <a:spAutoFit/>
          </a:bodyPr>
          <a:lstStyle/>
          <a:p>
            <a:pPr algn="l"/>
            <a:r>
              <a:rPr lang="en-US" altLang="en-US" sz="2600" b="0" i="0">
                <a:solidFill>
                  <a:srgbClr val="FFFFFF"/>
                </a:solidFill>
                <a:latin typeface="Calibri"/>
              </a:rPr>
              <a:t>Exorbitant Privilege and the Original Triffin Dilemma</a:t>
            </a:r>
            <a:endParaRPr lang="en-US" altLang="en-US" sz="2600" b="0" i="0">
              <a:solidFill>
                <a:srgbClr val="FFFFFF"/>
              </a:solidFill>
              <a:latin typeface="Calibri"/>
            </a:endParaRPr>
          </a:p>
        </p:txBody>
      </p:sp>
      <p:sp>
        <p:nvSpPr>
          <p:cNvPr id="6" name="Rectangle 5"/>
          <p:cNvSpPr/>
          <p:nvPr/>
        </p:nvSpPr>
        <p:spPr>
          <a:xfrm>
            <a:off x="365760" y="4917440"/>
            <a:ext cx="11430000" cy="131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995545"/>
            <a:ext cx="11155680" cy="1154430"/>
          </a:xfrm>
          <a:prstGeom prst="rect">
            <a:avLst/>
          </a:prstGeom>
          <a:noFill/>
        </p:spPr>
        <p:txBody>
          <a:bodyPr wrap="square">
            <a:noAutofit/>
          </a:bodyPr>
          <a:lstStyle/>
          <a:p>
            <a:pPr algn="l">
              <a:spcBef>
                <a:spcPts val="0"/>
              </a:spcBef>
            </a:pPr>
            <a:r>
              <a:rPr lang="en-US" altLang="en-US" sz="1900" b="0" i="1" dirty="0">
                <a:solidFill>
                  <a:srgbClr val="1A1A2E"/>
                </a:solidFill>
                <a:latin typeface="Calibri"/>
              </a:rPr>
              <a:t>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endParaRPr lang="en-US" altLang="en-US" sz="1900" b="0" i="1" dirty="0">
              <a:solidFill>
                <a:srgbClr val="1A1A2E"/>
              </a:solidFill>
              <a:latin typeface="Calibri"/>
            </a:endParaRPr>
          </a:p>
        </p:txBody>
      </p:sp>
      <p:sp>
        <p:nvSpPr>
          <p:cNvPr id="20" name="TextBox 19"/>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Page4/15</a:t>
            </a:r>
            <a:endParaRPr kumimoji="1" lang="ko-KR" altLang="en-US" dirty="0">
              <a:solidFill>
                <a:schemeClr val="bg1"/>
              </a:solidFill>
            </a:endParaRPr>
          </a:p>
        </p:txBody>
      </p:sp>
      <p:sp>
        <p:nvSpPr>
          <p:cNvPr id="5" name="TextBox 7"/>
          <p:cNvSpPr txBox="1"/>
          <p:nvPr/>
        </p:nvSpPr>
        <p:spPr>
          <a:xfrm>
            <a:off x="355600" y="3061334"/>
            <a:ext cx="11430000" cy="352425"/>
          </a:xfrm>
          <a:prstGeom prst="rect">
            <a:avLst/>
          </a:prstGeom>
          <a:noFill/>
        </p:spPr>
        <p:txBody>
          <a:bodyPr wrap="square">
            <a:spAutoFit/>
          </a:bodyPr>
          <a:lstStyle/>
          <a:p>
            <a:pPr algn="l"/>
            <a:r>
              <a:rPr lang="en-US" sz="1700" b="1" i="0">
                <a:solidFill>
                  <a:srgbClr val="1B3A72"/>
                </a:solidFill>
                <a:latin typeface="Calibri"/>
              </a:rPr>
              <a:t>Research Topic</a:t>
            </a:r>
            <a:endParaRPr lang="en-US" sz="1700" b="1" i="0">
              <a:solidFill>
                <a:srgbClr val="1B3A72"/>
              </a:solidFill>
              <a:latin typeface="Calibri"/>
            </a:endParaRPr>
          </a:p>
        </p:txBody>
      </p:sp>
      <p:sp>
        <p:nvSpPr>
          <p:cNvPr id="17" name="Rectangle 16"/>
          <p:cNvSpPr/>
          <p:nvPr/>
        </p:nvSpPr>
        <p:spPr>
          <a:xfrm>
            <a:off x="358140" y="1516380"/>
            <a:ext cx="11430000" cy="14249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6"/>
          <p:cNvSpPr txBox="1"/>
          <p:nvPr/>
        </p:nvSpPr>
        <p:spPr>
          <a:xfrm>
            <a:off x="502920" y="1708785"/>
            <a:ext cx="11155680" cy="1154430"/>
          </a:xfrm>
          <a:prstGeom prst="rect">
            <a:avLst/>
          </a:prstGeom>
          <a:noFill/>
        </p:spPr>
        <p:txBody>
          <a:bodyPr wrap="square">
            <a:noAutofit/>
          </a:bodyPr>
          <a:lstStyle/>
          <a:p>
            <a:pPr algn="l">
              <a:spcBef>
                <a:spcPts val="0"/>
              </a:spcBef>
            </a:pPr>
            <a:r>
              <a:rPr lang="en-US" altLang="en-US" sz="1900" b="0" i="1" dirty="0">
                <a:solidFill>
                  <a:srgbClr val="1A1A2E"/>
                </a:solidFill>
                <a:latin typeface="Calibri"/>
              </a:rPr>
              <a:t>Bullet points about </a:t>
            </a:r>
            <a:r>
              <a:rPr lang="en-US" altLang="en-US" sz="1900" b="1" i="1" dirty="0">
                <a:solidFill>
                  <a:srgbClr val="1A1A2E"/>
                </a:solidFill>
                <a:latin typeface="Calibri"/>
                <a:sym typeface="+mn-ea"/>
              </a:rPr>
              <a:t> Exorbitant Privilege</a:t>
            </a:r>
            <a:endParaRPr lang="en-US" altLang="en-US" sz="1900" b="0" i="1" dirty="0">
              <a:solidFill>
                <a:srgbClr val="1A1A2E"/>
              </a:solidFill>
              <a:latin typeface="Calibri"/>
            </a:endParaRPr>
          </a:p>
        </p:txBody>
      </p:sp>
      <p:sp>
        <p:nvSpPr>
          <p:cNvPr id="21" name="Rectangle 20"/>
          <p:cNvSpPr/>
          <p:nvPr/>
        </p:nvSpPr>
        <p:spPr>
          <a:xfrm>
            <a:off x="365760" y="3430270"/>
            <a:ext cx="11430000" cy="81661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6"/>
          <p:cNvSpPr txBox="1"/>
          <p:nvPr/>
        </p:nvSpPr>
        <p:spPr>
          <a:xfrm>
            <a:off x="485140" y="3517900"/>
            <a:ext cx="11300460" cy="668020"/>
          </a:xfrm>
          <a:prstGeom prst="rect">
            <a:avLst/>
          </a:prstGeom>
          <a:noFill/>
        </p:spPr>
        <p:txBody>
          <a:bodyPr wrap="square">
            <a:noAutofit/>
          </a:bodyPr>
          <a:lstStyle/>
          <a:p>
            <a:pPr algn="ctr">
              <a:spcBef>
                <a:spcPts val="0"/>
              </a:spcBef>
            </a:pPr>
            <a:r>
              <a:rPr lang="en-US" altLang="en-US" sz="1900" b="1" i="1" dirty="0">
                <a:solidFill>
                  <a:srgbClr val="1A1A2E"/>
                </a:solidFill>
                <a:latin typeface="Calibri"/>
              </a:rPr>
              <a:t>Stablecoins and Exorbitant Privilege: A New Channel for Safe-Asset Demant and Its Systematic Fragility</a:t>
            </a:r>
            <a:endParaRPr lang="en-US" altLang="en-US" sz="1900" b="1" i="1" dirty="0">
              <a:solidFill>
                <a:srgbClr val="1A1A2E"/>
              </a:solidFill>
              <a:latin typeface="Calibri"/>
            </a:endParaRPr>
          </a:p>
        </p:txBody>
      </p:sp>
      <p:sp>
        <p:nvSpPr>
          <p:cNvPr id="24" name="TextBox 7"/>
          <p:cNvSpPr txBox="1"/>
          <p:nvPr/>
        </p:nvSpPr>
        <p:spPr>
          <a:xfrm>
            <a:off x="358140" y="4485004"/>
            <a:ext cx="11430000" cy="352425"/>
          </a:xfrm>
          <a:prstGeom prst="rect">
            <a:avLst/>
          </a:prstGeom>
          <a:noFill/>
        </p:spPr>
        <p:txBody>
          <a:bodyPr wrap="square">
            <a:spAutoFit/>
          </a:bodyPr>
          <a:lstStyle/>
          <a:p>
            <a:pPr algn="l"/>
            <a:r>
              <a:rPr lang="en-US" sz="1700" b="1" i="0">
                <a:solidFill>
                  <a:srgbClr val="1B3A72"/>
                </a:solidFill>
                <a:latin typeface="Calibri"/>
              </a:rPr>
              <a:t>Triffin Dilemma (1960)</a:t>
            </a:r>
            <a:endParaRPr lang="en-US" sz="1700" b="1" i="0">
              <a:solidFill>
                <a:srgbClr val="1B3A72"/>
              </a:solidFill>
              <a:latin typeface="Calibri"/>
            </a:endParaRPr>
          </a:p>
        </p:txBody>
      </p:sp>
      <p:sp>
        <p:nvSpPr>
          <p:cNvPr id="23" name="TextBox 7"/>
          <p:cNvSpPr txBox="1"/>
          <p:nvPr/>
        </p:nvSpPr>
        <p:spPr>
          <a:xfrm>
            <a:off x="482600" y="1158239"/>
            <a:ext cx="11430000" cy="352425"/>
          </a:xfrm>
          <a:prstGeom prst="rect">
            <a:avLst/>
          </a:prstGeom>
          <a:noFill/>
        </p:spPr>
        <p:txBody>
          <a:bodyPr wrap="square">
            <a:spAutoFit/>
          </a:bodyPr>
          <a:lstStyle/>
          <a:p>
            <a:pPr algn="l"/>
            <a:r>
              <a:rPr lang="en-US" sz="1700" b="1" i="0">
                <a:solidFill>
                  <a:srgbClr val="1B3A72"/>
                </a:solidFill>
                <a:latin typeface="Calibri"/>
              </a:rPr>
              <a:t>Research Topic</a:t>
            </a:r>
            <a:endParaRPr lang="en-US" sz="1700" b="1" i="0">
              <a:solidFill>
                <a:srgbClr val="1B3A72"/>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8" name="TextBox 7"/>
          <p:cNvSpPr txBox="1"/>
          <p:nvPr/>
        </p:nvSpPr>
        <p:spPr>
          <a:xfrm>
            <a:off x="447040" y="1024254"/>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endParaRPr sz="1700" b="1" i="0">
              <a:solidFill>
                <a:srgbClr val="1B3A72"/>
              </a:solidFill>
              <a:latin typeface="Calibri"/>
            </a:endParaRPr>
          </a:p>
        </p:txBody>
      </p:sp>
      <p:sp>
        <p:nvSpPr>
          <p:cNvPr id="9" name="Rectangle 8"/>
          <p:cNvSpPr/>
          <p:nvPr/>
        </p:nvSpPr>
        <p:spPr>
          <a:xfrm>
            <a:off x="365760" y="1353185"/>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7040" y="1391920"/>
            <a:ext cx="5078730" cy="306705"/>
          </a:xfrm>
          <a:prstGeom prst="rect">
            <a:avLst/>
          </a:prstGeom>
          <a:noFill/>
        </p:spPr>
        <p:txBody>
          <a:bodyPr wrap="square">
            <a:spAutoFit/>
          </a:bodyPr>
          <a:lstStyle/>
          <a:p>
            <a:pPr algn="ctr"/>
            <a:r>
              <a:rPr sz="1400" b="1" i="0">
                <a:solidFill>
                  <a:srgbClr val="FFFFFF"/>
                </a:solidFill>
                <a:latin typeface="Calibri"/>
              </a:rPr>
              <a:t>Normal times ✅</a:t>
            </a:r>
            <a:endParaRPr sz="1400" b="1" i="0">
              <a:solidFill>
                <a:srgbClr val="FFFFFF"/>
              </a:solidFill>
              <a:latin typeface="Calibri"/>
            </a:endParaRPr>
          </a:p>
        </p:txBody>
      </p:sp>
      <p:sp>
        <p:nvSpPr>
          <p:cNvPr id="11" name="Rectangle 10"/>
          <p:cNvSpPr/>
          <p:nvPr/>
        </p:nvSpPr>
        <p:spPr>
          <a:xfrm>
            <a:off x="365760" y="1739265"/>
            <a:ext cx="5357495" cy="159829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040" y="1888490"/>
            <a:ext cx="5231130" cy="1502410"/>
          </a:xfrm>
          <a:prstGeom prst="rect">
            <a:avLst/>
          </a:prstGeom>
          <a:noFill/>
        </p:spPr>
        <p:txBody>
          <a:bodyPr wrap="square">
            <a:noAutofit/>
          </a:bodyPr>
          <a:lstStyle/>
          <a:p>
            <a:pPr>
              <a:spcBef>
                <a:spcPts val="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Exorbitant privilege amplified via private intermediation channel</a:t>
            </a:r>
            <a:endParaRPr lang="en-US" altLang="en-US" sz="1200" b="0" i="0">
              <a:solidFill>
                <a:srgbClr val="1A1A2E"/>
              </a:solidFill>
              <a:latin typeface="Calibri"/>
            </a:endParaRPr>
          </a:p>
        </p:txBody>
      </p:sp>
      <p:sp>
        <p:nvSpPr>
          <p:cNvPr id="13" name="Rectangle 12"/>
          <p:cNvSpPr/>
          <p:nvPr/>
        </p:nvSpPr>
        <p:spPr>
          <a:xfrm>
            <a:off x="6276975" y="1343025"/>
            <a:ext cx="565721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4435" y="1391920"/>
            <a:ext cx="5624830" cy="306705"/>
          </a:xfrm>
          <a:prstGeom prst="rect">
            <a:avLst/>
          </a:prstGeom>
          <a:noFill/>
        </p:spPr>
        <p:txBody>
          <a:bodyPr wrap="square">
            <a:spAutoFit/>
          </a:bodyPr>
          <a:lstStyle/>
          <a:p>
            <a:pPr algn="ctr"/>
            <a:r>
              <a:rPr sz="1400" b="1" i="0">
                <a:solidFill>
                  <a:srgbClr val="FFFFFF"/>
                </a:solidFill>
                <a:latin typeface="Calibri"/>
              </a:rPr>
              <a:t>Run scenario ❌</a:t>
            </a:r>
            <a:endParaRPr sz="1400" b="1" i="0">
              <a:solidFill>
                <a:srgbClr val="FFFFFF"/>
              </a:solidFill>
              <a:latin typeface="Calibri"/>
            </a:endParaRPr>
          </a:p>
        </p:txBody>
      </p:sp>
      <p:sp>
        <p:nvSpPr>
          <p:cNvPr id="15" name="Rectangle 14"/>
          <p:cNvSpPr/>
          <p:nvPr/>
        </p:nvSpPr>
        <p:spPr>
          <a:xfrm>
            <a:off x="6274435" y="1739265"/>
            <a:ext cx="5657215" cy="159702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5875" y="1767205"/>
            <a:ext cx="5429885" cy="1597660"/>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Treasury yields spike above OIS — spread reversal</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Sovereign-linked liquidity shock transmitted to debt markets</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Self-fulfilling dynamic: fear validates liquidation, crisis propagates</a:t>
            </a:r>
            <a:endParaRPr lang="en-US" altLang="en-US" sz="1300" b="0" i="0">
              <a:solidFill>
                <a:srgbClr val="1A1A2E"/>
              </a:solidFill>
              <a:latin typeface="Calibri"/>
            </a:endParaRPr>
          </a:p>
        </p:txBody>
      </p:sp>
      <p:sp>
        <p:nvSpPr>
          <p:cNvPr id="21" name="Rectangle 20"/>
          <p:cNvSpPr/>
          <p:nvPr/>
        </p:nvSpPr>
        <p:spPr>
          <a:xfrm>
            <a:off x="0" y="5910580"/>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368300"/>
          </a:xfrm>
          <a:prstGeom prst="rect">
            <a:avLst/>
          </a:prstGeom>
          <a:noFill/>
        </p:spPr>
        <p:txBody>
          <a:bodyPr wrap="square">
            <a:spAutoFit/>
          </a:bodyPr>
          <a:lstStyle/>
          <a:p>
            <a:pPr algn="ctr"/>
            <a:r>
              <a:rPr lang="en-US" sz="1800" b="1" i="0">
                <a:solidFill>
                  <a:srgbClr val="FFFFFF"/>
                </a:solidFill>
                <a:latin typeface="Calibri"/>
              </a:rPr>
              <a:t>In o</a:t>
            </a:r>
            <a:r>
              <a:rPr sz="1800" b="1" i="0">
                <a:solidFill>
                  <a:srgbClr val="FFFFFF"/>
                </a:solidFill>
                <a:latin typeface="Calibri"/>
              </a:rPr>
              <a:t>ur paper: </a:t>
            </a:r>
            <a:r>
              <a:rPr lang="en-US" altLang="en-US" sz="1800" b="1" i="0">
                <a:solidFill>
                  <a:srgbClr val="FFFFFF"/>
                </a:solidFill>
                <a:latin typeface="Calibri"/>
              </a:rPr>
              <a:t>We separate θ (why stablecoins help the US) from L (what prevents a crisis)</a:t>
            </a:r>
            <a:endParaRPr lang="en-US" altLang="en-US" sz="1800" b="1" i="0">
              <a:solidFill>
                <a:srgbClr val="FFFFFF"/>
              </a:solidFill>
              <a:latin typeface="Calibri"/>
            </a:endParaRPr>
          </a:p>
        </p:txBody>
      </p:sp>
      <p:sp>
        <p:nvSpPr>
          <p:cNvPr id="19" name="Rectangle 18"/>
          <p:cNvSpPr/>
          <p:nvPr/>
        </p:nvSpPr>
        <p:spPr>
          <a:xfrm>
            <a:off x="2397125" y="3875405"/>
            <a:ext cx="6426200" cy="1900555"/>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96490" y="3483610"/>
            <a:ext cx="6426835" cy="384175"/>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55545" y="3542030"/>
            <a:ext cx="6230620" cy="306705"/>
          </a:xfrm>
          <a:prstGeom prst="rect">
            <a:avLst/>
          </a:prstGeom>
          <a:noFill/>
        </p:spPr>
        <p:txBody>
          <a:bodyPr wrap="square">
            <a:spAutoFit/>
          </a:bodyPr>
          <a:lstStyle/>
          <a:p>
            <a:pPr algn="ctr"/>
            <a:r>
              <a:rPr sz="1400" b="1" i="0">
                <a:solidFill>
                  <a:srgbClr val="FFFFFF"/>
                </a:solidFill>
                <a:latin typeface="Calibri"/>
              </a:rPr>
              <a:t>What determines outcome</a:t>
            </a:r>
            <a:endParaRPr sz="1400" b="1" i="0">
              <a:solidFill>
                <a:srgbClr val="FFFFFF"/>
              </a:solidFill>
              <a:latin typeface="Calibri"/>
            </a:endParaRPr>
          </a:p>
        </p:txBody>
      </p:sp>
      <p:sp>
        <p:nvSpPr>
          <p:cNvPr id="25" name="TextBox 19"/>
          <p:cNvSpPr txBox="1"/>
          <p:nvPr/>
        </p:nvSpPr>
        <p:spPr>
          <a:xfrm>
            <a:off x="2455545" y="3866515"/>
            <a:ext cx="6078855" cy="1878965"/>
          </a:xfrm>
          <a:prstGeom prst="rect">
            <a:avLst/>
          </a:prstGeom>
          <a:noFill/>
        </p:spPr>
        <p:txBody>
          <a:bodyPr wrap="square">
            <a:noAutofit/>
          </a:bodyPr>
          <a:lstStyle/>
          <a:p>
            <a:pPr>
              <a:spcBef>
                <a:spcPts val="0"/>
              </a:spcBef>
            </a:pPr>
            <a:r>
              <a:rPr lang="en-US" altLang="en-US" sz="1300" b="0" i="0">
                <a:solidFill>
                  <a:srgbClr val="1A1A2E"/>
                </a:solidFill>
                <a:latin typeface="Calibri"/>
              </a:rPr>
              <a:t>	•	θ = Treasury holdings / Supply → structural demand channel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 Liquid reserves / Supply → crisis absorption capacity</a:t>
            </a:r>
            <a:br>
              <a:rPr lang="en-US" altLang="en-US" sz="1300" b="0" i="0">
                <a:solidFill>
                  <a:srgbClr val="1A1A2E"/>
                </a:solidFill>
                <a:latin typeface="Calibri"/>
              </a:rPr>
            </a:br>
            <a:br>
              <a:rPr lang="en-US" altLang="en-US" sz="1300" b="0" i="0">
                <a:solidFill>
                  <a:srgbClr val="1A1A2E"/>
                </a:solidFill>
                <a:latin typeface="Calibri"/>
              </a:rPr>
            </a:br>
            <a:r>
              <a:rPr lang="en-US" altLang="en-US" sz="1300" b="0" i="0">
                <a:solidFill>
                  <a:srgbClr val="1A1A2E"/>
                </a:solidFill>
                <a:latin typeface="Calibri"/>
              </a:rPr>
              <a:t>	•	L ≥ L* → redemptions absorbed internally, no market spillover</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&lt; L* → forced liquidation, sovereign spread disruption</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a:t>
            </a:r>
            <a:r>
              <a:rPr sz="1300">
                <a:solidFill>
                  <a:srgbClr val="1A1A2E"/>
                </a:solidFill>
                <a:latin typeface="Calibri"/>
                <a:sym typeface="+mn-ea"/>
              </a:rPr>
              <a:t>•  </a:t>
            </a:r>
            <a:r>
              <a:rPr lang="en-US" sz="1300">
                <a:solidFill>
                  <a:srgbClr val="1A1A2E"/>
                </a:solidFill>
                <a:latin typeface="Calibri"/>
                <a:sym typeface="+mn-ea"/>
              </a:rPr>
              <a:t>       </a:t>
            </a:r>
            <a:r>
              <a:rPr sz="1300">
                <a:solidFill>
                  <a:srgbClr val="1A1A2E"/>
                </a:solidFill>
                <a:latin typeface="Calibri"/>
                <a:sym typeface="+mn-ea"/>
              </a:rPr>
              <a:t>We estimate the threshold L* (Hansen 2000)</a:t>
            </a:r>
            <a:endParaRPr sz="1300" b="0" i="0">
              <a:solidFill>
                <a:srgbClr val="1A1A2E"/>
              </a:solidFill>
              <a:latin typeface="Calibri"/>
            </a:endParaRPr>
          </a:p>
          <a:p>
            <a:pPr>
              <a:spcBef>
                <a:spcPts val="0"/>
              </a:spcBef>
            </a:pPr>
            <a:br>
              <a:rPr lang="en-US" altLang="en-US" sz="1300" b="0" i="0">
                <a:solidFill>
                  <a:srgbClr val="1A1A2E"/>
                </a:solidFill>
                <a:latin typeface="Calibri"/>
              </a:rPr>
            </a:br>
            <a:br>
              <a:rPr lang="en-US" altLang="en-US" sz="1300" b="0" i="0">
                <a:solidFill>
                  <a:srgbClr val="1A1A2E"/>
                </a:solidFill>
                <a:latin typeface="Calibri"/>
              </a:rPr>
            </a:br>
            <a:endParaRPr lang="en-US" altLang="en-US" sz="1300" b="0" i="0">
              <a:solidFill>
                <a:srgbClr val="1A1A2E"/>
              </a:solidFill>
              <a:latin typeface="Calibri"/>
            </a:endParaRPr>
          </a:p>
        </p:txBody>
      </p:sp>
      <p:sp>
        <p:nvSpPr>
          <p:cNvPr id="27" name="TextBox 2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Page5/15</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endParaRPr sz="1300" b="0" i="0">
              <a:solidFill>
                <a:srgbClr val="555566"/>
              </a:solidFill>
              <a:latin typeface="Calibri"/>
            </a:endParaRP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8300" y="1024255"/>
            <a:ext cx="5666105" cy="3712845"/>
          </a:xfrm>
          <a:prstGeom prst="rect">
            <a:avLst/>
          </a:prstGeom>
          <a:noFill/>
        </p:spPr>
        <p:txBody>
          <a:bodyPr wrap="square">
            <a:spAutoFit/>
          </a:bodyPr>
          <a:lstStyle/>
          <a:p>
            <a:pPr>
              <a:spcBef>
                <a:spcPts val="0"/>
              </a:spcBef>
            </a:pPr>
            <a:endParaRPr dirty="0"/>
          </a:p>
          <a:p>
            <a:pPr algn="l">
              <a:spcBef>
                <a:spcPts val="400"/>
              </a:spcBef>
            </a:pPr>
            <a:r>
              <a:rPr sz="1400" b="1" i="0" dirty="0">
                <a:solidFill>
                  <a:srgbClr val="1B3A72"/>
                </a:solidFill>
                <a:latin typeface="Calibri"/>
              </a:rPr>
              <a:t>Maggiori (2017) original:</a:t>
            </a:r>
            <a:endParaRPr sz="1400" b="1" i="0" dirty="0">
              <a:solidFill>
                <a:srgbClr val="1B3A72"/>
              </a:solidFill>
              <a:latin typeface="Calibri"/>
            </a:endParaRPr>
          </a:p>
          <a:p>
            <a:pPr algn="l">
              <a:spcBef>
                <a:spcPts val="400"/>
              </a:spcBef>
            </a:pPr>
            <a:r>
              <a:rPr sz="1300" b="0" i="0" dirty="0">
                <a:solidFill>
                  <a:srgbClr val="1A1A2E"/>
                </a:solidFill>
                <a:latin typeface="Calibri"/>
              </a:rPr>
              <a:t>Safe-asset demand driven by </a:t>
            </a:r>
            <a:r>
              <a:rPr sz="1300" b="0" i="0" dirty="0" err="1">
                <a:solidFill>
                  <a:srgbClr val="1A1A2E"/>
                </a:solidFill>
                <a:latin typeface="Calibri"/>
              </a:rPr>
              <a:t>Ω</a:t>
            </a:r>
            <a:r>
              <a:rPr sz="1300" b="0" i="0" dirty="0">
                <a:solidFill>
                  <a:srgbClr val="1A1A2E"/>
                </a:solidFill>
                <a:latin typeface="Calibri"/>
              </a:rPr>
              <a:t>* </a:t>
            </a:r>
            <a:r>
              <a:rPr lang="en-US" altLang="en-US" sz="1300" b="0" i="0" dirty="0">
                <a:solidFill>
                  <a:srgbClr val="1A1A2E"/>
                </a:solidFill>
                <a:latin typeface="Calibri"/>
              </a:rPr>
              <a:t>— the countercyclical marginal value of </a:t>
            </a:r>
            <a:r>
              <a:rPr lang="en-US" altLang="en-US" sz="1300" b="0" i="0" dirty="0" err="1">
                <a:solidFill>
                  <a:srgbClr val="1A1A2E"/>
                </a:solidFill>
                <a:latin typeface="Calibri"/>
              </a:rPr>
              <a:t>RoW</a:t>
            </a:r>
            <a:r>
              <a:rPr lang="en-US" altLang="en-US" sz="1300" b="0" i="0" dirty="0">
                <a:solidFill>
                  <a:srgbClr val="1A1A2E"/>
                </a:solidFill>
                <a:latin typeface="Calibri"/>
              </a:rPr>
              <a:t> financial net worth</a:t>
            </a:r>
            <a:r>
              <a:rPr sz="1300" b="0" i="0" dirty="0">
                <a:solidFill>
                  <a:srgbClr val="1A1A2E"/>
                </a:solidFill>
                <a:latin typeface="Calibri"/>
              </a:rPr>
              <a:t>.</a:t>
            </a:r>
            <a:endParaRPr sz="1300" b="0" i="0" dirty="0">
              <a:solidFill>
                <a:srgbClr val="1A1A2E"/>
              </a:solidFill>
              <a:latin typeface="Calibri"/>
            </a:endParaRPr>
          </a:p>
          <a:p>
            <a:pPr algn="l">
              <a:spcBef>
                <a:spcPts val="400"/>
              </a:spcBef>
            </a:pPr>
            <a:r>
              <a:rPr sz="800" b="0" i="0" dirty="0">
                <a:solidFill>
                  <a:srgbClr val="1A1A2E"/>
                </a:solidFill>
                <a:latin typeface="Calibri"/>
              </a:rPr>
              <a:t> </a:t>
            </a:r>
            <a:endParaRPr sz="800" b="0" i="0" dirty="0">
              <a:solidFill>
                <a:srgbClr val="1A1A2E"/>
              </a:solidFill>
              <a:latin typeface="Calibri"/>
            </a:endParaRPr>
          </a:p>
          <a:p>
            <a:pPr algn="l">
              <a:spcBef>
                <a:spcPts val="600"/>
              </a:spcBef>
            </a:pPr>
            <a:r>
              <a:rPr sz="1400" b="1" i="0" dirty="0">
                <a:solidFill>
                  <a:srgbClr val="1B3A72"/>
                </a:solidFill>
                <a:latin typeface="Calibri"/>
              </a:rPr>
              <a:t>Our extension add</a:t>
            </a:r>
            <a:r>
              <a:rPr lang="en-US" sz="1400" b="1" i="0" dirty="0">
                <a:solidFill>
                  <a:srgbClr val="1B3A72"/>
                </a:solidFill>
                <a:latin typeface="Calibri"/>
              </a:rPr>
              <a:t>s </a:t>
            </a:r>
            <a:r>
              <a:rPr sz="1400" b="1" i="0" dirty="0">
                <a:solidFill>
                  <a:srgbClr val="1B3A72"/>
                </a:solidFill>
                <a:latin typeface="Calibri"/>
              </a:rPr>
              <a:t>S, </a:t>
            </a:r>
            <a:r>
              <a:rPr sz="1400" b="1" i="0" dirty="0" err="1">
                <a:solidFill>
                  <a:srgbClr val="1B3A72"/>
                </a:solidFill>
                <a:latin typeface="Calibri"/>
              </a:rPr>
              <a:t>θ</a:t>
            </a:r>
            <a:r>
              <a:rPr sz="1400" b="1" i="0" dirty="0">
                <a:solidFill>
                  <a:srgbClr val="1B3A72"/>
                </a:solidFill>
                <a:latin typeface="Calibri"/>
              </a:rPr>
              <a:t>, and L:</a:t>
            </a:r>
            <a:endParaRPr sz="1400" b="1" i="0" dirty="0">
              <a:solidFill>
                <a:srgbClr val="1B3A72"/>
              </a:solidFill>
              <a:latin typeface="Calibri"/>
            </a:endParaRPr>
          </a:p>
          <a:p>
            <a:pPr algn="l">
              <a:spcBef>
                <a:spcPts val="400"/>
              </a:spcBef>
            </a:pPr>
            <a:r>
              <a:rPr sz="1300" b="0" i="1" dirty="0">
                <a:solidFill>
                  <a:srgbClr val="1A1A2E"/>
                </a:solidFill>
                <a:latin typeface="Calibri"/>
              </a:rPr>
              <a:t>D*(</a:t>
            </a:r>
            <a:r>
              <a:rPr sz="1300" b="0" i="1" dirty="0" err="1">
                <a:solidFill>
                  <a:srgbClr val="1A1A2E"/>
                </a:solidFill>
                <a:latin typeface="Calibri"/>
              </a:rPr>
              <a:t>Ñ</a:t>
            </a:r>
            <a:r>
              <a:rPr sz="1300" b="0" i="1" dirty="0">
                <a:solidFill>
                  <a:srgbClr val="1A1A2E"/>
                </a:solidFill>
                <a:latin typeface="Calibri"/>
              </a:rPr>
              <a:t>*, S, </a:t>
            </a:r>
            <a:r>
              <a:rPr sz="1300" b="0" i="1" dirty="0" err="1">
                <a:solidFill>
                  <a:srgbClr val="1A1A2E"/>
                </a:solidFill>
                <a:latin typeface="Calibri"/>
              </a:rPr>
              <a:t>θ</a:t>
            </a:r>
            <a:r>
              <a:rPr sz="1300" b="0" i="1" dirty="0">
                <a:solidFill>
                  <a:srgbClr val="1A1A2E"/>
                </a:solidFill>
                <a:latin typeface="Calibri"/>
              </a:rPr>
              <a:t>, L)  =  D*precautionary(</a:t>
            </a:r>
            <a:r>
              <a:rPr sz="1300" b="0" i="1" dirty="0" err="1">
                <a:solidFill>
                  <a:srgbClr val="1A1A2E"/>
                </a:solidFill>
                <a:latin typeface="Calibri"/>
              </a:rPr>
              <a:t>Ñ</a:t>
            </a:r>
            <a:r>
              <a:rPr sz="1300" b="0" i="1" dirty="0">
                <a:solidFill>
                  <a:srgbClr val="1A1A2E"/>
                </a:solidFill>
                <a:latin typeface="Calibri"/>
              </a:rPr>
              <a:t>*)  +  D*stablecoin(S, </a:t>
            </a:r>
            <a:r>
              <a:rPr sz="1300" b="0" i="1" dirty="0" err="1">
                <a:solidFill>
                  <a:srgbClr val="1A1A2E"/>
                </a:solidFill>
                <a:latin typeface="Calibri"/>
              </a:rPr>
              <a:t>θ</a:t>
            </a:r>
            <a:r>
              <a:rPr sz="1300" b="0" i="1" dirty="0">
                <a:solidFill>
                  <a:srgbClr val="1A1A2E"/>
                </a:solidFill>
                <a:latin typeface="Calibri"/>
              </a:rPr>
              <a:t>)  +  D*buffer(L)</a:t>
            </a:r>
            <a:endParaRPr sz="1300" b="0" i="1" dirty="0">
              <a:solidFill>
                <a:srgbClr val="1A1A2E"/>
              </a:solidFill>
              <a:latin typeface="Calibri"/>
            </a:endParaRPr>
          </a:p>
          <a:p>
            <a:pPr algn="l">
              <a:spcBef>
                <a:spcPts val="400"/>
              </a:spcBef>
            </a:pPr>
            <a:r>
              <a:rPr sz="800" b="0" i="0" dirty="0">
                <a:solidFill>
                  <a:srgbClr val="1A1A2E"/>
                </a:solidFill>
                <a:latin typeface="Calibri"/>
              </a:rPr>
              <a:t> </a:t>
            </a:r>
            <a:endParaRPr sz="800" b="0" i="0" dirty="0">
              <a:solidFill>
                <a:srgbClr val="1A1A2E"/>
              </a:solidFill>
              <a:latin typeface="Calibri"/>
            </a:endParaRPr>
          </a:p>
          <a:p>
            <a:pPr algn="l">
              <a:spcBef>
                <a:spcPts val="400"/>
              </a:spcBef>
            </a:pPr>
            <a:r>
              <a:rPr lang="en-US" altLang="en-US" sz="1400" b="1" i="0" dirty="0">
                <a:solidFill>
                  <a:srgbClr val="1B3A72"/>
                </a:solidFill>
                <a:latin typeface="Calibri"/>
              </a:rPr>
              <a:t>Safe-asset demand now has three components:</a:t>
            </a:r>
            <a:br>
              <a:rPr lang="en-US" altLang="en-US" sz="1400" b="1" i="0" dirty="0">
                <a:solidFill>
                  <a:srgbClr val="1B3A72"/>
                </a:solidFill>
                <a:latin typeface="Calibri"/>
              </a:rPr>
            </a:br>
            <a:br>
              <a:rPr lang="en-US" altLang="en-US" sz="1400" b="1" i="0" dirty="0">
                <a:solidFill>
                  <a:srgbClr val="1B3A72"/>
                </a:solidFill>
                <a:latin typeface="Calibri"/>
              </a:rPr>
            </a:br>
            <a:r>
              <a:rPr lang="en-US" altLang="en-US" sz="1300" b="0" i="0" dirty="0">
                <a:solidFill>
                  <a:schemeClr val="tx1"/>
                </a:solidFill>
                <a:latin typeface="Calibri"/>
              </a:rPr>
              <a:t>• D*precautionary — Maggiori’s original term, driven by global wealth</a:t>
            </a:r>
            <a:br>
              <a:rPr lang="en-US" altLang="en-US" sz="1300" b="0" i="0" dirty="0">
                <a:solidFill>
                  <a:schemeClr val="tx1"/>
                </a:solidFill>
                <a:latin typeface="Calibri"/>
              </a:rPr>
            </a:br>
            <a:br>
              <a:rPr lang="en-US" altLang="en-US" sz="1300" b="0" i="0" dirty="0">
                <a:solidFill>
                  <a:schemeClr val="tx1"/>
                </a:solidFill>
                <a:latin typeface="Calibri"/>
              </a:rPr>
            </a:br>
            <a:r>
              <a:rPr lang="en-US" altLang="en-US" sz="1300" b="0" i="0" dirty="0">
                <a:solidFill>
                  <a:schemeClr val="tx1"/>
                </a:solidFill>
                <a:latin typeface="Calibri"/>
              </a:rPr>
              <a:t>• D*stablecoin — new structural demand via mechanical T-bill acquisition</a:t>
            </a:r>
            <a:endParaRPr lang="en-US" altLang="en-US" sz="1300" b="0" i="0" dirty="0">
              <a:solidFill>
                <a:schemeClr val="tx1"/>
              </a:solidFill>
              <a:latin typeface="Calibri"/>
            </a:endParaRPr>
          </a:p>
          <a:p>
            <a:pPr algn="l">
              <a:spcBef>
                <a:spcPts val="400"/>
              </a:spcBef>
            </a:pPr>
            <a:br>
              <a:rPr lang="en-US" altLang="en-US" sz="1300" b="0" i="0" dirty="0">
                <a:solidFill>
                  <a:schemeClr val="tx1"/>
                </a:solidFill>
                <a:latin typeface="Calibri"/>
              </a:rPr>
            </a:br>
            <a:r>
              <a:rPr lang="en-US" altLang="en-US" sz="1300" b="0" i="0" dirty="0">
                <a:solidFill>
                  <a:schemeClr val="tx1"/>
                </a:solidFill>
                <a:latin typeface="Calibri"/>
              </a:rPr>
              <a:t>• D*buffer — additional demand from excess reserve holdings above minimum</a:t>
            </a:r>
            <a:endParaRPr lang="en-US" altLang="en-US" sz="1300" b="0" i="0" dirty="0">
              <a:solidFill>
                <a:schemeClr val="tx1"/>
              </a:solidFill>
              <a:latin typeface="Calibri"/>
            </a:endParaRP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endParaRPr sz="1500" b="1" i="0">
              <a:solidFill>
                <a:srgbClr val="FFFFFF"/>
              </a:solidFill>
              <a:latin typeface="Calibri"/>
            </a:endParaRP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panose="02070609020205020404"/>
              </a:rPr>
              <a:t>Spreadₜ = α + β₁·ΔlnSₜ + β₂·θₜ + β₃·Lₜ
           + β₄·(Lₜ × ΔlnSₜ)
           + β₅·Vₜ + β₆·VIXₜ
           + β₇·ΔlnN*ₜ + εₜ</a:t>
            </a:r>
            <a:endParaRPr sz="1400" b="0" i="0">
              <a:solidFill>
                <a:srgbClr val="FFFFFF"/>
              </a:solidFill>
              <a:latin typeface="Courier New" panose="02070609020205020404"/>
            </a:endParaRPr>
          </a:p>
        </p:txBody>
      </p:sp>
      <p:sp>
        <p:nvSpPr>
          <p:cNvPr id="11" name="TextBox 10"/>
          <p:cNvSpPr txBox="1"/>
          <p:nvPr/>
        </p:nvSpPr>
        <p:spPr>
          <a:xfrm>
            <a:off x="6355080" y="3337560"/>
            <a:ext cx="5303520" cy="1881505"/>
          </a:xfrm>
          <a:prstGeom prst="rect">
            <a:avLst/>
          </a:prstGeom>
          <a:noFill/>
        </p:spPr>
        <p:txBody>
          <a:bodyPr wrap="square">
            <a:spAutoFit/>
          </a:bodyPr>
          <a:lstStyle/>
          <a:p>
            <a:pPr>
              <a:spcBef>
                <a:spcPts val="0"/>
              </a:spcBef>
            </a:pPr>
          </a:p>
          <a:p>
            <a:pPr algn="l">
              <a:spcBef>
                <a:spcPts val="400"/>
              </a:spcBef>
            </a:pPr>
            <a:r>
              <a:rPr sz="1500" b="1" i="0">
                <a:solidFill>
                  <a:srgbClr val="AAC4E8"/>
                </a:solidFill>
                <a:latin typeface="Calibri"/>
              </a:rPr>
              <a:t>Predicted signs:</a:t>
            </a:r>
            <a:endParaRPr sz="1500" b="1" i="0">
              <a:solidFill>
                <a:srgbClr val="AAC4E8"/>
              </a:solidFill>
              <a:latin typeface="Calibri"/>
            </a:endParaRPr>
          </a:p>
          <a:p>
            <a:pPr algn="l">
              <a:spcBef>
                <a:spcPts val="600"/>
              </a:spcBef>
            </a:pPr>
            <a:r>
              <a:rPr sz="1500" b="0" i="0">
                <a:solidFill>
                  <a:srgbClr val="FFFFFF"/>
                </a:solidFill>
                <a:latin typeface="Calibri"/>
              </a:rPr>
              <a:t>❖  β₁ &lt; 0: ΔlnS compresses spreads (privilege amplification)</a:t>
            </a:r>
            <a:endParaRPr sz="1500" b="0" i="0">
              <a:solidFill>
                <a:srgbClr val="FFFFFF"/>
              </a:solidFill>
              <a:latin typeface="Calibri"/>
            </a:endParaRPr>
          </a:p>
          <a:p>
            <a:pPr algn="l">
              <a:spcBef>
                <a:spcPts val="600"/>
              </a:spcBef>
            </a:pPr>
            <a:r>
              <a:rPr sz="1500" b="0" i="0">
                <a:solidFill>
                  <a:srgbClr val="FFFFFF"/>
                </a:solidFill>
                <a:latin typeface="Calibri"/>
              </a:rPr>
              <a:t>❖  β₂ &gt; 0: Higher T-bill exposure θ amplifies demand</a:t>
            </a:r>
            <a:endParaRPr sz="1500" b="0" i="0">
              <a:solidFill>
                <a:srgbClr val="FFFFFF"/>
              </a:solidFill>
              <a:latin typeface="Calibri"/>
            </a:endParaRPr>
          </a:p>
          <a:p>
            <a:pPr algn="l">
              <a:spcBef>
                <a:spcPts val="600"/>
              </a:spcBef>
            </a:pPr>
            <a:r>
              <a:rPr sz="1500">
                <a:solidFill>
                  <a:srgbClr val="FFFFFF"/>
                </a:solidFill>
                <a:latin typeface="Calibri"/>
                <a:sym typeface="+mn-ea"/>
              </a:rPr>
              <a:t>❖  β₄ &gt; 0: Higher L dampens crisis transmission during runs</a:t>
            </a:r>
            <a:endParaRPr sz="1500" b="0" i="0">
              <a:solidFill>
                <a:srgbClr val="FFFFFF"/>
              </a:solidFill>
              <a:latin typeface="Calibri"/>
            </a:endParaRPr>
          </a:p>
          <a:p>
            <a:pPr algn="l">
              <a:spcBef>
                <a:spcPts val="600"/>
              </a:spcBef>
            </a:pPr>
            <a:endParaRPr sz="1500" b="0" i="0">
              <a:solidFill>
                <a:srgbClr val="FFFFFF"/>
              </a:solidFill>
              <a:latin typeface="Calibri"/>
            </a:endParaRPr>
          </a:p>
        </p:txBody>
      </p:sp>
      <p:pic>
        <p:nvPicPr>
          <p:cNvPr id="13" name="Picture 12"/>
          <p:cNvPicPr>
            <a:picLocks noChangeAspect="1"/>
          </p:cNvPicPr>
          <p:nvPr/>
        </p:nvPicPr>
        <p:blipFill>
          <a:blip r:embed="rId1"/>
          <a:stretch>
            <a:fillRect/>
          </a:stretch>
        </p:blipFill>
        <p:spPr>
          <a:xfrm>
            <a:off x="6355080" y="1433830"/>
            <a:ext cx="4968875" cy="1546860"/>
          </a:xfrm>
          <a:prstGeom prst="rect">
            <a:avLst/>
          </a:prstGeom>
        </p:spPr>
      </p:pic>
      <p:sp>
        <p:nvSpPr>
          <p:cNvPr id="21" name="Rectangle 20"/>
          <p:cNvSpPr/>
          <p:nvPr/>
        </p:nvSpPr>
        <p:spPr>
          <a:xfrm>
            <a:off x="0" y="6015355"/>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645160"/>
          </a:xfrm>
          <a:prstGeom prst="rect">
            <a:avLst/>
          </a:prstGeom>
          <a:noFill/>
        </p:spPr>
        <p:txBody>
          <a:bodyPr wrap="square">
            <a:spAutoFit/>
          </a:bodyPr>
          <a:lstStyle/>
          <a:p>
            <a:pPr algn="ctr"/>
            <a:r>
              <a:rPr lang="en-US" altLang="en-US" sz="1800" b="1" i="0">
                <a:solidFill>
                  <a:srgbClr val="FFFFFF"/>
                </a:solidFill>
                <a:latin typeface="Calibri"/>
              </a:rPr>
              <a:t>The buffer L introduces a non-linear threshold — the key theoretical departure from Maggiori’s original model.</a:t>
            </a:r>
            <a:endParaRPr lang="en-US" altLang="en-US" sz="1800" b="1" i="0">
              <a:solidFill>
                <a:srgbClr val="FFFFFF"/>
              </a:solidFill>
              <a:latin typeface="Calibri"/>
            </a:endParaRPr>
          </a:p>
        </p:txBody>
      </p:sp>
      <p:sp>
        <p:nvSpPr>
          <p:cNvPr id="17" name="TextBox 1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Page6/15</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endParaRPr sz="2600" b="0" i="0">
              <a:solidFill>
                <a:srgbClr val="FFFFFF"/>
              </a:solidFill>
              <a:latin typeface="Calibri"/>
            </a:endParaRP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endParaRPr sz="1300" b="1" i="0">
              <a:solidFill>
                <a:srgbClr val="FFFFFF"/>
              </a:solidFill>
              <a:latin typeface="Calibri"/>
            </a:endParaRP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endParaRPr sz="1300" b="1" i="0">
              <a:solidFill>
                <a:srgbClr val="FFFFFF"/>
              </a:solidFill>
              <a:latin typeface="Calibri"/>
            </a:endParaRP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endParaRPr sz="1300" b="1" i="0">
              <a:solidFill>
                <a:srgbClr val="FFFFFF"/>
              </a:solidFill>
              <a:latin typeface="Calibri"/>
            </a:endParaRP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endParaRPr sz="1300" b="1" i="0">
              <a:solidFill>
                <a:srgbClr val="FFFFFF"/>
              </a:solidFill>
              <a:latin typeface="Calibri"/>
            </a:endParaRP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endParaRPr sz="1200" b="0" i="0">
              <a:solidFill>
                <a:srgbClr val="1A1A2E"/>
              </a:solidFill>
              <a:latin typeface="Calibri"/>
            </a:endParaRP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endParaRPr sz="1200" b="0" i="0">
              <a:solidFill>
                <a:srgbClr val="1A1A2E"/>
              </a:solidFill>
              <a:latin typeface="Calibri"/>
            </a:endParaRP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endParaRPr sz="1200" b="0" i="0">
              <a:solidFill>
                <a:srgbClr val="1A1A2E"/>
              </a:solidFill>
              <a:latin typeface="Calibri"/>
            </a:endParaRP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endParaRPr sz="1200" b="0" i="0">
              <a:solidFill>
                <a:srgbClr val="1A1A2E"/>
              </a:solidFill>
              <a:latin typeface="Calibri"/>
            </a:endParaRP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endParaRPr sz="1200" b="0" i="0">
              <a:solidFill>
                <a:srgbClr val="1A1A2E"/>
              </a:solidFill>
              <a:latin typeface="Calibri"/>
            </a:endParaRP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dirty="0" err="1">
                <a:solidFill>
                  <a:srgbClr val="1A1A2E"/>
                </a:solidFill>
                <a:latin typeface="Calibri"/>
              </a:rPr>
              <a:t>DeFiLlama</a:t>
            </a:r>
            <a:r>
              <a:rPr sz="1200" b="0" i="0" dirty="0">
                <a:solidFill>
                  <a:srgbClr val="1A1A2E"/>
                </a:solidFill>
                <a:latin typeface="Calibri"/>
              </a:rPr>
              <a:t> stablecoins API (free)</a:t>
            </a:r>
            <a:endParaRPr sz="1200" b="0" i="0" dirty="0">
              <a:solidFill>
                <a:srgbClr val="1A1A2E"/>
              </a:solidFill>
              <a:latin typeface="Calibri"/>
            </a:endParaRP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endParaRPr sz="1200" b="0" i="0">
              <a:solidFill>
                <a:srgbClr val="1A1A2E"/>
              </a:solidFill>
              <a:latin typeface="Calibri"/>
            </a:endParaRP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endParaRPr sz="1200" b="0" i="0">
              <a:solidFill>
                <a:srgbClr val="1A1A2E"/>
              </a:solidFill>
              <a:latin typeface="Calibri"/>
            </a:endParaRP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endParaRPr sz="1200" b="0" i="0">
              <a:solidFill>
                <a:srgbClr val="1A1A2E"/>
              </a:solidFill>
              <a:latin typeface="Calibri"/>
            </a:endParaRP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endParaRPr sz="1200" b="0" i="0">
              <a:solidFill>
                <a:srgbClr val="1A1A2E"/>
              </a:solidFill>
              <a:latin typeface="Calibri"/>
            </a:endParaRP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endParaRPr sz="1200" b="0" i="0">
              <a:solidFill>
                <a:srgbClr val="1A1A2E"/>
              </a:solidFill>
              <a:latin typeface="Calibri"/>
            </a:endParaRP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endParaRPr sz="1200" b="0" i="0">
              <a:solidFill>
                <a:srgbClr val="1A1A2E"/>
              </a:solidFill>
              <a:latin typeface="Calibri"/>
            </a:endParaRP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endParaRPr sz="1200" b="0" i="0">
              <a:solidFill>
                <a:srgbClr val="1A1A2E"/>
              </a:solidFill>
              <a:latin typeface="Calibri"/>
            </a:endParaRP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endParaRPr sz="1200" b="0" i="0">
              <a:solidFill>
                <a:srgbClr val="1A1A2E"/>
              </a:solidFill>
              <a:latin typeface="Calibri"/>
            </a:endParaRP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endParaRPr sz="1200" b="0" i="0">
              <a:solidFill>
                <a:srgbClr val="1A1A2E"/>
              </a:solidFill>
              <a:latin typeface="Calibri"/>
            </a:endParaRP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endParaRPr sz="1200" b="0" i="0">
              <a:solidFill>
                <a:srgbClr val="1A1A2E"/>
              </a:solidFill>
              <a:latin typeface="Calibri"/>
            </a:endParaRP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endParaRPr sz="1200" b="0" i="0">
              <a:solidFill>
                <a:srgbClr val="1A1A2E"/>
              </a:solidFill>
              <a:latin typeface="Calibri"/>
            </a:endParaRP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endParaRPr sz="1200" b="0" i="0">
              <a:solidFill>
                <a:srgbClr val="1A1A2E"/>
              </a:solidFill>
              <a:latin typeface="Calibri"/>
            </a:endParaRP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endParaRPr sz="1200" b="0" i="0">
              <a:solidFill>
                <a:srgbClr val="1A1A2E"/>
              </a:solidFill>
              <a:latin typeface="Calibri"/>
            </a:endParaRP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endParaRPr sz="1100" b="0" i="1">
              <a:solidFill>
                <a:srgbClr val="555566"/>
              </a:solidFill>
              <a:latin typeface="Calibri"/>
            </a:endParaRPr>
          </a:p>
        </p:txBody>
      </p:sp>
      <p:sp>
        <p:nvSpPr>
          <p:cNvPr id="51" name="TextBox 50"/>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Page7/15</a:t>
            </a:r>
            <a:endParaRPr kumimoji="1" lang="ko-KR" altLang="en-US"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endParaRPr sz="2600" b="0" i="0">
              <a:solidFill>
                <a:srgbClr val="FFFFFF"/>
              </a:solidFill>
              <a:latin typeface="Calibri"/>
            </a:endParaRPr>
          </a:p>
        </p:txBody>
      </p:sp>
      <p:pic>
        <p:nvPicPr>
          <p:cNvPr id="6" name="Picture 5" descr="fig_timeseries.png"/>
          <p:cNvPicPr>
            <a:picLocks noChangeAspect="1"/>
          </p:cNvPicPr>
          <p:nvPr/>
        </p:nvPicPr>
        <p:blipFill>
          <a:blip r:embed="rId1"/>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endParaRPr lang="en-US" sz="1600" b="0" i="0" dirty="0">
              <a:solidFill>
                <a:srgbClr val="1A1A2E"/>
              </a:solidFill>
              <a:latin typeface="Calibri"/>
            </a:endParaRP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endParaRPr lang="en-US" altLang="ko-KR" sz="1600" dirty="0">
              <a:solidFill>
                <a:srgbClr val="1A1A2E"/>
              </a:solidFill>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endParaRPr sz="1600" b="0" i="0" dirty="0">
              <a:solidFill>
                <a:srgbClr val="1A1A2E"/>
              </a:solidFill>
              <a:latin typeface="Calibri"/>
            </a:endParaRPr>
          </a:p>
          <a:p>
            <a:pPr algn="l">
              <a:spcBef>
                <a:spcPts val="900"/>
              </a:spcBef>
            </a:pPr>
            <a:r>
              <a:rPr sz="1600" b="0" i="0" dirty="0">
                <a:solidFill>
                  <a:srgbClr val="1A1A2E"/>
                </a:solidFill>
                <a:latin typeface="Calibri"/>
              </a:rPr>
              <a:t>❖  Red dashed line = our estimated safety threshold (13%)</a:t>
            </a:r>
            <a:endParaRPr sz="1600" b="0" i="0" dirty="0">
              <a:solidFill>
                <a:srgbClr val="1A1A2E"/>
              </a:solidFill>
              <a:latin typeface="Calibri"/>
            </a:endParaRPr>
          </a:p>
        </p:txBody>
      </p:sp>
      <p:sp>
        <p:nvSpPr>
          <p:cNvPr id="9" name="줄무늬가 있는 오른쪽 화살표[S] 8"/>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
        <p:nvSpPr>
          <p:cNvPr id="14" name="TextBox 1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8/15</a:t>
            </a:r>
            <a:endParaRPr kumimoji="1" lang="ko-KR" altLang="en-US"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endParaRPr sz="2600" b="0" i="0">
              <a:solidFill>
                <a:srgbClr val="FFFFFF"/>
              </a:solidFill>
              <a:latin typeface="Calibri"/>
            </a:endParaRPr>
          </a:p>
        </p:txBody>
      </p:sp>
      <p:grpSp>
        <p:nvGrpSpPr>
          <p:cNvPr id="19" name="그룹 18"/>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endParaRPr sz="1500" b="1" i="0">
                <a:solidFill>
                  <a:srgbClr val="FFFFFF"/>
                </a:solidFill>
                <a:latin typeface="Calibri"/>
              </a:endParaRP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endParaRPr b="0" i="0" dirty="0">
                <a:solidFill>
                  <a:srgbClr val="1A1A2E"/>
                </a:solidFill>
                <a:latin typeface="Calibri"/>
              </a:endParaRPr>
            </a:p>
          </p:txBody>
        </p:sp>
      </p:grpSp>
      <p:grpSp>
        <p:nvGrpSpPr>
          <p:cNvPr id="20" name="그룹 19"/>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endParaRPr sz="1500" b="1" i="0">
                <a:solidFill>
                  <a:srgbClr val="FFFFFF"/>
                </a:solidFill>
                <a:latin typeface="Calibri"/>
              </a:endParaRP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endParaRPr b="0" i="0" dirty="0">
                <a:solidFill>
                  <a:srgbClr val="1A1A2E"/>
                </a:solidFill>
                <a:latin typeface="Calibri"/>
              </a:endParaRPr>
            </a:p>
          </p:txBody>
        </p:sp>
      </p:grpSp>
      <p:grpSp>
        <p:nvGrpSpPr>
          <p:cNvPr id="21" name="그룹 20"/>
          <p:cNvGrpSpPr/>
          <p:nvPr/>
        </p:nvGrpSpPr>
        <p:grpSpPr>
          <a:xfrm>
            <a:off x="365760" y="4572000"/>
            <a:ext cx="11430000" cy="1709928"/>
            <a:chOff x="365760" y="4572000"/>
            <a:chExt cx="11430000" cy="1709928"/>
          </a:xfrm>
        </p:grpSpPr>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endParaRPr sz="1500" b="1" i="0" dirty="0">
                <a:solidFill>
                  <a:srgbClr val="FFFFFF"/>
                </a:solidFill>
                <a:latin typeface="Calibri"/>
              </a:endParaRP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endParaRPr b="0" i="0" dirty="0">
                <a:solidFill>
                  <a:srgbClr val="1A1A2E"/>
                </a:solidFill>
                <a:latin typeface="Calibri"/>
              </a:endParaRPr>
            </a:p>
          </p:txBody>
        </p:sp>
      </p:gr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9/15</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endParaRPr sz="2600" b="0" i="0">
              <a:solidFill>
                <a:srgbClr val="FFFFFF"/>
              </a:solidFill>
              <a:latin typeface="Calibri"/>
            </a:endParaRP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endParaRPr sz="1600" b="1" i="0" dirty="0">
              <a:solidFill>
                <a:srgbClr val="FFFFFF"/>
              </a:solidFill>
              <a:latin typeface="Calibri"/>
            </a:endParaRP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endParaRPr sz="4400" b="1" i="0">
              <a:solidFill>
                <a:srgbClr val="FFFFFF"/>
              </a:solidFill>
              <a:latin typeface="Calibri"/>
            </a:endParaRP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endParaRPr sz="1300" b="0" i="1">
              <a:solidFill>
                <a:srgbClr val="AAC4E8"/>
              </a:solidFill>
              <a:latin typeface="Calibri"/>
            </a:endParaRP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endParaRPr sz="1400" b="1" i="0" dirty="0">
              <a:solidFill>
                <a:srgbClr val="1B3A72"/>
              </a:solidFill>
              <a:latin typeface="Calibri"/>
            </a:endParaRP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endParaRPr sz="1300" b="0" i="0" dirty="0">
              <a:solidFill>
                <a:srgbClr val="1A1A2E"/>
              </a:solidFill>
              <a:latin typeface="Calibri"/>
            </a:endParaRP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endParaRPr sz="1100" b="1" i="0">
              <a:solidFill>
                <a:srgbClr val="FFFFFF"/>
              </a:solidFill>
              <a:latin typeface="Calibri"/>
            </a:endParaRP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endParaRPr sz="1100" b="1" i="0">
              <a:solidFill>
                <a:srgbClr val="FFFFFF"/>
              </a:solidFill>
              <a:latin typeface="Calibri"/>
            </a:endParaRP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endParaRPr sz="1100" b="1" i="0">
              <a:solidFill>
                <a:srgbClr val="FFFFFF"/>
              </a:solidFill>
              <a:latin typeface="Calibri"/>
            </a:endParaRP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endParaRPr sz="1100" b="1" i="0">
              <a:solidFill>
                <a:srgbClr val="1A1A2E"/>
              </a:solidFill>
              <a:latin typeface="Calibri"/>
            </a:endParaRP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endParaRPr sz="1100" b="1" i="0">
              <a:solidFill>
                <a:srgbClr val="1A1A2E"/>
              </a:solidFill>
              <a:latin typeface="Calibri"/>
            </a:endParaRP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endParaRPr sz="1100" b="1" i="0">
              <a:solidFill>
                <a:srgbClr val="1A1A2E"/>
              </a:solidFill>
              <a:latin typeface="Calibri"/>
            </a:endParaRP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endParaRPr sz="1100" b="0" i="0" dirty="0">
              <a:solidFill>
                <a:srgbClr val="1A1A2E"/>
              </a:solidFill>
              <a:latin typeface="Calibri"/>
            </a:endParaRP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endParaRPr sz="1100" b="0" i="0">
              <a:solidFill>
                <a:srgbClr val="1A1A2E"/>
              </a:solidFill>
              <a:latin typeface="Calibri"/>
            </a:endParaRP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endParaRPr sz="1100" b="0" i="0">
              <a:solidFill>
                <a:srgbClr val="1A1A2E"/>
              </a:solidFill>
              <a:latin typeface="Calibri"/>
            </a:endParaRP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endParaRPr sz="1100" b="0" i="0">
              <a:solidFill>
                <a:srgbClr val="1A1A2E"/>
              </a:solidFill>
              <a:latin typeface="Calibri"/>
            </a:endParaRP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endParaRPr sz="1100" b="0" i="0">
              <a:solidFill>
                <a:srgbClr val="1A1A2E"/>
              </a:solidFill>
              <a:latin typeface="Calibri"/>
            </a:endParaRP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endParaRPr sz="1100" b="0" i="0">
              <a:solidFill>
                <a:srgbClr val="1A1A2E"/>
              </a:solidFill>
              <a:latin typeface="Calibri"/>
            </a:endParaRP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endParaRPr sz="1100" b="0" i="0">
              <a:solidFill>
                <a:srgbClr val="1A1A2E"/>
              </a:solidFill>
              <a:latin typeface="Calibri"/>
            </a:endParaRP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endParaRPr sz="1100" b="0" i="0">
              <a:solidFill>
                <a:srgbClr val="1A1A2E"/>
              </a:solidFill>
              <a:latin typeface="Calibri"/>
            </a:endParaRPr>
          </a:p>
        </p:txBody>
      </p:sp>
      <p:sp>
        <p:nvSpPr>
          <p:cNvPr id="37" name="TextBox 36"/>
          <p:cNvSpPr txBox="1"/>
          <p:nvPr/>
        </p:nvSpPr>
        <p:spPr>
          <a:xfrm>
            <a:off x="9098280" y="5687568"/>
            <a:ext cx="658368" cy="256032"/>
          </a:xfrm>
          <a:prstGeom prst="rect">
            <a:avLst/>
          </a:prstGeom>
          <a:noFill/>
        </p:spPr>
        <p:txBody>
          <a:bodyPr wrap="square">
            <a:spAutoFit/>
          </a:bodyPr>
          <a:lstStyle/>
          <a:p>
            <a:pPr algn="ct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endParaRPr sz="900" b="0" i="1">
              <a:solidFill>
                <a:srgbClr val="555566"/>
              </a:solidFill>
              <a:latin typeface="Calibri"/>
            </a:endParaRPr>
          </a:p>
        </p:txBody>
      </p:sp>
      <p:sp>
        <p:nvSpPr>
          <p:cNvPr id="40" name="오각형[P] 39"/>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
        <p:nvSpPr>
          <p:cNvPr id="43" name="TextBox 42"/>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10/15</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endParaRPr sz="1300" b="0" i="0">
              <a:solidFill>
                <a:srgbClr val="555566"/>
              </a:solidFill>
              <a:latin typeface="Calibri"/>
            </a:endParaRP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endParaRPr sz="1400" b="0" i="1" dirty="0">
              <a:solidFill>
                <a:srgbClr val="1A1A2E"/>
              </a:solidFill>
              <a:latin typeface="Calibri"/>
            </a:endParaRP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endParaRPr sz="1500" b="1" i="0" dirty="0">
              <a:solidFill>
                <a:srgbClr val="1B3A72"/>
              </a:solidFill>
              <a:latin typeface="Calibri"/>
            </a:endParaRP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endParaRPr sz="1400" b="1" i="0">
              <a:solidFill>
                <a:srgbClr val="AAC4E8"/>
              </a:solidFill>
              <a:latin typeface="Calibri"/>
            </a:endParaRP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endParaRPr sz="3000" b="1" i="0">
              <a:solidFill>
                <a:srgbClr val="FFFFFF"/>
              </a:solidFill>
              <a:latin typeface="Calibri"/>
            </a:endParaRP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endParaRPr sz="1800" b="1" i="0">
              <a:solidFill>
                <a:srgbClr val="FFD700"/>
              </a:solidFill>
              <a:latin typeface="Calibri"/>
            </a:endParaRP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endParaRPr sz="1300" b="0" i="0" dirty="0">
              <a:solidFill>
                <a:srgbClr val="AAC4E8"/>
              </a:solidFill>
              <a:latin typeface="Calibri"/>
            </a:endParaRP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endParaRPr sz="1400" b="1" i="0">
              <a:solidFill>
                <a:srgbClr val="AAC4E8"/>
              </a:solidFill>
              <a:latin typeface="Calibri"/>
            </a:endParaRP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endParaRPr lang="en-US" altLang="ko-KR" dirty="0">
              <a:solidFill>
                <a:schemeClr val="bg1"/>
              </a:solidFill>
            </a:endParaRP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endParaRPr sz="1800" b="1" i="0" dirty="0">
              <a:solidFill>
                <a:srgbClr val="FFD700"/>
              </a:solidFill>
              <a:latin typeface="Calibri"/>
            </a:endParaRP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endParaRPr lang="en-US" altLang="ko-KR" dirty="0">
              <a:solidFill>
                <a:schemeClr val="bg1"/>
              </a:solidFill>
            </a:endParaRP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endParaRPr lang="en-US" altLang="ko-KR" dirty="0">
              <a:solidFill>
                <a:schemeClr val="bg1"/>
              </a:solidFill>
            </a:endParaRP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endParaRPr sz="1300" b="0" i="0" dirty="0">
              <a:solidFill>
                <a:schemeClr val="bg1"/>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endParaRPr sz="2400" b="1" i="0" dirty="0">
              <a:solidFill>
                <a:srgbClr val="FFFFFF"/>
              </a:solidFill>
              <a:latin typeface="Calibri"/>
            </a:endParaRPr>
          </a:p>
        </p:txBody>
      </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11/15</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endParaRPr sz="2600" b="0" i="0">
              <a:solidFill>
                <a:srgbClr val="FFFFFF"/>
              </a:solidFill>
              <a:latin typeface="Calibri"/>
            </a:endParaRPr>
          </a:p>
        </p:txBody>
      </p:sp>
      <p:pic>
        <p:nvPicPr>
          <p:cNvPr id="6" name="Picture 5" descr="threshold_ssr.png"/>
          <p:cNvPicPr>
            <a:picLocks noChangeAspect="1"/>
          </p:cNvPicPr>
          <p:nvPr/>
        </p:nvPicPr>
        <p:blipFill>
          <a:blip r:embed="rId1"/>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endParaRPr sz="4000" b="1" i="0">
              <a:solidFill>
                <a:srgbClr val="FFFFFF"/>
              </a:solidFill>
              <a:latin typeface="Calibri"/>
            </a:endParaRP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endParaRPr sz="1400" b="0" i="1">
              <a:solidFill>
                <a:srgbClr val="AAC4E8"/>
              </a:solidFill>
              <a:latin typeface="Calibri"/>
            </a:endParaRP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endParaRPr sz="1400" b="1" i="0" dirty="0">
              <a:solidFill>
                <a:srgbClr val="1B3A72"/>
              </a:solidFill>
              <a:latin typeface="Calibri"/>
            </a:endParaRP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endParaRPr sz="1300" b="0" i="0" dirty="0">
              <a:solidFill>
                <a:srgbClr val="1A1A2E"/>
              </a:solidFill>
              <a:latin typeface="Calibri"/>
            </a:endParaRP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endParaRPr sz="1000" b="0" i="1" dirty="0">
              <a:solidFill>
                <a:srgbClr val="555566"/>
              </a:solidFill>
              <a:latin typeface="Calibri"/>
            </a:endParaRP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endParaRPr sz="1100" b="0" i="1" dirty="0">
              <a:solidFill>
                <a:srgbClr val="555566"/>
              </a:solidFill>
              <a:latin typeface="Calibri"/>
            </a:endParaRPr>
          </a:p>
        </p:txBody>
      </p:sp>
      <p:sp>
        <p:nvSpPr>
          <p:cNvPr id="16" name="TextBox 15"/>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
        <p:nvSpPr>
          <p:cNvPr id="20" name="TextBox 19"/>
          <p:cNvSpPr txBox="1"/>
          <p:nvPr/>
        </p:nvSpPr>
        <p:spPr>
          <a:xfrm>
            <a:off x="10237304" y="206829"/>
            <a:ext cx="1769640" cy="369332"/>
          </a:xfrm>
          <a:prstGeom prst="rect">
            <a:avLst/>
          </a:prstGeom>
          <a:noFill/>
        </p:spPr>
        <p:txBody>
          <a:bodyPr wrap="square" rtlCol="0">
            <a:spAutoFit/>
          </a:bodyPr>
          <a:lstStyle/>
          <a:p>
            <a:r>
              <a:rPr kumimoji="1" lang="en-US" altLang="ko-KR" dirty="0">
                <a:solidFill>
                  <a:schemeClr val="bg1"/>
                </a:solidFill>
              </a:rPr>
              <a:t>Sara Page12/15</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endParaRPr sz="2600" b="0" i="0" dirty="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endParaRPr sz="1300" b="0" i="0">
              <a:solidFill>
                <a:srgbClr val="555566"/>
              </a:solidFill>
              <a:latin typeface="Calibri"/>
            </a:endParaRP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endParaRPr sz="1400" b="0" i="1" dirty="0">
              <a:solidFill>
                <a:srgbClr val="555566"/>
              </a:solidFill>
              <a:latin typeface="Calibri"/>
            </a:endParaRP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endParaRPr sz="1400" b="1" i="0">
              <a:solidFill>
                <a:srgbClr val="FFFFFF"/>
              </a:solidFill>
              <a:latin typeface="Calibri"/>
            </a:endParaRP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endParaRPr sz="1300" b="0" i="1">
              <a:solidFill>
                <a:srgbClr val="555566"/>
              </a:solidFill>
              <a:latin typeface="Calibri"/>
            </a:endParaRP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endParaRPr sz="4200" b="1" i="0" dirty="0">
              <a:solidFill>
                <a:srgbClr val="C0392B"/>
              </a:solidFill>
              <a:latin typeface="Calibri"/>
            </a:endParaRP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endParaRPr sz="1400" b="1" i="0">
              <a:solidFill>
                <a:srgbClr val="FFFFFF"/>
              </a:solidFill>
              <a:latin typeface="Calibri"/>
            </a:endParaRP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endParaRPr sz="1300" b="0" i="1">
              <a:solidFill>
                <a:srgbClr val="555566"/>
              </a:solidFill>
              <a:latin typeface="Calibri"/>
            </a:endParaRP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endParaRPr sz="4200" b="1" i="0" dirty="0">
              <a:solidFill>
                <a:srgbClr val="1A7A4A"/>
              </a:solidFill>
              <a:latin typeface="Calibri"/>
            </a:endParaRP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endParaRPr sz="2400" b="1" i="0" dirty="0">
              <a:solidFill>
                <a:srgbClr val="FFFFFF"/>
              </a:solidFill>
              <a:latin typeface="Calibri"/>
            </a:endParaRPr>
          </a:p>
        </p:txBody>
      </p:sp>
      <p:sp>
        <p:nvSpPr>
          <p:cNvPr id="24" name="TextBox 23"/>
          <p:cNvSpPr txBox="1"/>
          <p:nvPr/>
        </p:nvSpPr>
        <p:spPr>
          <a:xfrm>
            <a:off x="10118035" y="206829"/>
            <a:ext cx="1888909" cy="369332"/>
          </a:xfrm>
          <a:prstGeom prst="rect">
            <a:avLst/>
          </a:prstGeom>
          <a:noFill/>
        </p:spPr>
        <p:txBody>
          <a:bodyPr wrap="square" rtlCol="0">
            <a:spAutoFit/>
          </a:bodyPr>
          <a:lstStyle/>
          <a:p>
            <a:r>
              <a:rPr kumimoji="1" lang="en-US" altLang="ko-KR" dirty="0">
                <a:solidFill>
                  <a:schemeClr val="bg1"/>
                </a:solidFill>
              </a:rPr>
              <a:t>Sara Page13/15</a:t>
            </a:r>
            <a:endParaRPr kumimoji="1" lang="ko-KR" altLang="en-US"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18" name="TextBox 17"/>
          <p:cNvSpPr txBox="1"/>
          <p:nvPr/>
        </p:nvSpPr>
        <p:spPr>
          <a:xfrm>
            <a:off x="441159" y="1312039"/>
            <a:ext cx="5653253" cy="2308324"/>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Moving from monthly trends to daily "quasi-experimental" causal identification.</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endParaRPr lang="en-US" altLang="ko-KR" b="0" i="0" dirty="0">
              <a:solidFill>
                <a:srgbClr val="303030"/>
              </a:solidFill>
              <a:effectLst/>
              <a:latin typeface="Google Sans Text"/>
            </a:endParaRPr>
          </a:p>
        </p:txBody>
      </p:sp>
      <p:sp>
        <p:nvSpPr>
          <p:cNvPr id="20" name="TextBox 19"/>
          <p:cNvSpPr txBox="1"/>
          <p:nvPr/>
        </p:nvSpPr>
        <p:spPr>
          <a:xfrm>
            <a:off x="274320" y="4060308"/>
            <a:ext cx="6144126" cy="1754326"/>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endParaRPr lang="en-US" altLang="ko-KR" b="0" i="0" dirty="0">
              <a:solidFill>
                <a:srgbClr val="303030"/>
              </a:solidFill>
              <a:effectLst/>
              <a:latin typeface="Google Sans Text"/>
            </a:endParaRPr>
          </a:p>
        </p:txBody>
      </p:sp>
      <p:sp>
        <p:nvSpPr>
          <p:cNvPr id="22" name="TextBox 21"/>
          <p:cNvSpPr txBox="1"/>
          <p:nvPr/>
        </p:nvSpPr>
        <p:spPr>
          <a:xfrm>
            <a:off x="6094412" y="1308625"/>
            <a:ext cx="6144126" cy="2031325"/>
          </a:xfrm>
          <a:prstGeom prst="rect">
            <a:avLst/>
          </a:prstGeom>
          <a:noFill/>
        </p:spPr>
        <p:txBody>
          <a:bodyPr wrap="square">
            <a:spAutoFit/>
          </a:bodyPr>
          <a:lstStyle/>
          <a:p>
            <a:pPr>
              <a:buFont typeface="Arial" panose="020B0704020202020204" pitchFamily="34" charset="0"/>
              <a:buChar char="•"/>
            </a:pPr>
            <a:r>
              <a:rPr lang="en-US" altLang="ko-KR" b="1" dirty="0"/>
              <a:t>Policy Recommendation: The "13% Liquid Reserve Rule”</a:t>
            </a:r>
            <a:endParaRPr lang="en-US" altLang="ko-KR" b="1" dirty="0"/>
          </a:p>
          <a:p>
            <a:pPr lvl="1">
              <a:buFont typeface="Arial" panose="020B0704020202020204" pitchFamily="34" charset="0"/>
              <a:buChar char="•"/>
            </a:pPr>
            <a:r>
              <a:rPr lang="en-US" altLang="ko-KR" dirty="0">
                <a:effectLst/>
              </a:rPr>
              <a:t>Translating the threshold regression into a concrete regulatory requirement.</a:t>
            </a:r>
            <a:endParaRPr lang="en-US" altLang="ko-KR" dirty="0">
              <a:effectLst/>
            </a:endParaRPr>
          </a:p>
          <a:p>
            <a:pPr lvl="1">
              <a:buFont typeface="Arial" panose="020B07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p:cNvSpPr txBox="1"/>
          <p:nvPr/>
        </p:nvSpPr>
        <p:spPr>
          <a:xfrm>
            <a:off x="6208294" y="4174503"/>
            <a:ext cx="6192252" cy="923330"/>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endParaRPr lang="en-US" altLang="ko-KR" b="0" i="0" dirty="0">
              <a:solidFill>
                <a:srgbClr val="303030"/>
              </a:solidFill>
              <a:effectLst/>
              <a:latin typeface="Google Sans Text"/>
            </a:endParaRPr>
          </a:p>
        </p:txBody>
      </p:sp>
      <p:sp>
        <p:nvSpPr>
          <p:cNvPr id="7" name="TextBox 6"/>
          <p:cNvSpPr txBox="1"/>
          <p:nvPr/>
        </p:nvSpPr>
        <p:spPr>
          <a:xfrm>
            <a:off x="10177670" y="206829"/>
            <a:ext cx="1829274" cy="369332"/>
          </a:xfrm>
          <a:prstGeom prst="rect">
            <a:avLst/>
          </a:prstGeom>
          <a:noFill/>
        </p:spPr>
        <p:txBody>
          <a:bodyPr wrap="square" rtlCol="0">
            <a:spAutoFit/>
          </a:bodyPr>
          <a:lstStyle/>
          <a:p>
            <a:r>
              <a:rPr kumimoji="1" lang="en-US" altLang="ko-KR" dirty="0">
                <a:solidFill>
                  <a:schemeClr val="bg1"/>
                </a:solidFill>
              </a:rPr>
              <a:t>Sara Page14/15</a:t>
            </a:r>
            <a:endParaRPr kumimoji="1" lang="ko-KR"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7507054" y="5787118"/>
            <a:ext cx="4650632" cy="923073"/>
          </a:xfrm>
          <a:prstGeom prst="rect">
            <a:avLst/>
          </a:prstGeom>
          <a:noFill/>
        </p:spPr>
        <p:txBody>
          <a:bodyPr wrap="non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10121</Words>
  <Application>WPS Presentation</Application>
  <PresentationFormat>사용자 지정</PresentationFormat>
  <Paragraphs>391</Paragraphs>
  <Slides>15</Slides>
  <Notes>15</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15</vt:i4>
      </vt:variant>
    </vt:vector>
  </HeadingPairs>
  <TitlesOfParts>
    <vt:vector size="38" baseType="lpstr">
      <vt:lpstr>Arial</vt:lpstr>
      <vt:lpstr>SimSun</vt:lpstr>
      <vt:lpstr>Wingdings</vt:lpstr>
      <vt:lpstr>Arial</vt:lpstr>
      <vt:lpstr>Hiragino Kaku Gothic Std W8</vt:lpstr>
      <vt:lpstr>Malgun Gothic</vt:lpstr>
      <vt:lpstr>Calibri</vt:lpstr>
      <vt:lpstr>Helvetica Neue</vt:lpstr>
      <vt:lpstr>Courier New</vt:lpstr>
      <vt:lpstr>Google Sans Text</vt:lpstr>
      <vt:lpstr>Microsoft YaHei</vt:lpstr>
      <vt:lpstr>汉仪旗黑</vt:lpstr>
      <vt:lpstr>Arial Unicode MS</vt:lpstr>
      <vt:lpstr>Malgun Gothic</vt:lpstr>
      <vt:lpstr>Apple SD Gothic Neo</vt:lpstr>
      <vt:lpstr>汉仪书宋二KW</vt:lpstr>
      <vt:lpstr>Apple Color Emoji</vt:lpstr>
      <vt:lpstr>宋体-简</vt:lpstr>
      <vt:lpstr>Calibri</vt:lpstr>
      <vt:lpstr>Thonburi</vt:lpstr>
      <vt:lpstr>MS PGothic</vt:lpstr>
      <vt:lpstr>苹方-简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15</cp:revision>
  <dcterms:created xsi:type="dcterms:W3CDTF">2026-05-11T14:42:01Z</dcterms:created>
  <dcterms:modified xsi:type="dcterms:W3CDTF">2026-05-11T14:42:01Z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C4E69ADC909C8591689C016A12859320_42</vt:lpwstr>
  </property>
</Properties>
</file>