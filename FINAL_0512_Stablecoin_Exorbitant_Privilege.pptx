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71" r:id="rId3"/>
    <p:sldId id="257" r:id="rId5"/>
    <p:sldId id="258" r:id="rId6"/>
    <p:sldId id="275" r:id="rId7"/>
    <p:sldId id="276" r:id="rId8"/>
    <p:sldId id="260" r:id="rId9"/>
    <p:sldId id="261" r:id="rId10"/>
    <p:sldId id="262" r:id="rId11"/>
    <p:sldId id="263" r:id="rId12"/>
    <p:sldId id="264" r:id="rId13"/>
    <p:sldId id="265" r:id="rId14"/>
    <p:sldId id="266" r:id="rId15"/>
    <p:sldId id="267" r:id="rId16"/>
    <p:sldId id="273" r:id="rId17"/>
    <p:sldId id="272" r:id="rId18"/>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0" userDrawn="1">
          <p15:clr>
            <a:srgbClr val="A4A3A4"/>
          </p15:clr>
        </p15:guide>
        <p15:guide id="2" pos="285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891"/>
    <p:restoredTop sz="68054"/>
  </p:normalViewPr>
  <p:slideViewPr>
    <p:cSldViewPr snapToGrid="0" snapToObjects="1" showGuides="1">
      <p:cViewPr varScale="1">
        <p:scale>
          <a:sx n="82" d="100"/>
          <a:sy n="82" d="100"/>
        </p:scale>
        <p:origin x="1216" y="160"/>
      </p:cViewPr>
      <p:guideLst>
        <p:guide orient="horz" pos="2090"/>
        <p:guide pos="285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EC6BE1-A4B7-974B-915D-03C1CF773469}" type="datetimeFigureOut">
              <a:rPr kumimoji="1" lang="ko-KR" altLang="en-US" smtClean="0"/>
            </a:fld>
            <a:endParaRPr kumimoji="1"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ko-KR" altLang="en-US"/>
              <a:t>마스터 텍스트 스타일을 편집하려면 클릭</a:t>
            </a:r>
            <a:endParaRPr kumimoji="1" lang="ko-KR" altLang="en-US"/>
          </a:p>
          <a:p>
            <a:pPr lvl="1"/>
            <a:r>
              <a:rPr kumimoji="1" lang="ko-KR" altLang="en-US"/>
              <a:t>두 번째 수준</a:t>
            </a:r>
            <a:endParaRPr kumimoji="1" lang="ko-KR" altLang="en-US"/>
          </a:p>
          <a:p>
            <a:pPr lvl="2"/>
            <a:r>
              <a:rPr kumimoji="1" lang="ko-KR" altLang="en-US"/>
              <a:t>세 번째 수준</a:t>
            </a:r>
            <a:endParaRPr kumimoji="1" lang="ko-KR" altLang="en-US"/>
          </a:p>
          <a:p>
            <a:pPr lvl="3"/>
            <a:r>
              <a:rPr kumimoji="1" lang="ko-KR" altLang="en-US"/>
              <a:t>네 번째 수준</a:t>
            </a:r>
            <a:endParaRPr kumimoji="1" lang="ko-KR" altLang="en-US"/>
          </a:p>
          <a:p>
            <a:pPr lvl="4"/>
            <a:r>
              <a:rPr kumimoji="1" lang="ko-KR" altLang="en-US"/>
              <a:t>다섯 번째 수준</a:t>
            </a:r>
            <a:endParaRPr kumimoji="1" lang="ko-KR"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F3784E-D73A-6545-9F12-21649F82E67D}" type="slidenum">
              <a:rPr kumimoji="1" lang="ko-KR" altLang="en-US" smtClean="0"/>
            </a:fld>
            <a:endParaRPr kumimoji="1" lang="ko-KR" altLang="en-US"/>
          </a:p>
        </p:txBody>
      </p:sp>
    </p:spTree>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"Good afternoon everyone. Our paper is titled </a:t>
            </a:r>
            <a:r>
              <a:rPr lang="en-US" altLang="ko-KR" sz="1200" b="0" i="1" kern="1200" dirty="0">
                <a:solidFill>
                  <a:schemeClr val="tx1"/>
                </a:solidFill>
                <a:effectLst/>
                <a:latin typeface="+mn-lt"/>
                <a:ea typeface="+mn-ea"/>
                <a:cs typeface="+mn-cs"/>
              </a:rPr>
              <a:t>Stablecoins and the Exorbitant Privilege: A New Channel for Safe-Asset Demand and Its Systemic Fragility.</a:t>
            </a:r>
            <a:r>
              <a:rPr lang="en-US" altLang="ko-KR" sz="1200" b="0" i="0" kern="1200" dirty="0">
                <a:solidFill>
                  <a:schemeClr val="tx1"/>
                </a:solidFill>
                <a:effectLst/>
                <a:latin typeface="+mn-lt"/>
                <a:ea typeface="+mn-ea"/>
                <a:cs typeface="+mn-cs"/>
              </a:rPr>
              <a:t> We're Mireu Kim, Sara Chekroune, and Oybek Ibragimov from Yonsei GSIS. Today we'll be presenting the first half of our findings."</a:t>
            </a:r>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fld>
            <a:endParaRPr kumimoji="1" lang="ko-KR"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"Here's our roadmap for today. We'll start with motivation — why stablecoins matter for sovereign debt markets. Then we'll introduce our core argument, which we call the New Triffin Dilemma. From there we move to the theoretical model, our data, and then two empirical results: the privilege amplification regression and the reserve adequacy threshold. The third result — the buffer-conditioned event study — and our policy conclusions will come next week."</a:t>
            </a:r>
            <a:endParaRPr lang="en-US" altLang="ko-KR" sz="1200" b="0" i="0" kern="1200" dirty="0">
              <a:solidFill>
                <a:schemeClr val="tx1"/>
              </a:solidFill>
              <a:effectLst/>
              <a:latin typeface="+mn-lt"/>
              <a:ea typeface="+mn-ea"/>
              <a:cs typeface="+mn-cs"/>
            </a:endParaRPr>
          </a:p>
          <a:p>
            <a:br>
              <a:rPr lang="en-US" altLang="ko-KR" dirty="0"/>
            </a:b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fld>
            <a:endParaRPr kumimoji="1" lang="ko-KR"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"Why should a course on international finance care about stablecoins? The scale alone makes them impossible to ignore. The combined market cap of USD-pegged stablecoins has gone from under fifty billion in 2021 to over three hundred billion in 2026. Tether alone holds a hundred and twenty-seven billion dollars in U.S. Treasury bills — comparable to the foreign reserves of a mid-sized sovereign nation. Four major jurisdictions are right now writing legislation to regulate their reserve requirements. And projections put this ecosystem at one to two trillion dollars within the decade. These are not niche crypto instruments anymore — they are Treasury buyers operating at scale, and that has consequences for the U.S. safe-asset market."</a:t>
            </a:r>
            <a:endParaRPr lang="en-US" altLang="ko-KR" sz="1200" b="0" i="0" kern="1200" dirty="0">
              <a:solidFill>
                <a:schemeClr val="tx1"/>
              </a:solidFill>
              <a:effectLst/>
              <a:latin typeface="+mn-lt"/>
              <a:ea typeface="+mn-ea"/>
              <a:cs typeface="+mn-cs"/>
            </a:endParaRPr>
          </a:p>
          <a:p>
            <a:br>
              <a:rPr lang="en-US" altLang="ko-KR" dirty="0"/>
            </a:b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fld>
            <a:endParaRPr kumimoji="1" lang="ko-KR"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"Our core argument is built on an analogy to the original Triffin Dilemma from 1960. Triffin observed that the United States had to run deficits to supply the world with dollars — but those same deficits eventually undermined confidence in the dollar. We find the same structural tension in stablecoin issuers. In normal times, when stablecoins grow, issuers buy more T-bills to back their tokens. This deepens safe-asset demand and compresses Treasury spreads — amplifying the U.S. exorbitant privilege. But when a run occurs, those same T-bill holdings get liquidated to pay redemptions. Yields spike, and the privilege reverses. What separates these two outcomes is the quality of the reserve buffer. We decompose reserves into two components: theta, which measures T-bill exposure — the privilege channel — and L, the liquid cash buffer — the fragility channel. Our paper estimates the threshold L-star that separates safe from fragile."</a:t>
            </a: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fld>
            <a:endParaRPr kumimoji="1" lang="ko-KR"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"Our core argument is built on an analogy to the original Triffin Dilemma from 1960. Triffin observed that the United States had to run deficits to supply the world with dollars — but those same deficits eventually undermined confidence in the dollar. We find the same structural tension in stablecoin issuers. In normal times, when stablecoins grow, issuers buy more T-bills to back their tokens. This deepens safe-asset demand and compresses Treasury spreads — amplifying the U.S. exorbitant privilege. But when a run occurs, those same T-bill holdings get liquidated to pay redemptions. Yields spike, and the privilege reverses. What separates these two outcomes is the quality of the reserve buffer. We decompose reserves into two components: theta, which measures T-bill exposure — the privilege channel — and L, the liquid cash buffer — the fragility channel. Our paper estimates the threshold L-star that separates safe from fragile."</a:t>
            </a: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fld>
            <a:endParaRPr kumimoji="1" lang="ko-KR"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"Our theoretical framework extends Maggiori's 2017 model of safe-asset demand. In the original model, demand is driven solely by the rest-of-world's marginal value of net worth — what Maggiori calls Omega-star. We add three new elements: stablecoin supply S, Treasury exposure theta, and liquid buffer L. The key innovation is that L enters asymmetrically. When L is above the threshold L-star, any redemptions can be absorbed using cash — no T-bills need to be sold, and the market is undisturbed. When L falls below L-star, the issuer is forced to sell T-bills to meet redemptions, and the spread spikes. This asymmetry generates testable predictions. Beta-one should be negative — supply growth compresses spreads. Beta-two should be positive — higher T-bill exposure amplifies demand. And beta-four should be positive — a higher liquid buffer dampens crisis transmission."</a:t>
            </a: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fld>
            <a:endParaRPr kumimoji="1" lang="ko-KR"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"Our dataset covers January 2022 through March 2026 — 51 monthly observations. The dependent variable is the OIS-Treasury spread, constructed as the 3-month T-bill rate minus the 90-day SOFR average, both from FRED. Stablecoin supply is the combined market cap of USDT and USDC from </a:t>
            </a:r>
            <a:r>
              <a:rPr lang="en-US" altLang="ko-KR" sz="1200" b="0" i="0" kern="1200" dirty="0" err="1">
                <a:solidFill>
                  <a:schemeClr val="tx1"/>
                </a:solidFill>
                <a:effectLst/>
                <a:latin typeface="+mn-lt"/>
                <a:ea typeface="+mn-ea"/>
                <a:cs typeface="+mn-cs"/>
              </a:rPr>
              <a:t>DeFiLlama</a:t>
            </a:r>
            <a:r>
              <a:rPr lang="en-US" altLang="ko-KR" sz="1200" b="0" i="0" kern="1200" dirty="0">
                <a:solidFill>
                  <a:schemeClr val="tx1"/>
                </a:solidFill>
                <a:effectLst/>
                <a:latin typeface="+mn-lt"/>
                <a:ea typeface="+mn-ea"/>
                <a:cs typeface="+mn-cs"/>
              </a:rPr>
              <a:t>. Our two key reserve variables — theta and L — come from quarterly and monthly reserve attestations published by Tether's auditor BDO and Circle's auditor Deloitte. We also include velocity, which captures the pace of redemptions, the VIX as a global risk control, and the log return on the ACWX ETF as a proxy for rest-of-world equity returns. The sample starts in January 2022 because reliable, disaggregated attestation data only becomes available from that point."</a:t>
            </a: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fld>
            <a:endParaRPr kumimoji="1" lang="ko-KR"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"Now let me walk you through what the data actually looks like. </a:t>
            </a:r>
            <a:endParaRPr lang="en-US" altLang="ko-KR" sz="1200" b="0" i="0" kern="1200" dirty="0">
              <a:solidFill>
                <a:schemeClr val="tx1"/>
              </a:solidFill>
              <a:effectLst/>
              <a:latin typeface="+mn-lt"/>
              <a:ea typeface="+mn-ea"/>
              <a:cs typeface="+mn-cs"/>
            </a:endParaRPr>
          </a:p>
          <a:p>
            <a:endParaRPr lang="en-US" altLang="ko-KR" sz="1200" b="0" i="0" kern="1200" dirty="0">
              <a:solidFill>
                <a:schemeClr val="tx1"/>
              </a:solidFill>
              <a:effectLst/>
              <a:latin typeface="+mn-lt"/>
              <a:ea typeface="+mn-ea"/>
              <a:cs typeface="+mn-cs"/>
            </a:endParaRPr>
          </a:p>
          <a:p>
            <a:r>
              <a:rPr lang="en-US" altLang="ko-KR" sz="1200" kern="1200" dirty="0">
                <a:solidFill>
                  <a:schemeClr val="tx1"/>
                </a:solidFill>
                <a:effectLst/>
                <a:latin typeface="+mn-lt"/>
                <a:ea typeface="+mn-ea"/>
                <a:cs typeface="+mn-cs"/>
              </a:rPr>
              <a:t>A: T-bill (DTB3) is a </a:t>
            </a:r>
            <a:r>
              <a:rPr lang="en-US" altLang="ko-KR" sz="1200" b="1" kern="1200" dirty="0">
                <a:solidFill>
                  <a:schemeClr val="tx1"/>
                </a:solidFill>
                <a:effectLst/>
                <a:latin typeface="+mn-lt"/>
                <a:ea typeface="+mn-ea"/>
                <a:cs typeface="+mn-cs"/>
              </a:rPr>
              <a:t>3-month U.S. government bond</a:t>
            </a:r>
            <a:r>
              <a:rPr lang="en-US" altLang="ko-KR" sz="1200" kern="1200" dirty="0">
                <a:solidFill>
                  <a:schemeClr val="tx1"/>
                </a:solidFill>
                <a:effectLst/>
                <a:latin typeface="+mn-lt"/>
                <a:ea typeface="+mn-ea"/>
                <a:cs typeface="+mn-cs"/>
              </a:rPr>
              <a:t>.</a:t>
            </a:r>
            <a:endParaRPr lang="en-US" altLang="ko-KR" sz="1200" kern="1200" dirty="0">
              <a:solidFill>
                <a:schemeClr val="tx1"/>
              </a:solidFill>
              <a:effectLst/>
              <a:latin typeface="+mn-lt"/>
              <a:ea typeface="+mn-ea"/>
              <a:cs typeface="+mn-cs"/>
            </a:endParaRPr>
          </a:p>
          <a:p>
            <a:r>
              <a:rPr lang="en-US" altLang="ko-KR" sz="1200" b="1" kern="1200" dirty="0">
                <a:solidFill>
                  <a:schemeClr val="tx1"/>
                </a:solidFill>
                <a:effectLst/>
                <a:latin typeface="+mn-lt"/>
                <a:ea typeface="+mn-ea"/>
                <a:cs typeface="+mn-cs"/>
              </a:rPr>
              <a:t>Secured Overnight Financing Rate</a:t>
            </a:r>
            <a:r>
              <a:rPr lang="en-US" altLang="ko-KR" sz="1200" kern="1200" dirty="0">
                <a:solidFill>
                  <a:schemeClr val="tx1"/>
                </a:solidFill>
                <a:effectLst/>
                <a:latin typeface="+mn-lt"/>
                <a:ea typeface="+mn-ea"/>
                <a:cs typeface="+mn-cs"/>
              </a:rPr>
              <a:t>. - Think of it as the interest rate banks charge each other to lend money </a:t>
            </a:r>
            <a:r>
              <a:rPr lang="en-US" altLang="ko-KR" sz="1200" b="1" kern="1200" dirty="0">
                <a:solidFill>
                  <a:schemeClr val="tx1"/>
                </a:solidFill>
                <a:effectLst/>
                <a:latin typeface="+mn-lt"/>
                <a:ea typeface="+mn-ea"/>
                <a:cs typeface="+mn-cs"/>
              </a:rPr>
              <a:t>just for one night</a:t>
            </a:r>
            <a:r>
              <a:rPr lang="en-US" altLang="ko-KR" sz="1200" kern="1200" dirty="0">
                <a:solidFill>
                  <a:schemeClr val="tx1"/>
                </a:solidFill>
                <a:effectLst/>
                <a:latin typeface="+mn-lt"/>
                <a:ea typeface="+mn-ea"/>
                <a:cs typeface="+mn-cs"/>
              </a:rPr>
              <a:t>.</a:t>
            </a:r>
            <a:endParaRPr lang="en-US" altLang="ko-KR" sz="1200" kern="1200" dirty="0">
              <a:solidFill>
                <a:schemeClr val="tx1"/>
              </a:solidFill>
              <a:effectLst/>
              <a:latin typeface="+mn-lt"/>
              <a:ea typeface="+mn-ea"/>
              <a:cs typeface="+mn-cs"/>
            </a:endParaRPr>
          </a:p>
          <a:p>
            <a:r>
              <a:rPr lang="en-US" altLang="ko-KR" sz="1200" kern="1200" dirty="0">
                <a:solidFill>
                  <a:schemeClr val="tx1"/>
                </a:solidFill>
                <a:effectLst/>
                <a:latin typeface="+mn-lt"/>
                <a:ea typeface="+mn-ea"/>
                <a:cs typeface="+mn-cs"/>
              </a:rPr>
              <a:t>In a normal world with no stablecoins, these two rates should be roughly equal — both risk-free, both short-term. The spread should hover near zero.</a:t>
            </a:r>
            <a:endParaRPr lang="en-US" altLang="ko-KR" sz="1200" kern="1200" dirty="0">
              <a:solidFill>
                <a:schemeClr val="tx1"/>
              </a:solidFill>
              <a:effectLst/>
              <a:latin typeface="+mn-lt"/>
              <a:ea typeface="+mn-ea"/>
              <a:cs typeface="+mn-cs"/>
            </a:endParaRPr>
          </a:p>
          <a:p>
            <a:r>
              <a:rPr lang="en-US" altLang="ko-KR" sz="1200" kern="1200" dirty="0">
                <a:solidFill>
                  <a:schemeClr val="tx1"/>
                </a:solidFill>
                <a:effectLst/>
                <a:latin typeface="+mn-lt"/>
                <a:ea typeface="+mn-ea"/>
                <a:cs typeface="+mn-cs"/>
              </a:rPr>
              <a:t>When stablecoin issuers </a:t>
            </a:r>
            <a:r>
              <a:rPr lang="en-US" altLang="ko-KR" sz="1200" b="1" kern="1200" dirty="0">
                <a:solidFill>
                  <a:schemeClr val="tx1"/>
                </a:solidFill>
                <a:effectLst/>
                <a:latin typeface="+mn-lt"/>
                <a:ea typeface="+mn-ea"/>
                <a:cs typeface="+mn-cs"/>
              </a:rPr>
              <a:t>grow</a:t>
            </a:r>
            <a:r>
              <a:rPr lang="en-US" altLang="ko-KR" sz="1200" kern="1200" dirty="0">
                <a:solidFill>
                  <a:schemeClr val="tx1"/>
                </a:solidFill>
                <a:effectLst/>
                <a:latin typeface="+mn-lt"/>
                <a:ea typeface="+mn-ea"/>
                <a:cs typeface="+mn-cs"/>
              </a:rPr>
              <a:t> (buy T-bills), the spread </a:t>
            </a:r>
            <a:r>
              <a:rPr lang="en-US" altLang="ko-KR" sz="1200" b="1" kern="1200" dirty="0">
                <a:solidFill>
                  <a:schemeClr val="tx1"/>
                </a:solidFill>
                <a:effectLst/>
                <a:latin typeface="+mn-lt"/>
                <a:ea typeface="+mn-ea"/>
                <a:cs typeface="+mn-cs"/>
              </a:rPr>
              <a:t>compresses</a:t>
            </a:r>
            <a:r>
              <a:rPr lang="en-US" altLang="ko-KR" sz="1200" kern="1200" dirty="0">
                <a:solidFill>
                  <a:schemeClr val="tx1"/>
                </a:solidFill>
                <a:effectLst/>
                <a:latin typeface="+mn-lt"/>
                <a:ea typeface="+mn-ea"/>
                <a:cs typeface="+mn-cs"/>
              </a:rPr>
              <a:t> (goes negative). When they're hit by a run and </a:t>
            </a:r>
            <a:r>
              <a:rPr lang="en-US" altLang="ko-KR" sz="1200" b="1" kern="1200" dirty="0">
                <a:solidFill>
                  <a:schemeClr val="tx1"/>
                </a:solidFill>
                <a:effectLst/>
                <a:latin typeface="+mn-lt"/>
                <a:ea typeface="+mn-ea"/>
                <a:cs typeface="+mn-cs"/>
              </a:rPr>
              <a:t>sell</a:t>
            </a:r>
            <a:r>
              <a:rPr lang="en-US" altLang="ko-KR" sz="1200" kern="1200" dirty="0">
                <a:solidFill>
                  <a:schemeClr val="tx1"/>
                </a:solidFill>
                <a:effectLst/>
                <a:latin typeface="+mn-lt"/>
                <a:ea typeface="+mn-ea"/>
                <a:cs typeface="+mn-cs"/>
              </a:rPr>
              <a:t> T-bills, the spread </a:t>
            </a:r>
            <a:r>
              <a:rPr lang="en-US" altLang="ko-KR" sz="1200" b="1" kern="1200" dirty="0">
                <a:solidFill>
                  <a:schemeClr val="tx1"/>
                </a:solidFill>
                <a:effectLst/>
                <a:latin typeface="+mn-lt"/>
                <a:ea typeface="+mn-ea"/>
                <a:cs typeface="+mn-cs"/>
              </a:rPr>
              <a:t>spikes</a:t>
            </a:r>
            <a:r>
              <a:rPr lang="en-US" altLang="ko-KR" sz="1200" kern="1200" dirty="0">
                <a:solidFill>
                  <a:schemeClr val="tx1"/>
                </a:solidFill>
                <a:effectLst/>
                <a:latin typeface="+mn-lt"/>
                <a:ea typeface="+mn-ea"/>
                <a:cs typeface="+mn-cs"/>
              </a:rPr>
              <a:t> (goes positive).</a:t>
            </a:r>
            <a:endParaRPr lang="en-US" altLang="ko-KR" sz="1200" kern="1200" dirty="0">
              <a:solidFill>
                <a:schemeClr val="tx1"/>
              </a:solidFill>
              <a:effectLst/>
              <a:latin typeface="+mn-lt"/>
              <a:ea typeface="+mn-ea"/>
              <a:cs typeface="+mn-cs"/>
            </a:endParaRPr>
          </a:p>
          <a:p>
            <a:br>
              <a:rPr lang="en-US" altLang="ko-KR" sz="1200" kern="1200" dirty="0">
                <a:solidFill>
                  <a:schemeClr val="tx1"/>
                </a:solidFill>
                <a:effectLst/>
                <a:latin typeface="+mn-lt"/>
                <a:ea typeface="+mn-ea"/>
                <a:cs typeface="+mn-cs"/>
              </a:rPr>
            </a:br>
            <a:endParaRPr lang="en-US" altLang="ko-KR" sz="1200" kern="1200" dirty="0">
              <a:solidFill>
                <a:schemeClr val="tx1"/>
              </a:solidFill>
              <a:effectLst/>
              <a:latin typeface="+mn-lt"/>
              <a:ea typeface="+mn-ea"/>
              <a:cs typeface="+mn-cs"/>
            </a:endParaRPr>
          </a:p>
          <a:p>
            <a:r>
              <a:rPr lang="en-US" altLang="ko-KR" sz="1200" kern="1200" dirty="0">
                <a:solidFill>
                  <a:schemeClr val="tx1"/>
                </a:solidFill>
                <a:effectLst/>
                <a:latin typeface="+mn-lt"/>
                <a:ea typeface="+mn-ea"/>
                <a:cs typeface="+mn-cs"/>
              </a:rPr>
              <a:t>B: middle panel shows the combined supply of USDT and USDC — it grew from around a hundred billion to over two hundred billion over this period. </a:t>
            </a:r>
            <a:endParaRPr lang="en-US" altLang="ko-KR" sz="1200" kern="1200" dirty="0">
              <a:solidFill>
                <a:schemeClr val="tx1"/>
              </a:solidFill>
              <a:effectLst/>
              <a:latin typeface="+mn-lt"/>
              <a:ea typeface="+mn-ea"/>
              <a:cs typeface="+mn-cs"/>
            </a:endParaRPr>
          </a:p>
          <a:p>
            <a:br>
              <a:rPr lang="en-US" altLang="ko-KR" sz="1200" kern="1200" dirty="0">
                <a:solidFill>
                  <a:schemeClr val="tx1"/>
                </a:solidFill>
                <a:effectLst/>
                <a:latin typeface="+mn-lt"/>
                <a:ea typeface="+mn-ea"/>
                <a:cs typeface="+mn-cs"/>
              </a:rPr>
            </a:br>
            <a:endParaRPr lang="en-US" altLang="ko-KR" sz="120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defRPr/>
            </a:pPr>
            <a:r>
              <a:rPr lang="en-US" altLang="ko-KR" sz="1200" kern="1200" dirty="0">
                <a:solidFill>
                  <a:schemeClr val="tx1"/>
                </a:solidFill>
                <a:effectLst/>
                <a:latin typeface="+mn-lt"/>
                <a:ea typeface="+mn-ea"/>
                <a:cs typeface="+mn-cs"/>
              </a:rPr>
              <a:t>C: The red dashed line is the safety threshold we estimate to be the buffer— 13%.  When the </a:t>
            </a:r>
            <a:r>
              <a:rPr lang="en-US" altLang="ko-KR" sz="1200" b="1" kern="1200" dirty="0">
                <a:solidFill>
                  <a:schemeClr val="tx1"/>
                </a:solidFill>
                <a:effectLst/>
                <a:latin typeface="+mn-lt"/>
                <a:ea typeface="+mn-ea"/>
                <a:cs typeface="+mn-cs"/>
              </a:rPr>
              <a:t>supply falls fast</a:t>
            </a:r>
            <a:r>
              <a:rPr lang="ko-KR" altLang="en-US" sz="1200" i="1" kern="1200" dirty="0">
                <a:solidFill>
                  <a:schemeClr val="tx1"/>
                </a:solidFill>
                <a:effectLst/>
                <a:latin typeface="+mn-lt"/>
                <a:ea typeface="+mn-ea"/>
                <a:cs typeface="+mn-cs"/>
              </a:rPr>
              <a:t> </a:t>
            </a:r>
            <a:r>
              <a:rPr lang="en-US" altLang="ko-KR" sz="1200" kern="1200" dirty="0">
                <a:solidFill>
                  <a:schemeClr val="tx1"/>
                </a:solidFill>
                <a:effectLst/>
                <a:latin typeface="+mn-lt"/>
                <a:ea typeface="+mn-ea"/>
                <a:cs typeface="+mn-cs"/>
              </a:rPr>
              <a:t>but the cash reserves number hasn't been updated yet, </a:t>
            </a:r>
            <a:r>
              <a:rPr lang="en-US" altLang="ko-KR" sz="1200" b="1" kern="1200" dirty="0">
                <a:solidFill>
                  <a:schemeClr val="tx1"/>
                </a:solidFill>
                <a:effectLst/>
                <a:latin typeface="+mn-lt"/>
                <a:ea typeface="+mn-ea"/>
                <a:cs typeface="+mn-cs"/>
              </a:rPr>
              <a:t>the ratio spikes up</a:t>
            </a:r>
            <a:r>
              <a:rPr lang="en-US" altLang="ko-KR" sz="1200" kern="1200" dirty="0">
                <a:solidFill>
                  <a:schemeClr val="tx1"/>
                </a:solidFill>
                <a:effectLst/>
                <a:latin typeface="+mn-lt"/>
                <a:ea typeface="+mn-ea"/>
                <a:cs typeface="+mn-cs"/>
              </a:rPr>
              <a:t>. </a:t>
            </a:r>
            <a:r>
              <a:rPr lang="en-US" altLang="ko-KR" sz="1200" i="1" kern="1200" dirty="0">
                <a:solidFill>
                  <a:schemeClr val="tx1"/>
                </a:solidFill>
                <a:effectLst/>
                <a:latin typeface="+mn-lt"/>
                <a:ea typeface="+mn-ea"/>
                <a:cs typeface="+mn-cs"/>
              </a:rPr>
              <a:t>"The small spike in mid-2022 reflects the LUNA crisis — supply collapsed so fast that the buffer ratio temporarily jumped. But once new reserve data came in, it became clear that cash had also been used to fund those redemptions, and the buffer fell back. It's a good illustration of exactly the fragility mechanism our paper studies."</a:t>
            </a:r>
            <a:endParaRPr lang="en-US" altLang="ko-KR" sz="1200" kern="1200" dirty="0">
              <a:solidFill>
                <a:schemeClr val="tx1"/>
              </a:solidFill>
              <a:effectLst/>
              <a:latin typeface="+mn-lt"/>
              <a:ea typeface="+mn-ea"/>
              <a:cs typeface="+mn-cs"/>
            </a:endParaRPr>
          </a:p>
          <a:p>
            <a:endParaRPr lang="en-US" altLang="ko-KR" sz="1200" kern="1200" dirty="0">
              <a:solidFill>
                <a:schemeClr val="tx1"/>
              </a:solidFill>
              <a:effectLst/>
              <a:latin typeface="+mn-lt"/>
              <a:ea typeface="+mn-ea"/>
              <a:cs typeface="+mn-cs"/>
            </a:endParaRPr>
          </a:p>
          <a:p>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fld>
            <a:endParaRPr kumimoji="1" lang="ko-KR"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"Before we get to the numbers, let me translate what we just saw into plain terms.</a:t>
            </a:r>
            <a:endParaRPr lang="en-US" altLang="ko-KR" sz="1200" b="0" i="0" kern="1200" dirty="0">
              <a:solidFill>
                <a:schemeClr val="tx1"/>
              </a:solidFill>
              <a:effectLst/>
              <a:latin typeface="+mn-lt"/>
              <a:ea typeface="+mn-ea"/>
              <a:cs typeface="+mn-cs"/>
            </a:endParaRPr>
          </a:p>
          <a:p>
            <a:endParaRPr lang="en-US" altLang="ko-KR" sz="1200" b="0" i="0" kern="1200" dirty="0">
              <a:solidFill>
                <a:schemeClr val="tx1"/>
              </a:solidFill>
              <a:effectLst/>
              <a:latin typeface="+mn-lt"/>
              <a:ea typeface="+mn-ea"/>
              <a:cs typeface="+mn-cs"/>
            </a:endParaRPr>
          </a:p>
          <a:p>
            <a:r>
              <a:rPr lang="en-US" altLang="ko-KR" sz="1200" b="0" i="0" kern="1200" dirty="0">
                <a:solidFill>
                  <a:schemeClr val="tx1"/>
                </a:solidFill>
                <a:effectLst/>
                <a:latin typeface="+mn-lt"/>
                <a:ea typeface="+mn-ea"/>
                <a:cs typeface="+mn-cs"/>
              </a:rPr>
              <a:t>First: more supply means lower spreads. As Tether and Circle grew, they bought more T-bills to back their tokens. More T-bill buying pushes Treasury yields down relative to overnight rates — that's the spread compressing. </a:t>
            </a:r>
            <a:endParaRPr lang="en-US" altLang="ko-KR" sz="1200" b="0" i="0" kern="1200" dirty="0">
              <a:solidFill>
                <a:schemeClr val="tx1"/>
              </a:solidFill>
              <a:effectLst/>
              <a:latin typeface="+mn-lt"/>
              <a:ea typeface="+mn-ea"/>
              <a:cs typeface="+mn-cs"/>
            </a:endParaRPr>
          </a:p>
          <a:p>
            <a:endParaRPr lang="en-US" altLang="ko-KR" sz="1200" b="0" i="0" kern="1200" dirty="0">
              <a:solidFill>
                <a:schemeClr val="tx1"/>
              </a:solidFill>
              <a:effectLst/>
              <a:latin typeface="+mn-lt"/>
              <a:ea typeface="+mn-ea"/>
              <a:cs typeface="+mn-cs"/>
            </a:endParaRPr>
          </a:p>
          <a:p>
            <a:r>
              <a:rPr lang="en-US" altLang="ko-KR" sz="1200" b="0" i="0" kern="1200" dirty="0">
                <a:solidFill>
                  <a:schemeClr val="tx1"/>
                </a:solidFill>
                <a:effectLst/>
                <a:latin typeface="+mn-lt"/>
                <a:ea typeface="+mn-ea"/>
                <a:cs typeface="+mn-cs"/>
              </a:rPr>
              <a:t>Second: when a crisis hits, spreads spike. During the LUNA collapse in May 2022, issuers were forced to sell T-bills to pay back redemptions. That sudden selling pushed yields up — the privilege reversed. </a:t>
            </a:r>
            <a:endParaRPr lang="en-US" altLang="ko-KR" sz="1200" b="0" i="0" kern="1200" dirty="0">
              <a:solidFill>
                <a:schemeClr val="tx1"/>
              </a:solidFill>
              <a:effectLst/>
              <a:latin typeface="+mn-lt"/>
              <a:ea typeface="+mn-ea"/>
              <a:cs typeface="+mn-cs"/>
            </a:endParaRPr>
          </a:p>
          <a:p>
            <a:endParaRPr lang="en-US" altLang="ko-KR" sz="1200" b="0" i="0" kern="1200" dirty="0">
              <a:solidFill>
                <a:schemeClr val="tx1"/>
              </a:solidFill>
              <a:effectLst/>
              <a:latin typeface="+mn-lt"/>
              <a:ea typeface="+mn-ea"/>
              <a:cs typeface="+mn-cs"/>
            </a:endParaRPr>
          </a:p>
          <a:p>
            <a:r>
              <a:rPr lang="en-US" altLang="ko-KR" sz="1200" b="0" i="0" kern="1200" dirty="0">
                <a:solidFill>
                  <a:schemeClr val="tx1"/>
                </a:solidFill>
                <a:effectLst/>
                <a:latin typeface="+mn-lt"/>
                <a:ea typeface="+mn-ea"/>
                <a:cs typeface="+mn-cs"/>
              </a:rPr>
              <a:t>Third: the buffer was dangerously thin exactly when it mattered most. In 2022, liquid cash reserves were near zero. Issuers had no cushion. They had to sell assets into a falling market. These three patterns together are what our regressions test."</a:t>
            </a:r>
            <a:endParaRPr lang="en-US" altLang="ko-KR" sz="1200" b="0" i="0" kern="1200" dirty="0">
              <a:solidFill>
                <a:schemeClr val="tx1"/>
              </a:solidFill>
              <a:effectLst/>
              <a:latin typeface="+mn-lt"/>
              <a:ea typeface="+mn-ea"/>
              <a:cs typeface="+mn-cs"/>
            </a:endParaRPr>
          </a:p>
          <a:p>
            <a:br>
              <a:rPr lang="en-US" altLang="ko-KR" dirty="0"/>
            </a:b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fld>
            <a:endParaRPr kumimoji="1" lang="ko-KR"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i="1" kern="1200" dirty="0">
                <a:solidFill>
                  <a:schemeClr val="tx1"/>
                </a:solidFill>
                <a:effectLst/>
                <a:latin typeface="+mn-lt"/>
                <a:ea typeface="+mn-ea"/>
                <a:cs typeface="+mn-cs"/>
              </a:rPr>
              <a:t>"To estimate this equation, we used OLS — ordinary least squares — which finds the line that best fits our 51 months of data. </a:t>
            </a:r>
            <a:endParaRPr lang="en-US" altLang="ko-KR" sz="1200" i="1" kern="1200" dirty="0">
              <a:solidFill>
                <a:schemeClr val="tx1"/>
              </a:solidFill>
              <a:effectLst/>
              <a:latin typeface="+mn-lt"/>
              <a:ea typeface="+mn-ea"/>
              <a:cs typeface="+mn-cs"/>
            </a:endParaRPr>
          </a:p>
          <a:p>
            <a:r>
              <a:rPr lang="en-US" altLang="ko-KR" sz="1200" kern="1200" dirty="0">
                <a:solidFill>
                  <a:schemeClr val="tx1"/>
                </a:solidFill>
                <a:effectLst/>
                <a:latin typeface="+mn-lt"/>
                <a:ea typeface="+mn-ea"/>
                <a:cs typeface="+mn-cs"/>
              </a:rPr>
              <a:t>Our first result confirms Hypothesis 1. The coefficient on stablecoin supply growth — beta-one — is negative 6.02, and it is statistically significant at the 5% level. </a:t>
            </a:r>
            <a:endParaRPr lang="en-US" altLang="ko-KR" sz="1200" kern="1200" dirty="0">
              <a:solidFill>
                <a:schemeClr val="tx1"/>
              </a:solidFill>
              <a:effectLst/>
              <a:latin typeface="+mn-lt"/>
              <a:ea typeface="+mn-ea"/>
              <a:cs typeface="+mn-cs"/>
            </a:endParaRPr>
          </a:p>
          <a:p>
            <a:endParaRPr lang="en-US" altLang="ko-KR" sz="1200" kern="1200" dirty="0">
              <a:solidFill>
                <a:schemeClr val="tx1"/>
              </a:solidFill>
              <a:effectLst/>
              <a:latin typeface="+mn-lt"/>
              <a:ea typeface="+mn-ea"/>
              <a:cs typeface="+mn-cs"/>
            </a:endParaRPr>
          </a:p>
          <a:p>
            <a:r>
              <a:rPr lang="en-US" altLang="ko-KR" sz="1200" kern="1200" dirty="0">
                <a:solidFill>
                  <a:schemeClr val="tx1"/>
                </a:solidFill>
                <a:effectLst/>
                <a:latin typeface="+mn-lt"/>
                <a:ea typeface="+mn-ea"/>
                <a:cs typeface="+mn-cs"/>
              </a:rPr>
              <a:t>Looking at the table, you'll notice that the buffer variables — theta, L, and the interaction term — are not individually significant at this sample size of 51 months. So why wasn’t it significant?</a:t>
            </a:r>
            <a:endParaRPr lang="en-US" altLang="ko-KR" sz="1200" kern="1200" dirty="0">
              <a:solidFill>
                <a:schemeClr val="tx1"/>
              </a:solidFill>
              <a:effectLst/>
              <a:latin typeface="+mn-lt"/>
              <a:ea typeface="+mn-ea"/>
              <a:cs typeface="+mn-cs"/>
            </a:endParaRPr>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fld>
            <a:endParaRPr kumimoji="1" lang="ko-KR"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sz="1200" kern="1200" dirty="0">
                <a:solidFill>
                  <a:schemeClr val="tx1"/>
                </a:solidFill>
                <a:effectLst/>
                <a:latin typeface="+mn-lt"/>
                <a:ea typeface="+mn-ea"/>
                <a:cs typeface="+mn-cs"/>
              </a:rPr>
              <a:t>It comes down to </a:t>
            </a:r>
            <a:r>
              <a:rPr lang="en-US" altLang="ko-KR" sz="1200" b="1" kern="1200" dirty="0">
                <a:solidFill>
                  <a:schemeClr val="tx1"/>
                </a:solidFill>
                <a:effectLst/>
                <a:latin typeface="+mn-lt"/>
                <a:ea typeface="+mn-ea"/>
                <a:cs typeface="+mn-cs"/>
              </a:rPr>
              <a:t>data quality, not theory</a:t>
            </a:r>
            <a:r>
              <a:rPr lang="en-US" altLang="ko-KR" sz="1200" kern="1200" dirty="0">
                <a:solidFill>
                  <a:schemeClr val="tx1"/>
                </a:solidFill>
                <a:effectLst/>
                <a:latin typeface="+mn-lt"/>
                <a:ea typeface="+mn-ea"/>
                <a:cs typeface="+mn-cs"/>
              </a:rPr>
              <a:t>. Tether and Circle only started publishing detailed, frequent reserve breakdowns after 2023. Before that, the cash reserves figures were either missing, infrequent, or less precise. </a:t>
            </a:r>
            <a:endParaRPr lang="en-US" altLang="ko-KR" sz="120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defRPr/>
            </a:pPr>
            <a:endParaRPr lang="en-US" altLang="ko-KR" sz="120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defRPr/>
            </a:pPr>
            <a:r>
              <a:rPr lang="en-US" altLang="ko-KR" sz="1200" kern="1200" dirty="0">
                <a:solidFill>
                  <a:schemeClr val="tx1"/>
                </a:solidFill>
                <a:effectLst/>
                <a:latin typeface="+mn-lt"/>
                <a:ea typeface="+mn-ea"/>
                <a:cs typeface="+mn-cs"/>
              </a:rPr>
              <a:t>When we restrict our sample to January 2023 through March 2026 — the 39 months where attestation coverage is best — a much clearer picture emerges. The supply effect strengthens to negative 8.14, now significant at the 1% level. And crucially, the liquid buffer interaction term — L times delta-ln-S (</a:t>
            </a:r>
            <a:r>
              <a:rPr lang="en-US" altLang="ko-KR" dirty="0"/>
              <a:t>change in the natural log of S)</a:t>
            </a:r>
            <a:r>
              <a:rPr lang="en-US" altLang="ko-KR" sz="1200" kern="1200" dirty="0">
                <a:solidFill>
                  <a:schemeClr val="tx1"/>
                </a:solidFill>
                <a:effectLst/>
                <a:latin typeface="+mn-lt"/>
                <a:ea typeface="+mn-ea"/>
                <a:cs typeface="+mn-cs"/>
              </a:rPr>
              <a:t>— becomes positive 49.17, also significant at the 1% level with a p-value of 0.004. This tells us the buffer mechanism is real. Our full sample is just too short to reach significance yet. As this data series extends past 2026, we expect both channels to confirm at the full sample level." </a:t>
            </a:r>
            <a:r>
              <a:rPr lang="en-US" altLang="ko-KR" sz="1200" i="1" kern="1200" dirty="0">
                <a:solidFill>
                  <a:schemeClr val="tx1"/>
                </a:solidFill>
                <a:effectLst/>
                <a:latin typeface="+mn-lt"/>
                <a:ea typeface="+mn-ea"/>
                <a:cs typeface="+mn-cs"/>
              </a:rPr>
              <a:t>Issuers with enough cash don't need to buy or sell T-bills when their supply changes. That's the fragility channel our theory predicted, and the data confirms it."</a:t>
            </a:r>
            <a:endParaRPr lang="en-US" altLang="ko-KR" sz="1200" kern="1200" dirty="0">
              <a:solidFill>
                <a:schemeClr val="tx1"/>
              </a:solidFill>
              <a:effectLst/>
              <a:latin typeface="+mn-lt"/>
              <a:ea typeface="+mn-ea"/>
              <a:cs typeface="+mn-cs"/>
            </a:endParaRPr>
          </a:p>
          <a:p>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fld>
            <a:endParaRPr kumimoji="1" lang="ko-KR"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Our second result asks a more specific question: is there a particular level of liquid reserves below which an issuer becomes dangerous to the Treasury market? Using a technique called Hansen threshold regression — which searches statistically for a structural break in the data — we find a tipping point at 13% of supply. </a:t>
            </a:r>
            <a:r>
              <a:rPr lang="en-US" altLang="ko-KR" sz="1200" kern="1200" dirty="0">
                <a:solidFill>
                  <a:schemeClr val="tx1"/>
                </a:solidFill>
                <a:effectLst/>
                <a:latin typeface="+mn-lt"/>
                <a:ea typeface="+mn-ea"/>
                <a:cs typeface="+mn-cs"/>
              </a:rPr>
              <a:t>The x-axis shows every possible value of L (the liquid buffer) from low to high. The y-axis shows how well the model fits at each value — technically called the </a:t>
            </a:r>
            <a:r>
              <a:rPr lang="en-US" altLang="ko-KR" sz="1200" b="1" kern="1200" dirty="0">
                <a:solidFill>
                  <a:schemeClr val="tx1"/>
                </a:solidFill>
                <a:effectLst/>
                <a:latin typeface="+mn-lt"/>
                <a:ea typeface="+mn-ea"/>
                <a:cs typeface="+mn-cs"/>
              </a:rPr>
              <a:t>Sum of Squared Residuals (SSR)</a:t>
            </a:r>
            <a:r>
              <a:rPr lang="en-US" altLang="ko-KR" sz="1200" kern="1200" dirty="0">
                <a:solidFill>
                  <a:schemeClr val="tx1"/>
                </a:solidFill>
                <a:effectLst/>
                <a:latin typeface="+mn-lt"/>
                <a:ea typeface="+mn-ea"/>
                <a:cs typeface="+mn-cs"/>
              </a:rPr>
              <a:t>. </a:t>
            </a:r>
            <a:endParaRPr lang="en-US" altLang="ko-KR" sz="1200" kern="1200" dirty="0">
              <a:solidFill>
                <a:schemeClr val="tx1"/>
              </a:solidFill>
              <a:effectLst/>
              <a:latin typeface="+mn-lt"/>
              <a:ea typeface="+mn-ea"/>
              <a:cs typeface="+mn-cs"/>
            </a:endParaRPr>
          </a:p>
          <a:p>
            <a:r>
              <a:rPr lang="en-US" altLang="ko-KR" sz="1200" kern="1200" dirty="0">
                <a:solidFill>
                  <a:schemeClr val="tx1"/>
                </a:solidFill>
                <a:effectLst/>
                <a:latin typeface="+mn-lt"/>
                <a:ea typeface="+mn-ea"/>
                <a:cs typeface="+mn-cs"/>
              </a:rPr>
              <a:t>The method tries splitting the 51 months at every possible value of L and asks </a:t>
            </a:r>
            <a:r>
              <a:rPr lang="en-US" altLang="ko-KR" sz="1200" i="1" kern="1200" dirty="0">
                <a:solidFill>
                  <a:schemeClr val="tx1"/>
                </a:solidFill>
                <a:effectLst/>
                <a:latin typeface="+mn-lt"/>
                <a:ea typeface="+mn-ea"/>
                <a:cs typeface="+mn-cs"/>
              </a:rPr>
              <a:t>"if I use this value as my cut-off, how well does a two-group model explain the spread data?"</a:t>
            </a:r>
            <a:r>
              <a:rPr lang="en-US" altLang="ko-KR" sz="1200" kern="1200" dirty="0">
                <a:solidFill>
                  <a:schemeClr val="tx1"/>
                </a:solidFill>
                <a:effectLst/>
                <a:latin typeface="+mn-lt"/>
                <a:ea typeface="+mn-ea"/>
                <a:cs typeface="+mn-cs"/>
              </a:rPr>
              <a:t> </a:t>
            </a:r>
            <a:endParaRPr lang="en-US" altLang="ko-KR" sz="1200" kern="1200" dirty="0">
              <a:solidFill>
                <a:schemeClr val="tx1"/>
              </a:solidFill>
              <a:effectLst/>
              <a:latin typeface="+mn-lt"/>
              <a:ea typeface="+mn-ea"/>
              <a:cs typeface="+mn-cs"/>
            </a:endParaRPr>
          </a:p>
          <a:p>
            <a:r>
              <a:rPr lang="en-US" altLang="ko-KR" sz="1200" kern="1200" dirty="0">
                <a:solidFill>
                  <a:schemeClr val="tx1"/>
                </a:solidFill>
                <a:effectLst/>
                <a:latin typeface="+mn-lt"/>
                <a:ea typeface="+mn-ea"/>
                <a:cs typeface="+mn-cs"/>
              </a:rPr>
              <a:t>The </a:t>
            </a:r>
            <a:r>
              <a:rPr lang="en-US" altLang="ko-KR" sz="1200" b="1" kern="1200" dirty="0">
                <a:solidFill>
                  <a:schemeClr val="tx1"/>
                </a:solidFill>
                <a:effectLst/>
                <a:latin typeface="+mn-lt"/>
                <a:ea typeface="+mn-ea"/>
                <a:cs typeface="+mn-cs"/>
              </a:rPr>
              <a:t>lowest point on the curve</a:t>
            </a:r>
            <a:r>
              <a:rPr lang="en-US" altLang="ko-KR" sz="1200" kern="1200" dirty="0">
                <a:solidFill>
                  <a:schemeClr val="tx1"/>
                </a:solidFill>
                <a:effectLst/>
                <a:latin typeface="+mn-lt"/>
                <a:ea typeface="+mn-ea"/>
                <a:cs typeface="+mn-cs"/>
              </a:rPr>
              <a:t> is where the model fits best. That lowest point lands at </a:t>
            </a:r>
            <a:r>
              <a:rPr lang="en-US" altLang="ko-KR" sz="1200" b="1" kern="1200" dirty="0">
                <a:solidFill>
                  <a:schemeClr val="tx1"/>
                </a:solidFill>
                <a:effectLst/>
                <a:latin typeface="+mn-lt"/>
                <a:ea typeface="+mn-ea"/>
                <a:cs typeface="+mn-cs"/>
              </a:rPr>
              <a:t>L = 0.1301 — 13%</a:t>
            </a:r>
            <a:r>
              <a:rPr lang="en-US" altLang="ko-KR" sz="1200" kern="1200" dirty="0">
                <a:solidFill>
                  <a:schemeClr val="tx1"/>
                </a:solidFill>
                <a:effectLst/>
                <a:latin typeface="+mn-lt"/>
                <a:ea typeface="+mn-ea"/>
                <a:cs typeface="+mn-cs"/>
              </a:rPr>
              <a:t>. That is the data telling us: </a:t>
            </a:r>
            <a:r>
              <a:rPr lang="en-US" altLang="ko-KR" sz="1200" i="1" kern="1200" dirty="0">
                <a:solidFill>
                  <a:schemeClr val="tx1"/>
                </a:solidFill>
                <a:effectLst/>
                <a:latin typeface="+mn-lt"/>
                <a:ea typeface="+mn-ea"/>
                <a:cs typeface="+mn-cs"/>
              </a:rPr>
              <a:t>"the most natural dividing line between two different </a:t>
            </a:r>
            <a:r>
              <a:rPr lang="en-US" altLang="ko-KR" sz="1200" i="1" kern="1200" dirty="0" err="1">
                <a:solidFill>
                  <a:schemeClr val="tx1"/>
                </a:solidFill>
                <a:effectLst/>
                <a:latin typeface="+mn-lt"/>
                <a:ea typeface="+mn-ea"/>
                <a:cs typeface="+mn-cs"/>
              </a:rPr>
              <a:t>behaviours</a:t>
            </a:r>
            <a:r>
              <a:rPr lang="en-US" altLang="ko-KR" sz="1200" i="1" kern="1200" dirty="0">
                <a:solidFill>
                  <a:schemeClr val="tx1"/>
                </a:solidFill>
                <a:effectLst/>
                <a:latin typeface="+mn-lt"/>
                <a:ea typeface="+mn-ea"/>
                <a:cs typeface="+mn-cs"/>
              </a:rPr>
              <a:t> is at 13% liquid reserves."</a:t>
            </a:r>
            <a:endParaRPr lang="en-US" altLang="ko-KR" sz="1200" kern="1200" dirty="0">
              <a:solidFill>
                <a:schemeClr val="tx1"/>
              </a:solidFill>
              <a:effectLst/>
              <a:latin typeface="+mn-lt"/>
              <a:ea typeface="+mn-ea"/>
              <a:cs typeface="+mn-cs"/>
            </a:endParaRPr>
          </a:p>
          <a:p>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fld>
            <a:endParaRPr kumimoji="1" lang="ko-KR"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When supply </a:t>
            </a:r>
            <a:r>
              <a:rPr lang="en-US" altLang="ko-KR" sz="1200" b="1" i="0" kern="1200" dirty="0">
                <a:solidFill>
                  <a:schemeClr val="tx1"/>
                </a:solidFill>
                <a:effectLst/>
                <a:latin typeface="+mn-lt"/>
                <a:ea typeface="+mn-ea"/>
                <a:cs typeface="+mn-cs"/>
              </a:rPr>
              <a:t>grows</a:t>
            </a:r>
            <a:r>
              <a:rPr lang="en-US" altLang="ko-KR" sz="1200" b="0" i="0" kern="1200" dirty="0">
                <a:solidFill>
                  <a:schemeClr val="tx1"/>
                </a:solidFill>
                <a:effectLst/>
                <a:latin typeface="+mn-lt"/>
                <a:ea typeface="+mn-ea"/>
                <a:cs typeface="+mn-cs"/>
              </a:rPr>
              <a:t>, issuers need to back every new token they issue with reserves. The question is: do they use </a:t>
            </a:r>
            <a:r>
              <a:rPr lang="en-US" altLang="ko-KR" sz="1200" b="1" i="0" kern="1200" dirty="0">
                <a:solidFill>
                  <a:schemeClr val="tx1"/>
                </a:solidFill>
                <a:effectLst/>
                <a:latin typeface="+mn-lt"/>
                <a:ea typeface="+mn-ea"/>
                <a:cs typeface="+mn-cs"/>
              </a:rPr>
              <a:t>cash</a:t>
            </a:r>
            <a:r>
              <a:rPr lang="en-US" altLang="ko-KR" sz="1200" b="0" i="0" kern="1200" dirty="0">
                <a:solidFill>
                  <a:schemeClr val="tx1"/>
                </a:solidFill>
                <a:effectLst/>
                <a:latin typeface="+mn-lt"/>
                <a:ea typeface="+mn-ea"/>
                <a:cs typeface="+mn-cs"/>
              </a:rPr>
              <a:t> or do they go buy </a:t>
            </a:r>
            <a:r>
              <a:rPr lang="en-US" altLang="ko-KR" sz="1200" b="1" i="0" kern="1200" dirty="0">
                <a:solidFill>
                  <a:schemeClr val="tx1"/>
                </a:solidFill>
                <a:effectLst/>
                <a:latin typeface="+mn-lt"/>
                <a:ea typeface="+mn-ea"/>
                <a:cs typeface="+mn-cs"/>
              </a:rPr>
              <a:t>T-bills</a:t>
            </a:r>
            <a:r>
              <a:rPr lang="en-US" altLang="ko-KR" sz="1200" b="0" i="0" kern="1200" dirty="0">
                <a:solidFill>
                  <a:schemeClr val="tx1"/>
                </a:solidFill>
                <a:effectLst/>
                <a:latin typeface="+mn-lt"/>
                <a:ea typeface="+mn-ea"/>
                <a:cs typeface="+mn-cs"/>
              </a:rPr>
              <a:t>?</a:t>
            </a:r>
            <a:endParaRPr lang="en-US" altLang="ko-KR" sz="1200" b="0" i="0" kern="1200" dirty="0">
              <a:solidFill>
                <a:schemeClr val="tx1"/>
              </a:solidFill>
              <a:effectLst/>
              <a:latin typeface="+mn-lt"/>
              <a:ea typeface="+mn-ea"/>
              <a:cs typeface="+mn-cs"/>
            </a:endParaRPr>
          </a:p>
          <a:p>
            <a:r>
              <a:rPr lang="en-US" altLang="ko-KR" sz="1200" b="1" i="0" kern="1200" dirty="0">
                <a:solidFill>
                  <a:schemeClr val="tx1"/>
                </a:solidFill>
                <a:effectLst/>
                <a:latin typeface="+mn-lt"/>
                <a:ea typeface="+mn-ea"/>
                <a:cs typeface="+mn-cs"/>
              </a:rPr>
              <a:t>Low buffer (left box) — </a:t>
            </a:r>
            <a:r>
              <a:rPr lang="el-GR" altLang="ko-KR" sz="1200" b="1" i="0" kern="1200" dirty="0">
                <a:solidFill>
                  <a:schemeClr val="tx1"/>
                </a:solidFill>
                <a:effectLst/>
                <a:latin typeface="+mn-lt"/>
                <a:ea typeface="+mn-ea"/>
                <a:cs typeface="+mn-cs"/>
              </a:rPr>
              <a:t>β = −6.97:</a:t>
            </a:r>
            <a:r>
              <a:rPr lang="el-GR" altLang="ko-KR" sz="1200" b="0" i="0" kern="1200" dirty="0">
                <a:solidFill>
                  <a:schemeClr val="tx1"/>
                </a:solidFill>
                <a:effectLst/>
                <a:latin typeface="+mn-lt"/>
                <a:ea typeface="+mn-ea"/>
                <a:cs typeface="+mn-cs"/>
              </a:rPr>
              <a:t> </a:t>
            </a:r>
            <a:r>
              <a:rPr lang="en-US" altLang="ko-KR" sz="1200" b="0" i="0" kern="1200" dirty="0">
                <a:solidFill>
                  <a:schemeClr val="tx1"/>
                </a:solidFill>
                <a:effectLst/>
                <a:latin typeface="+mn-lt"/>
                <a:ea typeface="+mn-ea"/>
                <a:cs typeface="+mn-cs"/>
              </a:rPr>
              <a:t>The issuer has almost no cash. So every time supply grows, they must </a:t>
            </a:r>
            <a:r>
              <a:rPr lang="en-US" altLang="ko-KR" sz="1200" b="1" i="0" kern="1200" dirty="0">
                <a:solidFill>
                  <a:schemeClr val="tx1"/>
                </a:solidFill>
                <a:effectLst/>
                <a:latin typeface="+mn-lt"/>
                <a:ea typeface="+mn-ea"/>
                <a:cs typeface="+mn-cs"/>
              </a:rPr>
              <a:t>go out and buy T-bills</a:t>
            </a:r>
            <a:r>
              <a:rPr lang="en-US" altLang="ko-KR" sz="1200" b="0" i="0" kern="1200" dirty="0">
                <a:solidFill>
                  <a:schemeClr val="tx1"/>
                </a:solidFill>
                <a:effectLst/>
                <a:latin typeface="+mn-lt"/>
                <a:ea typeface="+mn-ea"/>
                <a:cs typeface="+mn-cs"/>
              </a:rPr>
              <a:t> to back the new tokens. That extra T-bill buying pushes T-bill prices up, yields down — the spread </a:t>
            </a:r>
            <a:r>
              <a:rPr lang="en-US" altLang="ko-KR" sz="1200" b="1" i="0" kern="1200" dirty="0">
                <a:solidFill>
                  <a:schemeClr val="tx1"/>
                </a:solidFill>
                <a:effectLst/>
                <a:latin typeface="+mn-lt"/>
                <a:ea typeface="+mn-ea"/>
                <a:cs typeface="+mn-cs"/>
              </a:rPr>
              <a:t>compresses strongly</a:t>
            </a:r>
            <a:r>
              <a:rPr lang="en-US" altLang="ko-KR" sz="1200" b="0" i="0" kern="1200" dirty="0">
                <a:solidFill>
                  <a:schemeClr val="tx1"/>
                </a:solidFill>
                <a:effectLst/>
                <a:latin typeface="+mn-lt"/>
                <a:ea typeface="+mn-ea"/>
                <a:cs typeface="+mn-cs"/>
              </a:rPr>
              <a:t>. They are completely dependent on the T-bill market for everything.</a:t>
            </a:r>
            <a:endParaRPr lang="en-US" altLang="ko-KR" sz="1200" b="0" i="0" kern="1200" dirty="0">
              <a:solidFill>
                <a:schemeClr val="tx1"/>
              </a:solidFill>
              <a:effectLst/>
              <a:latin typeface="+mn-lt"/>
              <a:ea typeface="+mn-ea"/>
              <a:cs typeface="+mn-cs"/>
            </a:endParaRPr>
          </a:p>
          <a:p>
            <a:r>
              <a:rPr lang="en-US" altLang="ko-KR" sz="1200" b="1" i="0" kern="1200" dirty="0">
                <a:solidFill>
                  <a:schemeClr val="tx1"/>
                </a:solidFill>
                <a:effectLst/>
                <a:latin typeface="+mn-lt"/>
                <a:ea typeface="+mn-ea"/>
                <a:cs typeface="+mn-cs"/>
              </a:rPr>
              <a:t>High buffer (right box) — </a:t>
            </a:r>
            <a:r>
              <a:rPr lang="el-GR" altLang="ko-KR" sz="1200" b="1" i="0" kern="1200" dirty="0">
                <a:solidFill>
                  <a:schemeClr val="tx1"/>
                </a:solidFill>
                <a:effectLst/>
                <a:latin typeface="+mn-lt"/>
                <a:ea typeface="+mn-ea"/>
                <a:cs typeface="+mn-cs"/>
              </a:rPr>
              <a:t>β = +1.26:</a:t>
            </a:r>
            <a:r>
              <a:rPr lang="el-GR" altLang="ko-KR" sz="1200" b="0" i="0" kern="1200" dirty="0">
                <a:solidFill>
                  <a:schemeClr val="tx1"/>
                </a:solidFill>
                <a:effectLst/>
                <a:latin typeface="+mn-lt"/>
                <a:ea typeface="+mn-ea"/>
                <a:cs typeface="+mn-cs"/>
              </a:rPr>
              <a:t> </a:t>
            </a:r>
            <a:r>
              <a:rPr lang="en-US" altLang="ko-KR" sz="1200" b="0" i="0" kern="1200" dirty="0">
                <a:solidFill>
                  <a:schemeClr val="tx1"/>
                </a:solidFill>
                <a:effectLst/>
                <a:latin typeface="+mn-lt"/>
                <a:ea typeface="+mn-ea"/>
                <a:cs typeface="+mn-cs"/>
              </a:rPr>
              <a:t>The issuer already has plenty of cash sitting in reserve. When supply grows, they can use that cash to back new tokens — </a:t>
            </a:r>
            <a:r>
              <a:rPr lang="en-US" altLang="ko-KR" sz="1200" b="1" i="0" kern="1200" dirty="0">
                <a:solidFill>
                  <a:schemeClr val="tx1"/>
                </a:solidFill>
                <a:effectLst/>
                <a:latin typeface="+mn-lt"/>
                <a:ea typeface="+mn-ea"/>
                <a:cs typeface="+mn-cs"/>
              </a:rPr>
              <a:t>no T-bill buying needed</a:t>
            </a:r>
            <a:r>
              <a:rPr lang="en-US" altLang="ko-KR" sz="1200" b="0" i="0" kern="1200" dirty="0">
                <a:solidFill>
                  <a:schemeClr val="tx1"/>
                </a:solidFill>
                <a:effectLst/>
                <a:latin typeface="+mn-lt"/>
                <a:ea typeface="+mn-ea"/>
                <a:cs typeface="+mn-cs"/>
              </a:rPr>
              <a:t>. The T-bill market is undisturbed. The compression effect disappears. </a:t>
            </a:r>
            <a:endParaRPr lang="en-US" altLang="ko-KR" sz="1200" b="0" i="0" kern="1200" dirty="0">
              <a:solidFill>
                <a:schemeClr val="tx1"/>
              </a:solidFill>
              <a:effectLst/>
              <a:latin typeface="+mn-lt"/>
              <a:ea typeface="+mn-ea"/>
              <a:cs typeface="+mn-cs"/>
            </a:endParaRPr>
          </a:p>
          <a:p>
            <a:br>
              <a:rPr lang="en-US" altLang="ko-KR" dirty="0"/>
            </a:br>
            <a:br>
              <a:rPr lang="en-US" altLang="ko-KR" dirty="0"/>
            </a:br>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fld>
            <a:endParaRPr kumimoji="1" lang="ko-KR"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"To wrap up our first half: we’ve shown that in normal times, stablecoins act as a massive support pillar for the U.S. dollar, effectively lowering borrowing costs for the government. But next week, we’re going to look at the </a:t>
            </a:r>
            <a:r>
              <a:rPr lang="en-US" altLang="ko-KR" b="1" dirty="0"/>
              <a:t>'danger zone.'</a:t>
            </a:r>
            <a:endParaRPr lang="en-US" altLang="ko-KR" dirty="0"/>
          </a:p>
          <a:p>
            <a:r>
              <a:rPr lang="en-US" altLang="ko-KR" dirty="0"/>
              <a:t>We will present our </a:t>
            </a:r>
            <a:r>
              <a:rPr lang="en-US" altLang="ko-KR" b="1" dirty="0"/>
              <a:t>Event Study</a:t>
            </a:r>
            <a:r>
              <a:rPr lang="en-US" altLang="ko-KR" dirty="0"/>
              <a:t>, which functions like a financial 'crash test.' We looked at daily data from real-world disasters like the LUNA collapse and the Silicon Valley Bank crisis to see how the markets reacted in real-time. What we found is fascinating: when a stablecoin issuer has a </a:t>
            </a:r>
            <a:r>
              <a:rPr lang="en-US" altLang="ko-KR" b="1" dirty="0"/>
              <a:t>low cash buffer</a:t>
            </a:r>
            <a:r>
              <a:rPr lang="en-US" altLang="ko-KR" dirty="0"/>
              <a:t>, a run on the coin causes a shock that actually </a:t>
            </a:r>
            <a:r>
              <a:rPr lang="en-US" altLang="ko-KR" b="1" dirty="0"/>
              <a:t>drives up U.S. Treasury yields</a:t>
            </a:r>
            <a:r>
              <a:rPr lang="en-US" altLang="ko-KR" dirty="0"/>
              <a:t>—validating the 'New Triffin Dilemma'. However, when the buffer is high, we see the opposite: a 'flight-to-safety' that actually stabilizes the market.</a:t>
            </a:r>
            <a:endParaRPr lang="en-US" altLang="ko-KR" dirty="0"/>
          </a:p>
          <a:p>
            <a:r>
              <a:rPr lang="en-US" altLang="ko-KR" dirty="0"/>
              <a:t>We will also share our </a:t>
            </a:r>
            <a:r>
              <a:rPr lang="en-US" altLang="ko-KR" b="1" dirty="0"/>
              <a:t>'13% Rule.'</a:t>
            </a:r>
            <a:r>
              <a:rPr lang="en-US" altLang="ko-KR" dirty="0"/>
              <a:t> Based on our mathematical threshold, we’ve identified a specific number that regulators can use. We’ll explain why requiring stablecoin issuers to keep at least 13% of their reserves in pure cash—not just T-bills—is the key to making sure a crypto crisis never turns into a U.S. government debt crisis.</a:t>
            </a:r>
            <a:endParaRPr lang="en-US" altLang="ko-KR" dirty="0"/>
          </a:p>
          <a:p>
            <a:r>
              <a:rPr lang="en-US" altLang="ko-KR" dirty="0"/>
              <a:t>See you next week for the causal proof and the policy solutions!"</a:t>
            </a:r>
            <a:endParaRPr lang="en-US" altLang="ko-KR" dirty="0"/>
          </a:p>
          <a:p>
            <a:endParaRPr kumimoji="1" lang="ko-KR" altLang="en-US" dirty="0"/>
          </a:p>
        </p:txBody>
      </p:sp>
      <p:sp>
        <p:nvSpPr>
          <p:cNvPr id="4" name="슬라이드 번호 개체 틀 3"/>
          <p:cNvSpPr>
            <a:spLocks noGrp="1"/>
          </p:cNvSpPr>
          <p:nvPr>
            <p:ph type="sldNum" sz="quarter" idx="5"/>
          </p:nvPr>
        </p:nvSpPr>
        <p:spPr/>
        <p:txBody>
          <a:bodyPr/>
          <a:lstStyle/>
          <a:p>
            <a:fld id="{8AF3784E-D73A-6545-9F12-21649F82E67D}" type="slidenum">
              <a:rPr kumimoji="1" lang="ko-KR" altLang="en-US" smtClean="0"/>
            </a:fld>
            <a:endParaRPr kumimoji="1" lang="ko-KR"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"Thank you. We're happy to take any questions on the theory, the data construction, the Hansen threshold methodology, or the event study design."</a:t>
            </a:r>
            <a:endParaRPr kumimoji="1" lang="ko-KR" altLang="en-US" dirty="0"/>
          </a:p>
        </p:txBody>
      </p:sp>
      <p:sp>
        <p:nvSpPr>
          <p:cNvPr id="4" name="슬라이드 번호 개체 틀 3"/>
          <p:cNvSpPr>
            <a:spLocks noGrp="1"/>
          </p:cNvSpPr>
          <p:nvPr>
            <p:ph type="sldNum" sz="quarter" idx="5"/>
          </p:nvPr>
        </p:nvSpPr>
        <p:spPr/>
        <p:txBody>
          <a:bodyPr/>
          <a:lstStyle/>
          <a:p>
            <a:fld id="{5D514313-3BDE-834F-BE4B-14A4F858B1F2}" type="slidenum">
              <a:rPr kumimoji="1" lang="ko-KR" altLang="en-US" smtClean="0"/>
            </a:fld>
            <a:endParaRPr kumimoji="1" lang="ko-KR"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7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7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7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microsoft.com/office/2007/relationships/hdphoto" Target="../media/image2.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xml"/><Relationship Id="rId3" Type="http://schemas.openxmlformats.org/officeDocument/2006/relationships/image" Target="../media/image6.png"/><Relationship Id="rId2" Type="http://schemas.microsoft.com/office/2007/relationships/hdphoto" Target="../media/image2.wdp"/><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5" name="그림 4" descr="원, 그래픽, 스크린샷, 그래픽 디자인이(가) 표시된 사진&#10;&#10;자동 생성된 설명"/>
          <p:cNvPicPr>
            <a:picLocks noChangeAspect="1"/>
          </p:cNvPicPr>
          <p:nvPr/>
        </p:nvPicPr>
        <p:blipFill>
          <a:blip r:embed="rId1">
            <a:lum bright="70000" contrast="-70000"/>
            <a:extLst>
              <a:ext uri="{BEBA8EAE-BF5A-486C-A8C5-ECC9F3942E4B}">
                <a14:imgProps xmlns:a14="http://schemas.microsoft.com/office/drawing/2010/main">
                  <a14:imgLayer r:embed="rId2">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0" y="890"/>
            <a:ext cx="4809898" cy="6856214"/>
          </a:xfrm>
          <a:prstGeom prst="rect">
            <a:avLst/>
          </a:prstGeom>
        </p:spPr>
      </p:pic>
      <p:sp>
        <p:nvSpPr>
          <p:cNvPr id="6" name="직사각형 5"/>
          <p:cNvSpPr/>
          <p:nvPr/>
        </p:nvSpPr>
        <p:spPr>
          <a:xfrm>
            <a:off x="-1" y="1879560"/>
            <a:ext cx="12188826" cy="2576274"/>
          </a:xfrm>
          <a:prstGeom prst="rect">
            <a:avLst/>
          </a:prstGeom>
          <a:solidFill>
            <a:schemeClr val="tx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latinLnBrk="1">
              <a:defRPr/>
            </a:pPr>
            <a:r>
              <a:rPr lang="en-US" altLang="ko-KR" sz="2400" dirty="0">
                <a:solidFill>
                  <a:prstClr val="white"/>
                </a:solidFill>
                <a:latin typeface="Hiragino Kaku Gothic Std W8" panose="020B0800000000000000" pitchFamily="34" charset="-128"/>
                <a:ea typeface="Hiragino Kaku Gothic Std W8" panose="020B0800000000000000" pitchFamily="34" charset="-128"/>
              </a:rPr>
              <a:t>STABLECOINS AND THE EXORBITANT PRIVILEGE</a:t>
            </a:r>
            <a:endParaRPr lang="en-US" altLang="ko-KR" sz="2400" dirty="0">
              <a:solidFill>
                <a:prstClr val="white"/>
              </a:solidFill>
              <a:latin typeface="Hiragino Kaku Gothic Std W8" panose="020B0800000000000000" pitchFamily="34" charset="-128"/>
              <a:ea typeface="Hiragino Kaku Gothic Std W8" panose="020B0800000000000000" pitchFamily="34" charset="-128"/>
            </a:endParaRPr>
          </a:p>
          <a:p>
            <a:pPr algn="ctr" defTabSz="914400" latinLnBrk="1">
              <a:defRPr/>
            </a:pPr>
            <a:endParaRPr lang="ko-KR" altLang="en-US" sz="2400" dirty="0">
              <a:solidFill>
                <a:prstClr val="white"/>
              </a:solidFill>
              <a:latin typeface="Hiragino Kaku Gothic Std W8" panose="020B0800000000000000" pitchFamily="34" charset="-128"/>
              <a:ea typeface="Malgun Gothic" panose="020B0503020000020004" pitchFamily="50" charset="-127"/>
            </a:endParaRPr>
          </a:p>
        </p:txBody>
      </p:sp>
      <p:sp>
        <p:nvSpPr>
          <p:cNvPr id="11" name="TextBox 10"/>
          <p:cNvSpPr txBox="1"/>
          <p:nvPr/>
        </p:nvSpPr>
        <p:spPr>
          <a:xfrm>
            <a:off x="6466205" y="5786755"/>
            <a:ext cx="5470525" cy="922020"/>
          </a:xfrm>
          <a:prstGeom prst="rect">
            <a:avLst/>
          </a:prstGeom>
          <a:noFill/>
        </p:spPr>
        <p:txBody>
          <a:bodyPr wrap="square" rtlCol="0">
            <a:spAutoFit/>
          </a:bodyPr>
          <a:lstStyle/>
          <a:p>
            <a:r>
              <a:rPr lang="en-US" altLang="ko-KR" sz="1800" b="1" dirty="0">
                <a:solidFill>
                  <a:schemeClr val="bg1"/>
                </a:solidFill>
              </a:rPr>
              <a:t>Yonsei GSIS 2026-1 </a:t>
            </a:r>
            <a:endParaRPr lang="en-US" altLang="ko-KR" sz="1800" b="1" dirty="0">
              <a:solidFill>
                <a:schemeClr val="bg1"/>
              </a:solidFill>
            </a:endParaRPr>
          </a:p>
          <a:p>
            <a:r>
              <a:rPr lang="en-US" altLang="ko-KR" sz="1800" b="1" dirty="0">
                <a:solidFill>
                  <a:schemeClr val="bg1"/>
                </a:solidFill>
              </a:rPr>
              <a:t>Topics in International Finance</a:t>
            </a:r>
            <a:endParaRPr lang="en-US" altLang="ko-KR" sz="1800" dirty="0">
              <a:solidFill>
                <a:schemeClr val="bg1"/>
              </a:solidFill>
            </a:endParaRPr>
          </a:p>
          <a:p>
            <a:r>
              <a:rPr lang="en-US" altLang="ko-KR" b="1" dirty="0">
                <a:solidFill>
                  <a:srgbClr val="FFFFFF"/>
                </a:solidFill>
              </a:rPr>
              <a:t>Mireu Kim · Sara Chekroune · Oybek Ibragimov</a:t>
            </a:r>
            <a:endParaRPr lang="en-US" altLang="ko-KR" sz="18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Roadmap</a:t>
            </a:r>
            <a:endParaRPr sz="2600" b="0" i="0">
              <a:solidFill>
                <a:srgbClr val="FFFFFF"/>
              </a:solidFill>
              <a:latin typeface="Calibri"/>
            </a:endParaRP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2</a:t>
            </a:r>
            <a:endParaRPr sz="1300" b="0" i="0">
              <a:solidFill>
                <a:srgbClr val="555566"/>
              </a:solidFill>
              <a:latin typeface="Calibri"/>
            </a:endParaRPr>
          </a:p>
        </p:txBody>
      </p:sp>
      <p:sp>
        <p:nvSpPr>
          <p:cNvPr id="6" name="TextBox 5"/>
          <p:cNvSpPr txBox="1"/>
          <p:nvPr/>
        </p:nvSpPr>
        <p:spPr>
          <a:xfrm>
            <a:off x="640080" y="1005840"/>
            <a:ext cx="11155680" cy="4396075"/>
          </a:xfrm>
          <a:prstGeom prst="rect">
            <a:avLst/>
          </a:prstGeom>
          <a:noFill/>
        </p:spPr>
        <p:txBody>
          <a:bodyPr wrap="square">
            <a:spAutoFit/>
          </a:bodyPr>
          <a:lstStyle/>
          <a:p>
            <a:pPr>
              <a:spcBef>
                <a:spcPts val="0"/>
              </a:spcBef>
            </a:pPr>
            <a:r>
              <a:rPr lang="en-US" dirty="0"/>
              <a:t>This week: </a:t>
            </a:r>
            <a:endParaRPr dirty="0"/>
          </a:p>
          <a:p>
            <a:pPr algn="l">
              <a:spcBef>
                <a:spcPts val="200"/>
              </a:spcBef>
            </a:pPr>
            <a:r>
              <a:rPr sz="2000" b="0" i="0" dirty="0">
                <a:solidFill>
                  <a:srgbClr val="1A1A2E"/>
                </a:solidFill>
                <a:latin typeface="Calibri"/>
              </a:rPr>
              <a:t>❖  Motivation — why stablecoins matter for sovereign debt</a:t>
            </a:r>
            <a:endParaRPr sz="2000" b="0" i="0" dirty="0">
              <a:solidFill>
                <a:srgbClr val="1A1A2E"/>
              </a:solidFill>
              <a:latin typeface="Calibri"/>
            </a:endParaRPr>
          </a:p>
          <a:p>
            <a:pPr algn="l">
              <a:spcBef>
                <a:spcPts val="800"/>
              </a:spcBef>
            </a:pPr>
            <a:r>
              <a:rPr sz="2000" b="0" i="0" dirty="0">
                <a:solidFill>
                  <a:srgbClr val="1A1A2E"/>
                </a:solidFill>
                <a:latin typeface="Calibri"/>
              </a:rPr>
              <a:t>❖  The New Triffin Dilemma — our core argument</a:t>
            </a:r>
            <a:endParaRPr sz="2000" b="0" i="0" dirty="0">
              <a:solidFill>
                <a:srgbClr val="1A1A2E"/>
              </a:solidFill>
              <a:latin typeface="Calibri"/>
            </a:endParaRPr>
          </a:p>
          <a:p>
            <a:pPr algn="l">
              <a:spcBef>
                <a:spcPts val="800"/>
              </a:spcBef>
            </a:pPr>
            <a:r>
              <a:rPr sz="2000" b="0" i="0" dirty="0">
                <a:solidFill>
                  <a:srgbClr val="1A1A2E"/>
                </a:solidFill>
                <a:latin typeface="Calibri"/>
              </a:rPr>
              <a:t>❖  Theoretical extension of Maggiori (2017)</a:t>
            </a:r>
            <a:endParaRPr sz="2000" b="0" i="0" dirty="0">
              <a:solidFill>
                <a:srgbClr val="1A1A2E"/>
              </a:solidFill>
              <a:latin typeface="Calibri"/>
            </a:endParaRPr>
          </a:p>
          <a:p>
            <a:pPr algn="l">
              <a:spcBef>
                <a:spcPts val="800"/>
              </a:spcBef>
            </a:pPr>
            <a:r>
              <a:rPr sz="2000" b="0" i="0" dirty="0">
                <a:solidFill>
                  <a:srgbClr val="1A1A2E"/>
                </a:solidFill>
                <a:latin typeface="Calibri"/>
              </a:rPr>
              <a:t>❖  Data &amp; Methodology</a:t>
            </a:r>
            <a:endParaRPr sz="2000" b="0" i="0" dirty="0">
              <a:solidFill>
                <a:srgbClr val="1A1A2E"/>
              </a:solidFill>
              <a:latin typeface="Calibri"/>
            </a:endParaRPr>
          </a:p>
          <a:p>
            <a:pPr algn="l">
              <a:spcBef>
                <a:spcPts val="800"/>
              </a:spcBef>
            </a:pPr>
            <a:r>
              <a:rPr sz="2000" b="0" i="0" dirty="0">
                <a:solidFill>
                  <a:srgbClr val="1A1A2E"/>
                </a:solidFill>
                <a:latin typeface="Calibri"/>
              </a:rPr>
              <a:t>❖  Result 1 — Privilege amplification regression</a:t>
            </a:r>
            <a:endParaRPr sz="2000" b="0" i="0" dirty="0">
              <a:solidFill>
                <a:srgbClr val="1A1A2E"/>
              </a:solidFill>
              <a:latin typeface="Calibri"/>
            </a:endParaRPr>
          </a:p>
          <a:p>
            <a:pPr algn="l">
              <a:spcBef>
                <a:spcPts val="800"/>
              </a:spcBef>
            </a:pPr>
            <a:r>
              <a:rPr sz="2000" b="0" i="0" dirty="0">
                <a:solidFill>
                  <a:srgbClr val="1A1A2E"/>
                </a:solidFill>
                <a:latin typeface="Calibri"/>
              </a:rPr>
              <a:t>❖  Result 2 — Reserve adequacy threshold (Hansen 2000)</a:t>
            </a:r>
            <a:endParaRPr lang="en-US" sz="2000" b="0" i="0" dirty="0">
              <a:solidFill>
                <a:srgbClr val="1A1A2E"/>
              </a:solidFill>
              <a:latin typeface="Calibri"/>
            </a:endParaRPr>
          </a:p>
          <a:p>
            <a:pPr algn="l">
              <a:spcBef>
                <a:spcPts val="800"/>
              </a:spcBef>
            </a:pPr>
            <a:endParaRPr lang="en-US" sz="2000" dirty="0">
              <a:solidFill>
                <a:srgbClr val="1A1A2E"/>
              </a:solidFill>
              <a:latin typeface="Calibri"/>
            </a:endParaRPr>
          </a:p>
          <a:p>
            <a:pPr algn="l">
              <a:spcBef>
                <a:spcPts val="800"/>
              </a:spcBef>
            </a:pPr>
            <a:r>
              <a:rPr lang="en-US" sz="2000" b="0" i="0" dirty="0">
                <a:solidFill>
                  <a:srgbClr val="1A1A2E"/>
                </a:solidFill>
                <a:latin typeface="Calibri"/>
              </a:rPr>
              <a:t>Next week: </a:t>
            </a:r>
            <a:endParaRPr sz="2000" b="0" i="0" dirty="0">
              <a:solidFill>
                <a:srgbClr val="1A1A2E"/>
              </a:solidFill>
              <a:latin typeface="Calibri"/>
            </a:endParaRPr>
          </a:p>
          <a:p>
            <a:pPr algn="l">
              <a:spcBef>
                <a:spcPts val="800"/>
              </a:spcBef>
            </a:pPr>
            <a:r>
              <a:rPr sz="2000" b="0" i="0" dirty="0">
                <a:solidFill>
                  <a:srgbClr val="1A1A2E"/>
                </a:solidFill>
                <a:latin typeface="Calibri"/>
              </a:rPr>
              <a:t>❖  Result 3 — Buffer-conditioned event study</a:t>
            </a:r>
            <a:endParaRPr sz="2000" b="0" i="0" dirty="0">
              <a:solidFill>
                <a:srgbClr val="1A1A2E"/>
              </a:solidFill>
              <a:latin typeface="Calibri"/>
            </a:endParaRPr>
          </a:p>
          <a:p>
            <a:pPr algn="l">
              <a:spcBef>
                <a:spcPts val="800"/>
              </a:spcBef>
            </a:pPr>
            <a:r>
              <a:rPr sz="2000" b="0" i="0" dirty="0">
                <a:solidFill>
                  <a:srgbClr val="1A1A2E"/>
                </a:solidFill>
                <a:latin typeface="Calibri"/>
              </a:rPr>
              <a:t>❖  Conclusion &amp; Policy implications</a:t>
            </a:r>
            <a:endParaRPr sz="2000" b="0" i="0" dirty="0">
              <a:solidFill>
                <a:srgbClr val="1A1A2E"/>
              </a:solidFill>
              <a:latin typeface="Calibri"/>
            </a:endParaRPr>
          </a:p>
        </p:txBody>
      </p:sp>
      <p:sp>
        <p:nvSpPr>
          <p:cNvPr id="7" name="TextBox 6"/>
          <p:cNvSpPr txBox="1"/>
          <p:nvPr/>
        </p:nvSpPr>
        <p:spPr>
          <a:xfrm>
            <a:off x="11288486" y="206829"/>
            <a:ext cx="718457" cy="369332"/>
          </a:xfrm>
          <a:prstGeom prst="rect">
            <a:avLst/>
          </a:prstGeom>
          <a:noFill/>
        </p:spPr>
        <p:txBody>
          <a:bodyPr wrap="square" rtlCol="0">
            <a:spAutoFit/>
          </a:bodyPr>
          <a:lstStyle/>
          <a:p>
            <a:r>
              <a:rPr kumimoji="1" lang="en-US" altLang="ko-KR" dirty="0">
                <a:solidFill>
                  <a:schemeClr val="bg1"/>
                </a:solidFill>
              </a:rPr>
              <a:t>Sara</a:t>
            </a:r>
            <a:endParaRPr kumimoji="1" lang="ko-KR" altLang="en-US"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Motivation: Stablecoins as Treasury Buyers</a:t>
            </a:r>
            <a:endParaRPr sz="2600" b="0" i="0">
              <a:solidFill>
                <a:srgbClr val="FFFFFF"/>
              </a:solidFill>
              <a:latin typeface="Calibri"/>
            </a:endParaRP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3</a:t>
            </a:r>
            <a:endParaRPr sz="1300" b="0" i="0">
              <a:solidFill>
                <a:srgbClr val="555566"/>
              </a:solidFill>
              <a:latin typeface="Calibri"/>
            </a:endParaRPr>
          </a:p>
        </p:txBody>
      </p:sp>
      <p:sp>
        <p:nvSpPr>
          <p:cNvPr id="6" name="TextBox 5"/>
          <p:cNvSpPr txBox="1"/>
          <p:nvPr/>
        </p:nvSpPr>
        <p:spPr>
          <a:xfrm>
            <a:off x="457200" y="1005840"/>
            <a:ext cx="5669280" cy="4389120"/>
          </a:xfrm>
          <a:prstGeom prst="rect">
            <a:avLst/>
          </a:prstGeom>
          <a:noFill/>
        </p:spPr>
        <p:txBody>
          <a:bodyPr wrap="square">
            <a:spAutoFit/>
          </a:bodyPr>
          <a:lstStyle/>
          <a:p>
            <a:pPr>
              <a:spcBef>
                <a:spcPts val="0"/>
              </a:spcBef>
            </a:pPr>
          </a:p>
          <a:p>
            <a:pPr algn="l">
              <a:spcBef>
                <a:spcPts val="200"/>
              </a:spcBef>
            </a:pPr>
            <a:r>
              <a:rPr sz="1800" b="1" i="0">
                <a:solidFill>
                  <a:srgbClr val="1B3A72"/>
                </a:solidFill>
                <a:latin typeface="Calibri"/>
              </a:rPr>
              <a:t>Key Market Trends</a:t>
            </a:r>
            <a:endParaRPr sz="1800" b="1" i="0">
              <a:solidFill>
                <a:srgbClr val="1B3A72"/>
              </a:solidFill>
              <a:latin typeface="Calibri"/>
            </a:endParaRPr>
          </a:p>
          <a:p>
            <a:pPr algn="l">
              <a:spcBef>
                <a:spcPts val="1000"/>
              </a:spcBef>
            </a:pPr>
            <a:r>
              <a:rPr sz="1700" b="0" i="0">
                <a:solidFill>
                  <a:srgbClr val="1A1A2E"/>
                </a:solidFill>
                <a:latin typeface="Calibri"/>
              </a:rPr>
              <a:t>❖  Growth: Combined market cap surged from under $50bn (2021) to over $300bn (2026)</a:t>
            </a:r>
            <a:endParaRPr sz="1700" b="0" i="0">
              <a:solidFill>
                <a:srgbClr val="1A1A2E"/>
              </a:solidFill>
              <a:latin typeface="Calibri"/>
            </a:endParaRPr>
          </a:p>
          <a:p>
            <a:pPr algn="l">
              <a:spcBef>
                <a:spcPts val="1000"/>
              </a:spcBef>
            </a:pPr>
            <a:r>
              <a:rPr sz="1700" b="0" i="0">
                <a:solidFill>
                  <a:srgbClr val="1A1A2E"/>
                </a:solidFill>
                <a:latin typeface="Calibri"/>
              </a:rPr>
              <a:t>❖  Usage: 30%+ of on-chain crypto transactions involve stablecoins</a:t>
            </a:r>
            <a:endParaRPr sz="1700" b="0" i="0">
              <a:solidFill>
                <a:srgbClr val="1A1A2E"/>
              </a:solidFill>
              <a:latin typeface="Calibri"/>
            </a:endParaRPr>
          </a:p>
          <a:p>
            <a:pPr algn="l">
              <a:spcBef>
                <a:spcPts val="1000"/>
              </a:spcBef>
            </a:pPr>
            <a:r>
              <a:rPr sz="1700" b="0" i="0">
                <a:solidFill>
                  <a:srgbClr val="1A1A2E"/>
                </a:solidFill>
                <a:latin typeface="Calibri"/>
              </a:rPr>
              <a:t>❖  Regulation: US, EU, Japan, and Hong Kong each finalising reserve legislation</a:t>
            </a:r>
            <a:endParaRPr sz="1700" b="0" i="0">
              <a:solidFill>
                <a:srgbClr val="1A1A2E"/>
              </a:solidFill>
              <a:latin typeface="Calibri"/>
            </a:endParaRPr>
          </a:p>
          <a:p>
            <a:pPr algn="l">
              <a:spcBef>
                <a:spcPts val="1000"/>
              </a:spcBef>
            </a:pPr>
            <a:r>
              <a:rPr sz="1700" b="0" i="0">
                <a:solidFill>
                  <a:srgbClr val="1A1A2E"/>
                </a:solidFill>
                <a:latin typeface="Calibri"/>
              </a:rPr>
              <a:t>❖  Scale: Tether alone holds $127bn in US Treasuries (Q2 2025) — comparable to mid-sized sovereigns</a:t>
            </a:r>
            <a:endParaRPr sz="1700" b="0" i="0">
              <a:solidFill>
                <a:srgbClr val="1A1A2E"/>
              </a:solidFill>
              <a:latin typeface="Calibri"/>
            </a:endParaRPr>
          </a:p>
          <a:p>
            <a:pPr algn="l">
              <a:spcBef>
                <a:spcPts val="1000"/>
              </a:spcBef>
            </a:pPr>
            <a:r>
              <a:rPr sz="1700" b="0" i="0">
                <a:solidFill>
                  <a:srgbClr val="1A1A2E"/>
                </a:solidFill>
                <a:latin typeface="Calibri"/>
              </a:rPr>
              <a:t>❖  Projection: $1–2 trillion ecosystem within this decade</a:t>
            </a:r>
            <a:endParaRPr sz="1700" b="0" i="0">
              <a:solidFill>
                <a:srgbClr val="1A1A2E"/>
              </a:solidFill>
              <a:latin typeface="Calibri"/>
            </a:endParaRPr>
          </a:p>
        </p:txBody>
      </p:sp>
      <p:sp>
        <p:nvSpPr>
          <p:cNvPr id="7" name="Rectangle 6"/>
          <p:cNvSpPr/>
          <p:nvPr/>
        </p:nvSpPr>
        <p:spPr>
          <a:xfrm>
            <a:off x="6492240" y="960120"/>
            <a:ext cx="5303520" cy="10972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033272"/>
            <a:ext cx="5120640" cy="566928"/>
          </a:xfrm>
          <a:prstGeom prst="rect">
            <a:avLst/>
          </a:prstGeom>
          <a:noFill/>
        </p:spPr>
        <p:txBody>
          <a:bodyPr wrap="square">
            <a:spAutoFit/>
          </a:bodyPr>
          <a:lstStyle/>
          <a:p>
            <a:pPr algn="ctr"/>
            <a:r>
              <a:rPr sz="2800" b="1" i="0">
                <a:solidFill>
                  <a:srgbClr val="FFFFFF"/>
                </a:solidFill>
                <a:latin typeface="Calibri"/>
              </a:rPr>
              <a:t>$300bn+</a:t>
            </a:r>
            <a:endParaRPr sz="2800" b="1" i="0">
              <a:solidFill>
                <a:srgbClr val="FFFFFF"/>
              </a:solidFill>
              <a:latin typeface="Calibri"/>
            </a:endParaRPr>
          </a:p>
        </p:txBody>
      </p:sp>
      <p:sp>
        <p:nvSpPr>
          <p:cNvPr id="9" name="TextBox 8"/>
          <p:cNvSpPr txBox="1"/>
          <p:nvPr/>
        </p:nvSpPr>
        <p:spPr>
          <a:xfrm>
            <a:off x="6583680" y="1618488"/>
            <a:ext cx="5120640" cy="365760"/>
          </a:xfrm>
          <a:prstGeom prst="rect">
            <a:avLst/>
          </a:prstGeom>
          <a:noFill/>
        </p:spPr>
        <p:txBody>
          <a:bodyPr wrap="square">
            <a:spAutoFit/>
          </a:bodyPr>
          <a:lstStyle/>
          <a:p>
            <a:pPr algn="ctr"/>
            <a:r>
              <a:rPr sz="1200" b="0" i="1">
                <a:solidFill>
                  <a:srgbClr val="AAC4E8"/>
                </a:solidFill>
                <a:latin typeface="Calibri"/>
              </a:rPr>
              <a:t>Total USD-pegged supply (2026)</a:t>
            </a:r>
            <a:endParaRPr sz="1200" b="0" i="1">
              <a:solidFill>
                <a:srgbClr val="AAC4E8"/>
              </a:solidFill>
              <a:latin typeface="Calibri"/>
            </a:endParaRPr>
          </a:p>
        </p:txBody>
      </p:sp>
      <p:sp>
        <p:nvSpPr>
          <p:cNvPr id="10" name="Rectangle 9"/>
          <p:cNvSpPr/>
          <p:nvPr/>
        </p:nvSpPr>
        <p:spPr>
          <a:xfrm>
            <a:off x="6492240" y="2221992"/>
            <a:ext cx="5303520" cy="10972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2295144"/>
            <a:ext cx="5120640" cy="566928"/>
          </a:xfrm>
          <a:prstGeom prst="rect">
            <a:avLst/>
          </a:prstGeom>
          <a:noFill/>
        </p:spPr>
        <p:txBody>
          <a:bodyPr wrap="square">
            <a:spAutoFit/>
          </a:bodyPr>
          <a:lstStyle/>
          <a:p>
            <a:pPr algn="ctr"/>
            <a:r>
              <a:rPr sz="2800" b="1" i="0">
                <a:solidFill>
                  <a:srgbClr val="FFFFFF"/>
                </a:solidFill>
                <a:latin typeface="Calibri"/>
              </a:rPr>
              <a:t>$127bn</a:t>
            </a:r>
            <a:endParaRPr sz="2800" b="1" i="0">
              <a:solidFill>
                <a:srgbClr val="FFFFFF"/>
              </a:solidFill>
              <a:latin typeface="Calibri"/>
            </a:endParaRPr>
          </a:p>
        </p:txBody>
      </p:sp>
      <p:sp>
        <p:nvSpPr>
          <p:cNvPr id="12" name="TextBox 11"/>
          <p:cNvSpPr txBox="1"/>
          <p:nvPr/>
        </p:nvSpPr>
        <p:spPr>
          <a:xfrm>
            <a:off x="6583680" y="2880360"/>
            <a:ext cx="5120640" cy="365760"/>
          </a:xfrm>
          <a:prstGeom prst="rect">
            <a:avLst/>
          </a:prstGeom>
          <a:noFill/>
        </p:spPr>
        <p:txBody>
          <a:bodyPr wrap="square">
            <a:spAutoFit/>
          </a:bodyPr>
          <a:lstStyle/>
          <a:p>
            <a:pPr algn="ctr"/>
            <a:r>
              <a:rPr sz="1200" b="0" i="1">
                <a:solidFill>
                  <a:srgbClr val="AAC4E8"/>
                </a:solidFill>
                <a:latin typeface="Calibri"/>
              </a:rPr>
              <a:t>Tether T-bill holdings (Q2 2025)</a:t>
            </a:r>
            <a:endParaRPr sz="1200" b="0" i="1">
              <a:solidFill>
                <a:srgbClr val="AAC4E8"/>
              </a:solidFill>
              <a:latin typeface="Calibri"/>
            </a:endParaRPr>
          </a:p>
        </p:txBody>
      </p:sp>
      <p:sp>
        <p:nvSpPr>
          <p:cNvPr id="13" name="Rectangle 12"/>
          <p:cNvSpPr/>
          <p:nvPr/>
        </p:nvSpPr>
        <p:spPr>
          <a:xfrm>
            <a:off x="6492240" y="3483864"/>
            <a:ext cx="5303520" cy="10972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3557016"/>
            <a:ext cx="5120640" cy="566928"/>
          </a:xfrm>
          <a:prstGeom prst="rect">
            <a:avLst/>
          </a:prstGeom>
          <a:noFill/>
        </p:spPr>
        <p:txBody>
          <a:bodyPr wrap="square">
            <a:spAutoFit/>
          </a:bodyPr>
          <a:lstStyle/>
          <a:p>
            <a:pPr algn="ctr"/>
            <a:r>
              <a:rPr sz="2800" b="1" i="0">
                <a:solidFill>
                  <a:srgbClr val="FFFFFF"/>
                </a:solidFill>
                <a:latin typeface="Calibri"/>
              </a:rPr>
              <a:t>$1–2 tn</a:t>
            </a:r>
            <a:endParaRPr sz="2800" b="1" i="0">
              <a:solidFill>
                <a:srgbClr val="FFFFFF"/>
              </a:solidFill>
              <a:latin typeface="Calibri"/>
            </a:endParaRPr>
          </a:p>
        </p:txBody>
      </p:sp>
      <p:sp>
        <p:nvSpPr>
          <p:cNvPr id="15" name="TextBox 14"/>
          <p:cNvSpPr txBox="1"/>
          <p:nvPr/>
        </p:nvSpPr>
        <p:spPr>
          <a:xfrm>
            <a:off x="6583680" y="4142232"/>
            <a:ext cx="5120640" cy="365760"/>
          </a:xfrm>
          <a:prstGeom prst="rect">
            <a:avLst/>
          </a:prstGeom>
          <a:noFill/>
        </p:spPr>
        <p:txBody>
          <a:bodyPr wrap="square">
            <a:spAutoFit/>
          </a:bodyPr>
          <a:lstStyle/>
          <a:p>
            <a:pPr algn="ctr"/>
            <a:r>
              <a:rPr sz="1200" b="0" i="1">
                <a:solidFill>
                  <a:srgbClr val="AAC4E8"/>
                </a:solidFill>
                <a:latin typeface="Calibri"/>
              </a:rPr>
              <a:t>Projected ecosystem size</a:t>
            </a:r>
            <a:endParaRPr sz="1200" b="0" i="1">
              <a:solidFill>
                <a:srgbClr val="AAC4E8"/>
              </a:solidFill>
              <a:latin typeface="Calibri"/>
            </a:endParaRPr>
          </a:p>
        </p:txBody>
      </p:sp>
      <p:sp>
        <p:nvSpPr>
          <p:cNvPr id="16" name="Rectangle 15"/>
          <p:cNvSpPr/>
          <p:nvPr/>
        </p:nvSpPr>
        <p:spPr>
          <a:xfrm>
            <a:off x="6492240" y="4745736"/>
            <a:ext cx="5303520" cy="10972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4818888"/>
            <a:ext cx="5120640" cy="566928"/>
          </a:xfrm>
          <a:prstGeom prst="rect">
            <a:avLst/>
          </a:prstGeom>
          <a:noFill/>
        </p:spPr>
        <p:txBody>
          <a:bodyPr wrap="square">
            <a:spAutoFit/>
          </a:bodyPr>
          <a:lstStyle/>
          <a:p>
            <a:pPr algn="ctr"/>
            <a:r>
              <a:rPr sz="2800" b="1" i="0">
                <a:solidFill>
                  <a:srgbClr val="FFFFFF"/>
                </a:solidFill>
                <a:latin typeface="Calibri"/>
              </a:rPr>
              <a:t>4</a:t>
            </a:r>
            <a:endParaRPr sz="2800" b="1" i="0">
              <a:solidFill>
                <a:srgbClr val="FFFFFF"/>
              </a:solidFill>
              <a:latin typeface="Calibri"/>
            </a:endParaRPr>
          </a:p>
        </p:txBody>
      </p:sp>
      <p:sp>
        <p:nvSpPr>
          <p:cNvPr id="18" name="TextBox 17"/>
          <p:cNvSpPr txBox="1"/>
          <p:nvPr/>
        </p:nvSpPr>
        <p:spPr>
          <a:xfrm>
            <a:off x="6583680" y="5404104"/>
            <a:ext cx="5120640" cy="365760"/>
          </a:xfrm>
          <a:prstGeom prst="rect">
            <a:avLst/>
          </a:prstGeom>
          <a:noFill/>
        </p:spPr>
        <p:txBody>
          <a:bodyPr wrap="square">
            <a:spAutoFit/>
          </a:bodyPr>
          <a:lstStyle/>
          <a:p>
            <a:pPr algn="ctr"/>
            <a:r>
              <a:rPr sz="1200" b="0" i="1">
                <a:solidFill>
                  <a:srgbClr val="AAC4E8"/>
                </a:solidFill>
                <a:latin typeface="Calibri"/>
              </a:rPr>
              <a:t>Jurisdictions finalising legislation</a:t>
            </a:r>
            <a:endParaRPr sz="1200" b="0" i="1">
              <a:solidFill>
                <a:srgbClr val="AAC4E8"/>
              </a:solidFill>
              <a:latin typeface="Calibri"/>
            </a:endParaRPr>
          </a:p>
        </p:txBody>
      </p:sp>
      <p:sp>
        <p:nvSpPr>
          <p:cNvPr id="19" name="Rectangle 18"/>
          <p:cNvSpPr/>
          <p:nvPr/>
        </p:nvSpPr>
        <p:spPr>
          <a:xfrm>
            <a:off x="0" y="5596128"/>
            <a:ext cx="12188952" cy="109728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760720"/>
            <a:ext cx="11274552" cy="804672"/>
          </a:xfrm>
          <a:prstGeom prst="rect">
            <a:avLst/>
          </a:prstGeom>
          <a:noFill/>
        </p:spPr>
        <p:txBody>
          <a:bodyPr wrap="square">
            <a:spAutoFit/>
          </a:bodyPr>
          <a:lstStyle/>
          <a:p>
            <a:pPr algn="ctr"/>
            <a:r>
              <a:rPr sz="1800" b="1" i="0">
                <a:solidFill>
                  <a:srgbClr val="FFFFFF"/>
                </a:solidFill>
                <a:latin typeface="Calibri"/>
              </a:rPr>
              <a:t>The same structural role that deepens US safe-asset demand also embeds a fragility that can rapidly reverse it.</a:t>
            </a:r>
            <a:endParaRPr sz="1800" b="1" i="0">
              <a:solidFill>
                <a:srgbClr val="FFFFFF"/>
              </a:solidFill>
              <a:latin typeface="Calibri"/>
            </a:endParaRPr>
          </a:p>
        </p:txBody>
      </p:sp>
      <p:sp>
        <p:nvSpPr>
          <p:cNvPr id="21" name="TextBox 20"/>
          <p:cNvSpPr txBox="1"/>
          <p:nvPr/>
        </p:nvSpPr>
        <p:spPr>
          <a:xfrm>
            <a:off x="11288486" y="206829"/>
            <a:ext cx="718457" cy="369332"/>
          </a:xfrm>
          <a:prstGeom prst="rect">
            <a:avLst/>
          </a:prstGeom>
          <a:noFill/>
        </p:spPr>
        <p:txBody>
          <a:bodyPr wrap="square" rtlCol="0">
            <a:spAutoFit/>
          </a:bodyPr>
          <a:lstStyle/>
          <a:p>
            <a:r>
              <a:rPr kumimoji="1" lang="en-US" altLang="ko-KR" dirty="0">
                <a:solidFill>
                  <a:schemeClr val="bg1"/>
                </a:solidFill>
              </a:rPr>
              <a:t>Sara</a:t>
            </a:r>
            <a:endParaRPr kumimoji="1" lang="ko-KR" altLang="en-US"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135"/>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The New Triffin Dilemma</a:t>
            </a:r>
            <a:endParaRPr sz="2600" b="0" i="0">
              <a:solidFill>
                <a:srgbClr val="FFFFFF"/>
              </a:solidFill>
              <a:latin typeface="Calibri"/>
            </a:endParaRP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4</a:t>
            </a:r>
            <a:endParaRPr sz="1300" b="0" i="0">
              <a:solidFill>
                <a:srgbClr val="555566"/>
              </a:solidFill>
              <a:latin typeface="Calibri"/>
            </a:endParaRPr>
          </a:p>
        </p:txBody>
      </p:sp>
      <p:sp>
        <p:nvSpPr>
          <p:cNvPr id="6" name="Rectangle 5"/>
          <p:cNvSpPr/>
          <p:nvPr/>
        </p:nvSpPr>
        <p:spPr>
          <a:xfrm>
            <a:off x="365760" y="1367155"/>
            <a:ext cx="11430000" cy="13106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77315"/>
            <a:ext cx="11155680" cy="1154430"/>
          </a:xfrm>
          <a:prstGeom prst="rect">
            <a:avLst/>
          </a:prstGeom>
          <a:noFill/>
        </p:spPr>
        <p:txBody>
          <a:bodyPr wrap="square">
            <a:noAutofit/>
          </a:bodyPr>
          <a:lstStyle/>
          <a:p>
            <a:pPr algn="l">
              <a:spcBef>
                <a:spcPts val="0"/>
              </a:spcBef>
            </a:pPr>
            <a:r>
              <a:rPr lang="en-US" altLang="en-US" sz="1900" b="0" i="1">
                <a:solidFill>
                  <a:srgbClr val="1A1A2E"/>
                </a:solidFill>
                <a:latin typeface="Calibri"/>
              </a:rPr>
              <a:t> A reserve currency country must supply sufficient safe assets to meet global demand — but this requires running structural current account deficits that progressively undermine confidence in the currency itself. The system depends on the very condition that makes it unsustainable.</a:t>
            </a:r>
            <a:endParaRPr lang="en-US" altLang="en-US" sz="1900" b="0" i="1">
              <a:solidFill>
                <a:srgbClr val="1A1A2E"/>
              </a:solidFill>
              <a:latin typeface="Calibri"/>
            </a:endParaRPr>
          </a:p>
        </p:txBody>
      </p:sp>
      <p:sp>
        <p:nvSpPr>
          <p:cNvPr id="8" name="TextBox 7"/>
          <p:cNvSpPr txBox="1"/>
          <p:nvPr/>
        </p:nvSpPr>
        <p:spPr>
          <a:xfrm>
            <a:off x="365760" y="2875279"/>
            <a:ext cx="11430000" cy="347472"/>
          </a:xfrm>
          <a:prstGeom prst="rect">
            <a:avLst/>
          </a:prstGeom>
          <a:noFill/>
        </p:spPr>
        <p:txBody>
          <a:bodyPr wrap="square">
            <a:spAutoFit/>
          </a:bodyPr>
          <a:lstStyle/>
          <a:p>
            <a:pPr algn="l"/>
            <a:r>
              <a:rPr sz="1700" b="1" i="0">
                <a:solidFill>
                  <a:srgbClr val="1B3A72"/>
                </a:solidFill>
                <a:latin typeface="Calibri"/>
              </a:rPr>
              <a:t>Our analogue for stablecoin issuers:</a:t>
            </a:r>
            <a:endParaRPr sz="1700" b="1" i="0">
              <a:solidFill>
                <a:srgbClr val="1B3A72"/>
              </a:solidFill>
              <a:latin typeface="Calibri"/>
            </a:endParaRPr>
          </a:p>
        </p:txBody>
      </p:sp>
      <p:sp>
        <p:nvSpPr>
          <p:cNvPr id="9" name="Rectangle 8"/>
          <p:cNvSpPr/>
          <p:nvPr/>
        </p:nvSpPr>
        <p:spPr>
          <a:xfrm>
            <a:off x="358140" y="3333115"/>
            <a:ext cx="5363845" cy="384175"/>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2315" y="3375025"/>
            <a:ext cx="5078730" cy="306705"/>
          </a:xfrm>
          <a:prstGeom prst="rect">
            <a:avLst/>
          </a:prstGeom>
          <a:noFill/>
        </p:spPr>
        <p:txBody>
          <a:bodyPr wrap="square">
            <a:spAutoFit/>
          </a:bodyPr>
          <a:lstStyle/>
          <a:p>
            <a:pPr algn="ctr"/>
            <a:r>
              <a:rPr sz="1400" b="1" i="0">
                <a:solidFill>
                  <a:srgbClr val="FFFFFF"/>
                </a:solidFill>
                <a:latin typeface="Calibri"/>
              </a:rPr>
              <a:t>Normal times ✅</a:t>
            </a:r>
            <a:endParaRPr sz="1400" b="1" i="0">
              <a:solidFill>
                <a:srgbClr val="FFFFFF"/>
              </a:solidFill>
              <a:latin typeface="Calibri"/>
            </a:endParaRPr>
          </a:p>
        </p:txBody>
      </p:sp>
      <p:sp>
        <p:nvSpPr>
          <p:cNvPr id="11" name="Rectangle 10"/>
          <p:cNvSpPr/>
          <p:nvPr/>
        </p:nvSpPr>
        <p:spPr>
          <a:xfrm>
            <a:off x="360045" y="3724910"/>
            <a:ext cx="5357495" cy="2327275"/>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2760" y="3827780"/>
            <a:ext cx="5231130" cy="2121535"/>
          </a:xfrm>
          <a:prstGeom prst="rect">
            <a:avLst/>
          </a:prstGeom>
          <a:noFill/>
        </p:spPr>
        <p:txBody>
          <a:bodyPr wrap="square">
            <a:noAutofit/>
          </a:bodyPr>
          <a:lstStyle/>
          <a:p>
            <a:pPr>
              <a:spcBef>
                <a:spcPts val="0"/>
              </a:spcBef>
            </a:pPr>
            <a:endParaRPr sz="1200"/>
          </a:p>
          <a:p>
            <a:pPr algn="l">
              <a:spcBef>
                <a:spcPts val="600"/>
              </a:spcBef>
            </a:pPr>
            <a:r>
              <a:rPr lang="en-US" altLang="en-US" sz="1200" b="0" i="0">
                <a:solidFill>
                  <a:srgbClr val="1A1A2E"/>
                </a:solidFill>
                <a:latin typeface="Calibri"/>
              </a:rPr>
              <a:t>•	Stablecoin issuance → mechanical T-bill acquisition by issuers</a:t>
            </a:r>
            <a:br>
              <a:rPr lang="en-US" altLang="en-US" sz="1200" b="0" i="0">
                <a:solidFill>
                  <a:srgbClr val="1A1A2E"/>
                </a:solidFill>
                <a:latin typeface="Calibri"/>
              </a:rPr>
            </a:br>
            <a:endParaRPr lang="en-US" altLang="en-US" sz="1200" b="0" i="0">
              <a:solidFill>
                <a:srgbClr val="1A1A2E"/>
              </a:solidFill>
              <a:latin typeface="Calibri"/>
            </a:endParaRPr>
          </a:p>
          <a:p>
            <a:pPr algn="l">
              <a:spcBef>
                <a:spcPts val="600"/>
              </a:spcBef>
            </a:pPr>
            <a:r>
              <a:rPr lang="en-US" altLang="en-US" sz="1200" b="0" i="0">
                <a:solidFill>
                  <a:srgbClr val="1A1A2E"/>
                </a:solidFill>
                <a:latin typeface="Calibri"/>
              </a:rPr>
              <a:t>•	Structural increase in safe-asset demand for US Treasuries</a:t>
            </a:r>
            <a:br>
              <a:rPr lang="en-US" altLang="en-US" sz="1200" b="0" i="0">
                <a:solidFill>
                  <a:srgbClr val="1A1A2E"/>
                </a:solidFill>
                <a:latin typeface="Calibri"/>
              </a:rPr>
            </a:br>
            <a:br>
              <a:rPr lang="en-US" altLang="en-US" sz="1200" b="0" i="0">
                <a:solidFill>
                  <a:srgbClr val="1A1A2E"/>
                </a:solidFill>
                <a:latin typeface="Calibri"/>
              </a:rPr>
            </a:br>
            <a:r>
              <a:rPr lang="en-US" altLang="en-US" sz="1200" b="0" i="0">
                <a:solidFill>
                  <a:srgbClr val="1A1A2E"/>
                </a:solidFill>
                <a:latin typeface="Calibri"/>
              </a:rPr>
              <a:t>•	OIS–Treasury spread compression: yield falls below SOFR baseline</a:t>
            </a:r>
            <a:br>
              <a:rPr lang="en-US" altLang="en-US" sz="1200" b="0" i="0">
                <a:solidFill>
                  <a:srgbClr val="1A1A2E"/>
                </a:solidFill>
                <a:latin typeface="Calibri"/>
              </a:rPr>
            </a:br>
            <a:endParaRPr lang="en-US" altLang="en-US" sz="1200" b="0" i="0">
              <a:solidFill>
                <a:srgbClr val="1A1A2E"/>
              </a:solidFill>
              <a:latin typeface="Calibri"/>
            </a:endParaRPr>
          </a:p>
          <a:p>
            <a:pPr algn="l">
              <a:spcBef>
                <a:spcPts val="600"/>
              </a:spcBef>
            </a:pPr>
            <a:r>
              <a:rPr lang="en-US" altLang="en-US" sz="1200" b="0" i="0">
                <a:solidFill>
                  <a:srgbClr val="1A1A2E"/>
                </a:solidFill>
                <a:latin typeface="Calibri"/>
              </a:rPr>
              <a:t>•	Exorbitant privilege amplified via private intermediation channel</a:t>
            </a:r>
            <a:endParaRPr lang="en-US" altLang="en-US" sz="1200" b="0" i="0">
              <a:solidFill>
                <a:srgbClr val="1A1A2E"/>
              </a:solidFill>
              <a:latin typeface="Calibri"/>
            </a:endParaRPr>
          </a:p>
        </p:txBody>
      </p:sp>
      <p:sp>
        <p:nvSpPr>
          <p:cNvPr id="13" name="Rectangle 12"/>
          <p:cNvSpPr/>
          <p:nvPr/>
        </p:nvSpPr>
        <p:spPr>
          <a:xfrm>
            <a:off x="6263005" y="3336290"/>
            <a:ext cx="5624195" cy="384175"/>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6510" y="3375025"/>
            <a:ext cx="5532755" cy="306705"/>
          </a:xfrm>
          <a:prstGeom prst="rect">
            <a:avLst/>
          </a:prstGeom>
          <a:noFill/>
        </p:spPr>
        <p:txBody>
          <a:bodyPr wrap="square">
            <a:spAutoFit/>
          </a:bodyPr>
          <a:lstStyle/>
          <a:p>
            <a:pPr algn="ctr"/>
            <a:r>
              <a:rPr sz="1400" b="1" i="0">
                <a:solidFill>
                  <a:srgbClr val="FFFFFF"/>
                </a:solidFill>
                <a:latin typeface="Calibri"/>
              </a:rPr>
              <a:t>Run scenario ❌</a:t>
            </a:r>
            <a:endParaRPr sz="1400" b="1" i="0">
              <a:solidFill>
                <a:srgbClr val="FFFFFF"/>
              </a:solidFill>
              <a:latin typeface="Calibri"/>
            </a:endParaRPr>
          </a:p>
        </p:txBody>
      </p:sp>
      <p:sp>
        <p:nvSpPr>
          <p:cNvPr id="15" name="Rectangle 14"/>
          <p:cNvSpPr/>
          <p:nvPr/>
        </p:nvSpPr>
        <p:spPr>
          <a:xfrm>
            <a:off x="6274435" y="3711575"/>
            <a:ext cx="5657215" cy="234061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5875" y="3937635"/>
            <a:ext cx="5429885" cy="2011680"/>
          </a:xfrm>
          <a:prstGeom prst="rect">
            <a:avLst/>
          </a:prstGeom>
          <a:noFill/>
        </p:spPr>
        <p:txBody>
          <a:bodyPr wrap="square">
            <a:noAutofit/>
          </a:bodyPr>
          <a:lstStyle/>
          <a:p>
            <a:pPr>
              <a:spcBef>
                <a:spcPts val="0"/>
              </a:spcBef>
            </a:pPr>
            <a:r>
              <a:rPr lang="en-US" altLang="en-US" sz="1300" b="0" i="0">
                <a:solidFill>
                  <a:srgbClr val="1A1A2E"/>
                </a:solidFill>
                <a:latin typeface="Calibri"/>
              </a:rPr>
              <a:t>•       Redemption shock → programmatic T-bill liquidation</a:t>
            </a:r>
            <a:br>
              <a:rPr lang="en-US" altLang="en-US" sz="1300" b="0" i="0">
                <a:solidFill>
                  <a:srgbClr val="1A1A2E"/>
                </a:solidFill>
                <a:latin typeface="Calibri"/>
              </a:rPr>
            </a:br>
            <a:endParaRPr lang="en-US" altLang="en-US" sz="1300" b="0" i="0">
              <a:solidFill>
                <a:srgbClr val="1A1A2E"/>
              </a:solidFill>
              <a:latin typeface="Calibri"/>
            </a:endParaRPr>
          </a:p>
          <a:p>
            <a:pPr>
              <a:spcBef>
                <a:spcPts val="0"/>
              </a:spcBef>
            </a:pPr>
            <a:r>
              <a:rPr lang="en-US" altLang="en-US" sz="1300" b="0" i="0">
                <a:solidFill>
                  <a:srgbClr val="1A1A2E"/>
                </a:solidFill>
                <a:latin typeface="Calibri"/>
              </a:rPr>
              <a:t>•       Treasury yields spike above OIS — spread reversal</a:t>
            </a:r>
            <a:br>
              <a:rPr lang="en-US" altLang="en-US" sz="1300" b="0" i="0">
                <a:solidFill>
                  <a:srgbClr val="1A1A2E"/>
                </a:solidFill>
                <a:latin typeface="Calibri"/>
              </a:rPr>
            </a:br>
            <a:endParaRPr lang="en-US" altLang="en-US" sz="1300" b="0" i="0">
              <a:solidFill>
                <a:srgbClr val="1A1A2E"/>
              </a:solidFill>
              <a:latin typeface="Calibri"/>
            </a:endParaRPr>
          </a:p>
          <a:p>
            <a:pPr>
              <a:spcBef>
                <a:spcPts val="0"/>
              </a:spcBef>
            </a:pPr>
            <a:r>
              <a:rPr lang="en-US" altLang="en-US" sz="1300" b="0" i="0">
                <a:solidFill>
                  <a:srgbClr val="1A1A2E"/>
                </a:solidFill>
                <a:latin typeface="Calibri"/>
              </a:rPr>
              <a:t>•       Sovereign-linked liquidity shock transmitted to debt markets</a:t>
            </a:r>
            <a:br>
              <a:rPr lang="en-US" altLang="en-US" sz="1300" b="0" i="0">
                <a:solidFill>
                  <a:srgbClr val="1A1A2E"/>
                </a:solidFill>
                <a:latin typeface="Calibri"/>
              </a:rPr>
            </a:br>
            <a:endParaRPr lang="en-US" altLang="en-US" sz="1300" b="0" i="0">
              <a:solidFill>
                <a:srgbClr val="1A1A2E"/>
              </a:solidFill>
              <a:latin typeface="Calibri"/>
            </a:endParaRPr>
          </a:p>
          <a:p>
            <a:pPr>
              <a:spcBef>
                <a:spcPts val="0"/>
              </a:spcBef>
            </a:pPr>
            <a:r>
              <a:rPr lang="en-US" altLang="en-US" sz="1300" b="0" i="0">
                <a:solidFill>
                  <a:srgbClr val="1A1A2E"/>
                </a:solidFill>
                <a:latin typeface="Calibri"/>
              </a:rPr>
              <a:t>•       Self-fulfilling dynamic: fear validates liquidation, crisis propagates</a:t>
            </a:r>
            <a:endParaRPr lang="en-US" altLang="en-US" sz="1300" b="0" i="0">
              <a:solidFill>
                <a:srgbClr val="1A1A2E"/>
              </a:solidFill>
              <a:latin typeface="Calibri"/>
            </a:endParaRPr>
          </a:p>
        </p:txBody>
      </p:sp>
      <p:sp>
        <p:nvSpPr>
          <p:cNvPr id="23" name="TextBox 22"/>
          <p:cNvSpPr txBox="1"/>
          <p:nvPr/>
        </p:nvSpPr>
        <p:spPr>
          <a:xfrm>
            <a:off x="11064240" y="206829"/>
            <a:ext cx="942703" cy="369332"/>
          </a:xfrm>
          <a:prstGeom prst="rect">
            <a:avLst/>
          </a:prstGeom>
          <a:noFill/>
        </p:spPr>
        <p:txBody>
          <a:bodyPr wrap="square" rtlCol="0">
            <a:spAutoFit/>
          </a:bodyPr>
          <a:lstStyle/>
          <a:p>
            <a:r>
              <a:rPr kumimoji="1" lang="en-US" altLang="ko-KR" dirty="0">
                <a:solidFill>
                  <a:schemeClr val="bg1"/>
                </a:solidFill>
              </a:rPr>
              <a:t>Oybek</a:t>
            </a:r>
            <a:endParaRPr kumimoji="1" lang="ko-KR" altLang="en-US" dirty="0">
              <a:solidFill>
                <a:schemeClr val="bg1"/>
              </a:solidFill>
            </a:endParaRPr>
          </a:p>
        </p:txBody>
      </p:sp>
      <p:sp>
        <p:nvSpPr>
          <p:cNvPr id="24" name="TextBox 7"/>
          <p:cNvSpPr txBox="1"/>
          <p:nvPr/>
        </p:nvSpPr>
        <p:spPr>
          <a:xfrm>
            <a:off x="358140" y="1019809"/>
            <a:ext cx="11430000" cy="352425"/>
          </a:xfrm>
          <a:prstGeom prst="rect">
            <a:avLst/>
          </a:prstGeom>
          <a:noFill/>
        </p:spPr>
        <p:txBody>
          <a:bodyPr wrap="square">
            <a:spAutoFit/>
          </a:bodyPr>
          <a:lstStyle/>
          <a:p>
            <a:pPr algn="l"/>
            <a:r>
              <a:rPr lang="en-US" sz="1700" b="1" i="0">
                <a:solidFill>
                  <a:srgbClr val="1B3A72"/>
                </a:solidFill>
                <a:latin typeface="Calibri"/>
              </a:rPr>
              <a:t>Triffin Dilemma (1960)</a:t>
            </a:r>
            <a:endParaRPr lang="en-US" sz="1700" b="1" i="0">
              <a:solidFill>
                <a:srgbClr val="1B3A72"/>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135"/>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The New Triffin Dilemma</a:t>
            </a:r>
            <a:endParaRPr sz="2600" b="0" i="0">
              <a:solidFill>
                <a:srgbClr val="FFFFFF"/>
              </a:solidFill>
              <a:latin typeface="Calibri"/>
            </a:endParaRP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4</a:t>
            </a:r>
            <a:endParaRPr sz="1300" b="0" i="0">
              <a:solidFill>
                <a:srgbClr val="555566"/>
              </a:solidFill>
              <a:latin typeface="Calibri"/>
            </a:endParaRPr>
          </a:p>
        </p:txBody>
      </p:sp>
      <p:sp>
        <p:nvSpPr>
          <p:cNvPr id="6" name="Rectangle 5"/>
          <p:cNvSpPr/>
          <p:nvPr/>
        </p:nvSpPr>
        <p:spPr>
          <a:xfrm>
            <a:off x="365760" y="960120"/>
            <a:ext cx="11430000" cy="7772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05840"/>
            <a:ext cx="11155680" cy="737235"/>
          </a:xfrm>
          <a:prstGeom prst="rect">
            <a:avLst/>
          </a:prstGeom>
          <a:noFill/>
        </p:spPr>
        <p:txBody>
          <a:bodyPr wrap="square">
            <a:spAutoFit/>
          </a:bodyPr>
          <a:lstStyle/>
          <a:p>
            <a:pPr algn="l">
              <a:spcBef>
                <a:spcPts val="0"/>
              </a:spcBef>
            </a:pPr>
            <a:r>
              <a:rPr lang="en-US" altLang="en-US" sz="1400" i="1">
                <a:solidFill>
                  <a:srgbClr val="1A1A2E"/>
                </a:solidFill>
                <a:latin typeface="Calibri"/>
                <a:sym typeface="+mn-ea"/>
              </a:rPr>
              <a:t> Triffin (1960): A reserve currency country must supply sufficient safe assets to meet global demand — but this requires running structural current account deficits that progressively undermine confidence in the currency itself. The system depends on the very condition that makes it unsustainable.</a:t>
            </a:r>
            <a:endParaRPr sz="1400" i="1">
              <a:solidFill>
                <a:srgbClr val="1A1A2E"/>
              </a:solidFill>
              <a:latin typeface="Calibri"/>
            </a:endParaRPr>
          </a:p>
        </p:txBody>
      </p:sp>
      <p:sp>
        <p:nvSpPr>
          <p:cNvPr id="8" name="TextBox 7"/>
          <p:cNvSpPr txBox="1"/>
          <p:nvPr/>
        </p:nvSpPr>
        <p:spPr>
          <a:xfrm>
            <a:off x="457200" y="1874519"/>
            <a:ext cx="11430000" cy="347472"/>
          </a:xfrm>
          <a:prstGeom prst="rect">
            <a:avLst/>
          </a:prstGeom>
          <a:noFill/>
        </p:spPr>
        <p:txBody>
          <a:bodyPr wrap="square">
            <a:spAutoFit/>
          </a:bodyPr>
          <a:lstStyle/>
          <a:p>
            <a:pPr algn="l"/>
            <a:r>
              <a:rPr sz="1700" b="1" i="0">
                <a:solidFill>
                  <a:srgbClr val="1B3A72"/>
                </a:solidFill>
                <a:latin typeface="Calibri"/>
              </a:rPr>
              <a:t>Our analogue for stablecoin issuers:</a:t>
            </a:r>
            <a:endParaRPr sz="1700" b="1" i="0">
              <a:solidFill>
                <a:srgbClr val="1B3A72"/>
              </a:solidFill>
              <a:latin typeface="Calibri"/>
            </a:endParaRPr>
          </a:p>
        </p:txBody>
      </p:sp>
      <p:sp>
        <p:nvSpPr>
          <p:cNvPr id="9" name="Rectangle 8"/>
          <p:cNvSpPr/>
          <p:nvPr/>
        </p:nvSpPr>
        <p:spPr>
          <a:xfrm>
            <a:off x="360045" y="2286000"/>
            <a:ext cx="5363845" cy="384175"/>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313305"/>
            <a:ext cx="5078730" cy="306705"/>
          </a:xfrm>
          <a:prstGeom prst="rect">
            <a:avLst/>
          </a:prstGeom>
          <a:noFill/>
        </p:spPr>
        <p:txBody>
          <a:bodyPr wrap="square">
            <a:spAutoFit/>
          </a:bodyPr>
          <a:lstStyle/>
          <a:p>
            <a:pPr algn="ctr"/>
            <a:r>
              <a:rPr sz="1400" b="1" i="0">
                <a:solidFill>
                  <a:srgbClr val="FFFFFF"/>
                </a:solidFill>
                <a:latin typeface="Calibri"/>
              </a:rPr>
              <a:t>Normal times ✅</a:t>
            </a:r>
            <a:endParaRPr sz="1400" b="1" i="0">
              <a:solidFill>
                <a:srgbClr val="FFFFFF"/>
              </a:solidFill>
              <a:latin typeface="Calibri"/>
            </a:endParaRPr>
          </a:p>
        </p:txBody>
      </p:sp>
      <p:sp>
        <p:nvSpPr>
          <p:cNvPr id="11" name="Rectangle 10"/>
          <p:cNvSpPr/>
          <p:nvPr/>
        </p:nvSpPr>
        <p:spPr>
          <a:xfrm>
            <a:off x="365760" y="2674620"/>
            <a:ext cx="5357495" cy="942975"/>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7040" y="2724785"/>
            <a:ext cx="5231130" cy="858520"/>
          </a:xfrm>
          <a:prstGeom prst="rect">
            <a:avLst/>
          </a:prstGeom>
          <a:noFill/>
        </p:spPr>
        <p:txBody>
          <a:bodyPr wrap="square">
            <a:noAutofit/>
          </a:bodyPr>
          <a:lstStyle/>
          <a:p>
            <a:pPr>
              <a:spcBef>
                <a:spcPts val="0"/>
              </a:spcBef>
            </a:pPr>
            <a:r>
              <a:rPr lang="en-US" altLang="en-US" sz="1200" b="0" i="0">
                <a:solidFill>
                  <a:srgbClr val="1A1A2E"/>
                </a:solidFill>
                <a:latin typeface="Calibri"/>
              </a:rPr>
              <a:t>•	Stablecoin issuance → mechanical T-bill acquisition by issuers</a:t>
            </a:r>
            <a:br>
              <a:rPr lang="en-US" altLang="en-US" sz="1200" b="0" i="0">
                <a:solidFill>
                  <a:srgbClr val="1A1A2E"/>
                </a:solidFill>
                <a:latin typeface="Calibri"/>
              </a:rPr>
            </a:br>
            <a:r>
              <a:rPr lang="en-US" altLang="en-US" sz="1200" b="0" i="0">
                <a:solidFill>
                  <a:srgbClr val="1A1A2E"/>
                </a:solidFill>
                <a:latin typeface="Calibri"/>
              </a:rPr>
              <a:t>•	Structural increase in safe-asset demand for US Treasuries</a:t>
            </a:r>
            <a:br>
              <a:rPr lang="en-US" altLang="en-US" sz="1200" b="0" i="0">
                <a:solidFill>
                  <a:srgbClr val="1A1A2E"/>
                </a:solidFill>
                <a:latin typeface="Calibri"/>
              </a:rPr>
            </a:br>
            <a:r>
              <a:rPr lang="en-US" altLang="en-US" sz="1200" b="0" i="0">
                <a:solidFill>
                  <a:srgbClr val="1A1A2E"/>
                </a:solidFill>
                <a:latin typeface="Calibri"/>
              </a:rPr>
              <a:t>•	OIS–Treasury spread compression: yield falls below SOFR baseline</a:t>
            </a:r>
            <a:br>
              <a:rPr lang="en-US" altLang="en-US" sz="1200" b="0" i="0">
                <a:solidFill>
                  <a:srgbClr val="1A1A2E"/>
                </a:solidFill>
                <a:latin typeface="Calibri"/>
              </a:rPr>
            </a:br>
            <a:r>
              <a:rPr lang="en-US" altLang="en-US" sz="1200" b="0" i="0">
                <a:solidFill>
                  <a:srgbClr val="1A1A2E"/>
                </a:solidFill>
                <a:latin typeface="Calibri"/>
              </a:rPr>
              <a:t>•	Exorbitant privilege amplified via private intermediation channel</a:t>
            </a:r>
            <a:endParaRPr lang="en-US" altLang="en-US" sz="1200" b="0" i="0">
              <a:solidFill>
                <a:srgbClr val="1A1A2E"/>
              </a:solidFill>
              <a:latin typeface="Calibri"/>
            </a:endParaRPr>
          </a:p>
        </p:txBody>
      </p:sp>
      <p:sp>
        <p:nvSpPr>
          <p:cNvPr id="13" name="Rectangle 12"/>
          <p:cNvSpPr/>
          <p:nvPr/>
        </p:nvSpPr>
        <p:spPr>
          <a:xfrm>
            <a:off x="6274435" y="2265680"/>
            <a:ext cx="5624195" cy="384175"/>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4435" y="2288540"/>
            <a:ext cx="5624830" cy="306705"/>
          </a:xfrm>
          <a:prstGeom prst="rect">
            <a:avLst/>
          </a:prstGeom>
          <a:noFill/>
        </p:spPr>
        <p:txBody>
          <a:bodyPr wrap="square">
            <a:spAutoFit/>
          </a:bodyPr>
          <a:lstStyle/>
          <a:p>
            <a:pPr algn="ctr"/>
            <a:r>
              <a:rPr sz="1400" b="1" i="0">
                <a:solidFill>
                  <a:srgbClr val="FFFFFF"/>
                </a:solidFill>
                <a:latin typeface="Calibri"/>
              </a:rPr>
              <a:t>Run scenario ❌</a:t>
            </a:r>
            <a:endParaRPr sz="1400" b="1" i="0">
              <a:solidFill>
                <a:srgbClr val="FFFFFF"/>
              </a:solidFill>
              <a:latin typeface="Calibri"/>
            </a:endParaRPr>
          </a:p>
        </p:txBody>
      </p:sp>
      <p:sp>
        <p:nvSpPr>
          <p:cNvPr id="15" name="Rectangle 14"/>
          <p:cNvSpPr/>
          <p:nvPr/>
        </p:nvSpPr>
        <p:spPr>
          <a:xfrm>
            <a:off x="6274435" y="2654935"/>
            <a:ext cx="5657215" cy="96266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5875" y="2724785"/>
            <a:ext cx="5429885" cy="920115"/>
          </a:xfrm>
          <a:prstGeom prst="rect">
            <a:avLst/>
          </a:prstGeom>
          <a:noFill/>
        </p:spPr>
        <p:txBody>
          <a:bodyPr wrap="square">
            <a:noAutofit/>
          </a:bodyPr>
          <a:lstStyle/>
          <a:p>
            <a:pPr>
              <a:spcBef>
                <a:spcPts val="0"/>
              </a:spcBef>
            </a:pPr>
            <a:r>
              <a:rPr lang="en-US" altLang="en-US" sz="1300" b="0" i="0">
                <a:solidFill>
                  <a:srgbClr val="1A1A2E"/>
                </a:solidFill>
                <a:latin typeface="Calibri"/>
              </a:rPr>
              <a:t>•       Redemption shock → programmatic T-bill liquidation</a:t>
            </a:r>
            <a:endParaRPr lang="en-US" altLang="en-US" sz="1300" b="0" i="0">
              <a:solidFill>
                <a:srgbClr val="1A1A2E"/>
              </a:solidFill>
              <a:latin typeface="Calibri"/>
            </a:endParaRPr>
          </a:p>
          <a:p>
            <a:pPr>
              <a:spcBef>
                <a:spcPts val="0"/>
              </a:spcBef>
            </a:pPr>
            <a:r>
              <a:rPr lang="en-US" altLang="en-US" sz="1300" b="0" i="0">
                <a:solidFill>
                  <a:srgbClr val="1A1A2E"/>
                </a:solidFill>
                <a:latin typeface="Calibri"/>
              </a:rPr>
              <a:t>•       Treasury yields spike above OIS — spread reversal</a:t>
            </a:r>
            <a:endParaRPr lang="en-US" altLang="en-US" sz="1300" b="0" i="0">
              <a:solidFill>
                <a:srgbClr val="1A1A2E"/>
              </a:solidFill>
              <a:latin typeface="Calibri"/>
            </a:endParaRPr>
          </a:p>
          <a:p>
            <a:pPr>
              <a:spcBef>
                <a:spcPts val="0"/>
              </a:spcBef>
            </a:pPr>
            <a:r>
              <a:rPr lang="en-US" altLang="en-US" sz="1300" b="0" i="0">
                <a:solidFill>
                  <a:srgbClr val="1A1A2E"/>
                </a:solidFill>
                <a:latin typeface="Calibri"/>
              </a:rPr>
              <a:t>•       Sovereign-linked liquidity shock transmitted to debt markets</a:t>
            </a:r>
            <a:endParaRPr lang="en-US" altLang="en-US" sz="1300" b="0" i="0">
              <a:solidFill>
                <a:srgbClr val="1A1A2E"/>
              </a:solidFill>
              <a:latin typeface="Calibri"/>
            </a:endParaRPr>
          </a:p>
          <a:p>
            <a:pPr>
              <a:spcBef>
                <a:spcPts val="0"/>
              </a:spcBef>
            </a:pPr>
            <a:r>
              <a:rPr lang="en-US" altLang="en-US" sz="1300" b="0" i="0">
                <a:solidFill>
                  <a:srgbClr val="1A1A2E"/>
                </a:solidFill>
                <a:latin typeface="Calibri"/>
              </a:rPr>
              <a:t>•       Self-fulfilling dynamic: fear validates liquidation, crisis propagates</a:t>
            </a:r>
            <a:endParaRPr lang="en-US" altLang="en-US" sz="1300" b="0" i="0">
              <a:solidFill>
                <a:srgbClr val="1A1A2E"/>
              </a:solidFill>
              <a:latin typeface="Calibri"/>
            </a:endParaRPr>
          </a:p>
        </p:txBody>
      </p:sp>
      <p:sp>
        <p:nvSpPr>
          <p:cNvPr id="21" name="Rectangle 20"/>
          <p:cNvSpPr/>
          <p:nvPr/>
        </p:nvSpPr>
        <p:spPr>
          <a:xfrm>
            <a:off x="0" y="5910580"/>
            <a:ext cx="12188825" cy="782955"/>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105525"/>
            <a:ext cx="11274552" cy="368300"/>
          </a:xfrm>
          <a:prstGeom prst="rect">
            <a:avLst/>
          </a:prstGeom>
          <a:noFill/>
        </p:spPr>
        <p:txBody>
          <a:bodyPr wrap="square">
            <a:spAutoFit/>
          </a:bodyPr>
          <a:lstStyle/>
          <a:p>
            <a:pPr algn="ctr"/>
            <a:r>
              <a:rPr lang="en-US" sz="1800" b="1" i="0">
                <a:solidFill>
                  <a:srgbClr val="FFFFFF"/>
                </a:solidFill>
                <a:latin typeface="Calibri"/>
              </a:rPr>
              <a:t>In o</a:t>
            </a:r>
            <a:r>
              <a:rPr sz="1800" b="1" i="0">
                <a:solidFill>
                  <a:srgbClr val="FFFFFF"/>
                </a:solidFill>
                <a:latin typeface="Calibri"/>
              </a:rPr>
              <a:t>ur paper: </a:t>
            </a:r>
            <a:r>
              <a:rPr lang="en-US" altLang="en-US" sz="1800" b="1" i="0">
                <a:solidFill>
                  <a:srgbClr val="FFFFFF"/>
                </a:solidFill>
                <a:latin typeface="Calibri"/>
              </a:rPr>
              <a:t>We separate θ (why stablecoins help the US) from L (what prevents a crisis)</a:t>
            </a:r>
            <a:endParaRPr lang="en-US" altLang="en-US" sz="1800" b="1" i="0">
              <a:solidFill>
                <a:srgbClr val="FFFFFF"/>
              </a:solidFill>
              <a:latin typeface="Calibri"/>
            </a:endParaRPr>
          </a:p>
        </p:txBody>
      </p:sp>
      <p:sp>
        <p:nvSpPr>
          <p:cNvPr id="23" name="TextBox 22"/>
          <p:cNvSpPr txBox="1"/>
          <p:nvPr/>
        </p:nvSpPr>
        <p:spPr>
          <a:xfrm>
            <a:off x="11064240" y="206829"/>
            <a:ext cx="942703" cy="369332"/>
          </a:xfrm>
          <a:prstGeom prst="rect">
            <a:avLst/>
          </a:prstGeom>
          <a:noFill/>
        </p:spPr>
        <p:txBody>
          <a:bodyPr wrap="square" rtlCol="0">
            <a:spAutoFit/>
          </a:bodyPr>
          <a:lstStyle/>
          <a:p>
            <a:r>
              <a:rPr kumimoji="1" lang="en-US" altLang="ko-KR" dirty="0">
                <a:solidFill>
                  <a:schemeClr val="bg1"/>
                </a:solidFill>
              </a:rPr>
              <a:t>Oybek</a:t>
            </a:r>
            <a:endParaRPr kumimoji="1" lang="ko-KR" altLang="en-US" dirty="0">
              <a:solidFill>
                <a:schemeClr val="bg1"/>
              </a:solidFill>
            </a:endParaRPr>
          </a:p>
        </p:txBody>
      </p:sp>
      <p:sp>
        <p:nvSpPr>
          <p:cNvPr id="19" name="Rectangle 18"/>
          <p:cNvSpPr/>
          <p:nvPr/>
        </p:nvSpPr>
        <p:spPr>
          <a:xfrm>
            <a:off x="2397125" y="4177030"/>
            <a:ext cx="6426200" cy="1598930"/>
          </a:xfrm>
          <a:prstGeom prst="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396490" y="3775710"/>
            <a:ext cx="6426835" cy="384175"/>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55545" y="3830320"/>
            <a:ext cx="6411595" cy="306705"/>
          </a:xfrm>
          <a:prstGeom prst="rect">
            <a:avLst/>
          </a:prstGeom>
          <a:noFill/>
        </p:spPr>
        <p:txBody>
          <a:bodyPr wrap="square">
            <a:spAutoFit/>
          </a:bodyPr>
          <a:lstStyle/>
          <a:p>
            <a:pPr algn="ctr"/>
            <a:r>
              <a:rPr sz="1400" b="1" i="0">
                <a:solidFill>
                  <a:srgbClr val="FFFFFF"/>
                </a:solidFill>
                <a:latin typeface="Calibri"/>
              </a:rPr>
              <a:t>What determines outcome</a:t>
            </a:r>
            <a:endParaRPr sz="1400" b="1" i="0">
              <a:solidFill>
                <a:srgbClr val="FFFFFF"/>
              </a:solidFill>
              <a:latin typeface="Calibri"/>
            </a:endParaRPr>
          </a:p>
        </p:txBody>
      </p:sp>
      <p:sp>
        <p:nvSpPr>
          <p:cNvPr id="25" name="TextBox 19"/>
          <p:cNvSpPr txBox="1"/>
          <p:nvPr/>
        </p:nvSpPr>
        <p:spPr>
          <a:xfrm>
            <a:off x="2455545" y="4208780"/>
            <a:ext cx="6078855" cy="1503045"/>
          </a:xfrm>
          <a:prstGeom prst="rect">
            <a:avLst/>
          </a:prstGeom>
          <a:noFill/>
        </p:spPr>
        <p:txBody>
          <a:bodyPr wrap="square">
            <a:noAutofit/>
          </a:bodyPr>
          <a:lstStyle/>
          <a:p>
            <a:pPr>
              <a:spcBef>
                <a:spcPts val="0"/>
              </a:spcBef>
            </a:pPr>
            <a:r>
              <a:rPr lang="en-US" altLang="en-US" sz="1300" b="0" i="0">
                <a:solidFill>
                  <a:srgbClr val="1A1A2E"/>
                </a:solidFill>
                <a:latin typeface="Calibri"/>
              </a:rPr>
              <a:t>	•	θ = Treasury holdings / Supply → structural demand channel</a:t>
            </a:r>
            <a:br>
              <a:rPr lang="en-US" altLang="en-US" sz="1300" b="0" i="0">
                <a:solidFill>
                  <a:srgbClr val="1A1A2E"/>
                </a:solidFill>
                <a:latin typeface="Calibri"/>
              </a:rPr>
            </a:br>
            <a:endParaRPr lang="en-US" altLang="en-US" sz="1300" b="0" i="0">
              <a:solidFill>
                <a:srgbClr val="1A1A2E"/>
              </a:solidFill>
              <a:latin typeface="Calibri"/>
            </a:endParaRPr>
          </a:p>
          <a:p>
            <a:pPr>
              <a:spcBef>
                <a:spcPts val="0"/>
              </a:spcBef>
            </a:pPr>
            <a:r>
              <a:rPr lang="en-US" altLang="en-US" sz="1300" b="0" i="0">
                <a:solidFill>
                  <a:srgbClr val="1A1A2E"/>
                </a:solidFill>
                <a:latin typeface="Calibri"/>
              </a:rPr>
              <a:t>	•	L = Liquid reserves / Supply → crisis absorption capacity</a:t>
            </a:r>
            <a:br>
              <a:rPr lang="en-US" altLang="en-US" sz="1300" b="0" i="0">
                <a:solidFill>
                  <a:srgbClr val="1A1A2E"/>
                </a:solidFill>
                <a:latin typeface="Calibri"/>
              </a:rPr>
            </a:br>
            <a:br>
              <a:rPr lang="en-US" altLang="en-US" sz="1300" b="0" i="0">
                <a:solidFill>
                  <a:srgbClr val="1A1A2E"/>
                </a:solidFill>
                <a:latin typeface="Calibri"/>
              </a:rPr>
            </a:br>
            <a:r>
              <a:rPr lang="en-US" altLang="en-US" sz="1300" b="0" i="0">
                <a:solidFill>
                  <a:srgbClr val="1A1A2E"/>
                </a:solidFill>
                <a:latin typeface="Calibri"/>
              </a:rPr>
              <a:t>	•	L ≥ L* → redemptions absorbed internally, no market spillover</a:t>
            </a:r>
            <a:br>
              <a:rPr lang="en-US" altLang="en-US" sz="1300" b="0" i="0">
                <a:solidFill>
                  <a:srgbClr val="1A1A2E"/>
                </a:solidFill>
                <a:latin typeface="Calibri"/>
              </a:rPr>
            </a:br>
            <a:endParaRPr lang="en-US" altLang="en-US" sz="1300" b="0" i="0">
              <a:solidFill>
                <a:srgbClr val="1A1A2E"/>
              </a:solidFill>
              <a:latin typeface="Calibri"/>
            </a:endParaRPr>
          </a:p>
          <a:p>
            <a:pPr>
              <a:spcBef>
                <a:spcPts val="0"/>
              </a:spcBef>
            </a:pPr>
            <a:r>
              <a:rPr lang="en-US" altLang="en-US" sz="1300" b="0" i="0">
                <a:solidFill>
                  <a:srgbClr val="1A1A2E"/>
                </a:solidFill>
                <a:latin typeface="Calibri"/>
              </a:rPr>
              <a:t>	•	L &lt; L* → forced liquidation, sovereign spread disruption</a:t>
            </a:r>
            <a:endParaRPr lang="en-US" altLang="en-US" sz="1300" b="0" i="0">
              <a:solidFill>
                <a:srgbClr val="1A1A2E"/>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Theoretical Extension: Maggiori (2017)</a:t>
            </a:r>
            <a:endParaRPr sz="2600" b="0" i="0">
              <a:solidFill>
                <a:srgbClr val="FFFFFF"/>
              </a:solidFill>
              <a:latin typeface="Calibri"/>
            </a:endParaRP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5</a:t>
            </a:r>
            <a:endParaRPr sz="1300" b="0" i="0">
              <a:solidFill>
                <a:srgbClr val="555566"/>
              </a:solidFill>
              <a:latin typeface="Calibri"/>
            </a:endParaRPr>
          </a:p>
        </p:txBody>
      </p:sp>
      <p:sp>
        <p:nvSpPr>
          <p:cNvPr id="6" name="Rectangle 5"/>
          <p:cNvSpPr/>
          <p:nvPr/>
        </p:nvSpPr>
        <p:spPr>
          <a:xfrm>
            <a:off x="365760" y="960120"/>
            <a:ext cx="5669280" cy="47548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8300" y="1024255"/>
            <a:ext cx="5666105" cy="3712845"/>
          </a:xfrm>
          <a:prstGeom prst="rect">
            <a:avLst/>
          </a:prstGeom>
          <a:noFill/>
        </p:spPr>
        <p:txBody>
          <a:bodyPr wrap="square">
            <a:spAutoFit/>
          </a:bodyPr>
          <a:lstStyle/>
          <a:p>
            <a:pPr>
              <a:spcBef>
                <a:spcPts val="0"/>
              </a:spcBef>
            </a:pPr>
          </a:p>
          <a:p>
            <a:pPr algn="l">
              <a:spcBef>
                <a:spcPts val="400"/>
              </a:spcBef>
            </a:pPr>
            <a:r>
              <a:rPr sz="1400" b="1" i="0">
                <a:solidFill>
                  <a:srgbClr val="1B3A72"/>
                </a:solidFill>
                <a:latin typeface="Calibri"/>
              </a:rPr>
              <a:t>Maggiori (2017) original:</a:t>
            </a:r>
            <a:endParaRPr sz="1400" b="1" i="0">
              <a:solidFill>
                <a:srgbClr val="1B3A72"/>
              </a:solidFill>
              <a:latin typeface="Calibri"/>
            </a:endParaRPr>
          </a:p>
          <a:p>
            <a:pPr algn="l">
              <a:spcBef>
                <a:spcPts val="400"/>
              </a:spcBef>
            </a:pPr>
            <a:r>
              <a:rPr sz="1300" b="0" i="0">
                <a:solidFill>
                  <a:srgbClr val="1A1A2E"/>
                </a:solidFill>
                <a:latin typeface="Calibri"/>
              </a:rPr>
              <a:t>Safe-asset demand driven by Ω* </a:t>
            </a:r>
            <a:r>
              <a:rPr lang="en-US" altLang="en-US" sz="1300" b="0" i="0">
                <a:solidFill>
                  <a:srgbClr val="1A1A2E"/>
                </a:solidFill>
                <a:latin typeface="Calibri"/>
              </a:rPr>
              <a:t>— the countercyclical marginal value of RoW financial net worth</a:t>
            </a:r>
            <a:r>
              <a:rPr sz="1300" b="0" i="0">
                <a:solidFill>
                  <a:srgbClr val="1A1A2E"/>
                </a:solidFill>
                <a:latin typeface="Calibri"/>
              </a:rPr>
              <a:t>.</a:t>
            </a:r>
            <a:endParaRPr sz="1300" b="0" i="0">
              <a:solidFill>
                <a:srgbClr val="1A1A2E"/>
              </a:solidFill>
              <a:latin typeface="Calibri"/>
            </a:endParaRPr>
          </a:p>
          <a:p>
            <a:pPr algn="l">
              <a:spcBef>
                <a:spcPts val="400"/>
              </a:spcBef>
            </a:pPr>
            <a:r>
              <a:rPr sz="800" b="0" i="0">
                <a:solidFill>
                  <a:srgbClr val="1A1A2E"/>
                </a:solidFill>
                <a:latin typeface="Calibri"/>
              </a:rPr>
              <a:t> </a:t>
            </a:r>
            <a:endParaRPr sz="800" b="0" i="0">
              <a:solidFill>
                <a:srgbClr val="1A1A2E"/>
              </a:solidFill>
              <a:latin typeface="Calibri"/>
            </a:endParaRPr>
          </a:p>
          <a:p>
            <a:pPr algn="l">
              <a:spcBef>
                <a:spcPts val="600"/>
              </a:spcBef>
            </a:pPr>
            <a:r>
              <a:rPr sz="1400" b="1" i="0">
                <a:solidFill>
                  <a:srgbClr val="1B3A72"/>
                </a:solidFill>
                <a:latin typeface="Calibri"/>
              </a:rPr>
              <a:t>Our extension add</a:t>
            </a:r>
            <a:r>
              <a:rPr lang="en-US" sz="1400" b="1" i="0">
                <a:solidFill>
                  <a:srgbClr val="1B3A72"/>
                </a:solidFill>
                <a:latin typeface="Calibri"/>
              </a:rPr>
              <a:t>s </a:t>
            </a:r>
            <a:r>
              <a:rPr sz="1400" b="1" i="0">
                <a:solidFill>
                  <a:srgbClr val="1B3A72"/>
                </a:solidFill>
                <a:latin typeface="Calibri"/>
              </a:rPr>
              <a:t>S, θ, and </a:t>
            </a:r>
            <a:r>
              <a:rPr sz="1400" b="1" i="0">
                <a:solidFill>
                  <a:srgbClr val="1B3A72"/>
                </a:solidFill>
                <a:latin typeface="Calibri"/>
              </a:rPr>
              <a:t>L:</a:t>
            </a:r>
            <a:endParaRPr sz="1400" b="1" i="0">
              <a:solidFill>
                <a:srgbClr val="1B3A72"/>
              </a:solidFill>
              <a:latin typeface="Calibri"/>
            </a:endParaRPr>
          </a:p>
          <a:p>
            <a:pPr algn="l">
              <a:spcBef>
                <a:spcPts val="400"/>
              </a:spcBef>
            </a:pPr>
            <a:r>
              <a:rPr sz="1300" b="0" i="1">
                <a:solidFill>
                  <a:srgbClr val="1A1A2E"/>
                </a:solidFill>
                <a:latin typeface="Calibri"/>
              </a:rPr>
              <a:t>D*(Ñ*, S, θ, L)  =  D*precautionary(Ñ*)  +  D*stablecoin(S, θ)  +  D*buffer(L)</a:t>
            </a:r>
            <a:endParaRPr sz="1300" b="0" i="1">
              <a:solidFill>
                <a:srgbClr val="1A1A2E"/>
              </a:solidFill>
              <a:latin typeface="Calibri"/>
            </a:endParaRPr>
          </a:p>
          <a:p>
            <a:pPr algn="l">
              <a:spcBef>
                <a:spcPts val="400"/>
              </a:spcBef>
            </a:pPr>
            <a:r>
              <a:rPr sz="800" b="0" i="0">
                <a:solidFill>
                  <a:srgbClr val="1A1A2E"/>
                </a:solidFill>
                <a:latin typeface="Calibri"/>
              </a:rPr>
              <a:t> </a:t>
            </a:r>
            <a:endParaRPr sz="800" b="0" i="0">
              <a:solidFill>
                <a:srgbClr val="1A1A2E"/>
              </a:solidFill>
              <a:latin typeface="Calibri"/>
            </a:endParaRPr>
          </a:p>
          <a:p>
            <a:pPr algn="l">
              <a:spcBef>
                <a:spcPts val="400"/>
              </a:spcBef>
            </a:pPr>
            <a:r>
              <a:rPr lang="en-US" altLang="en-US" sz="1400" b="1" i="0">
                <a:solidFill>
                  <a:srgbClr val="1B3A72"/>
                </a:solidFill>
                <a:latin typeface="Calibri"/>
              </a:rPr>
              <a:t>Safe-asset demand now has three components:</a:t>
            </a:r>
            <a:br>
              <a:rPr lang="en-US" altLang="en-US" sz="1400" b="1" i="0">
                <a:solidFill>
                  <a:srgbClr val="1B3A72"/>
                </a:solidFill>
                <a:latin typeface="Calibri"/>
              </a:rPr>
            </a:br>
            <a:br>
              <a:rPr lang="en-US" altLang="en-US" sz="1400" b="1" i="0">
                <a:solidFill>
                  <a:srgbClr val="1B3A72"/>
                </a:solidFill>
                <a:latin typeface="Calibri"/>
              </a:rPr>
            </a:br>
            <a:r>
              <a:rPr lang="en-US" altLang="en-US" sz="1300" b="0" i="0">
                <a:solidFill>
                  <a:schemeClr val="tx1"/>
                </a:solidFill>
                <a:latin typeface="Calibri"/>
              </a:rPr>
              <a:t>• D*precautionary — Maggiori’s original term, driven by global wealth</a:t>
            </a:r>
            <a:br>
              <a:rPr lang="en-US" altLang="en-US" sz="1300" b="0" i="0">
                <a:solidFill>
                  <a:schemeClr val="tx1"/>
                </a:solidFill>
                <a:latin typeface="Calibri"/>
              </a:rPr>
            </a:br>
            <a:br>
              <a:rPr lang="en-US" altLang="en-US" sz="1300" b="0" i="0">
                <a:solidFill>
                  <a:schemeClr val="tx1"/>
                </a:solidFill>
                <a:latin typeface="Calibri"/>
              </a:rPr>
            </a:br>
            <a:r>
              <a:rPr lang="en-US" altLang="en-US" sz="1300" b="0" i="0">
                <a:solidFill>
                  <a:schemeClr val="tx1"/>
                </a:solidFill>
                <a:latin typeface="Calibri"/>
              </a:rPr>
              <a:t>• D*stablecoin — new structural demand via mechanical T-bill acquisition</a:t>
            </a:r>
            <a:endParaRPr lang="en-US" altLang="en-US" sz="1300" b="0" i="0">
              <a:solidFill>
                <a:schemeClr val="tx1"/>
              </a:solidFill>
              <a:latin typeface="Calibri"/>
            </a:endParaRPr>
          </a:p>
          <a:p>
            <a:pPr algn="l">
              <a:spcBef>
                <a:spcPts val="400"/>
              </a:spcBef>
            </a:pPr>
            <a:br>
              <a:rPr lang="en-US" altLang="en-US" sz="1300" b="0" i="0">
                <a:solidFill>
                  <a:schemeClr val="tx1"/>
                </a:solidFill>
                <a:latin typeface="Calibri"/>
              </a:rPr>
            </a:br>
            <a:r>
              <a:rPr lang="en-US" altLang="en-US" sz="1300" b="0" i="0">
                <a:solidFill>
                  <a:schemeClr val="tx1"/>
                </a:solidFill>
                <a:latin typeface="Calibri"/>
              </a:rPr>
              <a:t>• D*buffer — additional demand from excess reserve holdings above minimum</a:t>
            </a:r>
            <a:endParaRPr lang="en-US" altLang="en-US" sz="1300" b="0" i="0">
              <a:solidFill>
                <a:schemeClr val="tx1"/>
              </a:solidFill>
              <a:latin typeface="Calibri"/>
            </a:endParaRPr>
          </a:p>
        </p:txBody>
      </p:sp>
      <p:sp>
        <p:nvSpPr>
          <p:cNvPr id="8" name="Rectangle 7"/>
          <p:cNvSpPr/>
          <p:nvPr/>
        </p:nvSpPr>
        <p:spPr>
          <a:xfrm>
            <a:off x="6217920" y="960120"/>
            <a:ext cx="5577840" cy="47548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024128"/>
            <a:ext cx="5303520" cy="457200"/>
          </a:xfrm>
          <a:prstGeom prst="rect">
            <a:avLst/>
          </a:prstGeom>
          <a:noFill/>
        </p:spPr>
        <p:txBody>
          <a:bodyPr wrap="square">
            <a:spAutoFit/>
          </a:bodyPr>
          <a:lstStyle/>
          <a:p>
            <a:pPr algn="l"/>
            <a:r>
              <a:rPr sz="1500" b="1" i="0">
                <a:solidFill>
                  <a:srgbClr val="FFFFFF"/>
                </a:solidFill>
                <a:latin typeface="Calibri"/>
              </a:rPr>
              <a:t>Main Estimating Equation</a:t>
            </a:r>
            <a:endParaRPr sz="1500" b="1" i="0">
              <a:solidFill>
                <a:srgbClr val="FFFFFF"/>
              </a:solidFill>
              <a:latin typeface="Calibri"/>
            </a:endParaRPr>
          </a:p>
        </p:txBody>
      </p:sp>
      <p:sp>
        <p:nvSpPr>
          <p:cNvPr id="10" name="TextBox 9"/>
          <p:cNvSpPr txBox="1"/>
          <p:nvPr/>
        </p:nvSpPr>
        <p:spPr>
          <a:xfrm>
            <a:off x="6355080" y="1536192"/>
            <a:ext cx="5303520" cy="1691640"/>
          </a:xfrm>
          <a:prstGeom prst="rect">
            <a:avLst/>
          </a:prstGeom>
          <a:noFill/>
        </p:spPr>
        <p:txBody>
          <a:bodyPr wrap="square">
            <a:spAutoFit/>
          </a:bodyPr>
          <a:lstStyle/>
          <a:p>
            <a:pPr algn="l"/>
            <a:r>
              <a:rPr sz="1400" b="0" i="0">
                <a:solidFill>
                  <a:srgbClr val="FFFFFF"/>
                </a:solidFill>
                <a:latin typeface="Courier New" panose="02070609020205020404"/>
              </a:rPr>
              <a:t>Spreadₜ = α + β₁·ΔlnSₜ + β₂·θₜ + β₃·Lₜ
           + β₄·(Lₜ × ΔlnSₜ)
           + β₅·Vₜ + β₆·VIXₜ
           + β₇·ΔlnN*ₜ + εₜ</a:t>
            </a:r>
            <a:endParaRPr sz="1400" b="0" i="0">
              <a:solidFill>
                <a:srgbClr val="FFFFFF"/>
              </a:solidFill>
              <a:latin typeface="Courier New" panose="02070609020205020404"/>
            </a:endParaRPr>
          </a:p>
        </p:txBody>
      </p:sp>
      <p:sp>
        <p:nvSpPr>
          <p:cNvPr id="11" name="TextBox 10"/>
          <p:cNvSpPr txBox="1"/>
          <p:nvPr/>
        </p:nvSpPr>
        <p:spPr>
          <a:xfrm>
            <a:off x="6355080" y="3337560"/>
            <a:ext cx="5303520" cy="1881505"/>
          </a:xfrm>
          <a:prstGeom prst="rect">
            <a:avLst/>
          </a:prstGeom>
          <a:noFill/>
        </p:spPr>
        <p:txBody>
          <a:bodyPr wrap="square">
            <a:spAutoFit/>
          </a:bodyPr>
          <a:lstStyle/>
          <a:p>
            <a:pPr>
              <a:spcBef>
                <a:spcPts val="0"/>
              </a:spcBef>
            </a:pPr>
          </a:p>
          <a:p>
            <a:pPr algn="l">
              <a:spcBef>
                <a:spcPts val="400"/>
              </a:spcBef>
            </a:pPr>
            <a:r>
              <a:rPr sz="1500" b="1" i="0">
                <a:solidFill>
                  <a:srgbClr val="AAC4E8"/>
                </a:solidFill>
                <a:latin typeface="Calibri"/>
              </a:rPr>
              <a:t>Predicted signs:</a:t>
            </a:r>
            <a:endParaRPr sz="1500" b="1" i="0">
              <a:solidFill>
                <a:srgbClr val="AAC4E8"/>
              </a:solidFill>
              <a:latin typeface="Calibri"/>
            </a:endParaRPr>
          </a:p>
          <a:p>
            <a:pPr algn="l">
              <a:spcBef>
                <a:spcPts val="600"/>
              </a:spcBef>
            </a:pPr>
            <a:r>
              <a:rPr sz="1500" b="0" i="0">
                <a:solidFill>
                  <a:srgbClr val="FFFFFF"/>
                </a:solidFill>
                <a:latin typeface="Calibri"/>
              </a:rPr>
              <a:t>❖  β₁ &lt; 0: ΔlnS compresses spreads (privilege amplification)</a:t>
            </a:r>
            <a:endParaRPr sz="1500" b="0" i="0">
              <a:solidFill>
                <a:srgbClr val="FFFFFF"/>
              </a:solidFill>
              <a:latin typeface="Calibri"/>
            </a:endParaRPr>
          </a:p>
          <a:p>
            <a:pPr algn="l">
              <a:spcBef>
                <a:spcPts val="600"/>
              </a:spcBef>
            </a:pPr>
            <a:r>
              <a:rPr sz="1500" b="0" i="0">
                <a:solidFill>
                  <a:srgbClr val="FFFFFF"/>
                </a:solidFill>
                <a:latin typeface="Calibri"/>
              </a:rPr>
              <a:t>❖  β₂ &gt; 0: Higher T-bill exposure θ amplifies demand</a:t>
            </a:r>
            <a:endParaRPr sz="1500" b="0" i="0">
              <a:solidFill>
                <a:srgbClr val="FFFFFF"/>
              </a:solidFill>
              <a:latin typeface="Calibri"/>
            </a:endParaRPr>
          </a:p>
          <a:p>
            <a:pPr algn="l">
              <a:spcBef>
                <a:spcPts val="600"/>
              </a:spcBef>
            </a:pPr>
            <a:r>
              <a:rPr sz="1500">
                <a:solidFill>
                  <a:srgbClr val="FFFFFF"/>
                </a:solidFill>
                <a:latin typeface="Calibri"/>
                <a:sym typeface="+mn-ea"/>
              </a:rPr>
              <a:t>❖  β₄ &gt; 0: Higher L dampens crisis transmission during runs</a:t>
            </a:r>
            <a:endParaRPr sz="1500" b="0" i="0">
              <a:solidFill>
                <a:srgbClr val="FFFFFF"/>
              </a:solidFill>
              <a:latin typeface="Calibri"/>
            </a:endParaRPr>
          </a:p>
          <a:p>
            <a:pPr algn="l">
              <a:spcBef>
                <a:spcPts val="600"/>
              </a:spcBef>
            </a:pPr>
            <a:endParaRPr sz="1500" b="0" i="0">
              <a:solidFill>
                <a:srgbClr val="FFFFFF"/>
              </a:solidFill>
              <a:latin typeface="Calibri"/>
            </a:endParaRPr>
          </a:p>
        </p:txBody>
      </p:sp>
      <p:sp>
        <p:nvSpPr>
          <p:cNvPr id="12" name="TextBox 11"/>
          <p:cNvSpPr txBox="1"/>
          <p:nvPr/>
        </p:nvSpPr>
        <p:spPr>
          <a:xfrm>
            <a:off x="11064240" y="206829"/>
            <a:ext cx="942703" cy="369332"/>
          </a:xfrm>
          <a:prstGeom prst="rect">
            <a:avLst/>
          </a:prstGeom>
          <a:noFill/>
        </p:spPr>
        <p:txBody>
          <a:bodyPr wrap="square" rtlCol="0">
            <a:spAutoFit/>
          </a:bodyPr>
          <a:lstStyle/>
          <a:p>
            <a:r>
              <a:rPr kumimoji="1" lang="en-US" altLang="ko-KR" dirty="0">
                <a:solidFill>
                  <a:schemeClr val="bg1"/>
                </a:solidFill>
              </a:rPr>
              <a:t>Oybek</a:t>
            </a:r>
            <a:endParaRPr kumimoji="1" lang="ko-KR" altLang="en-US" dirty="0">
              <a:solidFill>
                <a:schemeClr val="bg1"/>
              </a:solidFill>
            </a:endParaRPr>
          </a:p>
        </p:txBody>
      </p:sp>
      <p:pic>
        <p:nvPicPr>
          <p:cNvPr id="13" name="Picture 12"/>
          <p:cNvPicPr>
            <a:picLocks noChangeAspect="1"/>
          </p:cNvPicPr>
          <p:nvPr/>
        </p:nvPicPr>
        <p:blipFill>
          <a:blip r:embed="rId1"/>
          <a:stretch>
            <a:fillRect/>
          </a:stretch>
        </p:blipFill>
        <p:spPr>
          <a:xfrm>
            <a:off x="6355080" y="1433830"/>
            <a:ext cx="4968875" cy="1546860"/>
          </a:xfrm>
          <a:prstGeom prst="rect">
            <a:avLst/>
          </a:prstGeom>
        </p:spPr>
      </p:pic>
      <p:sp>
        <p:nvSpPr>
          <p:cNvPr id="21" name="Rectangle 20"/>
          <p:cNvSpPr/>
          <p:nvPr/>
        </p:nvSpPr>
        <p:spPr>
          <a:xfrm>
            <a:off x="0" y="6015355"/>
            <a:ext cx="12188825" cy="782955"/>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105525"/>
            <a:ext cx="11274552" cy="645160"/>
          </a:xfrm>
          <a:prstGeom prst="rect">
            <a:avLst/>
          </a:prstGeom>
          <a:noFill/>
        </p:spPr>
        <p:txBody>
          <a:bodyPr wrap="square">
            <a:spAutoFit/>
          </a:bodyPr>
          <a:lstStyle/>
          <a:p>
            <a:pPr algn="ctr"/>
            <a:r>
              <a:rPr lang="en-US" altLang="en-US" sz="1800" b="1" i="0">
                <a:solidFill>
                  <a:srgbClr val="FFFFFF"/>
                </a:solidFill>
                <a:latin typeface="Calibri"/>
              </a:rPr>
              <a:t>The buffer L introduces a non-linear threshold — the key theoretical departure from Maggiori’s original model.</a:t>
            </a:r>
            <a:endParaRPr lang="en-US" altLang="en-US" sz="1800" b="1" i="0">
              <a:solidFill>
                <a:srgbClr val="FFFFFF"/>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Data &amp; Sample</a:t>
            </a:r>
            <a:endParaRPr sz="2600" b="0" i="0">
              <a:solidFill>
                <a:srgbClr val="FFFFFF"/>
              </a:solidFill>
              <a:latin typeface="Calibri"/>
            </a:endParaRP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6</a:t>
            </a:r>
            <a:endParaRPr sz="1300" b="0" i="0">
              <a:solidFill>
                <a:srgbClr val="555566"/>
              </a:solidFill>
              <a:latin typeface="Calibri"/>
            </a:endParaRPr>
          </a:p>
        </p:txBody>
      </p:sp>
      <p:sp>
        <p:nvSpPr>
          <p:cNvPr id="6" name="Rectangle 5"/>
          <p:cNvSpPr/>
          <p:nvPr/>
        </p:nvSpPr>
        <p:spPr>
          <a:xfrm>
            <a:off x="320040" y="960120"/>
            <a:ext cx="11521440" cy="384048"/>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987552"/>
            <a:ext cx="2075688" cy="329184"/>
          </a:xfrm>
          <a:prstGeom prst="rect">
            <a:avLst/>
          </a:prstGeom>
          <a:noFill/>
        </p:spPr>
        <p:txBody>
          <a:bodyPr wrap="square">
            <a:spAutoFit/>
          </a:bodyPr>
          <a:lstStyle/>
          <a:p>
            <a:pPr algn="l"/>
            <a:r>
              <a:rPr sz="1300" b="1" i="0">
                <a:solidFill>
                  <a:srgbClr val="FFFFFF"/>
                </a:solidFill>
                <a:latin typeface="Calibri"/>
              </a:rPr>
              <a:t>Variable</a:t>
            </a:r>
            <a:endParaRPr sz="1300" b="1" i="0">
              <a:solidFill>
                <a:srgbClr val="FFFFFF"/>
              </a:solidFill>
              <a:latin typeface="Calibri"/>
            </a:endParaRPr>
          </a:p>
        </p:txBody>
      </p:sp>
      <p:sp>
        <p:nvSpPr>
          <p:cNvPr id="8" name="TextBox 7"/>
          <p:cNvSpPr txBox="1"/>
          <p:nvPr/>
        </p:nvSpPr>
        <p:spPr>
          <a:xfrm>
            <a:off x="2560320" y="987552"/>
            <a:ext cx="2441448" cy="329184"/>
          </a:xfrm>
          <a:prstGeom prst="rect">
            <a:avLst/>
          </a:prstGeom>
          <a:noFill/>
        </p:spPr>
        <p:txBody>
          <a:bodyPr wrap="square">
            <a:spAutoFit/>
          </a:bodyPr>
          <a:lstStyle/>
          <a:p>
            <a:pPr algn="l"/>
            <a:r>
              <a:rPr sz="1300" b="1" i="0">
                <a:solidFill>
                  <a:srgbClr val="FFFFFF"/>
                </a:solidFill>
                <a:latin typeface="Calibri"/>
              </a:rPr>
              <a:t>Definition</a:t>
            </a:r>
            <a:endParaRPr sz="1300" b="1" i="0">
              <a:solidFill>
                <a:srgbClr val="FFFFFF"/>
              </a:solidFill>
              <a:latin typeface="Calibri"/>
            </a:endParaRPr>
          </a:p>
        </p:txBody>
      </p:sp>
      <p:sp>
        <p:nvSpPr>
          <p:cNvPr id="9" name="TextBox 8"/>
          <p:cNvSpPr txBox="1"/>
          <p:nvPr/>
        </p:nvSpPr>
        <p:spPr>
          <a:xfrm>
            <a:off x="5120640" y="987552"/>
            <a:ext cx="4453128" cy="329184"/>
          </a:xfrm>
          <a:prstGeom prst="rect">
            <a:avLst/>
          </a:prstGeom>
          <a:noFill/>
        </p:spPr>
        <p:txBody>
          <a:bodyPr wrap="square">
            <a:spAutoFit/>
          </a:bodyPr>
          <a:lstStyle/>
          <a:p>
            <a:pPr algn="l"/>
            <a:r>
              <a:rPr sz="1300" b="1" i="0">
                <a:solidFill>
                  <a:srgbClr val="FFFFFF"/>
                </a:solidFill>
                <a:latin typeface="Calibri"/>
              </a:rPr>
              <a:t>Source</a:t>
            </a:r>
            <a:endParaRPr sz="1300" b="1" i="0">
              <a:solidFill>
                <a:srgbClr val="FFFFFF"/>
              </a:solidFill>
              <a:latin typeface="Calibri"/>
            </a:endParaRPr>
          </a:p>
        </p:txBody>
      </p:sp>
      <p:sp>
        <p:nvSpPr>
          <p:cNvPr id="10" name="TextBox 9"/>
          <p:cNvSpPr txBox="1"/>
          <p:nvPr/>
        </p:nvSpPr>
        <p:spPr>
          <a:xfrm>
            <a:off x="9692640" y="987552"/>
            <a:ext cx="2075688" cy="329184"/>
          </a:xfrm>
          <a:prstGeom prst="rect">
            <a:avLst/>
          </a:prstGeom>
          <a:noFill/>
        </p:spPr>
        <p:txBody>
          <a:bodyPr wrap="square">
            <a:spAutoFit/>
          </a:bodyPr>
          <a:lstStyle/>
          <a:p>
            <a:pPr algn="l"/>
            <a:r>
              <a:rPr sz="1300" b="1" i="0">
                <a:solidFill>
                  <a:srgbClr val="FFFFFF"/>
                </a:solidFill>
                <a:latin typeface="Calibri"/>
              </a:rPr>
              <a:t>Frequency</a:t>
            </a:r>
            <a:endParaRPr sz="1300" b="1" i="0">
              <a:solidFill>
                <a:srgbClr val="FFFFFF"/>
              </a:solidFill>
              <a:latin typeface="Calibri"/>
            </a:endParaRPr>
          </a:p>
        </p:txBody>
      </p:sp>
      <p:sp>
        <p:nvSpPr>
          <p:cNvPr id="11" name="Rectangle 10"/>
          <p:cNvSpPr/>
          <p:nvPr/>
        </p:nvSpPr>
        <p:spPr>
          <a:xfrm>
            <a:off x="320040" y="1344168"/>
            <a:ext cx="11521440" cy="6675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4" y="1435608"/>
            <a:ext cx="2057400" cy="502920"/>
          </a:xfrm>
          <a:prstGeom prst="rect">
            <a:avLst/>
          </a:prstGeom>
          <a:noFill/>
        </p:spPr>
        <p:txBody>
          <a:bodyPr wrap="square">
            <a:spAutoFit/>
          </a:bodyPr>
          <a:lstStyle/>
          <a:p>
            <a:pPr algn="l"/>
            <a:r>
              <a:rPr sz="1200" b="0" i="0">
                <a:solidFill>
                  <a:srgbClr val="1A1A2E"/>
                </a:solidFill>
                <a:latin typeface="Calibri"/>
              </a:rPr>
              <a:t>OIS–Treasury Spread</a:t>
            </a:r>
            <a:endParaRPr sz="1200" b="0" i="0">
              <a:solidFill>
                <a:srgbClr val="1A1A2E"/>
              </a:solidFill>
              <a:latin typeface="Calibri"/>
            </a:endParaRPr>
          </a:p>
        </p:txBody>
      </p:sp>
      <p:sp>
        <p:nvSpPr>
          <p:cNvPr id="13" name="TextBox 12"/>
          <p:cNvSpPr txBox="1"/>
          <p:nvPr/>
        </p:nvSpPr>
        <p:spPr>
          <a:xfrm>
            <a:off x="2569464" y="1435608"/>
            <a:ext cx="2423160" cy="502920"/>
          </a:xfrm>
          <a:prstGeom prst="rect">
            <a:avLst/>
          </a:prstGeom>
          <a:noFill/>
        </p:spPr>
        <p:txBody>
          <a:bodyPr wrap="square">
            <a:spAutoFit/>
          </a:bodyPr>
          <a:lstStyle/>
          <a:p>
            <a:pPr algn="l"/>
            <a:r>
              <a:rPr sz="1200" b="0" i="0">
                <a:solidFill>
                  <a:srgbClr val="1A1A2E"/>
                </a:solidFill>
                <a:latin typeface="Calibri"/>
              </a:rPr>
              <a:t>DTB3 − SOFR90DAYAVG</a:t>
            </a:r>
            <a:endParaRPr sz="1200" b="0" i="0">
              <a:solidFill>
                <a:srgbClr val="1A1A2E"/>
              </a:solidFill>
              <a:latin typeface="Calibri"/>
            </a:endParaRPr>
          </a:p>
        </p:txBody>
      </p:sp>
      <p:sp>
        <p:nvSpPr>
          <p:cNvPr id="14" name="TextBox 13"/>
          <p:cNvSpPr txBox="1"/>
          <p:nvPr/>
        </p:nvSpPr>
        <p:spPr>
          <a:xfrm>
            <a:off x="5129784" y="1435608"/>
            <a:ext cx="4434840" cy="502920"/>
          </a:xfrm>
          <a:prstGeom prst="rect">
            <a:avLst/>
          </a:prstGeom>
          <a:noFill/>
        </p:spPr>
        <p:txBody>
          <a:bodyPr wrap="square">
            <a:spAutoFit/>
          </a:bodyPr>
          <a:lstStyle/>
          <a:p>
            <a:pPr algn="l"/>
            <a:r>
              <a:rPr sz="1200" b="0" i="0">
                <a:solidFill>
                  <a:srgbClr val="1A1A2E"/>
                </a:solidFill>
                <a:latin typeface="Calibri"/>
              </a:rPr>
              <a:t>FRED (direct CSV, no API key)</a:t>
            </a:r>
            <a:endParaRPr sz="1200" b="0" i="0">
              <a:solidFill>
                <a:srgbClr val="1A1A2E"/>
              </a:solidFill>
              <a:latin typeface="Calibri"/>
            </a:endParaRPr>
          </a:p>
        </p:txBody>
      </p:sp>
      <p:sp>
        <p:nvSpPr>
          <p:cNvPr id="15" name="TextBox 14"/>
          <p:cNvSpPr txBox="1"/>
          <p:nvPr/>
        </p:nvSpPr>
        <p:spPr>
          <a:xfrm>
            <a:off x="9701784" y="1435608"/>
            <a:ext cx="2057400" cy="502920"/>
          </a:xfrm>
          <a:prstGeom prst="rect">
            <a:avLst/>
          </a:prstGeom>
          <a:noFill/>
        </p:spPr>
        <p:txBody>
          <a:bodyPr wrap="square">
            <a:spAutoFit/>
          </a:bodyPr>
          <a:lstStyle/>
          <a:p>
            <a:pPr algn="l"/>
            <a:r>
              <a:rPr sz="1200" b="0" i="0">
                <a:solidFill>
                  <a:srgbClr val="1A1A2E"/>
                </a:solidFill>
                <a:latin typeface="Calibri"/>
              </a:rPr>
              <a:t>Daily → Monthly</a:t>
            </a:r>
            <a:endParaRPr sz="1200" b="0" i="0">
              <a:solidFill>
                <a:srgbClr val="1A1A2E"/>
              </a:solidFill>
              <a:latin typeface="Calibri"/>
            </a:endParaRPr>
          </a:p>
        </p:txBody>
      </p:sp>
      <p:sp>
        <p:nvSpPr>
          <p:cNvPr id="16" name="Rectangle 15"/>
          <p:cNvSpPr/>
          <p:nvPr/>
        </p:nvSpPr>
        <p:spPr>
          <a:xfrm>
            <a:off x="320040" y="2011680"/>
            <a:ext cx="11521440"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 y="2103120"/>
            <a:ext cx="2057400" cy="502920"/>
          </a:xfrm>
          <a:prstGeom prst="rect">
            <a:avLst/>
          </a:prstGeom>
          <a:noFill/>
        </p:spPr>
        <p:txBody>
          <a:bodyPr wrap="square">
            <a:spAutoFit/>
          </a:bodyPr>
          <a:lstStyle/>
          <a:p>
            <a:pPr algn="l"/>
            <a:r>
              <a:rPr sz="1200" b="0" i="0">
                <a:solidFill>
                  <a:srgbClr val="1A1A2E"/>
                </a:solidFill>
                <a:latin typeface="Calibri"/>
              </a:rPr>
              <a:t>Stablecoin Supply S</a:t>
            </a:r>
            <a:endParaRPr sz="1200" b="0" i="0">
              <a:solidFill>
                <a:srgbClr val="1A1A2E"/>
              </a:solidFill>
              <a:latin typeface="Calibri"/>
            </a:endParaRPr>
          </a:p>
        </p:txBody>
      </p:sp>
      <p:sp>
        <p:nvSpPr>
          <p:cNvPr id="18" name="TextBox 17"/>
          <p:cNvSpPr txBox="1"/>
          <p:nvPr/>
        </p:nvSpPr>
        <p:spPr>
          <a:xfrm>
            <a:off x="2569464" y="2103120"/>
            <a:ext cx="2423160" cy="502920"/>
          </a:xfrm>
          <a:prstGeom prst="rect">
            <a:avLst/>
          </a:prstGeom>
          <a:noFill/>
        </p:spPr>
        <p:txBody>
          <a:bodyPr wrap="square">
            <a:spAutoFit/>
          </a:bodyPr>
          <a:lstStyle/>
          <a:p>
            <a:pPr algn="l"/>
            <a:r>
              <a:rPr sz="1200" b="0" i="0">
                <a:solidFill>
                  <a:srgbClr val="1A1A2E"/>
                </a:solidFill>
                <a:latin typeface="Calibri"/>
              </a:rPr>
              <a:t>USDT + USDC market cap</a:t>
            </a:r>
            <a:endParaRPr sz="1200" b="0" i="0">
              <a:solidFill>
                <a:srgbClr val="1A1A2E"/>
              </a:solidFill>
              <a:latin typeface="Calibri"/>
            </a:endParaRPr>
          </a:p>
        </p:txBody>
      </p:sp>
      <p:sp>
        <p:nvSpPr>
          <p:cNvPr id="19" name="TextBox 18"/>
          <p:cNvSpPr txBox="1"/>
          <p:nvPr/>
        </p:nvSpPr>
        <p:spPr>
          <a:xfrm>
            <a:off x="5129784" y="2103120"/>
            <a:ext cx="4434840" cy="502920"/>
          </a:xfrm>
          <a:prstGeom prst="rect">
            <a:avLst/>
          </a:prstGeom>
          <a:noFill/>
        </p:spPr>
        <p:txBody>
          <a:bodyPr wrap="square">
            <a:spAutoFit/>
          </a:bodyPr>
          <a:lstStyle/>
          <a:p>
            <a:pPr algn="l"/>
            <a:r>
              <a:rPr sz="1200" b="0" i="0">
                <a:solidFill>
                  <a:srgbClr val="1A1A2E"/>
                </a:solidFill>
                <a:latin typeface="Calibri"/>
              </a:rPr>
              <a:t>DeFiLlama stablecoins API (free)</a:t>
            </a:r>
            <a:endParaRPr sz="1200" b="0" i="0">
              <a:solidFill>
                <a:srgbClr val="1A1A2E"/>
              </a:solidFill>
              <a:latin typeface="Calibri"/>
            </a:endParaRPr>
          </a:p>
        </p:txBody>
      </p:sp>
      <p:sp>
        <p:nvSpPr>
          <p:cNvPr id="20" name="TextBox 19"/>
          <p:cNvSpPr txBox="1"/>
          <p:nvPr/>
        </p:nvSpPr>
        <p:spPr>
          <a:xfrm>
            <a:off x="9701784" y="2103120"/>
            <a:ext cx="2057400" cy="502920"/>
          </a:xfrm>
          <a:prstGeom prst="rect">
            <a:avLst/>
          </a:prstGeom>
          <a:noFill/>
        </p:spPr>
        <p:txBody>
          <a:bodyPr wrap="square">
            <a:spAutoFit/>
          </a:bodyPr>
          <a:lstStyle/>
          <a:p>
            <a:pPr algn="l"/>
            <a:r>
              <a:rPr sz="1200" b="0" i="0">
                <a:solidFill>
                  <a:srgbClr val="1A1A2E"/>
                </a:solidFill>
                <a:latin typeface="Calibri"/>
              </a:rPr>
              <a:t>Daily → Monthly</a:t>
            </a:r>
            <a:endParaRPr sz="1200" b="0" i="0">
              <a:solidFill>
                <a:srgbClr val="1A1A2E"/>
              </a:solidFill>
              <a:latin typeface="Calibri"/>
            </a:endParaRPr>
          </a:p>
        </p:txBody>
      </p:sp>
      <p:sp>
        <p:nvSpPr>
          <p:cNvPr id="21" name="Rectangle 20"/>
          <p:cNvSpPr/>
          <p:nvPr/>
        </p:nvSpPr>
        <p:spPr>
          <a:xfrm>
            <a:off x="320040" y="2679192"/>
            <a:ext cx="11521440" cy="6675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770632"/>
            <a:ext cx="2057400" cy="502920"/>
          </a:xfrm>
          <a:prstGeom prst="rect">
            <a:avLst/>
          </a:prstGeom>
          <a:noFill/>
        </p:spPr>
        <p:txBody>
          <a:bodyPr wrap="square">
            <a:spAutoFit/>
          </a:bodyPr>
          <a:lstStyle/>
          <a:p>
            <a:pPr algn="l"/>
            <a:r>
              <a:rPr sz="1200" b="0" i="0">
                <a:solidFill>
                  <a:srgbClr val="1A1A2E"/>
                </a:solidFill>
                <a:latin typeface="Calibri"/>
              </a:rPr>
              <a:t>θ  (Treasury Exposure)</a:t>
            </a:r>
            <a:endParaRPr sz="1200" b="0" i="0">
              <a:solidFill>
                <a:srgbClr val="1A1A2E"/>
              </a:solidFill>
              <a:latin typeface="Calibri"/>
            </a:endParaRPr>
          </a:p>
        </p:txBody>
      </p:sp>
      <p:sp>
        <p:nvSpPr>
          <p:cNvPr id="23" name="TextBox 22"/>
          <p:cNvSpPr txBox="1"/>
          <p:nvPr/>
        </p:nvSpPr>
        <p:spPr>
          <a:xfrm>
            <a:off x="2569464" y="2770632"/>
            <a:ext cx="2423160" cy="502920"/>
          </a:xfrm>
          <a:prstGeom prst="rect">
            <a:avLst/>
          </a:prstGeom>
          <a:noFill/>
        </p:spPr>
        <p:txBody>
          <a:bodyPr wrap="square">
            <a:spAutoFit/>
          </a:bodyPr>
          <a:lstStyle/>
          <a:p>
            <a:pPr algn="l"/>
            <a:r>
              <a:rPr sz="1200" b="0" i="0">
                <a:solidFill>
                  <a:srgbClr val="1A1A2E"/>
                </a:solidFill>
                <a:latin typeface="Calibri"/>
              </a:rPr>
              <a:t>T-bill holdings / supply</a:t>
            </a:r>
            <a:endParaRPr sz="1200" b="0" i="0">
              <a:solidFill>
                <a:srgbClr val="1A1A2E"/>
              </a:solidFill>
              <a:latin typeface="Calibri"/>
            </a:endParaRPr>
          </a:p>
        </p:txBody>
      </p:sp>
      <p:sp>
        <p:nvSpPr>
          <p:cNvPr id="24" name="TextBox 23"/>
          <p:cNvSpPr txBox="1"/>
          <p:nvPr/>
        </p:nvSpPr>
        <p:spPr>
          <a:xfrm>
            <a:off x="5129784" y="2770632"/>
            <a:ext cx="4434840" cy="502920"/>
          </a:xfrm>
          <a:prstGeom prst="rect">
            <a:avLst/>
          </a:prstGeom>
          <a:noFill/>
        </p:spPr>
        <p:txBody>
          <a:bodyPr wrap="square">
            <a:spAutoFit/>
          </a:bodyPr>
          <a:lstStyle/>
          <a:p>
            <a:pPr algn="l"/>
            <a:r>
              <a:rPr sz="1200" b="0" i="0">
                <a:solidFill>
                  <a:srgbClr val="1A1A2E"/>
                </a:solidFill>
                <a:latin typeface="Calibri"/>
              </a:rPr>
              <a:t>Tether/BDO + Circle/Deloitte attestations</a:t>
            </a:r>
            <a:endParaRPr sz="1200" b="0" i="0">
              <a:solidFill>
                <a:srgbClr val="1A1A2E"/>
              </a:solidFill>
              <a:latin typeface="Calibri"/>
            </a:endParaRPr>
          </a:p>
        </p:txBody>
      </p:sp>
      <p:sp>
        <p:nvSpPr>
          <p:cNvPr id="25" name="TextBox 24"/>
          <p:cNvSpPr txBox="1"/>
          <p:nvPr/>
        </p:nvSpPr>
        <p:spPr>
          <a:xfrm>
            <a:off x="9701784" y="2770632"/>
            <a:ext cx="2057400" cy="502920"/>
          </a:xfrm>
          <a:prstGeom prst="rect">
            <a:avLst/>
          </a:prstGeom>
          <a:noFill/>
        </p:spPr>
        <p:txBody>
          <a:bodyPr wrap="square">
            <a:spAutoFit/>
          </a:bodyPr>
          <a:lstStyle/>
          <a:p>
            <a:pPr algn="l"/>
            <a:r>
              <a:rPr sz="1200" b="0" i="0">
                <a:solidFill>
                  <a:srgbClr val="1A1A2E"/>
                </a:solidFill>
                <a:latin typeface="Calibri"/>
              </a:rPr>
              <a:t>Quarterly/Monthly</a:t>
            </a:r>
            <a:endParaRPr sz="1200" b="0" i="0">
              <a:solidFill>
                <a:srgbClr val="1A1A2E"/>
              </a:solidFill>
              <a:latin typeface="Calibri"/>
            </a:endParaRPr>
          </a:p>
        </p:txBody>
      </p:sp>
      <p:sp>
        <p:nvSpPr>
          <p:cNvPr id="26" name="Rectangle 25"/>
          <p:cNvSpPr/>
          <p:nvPr/>
        </p:nvSpPr>
        <p:spPr>
          <a:xfrm>
            <a:off x="320040" y="3346704"/>
            <a:ext cx="11521440"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4904" y="3438144"/>
            <a:ext cx="2057400" cy="502920"/>
          </a:xfrm>
          <a:prstGeom prst="rect">
            <a:avLst/>
          </a:prstGeom>
          <a:noFill/>
        </p:spPr>
        <p:txBody>
          <a:bodyPr wrap="square">
            <a:spAutoFit/>
          </a:bodyPr>
          <a:lstStyle/>
          <a:p>
            <a:pPr algn="l"/>
            <a:r>
              <a:rPr sz="1200" b="0" i="0">
                <a:solidFill>
                  <a:srgbClr val="1A1A2E"/>
                </a:solidFill>
                <a:latin typeface="Calibri"/>
              </a:rPr>
              <a:t>L  (Liquid Buffer)</a:t>
            </a:r>
            <a:endParaRPr sz="1200" b="0" i="0">
              <a:solidFill>
                <a:srgbClr val="1A1A2E"/>
              </a:solidFill>
              <a:latin typeface="Calibri"/>
            </a:endParaRPr>
          </a:p>
        </p:txBody>
      </p:sp>
      <p:sp>
        <p:nvSpPr>
          <p:cNvPr id="28" name="TextBox 27"/>
          <p:cNvSpPr txBox="1"/>
          <p:nvPr/>
        </p:nvSpPr>
        <p:spPr>
          <a:xfrm>
            <a:off x="2569464" y="3438144"/>
            <a:ext cx="2423160" cy="502920"/>
          </a:xfrm>
          <a:prstGeom prst="rect">
            <a:avLst/>
          </a:prstGeom>
          <a:noFill/>
        </p:spPr>
        <p:txBody>
          <a:bodyPr wrap="square">
            <a:spAutoFit/>
          </a:bodyPr>
          <a:lstStyle/>
          <a:p>
            <a:pPr algn="l"/>
            <a:r>
              <a:rPr sz="1200" b="0" i="0">
                <a:solidFill>
                  <a:srgbClr val="1A1A2E"/>
                </a:solidFill>
                <a:latin typeface="Calibri"/>
              </a:rPr>
              <a:t>Cash reserves / supply</a:t>
            </a:r>
            <a:endParaRPr sz="1200" b="0" i="0">
              <a:solidFill>
                <a:srgbClr val="1A1A2E"/>
              </a:solidFill>
              <a:latin typeface="Calibri"/>
            </a:endParaRPr>
          </a:p>
        </p:txBody>
      </p:sp>
      <p:sp>
        <p:nvSpPr>
          <p:cNvPr id="29" name="TextBox 28"/>
          <p:cNvSpPr txBox="1"/>
          <p:nvPr/>
        </p:nvSpPr>
        <p:spPr>
          <a:xfrm>
            <a:off x="5129784" y="3438144"/>
            <a:ext cx="4434840" cy="502920"/>
          </a:xfrm>
          <a:prstGeom prst="rect">
            <a:avLst/>
          </a:prstGeom>
          <a:noFill/>
        </p:spPr>
        <p:txBody>
          <a:bodyPr wrap="square">
            <a:spAutoFit/>
          </a:bodyPr>
          <a:lstStyle/>
          <a:p>
            <a:pPr algn="l"/>
            <a:r>
              <a:rPr sz="1200" b="0" i="0">
                <a:solidFill>
                  <a:srgbClr val="1A1A2E"/>
                </a:solidFill>
                <a:latin typeface="Calibri"/>
              </a:rPr>
              <a:t>Tether/BDO + Circle/Deloitte attestations</a:t>
            </a:r>
            <a:endParaRPr sz="1200" b="0" i="0">
              <a:solidFill>
                <a:srgbClr val="1A1A2E"/>
              </a:solidFill>
              <a:latin typeface="Calibri"/>
            </a:endParaRPr>
          </a:p>
        </p:txBody>
      </p:sp>
      <p:sp>
        <p:nvSpPr>
          <p:cNvPr id="30" name="TextBox 29"/>
          <p:cNvSpPr txBox="1"/>
          <p:nvPr/>
        </p:nvSpPr>
        <p:spPr>
          <a:xfrm>
            <a:off x="9701784" y="3438144"/>
            <a:ext cx="2057400" cy="502920"/>
          </a:xfrm>
          <a:prstGeom prst="rect">
            <a:avLst/>
          </a:prstGeom>
          <a:noFill/>
        </p:spPr>
        <p:txBody>
          <a:bodyPr wrap="square">
            <a:spAutoFit/>
          </a:bodyPr>
          <a:lstStyle/>
          <a:p>
            <a:pPr algn="l"/>
            <a:r>
              <a:rPr sz="1200" b="0" i="0">
                <a:solidFill>
                  <a:srgbClr val="1A1A2E"/>
                </a:solidFill>
                <a:latin typeface="Calibri"/>
              </a:rPr>
              <a:t>Quarterly/Monthly</a:t>
            </a:r>
            <a:endParaRPr sz="1200" b="0" i="0">
              <a:solidFill>
                <a:srgbClr val="1A1A2E"/>
              </a:solidFill>
              <a:latin typeface="Calibri"/>
            </a:endParaRPr>
          </a:p>
        </p:txBody>
      </p:sp>
      <p:sp>
        <p:nvSpPr>
          <p:cNvPr id="31" name="Rectangle 30"/>
          <p:cNvSpPr/>
          <p:nvPr/>
        </p:nvSpPr>
        <p:spPr>
          <a:xfrm>
            <a:off x="320040" y="4014216"/>
            <a:ext cx="11521440" cy="6675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4904" y="4105656"/>
            <a:ext cx="2057400" cy="502920"/>
          </a:xfrm>
          <a:prstGeom prst="rect">
            <a:avLst/>
          </a:prstGeom>
          <a:noFill/>
        </p:spPr>
        <p:txBody>
          <a:bodyPr wrap="square">
            <a:spAutoFit/>
          </a:bodyPr>
          <a:lstStyle/>
          <a:p>
            <a:pPr algn="l"/>
            <a:r>
              <a:rPr sz="1200" b="0" i="0">
                <a:solidFill>
                  <a:srgbClr val="1A1A2E"/>
                </a:solidFill>
                <a:latin typeface="Calibri"/>
              </a:rPr>
              <a:t>Velocity V</a:t>
            </a:r>
            <a:endParaRPr sz="1200" b="0" i="0">
              <a:solidFill>
                <a:srgbClr val="1A1A2E"/>
              </a:solidFill>
              <a:latin typeface="Calibri"/>
            </a:endParaRPr>
          </a:p>
        </p:txBody>
      </p:sp>
      <p:sp>
        <p:nvSpPr>
          <p:cNvPr id="33" name="TextBox 32"/>
          <p:cNvSpPr txBox="1"/>
          <p:nvPr/>
        </p:nvSpPr>
        <p:spPr>
          <a:xfrm>
            <a:off x="2569464" y="4105656"/>
            <a:ext cx="2423160" cy="502920"/>
          </a:xfrm>
          <a:prstGeom prst="rect">
            <a:avLst/>
          </a:prstGeom>
          <a:noFill/>
        </p:spPr>
        <p:txBody>
          <a:bodyPr wrap="square">
            <a:spAutoFit/>
          </a:bodyPr>
          <a:lstStyle/>
          <a:p>
            <a:pPr algn="l"/>
            <a:r>
              <a:rPr sz="1200" b="0" i="0">
                <a:solidFill>
                  <a:srgbClr val="1A1A2E"/>
                </a:solidFill>
                <a:latin typeface="Calibri"/>
              </a:rPr>
              <a:t>7-day rolling SD of ΔlnS</a:t>
            </a:r>
            <a:endParaRPr sz="1200" b="0" i="0">
              <a:solidFill>
                <a:srgbClr val="1A1A2E"/>
              </a:solidFill>
              <a:latin typeface="Calibri"/>
            </a:endParaRPr>
          </a:p>
        </p:txBody>
      </p:sp>
      <p:sp>
        <p:nvSpPr>
          <p:cNvPr id="34" name="TextBox 33"/>
          <p:cNvSpPr txBox="1"/>
          <p:nvPr/>
        </p:nvSpPr>
        <p:spPr>
          <a:xfrm>
            <a:off x="5129784" y="4105656"/>
            <a:ext cx="4434840" cy="502920"/>
          </a:xfrm>
          <a:prstGeom prst="rect">
            <a:avLst/>
          </a:prstGeom>
          <a:noFill/>
        </p:spPr>
        <p:txBody>
          <a:bodyPr wrap="square">
            <a:spAutoFit/>
          </a:bodyPr>
          <a:lstStyle/>
          <a:p>
            <a:pPr algn="l"/>
            <a:r>
              <a:rPr sz="1200" b="0" i="0">
                <a:solidFill>
                  <a:srgbClr val="1A1A2E"/>
                </a:solidFill>
                <a:latin typeface="Calibri"/>
              </a:rPr>
              <a:t>Computed from DeFiLlama</a:t>
            </a:r>
            <a:endParaRPr sz="1200" b="0" i="0">
              <a:solidFill>
                <a:srgbClr val="1A1A2E"/>
              </a:solidFill>
              <a:latin typeface="Calibri"/>
            </a:endParaRPr>
          </a:p>
        </p:txBody>
      </p:sp>
      <p:sp>
        <p:nvSpPr>
          <p:cNvPr id="35" name="TextBox 34"/>
          <p:cNvSpPr txBox="1"/>
          <p:nvPr/>
        </p:nvSpPr>
        <p:spPr>
          <a:xfrm>
            <a:off x="9701784" y="4105656"/>
            <a:ext cx="2057400" cy="502920"/>
          </a:xfrm>
          <a:prstGeom prst="rect">
            <a:avLst/>
          </a:prstGeom>
          <a:noFill/>
        </p:spPr>
        <p:txBody>
          <a:bodyPr wrap="square">
            <a:spAutoFit/>
          </a:bodyPr>
          <a:lstStyle/>
          <a:p>
            <a:pPr algn="l"/>
            <a:r>
              <a:rPr sz="1200" b="0" i="0">
                <a:solidFill>
                  <a:srgbClr val="1A1A2E"/>
                </a:solidFill>
                <a:latin typeface="Calibri"/>
              </a:rPr>
              <a:t>Daily → Monthly</a:t>
            </a:r>
            <a:endParaRPr sz="1200" b="0" i="0">
              <a:solidFill>
                <a:srgbClr val="1A1A2E"/>
              </a:solidFill>
              <a:latin typeface="Calibri"/>
            </a:endParaRPr>
          </a:p>
        </p:txBody>
      </p:sp>
      <p:sp>
        <p:nvSpPr>
          <p:cNvPr id="36" name="Rectangle 35"/>
          <p:cNvSpPr/>
          <p:nvPr/>
        </p:nvSpPr>
        <p:spPr>
          <a:xfrm>
            <a:off x="320040" y="4681728"/>
            <a:ext cx="11521440"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4904" y="4773168"/>
            <a:ext cx="2057400" cy="502920"/>
          </a:xfrm>
          <a:prstGeom prst="rect">
            <a:avLst/>
          </a:prstGeom>
          <a:noFill/>
        </p:spPr>
        <p:txBody>
          <a:bodyPr wrap="square">
            <a:spAutoFit/>
          </a:bodyPr>
          <a:lstStyle/>
          <a:p>
            <a:pPr algn="l"/>
            <a:r>
              <a:rPr sz="1200" b="0" i="0">
                <a:solidFill>
                  <a:srgbClr val="1A1A2E"/>
                </a:solidFill>
                <a:latin typeface="Calibri"/>
              </a:rPr>
              <a:t>VIX</a:t>
            </a:r>
            <a:endParaRPr sz="1200" b="0" i="0">
              <a:solidFill>
                <a:srgbClr val="1A1A2E"/>
              </a:solidFill>
              <a:latin typeface="Calibri"/>
            </a:endParaRPr>
          </a:p>
        </p:txBody>
      </p:sp>
      <p:sp>
        <p:nvSpPr>
          <p:cNvPr id="38" name="TextBox 37"/>
          <p:cNvSpPr txBox="1"/>
          <p:nvPr/>
        </p:nvSpPr>
        <p:spPr>
          <a:xfrm>
            <a:off x="2569464" y="4773168"/>
            <a:ext cx="2423160" cy="502920"/>
          </a:xfrm>
          <a:prstGeom prst="rect">
            <a:avLst/>
          </a:prstGeom>
          <a:noFill/>
        </p:spPr>
        <p:txBody>
          <a:bodyPr wrap="square">
            <a:spAutoFit/>
          </a:bodyPr>
          <a:lstStyle/>
          <a:p>
            <a:pPr algn="l"/>
            <a:r>
              <a:rPr sz="1200" b="0" i="0">
                <a:solidFill>
                  <a:srgbClr val="1A1A2E"/>
                </a:solidFill>
                <a:latin typeface="Calibri"/>
              </a:rPr>
              <a:t>CBOE VIX index</a:t>
            </a:r>
            <a:endParaRPr sz="1200" b="0" i="0">
              <a:solidFill>
                <a:srgbClr val="1A1A2E"/>
              </a:solidFill>
              <a:latin typeface="Calibri"/>
            </a:endParaRPr>
          </a:p>
        </p:txBody>
      </p:sp>
      <p:sp>
        <p:nvSpPr>
          <p:cNvPr id="39" name="TextBox 38"/>
          <p:cNvSpPr txBox="1"/>
          <p:nvPr/>
        </p:nvSpPr>
        <p:spPr>
          <a:xfrm>
            <a:off x="5129784" y="4773168"/>
            <a:ext cx="4434840" cy="502920"/>
          </a:xfrm>
          <a:prstGeom prst="rect">
            <a:avLst/>
          </a:prstGeom>
          <a:noFill/>
        </p:spPr>
        <p:txBody>
          <a:bodyPr wrap="square">
            <a:spAutoFit/>
          </a:bodyPr>
          <a:lstStyle/>
          <a:p>
            <a:pPr algn="l"/>
            <a:r>
              <a:rPr sz="1200" b="0" i="0">
                <a:solidFill>
                  <a:srgbClr val="1A1A2E"/>
                </a:solidFill>
                <a:latin typeface="Calibri"/>
              </a:rPr>
              <a:t>FRED</a:t>
            </a:r>
            <a:endParaRPr sz="1200" b="0" i="0">
              <a:solidFill>
                <a:srgbClr val="1A1A2E"/>
              </a:solidFill>
              <a:latin typeface="Calibri"/>
            </a:endParaRPr>
          </a:p>
        </p:txBody>
      </p:sp>
      <p:sp>
        <p:nvSpPr>
          <p:cNvPr id="40" name="TextBox 39"/>
          <p:cNvSpPr txBox="1"/>
          <p:nvPr/>
        </p:nvSpPr>
        <p:spPr>
          <a:xfrm>
            <a:off x="9701784" y="4773168"/>
            <a:ext cx="2057400" cy="502920"/>
          </a:xfrm>
          <a:prstGeom prst="rect">
            <a:avLst/>
          </a:prstGeom>
          <a:noFill/>
        </p:spPr>
        <p:txBody>
          <a:bodyPr wrap="square">
            <a:spAutoFit/>
          </a:bodyPr>
          <a:lstStyle/>
          <a:p>
            <a:pPr algn="l"/>
            <a:r>
              <a:rPr sz="1200" b="0" i="0">
                <a:solidFill>
                  <a:srgbClr val="1A1A2E"/>
                </a:solidFill>
                <a:latin typeface="Calibri"/>
              </a:rPr>
              <a:t>Daily → Monthly</a:t>
            </a:r>
            <a:endParaRPr sz="1200" b="0" i="0">
              <a:solidFill>
                <a:srgbClr val="1A1A2E"/>
              </a:solidFill>
              <a:latin typeface="Calibri"/>
            </a:endParaRPr>
          </a:p>
        </p:txBody>
      </p:sp>
      <p:sp>
        <p:nvSpPr>
          <p:cNvPr id="41" name="Rectangle 40"/>
          <p:cNvSpPr/>
          <p:nvPr/>
        </p:nvSpPr>
        <p:spPr>
          <a:xfrm>
            <a:off x="320040" y="5349240"/>
            <a:ext cx="11521440" cy="6675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74904" y="5440680"/>
            <a:ext cx="2057400" cy="502920"/>
          </a:xfrm>
          <a:prstGeom prst="rect">
            <a:avLst/>
          </a:prstGeom>
          <a:noFill/>
        </p:spPr>
        <p:txBody>
          <a:bodyPr wrap="square">
            <a:spAutoFit/>
          </a:bodyPr>
          <a:lstStyle/>
          <a:p>
            <a:pPr algn="l"/>
            <a:r>
              <a:rPr sz="1200" b="0" i="0">
                <a:solidFill>
                  <a:srgbClr val="1A1A2E"/>
                </a:solidFill>
                <a:latin typeface="Calibri"/>
              </a:rPr>
              <a:t>ΔlnN* (RoW equity)</a:t>
            </a:r>
            <a:endParaRPr sz="1200" b="0" i="0">
              <a:solidFill>
                <a:srgbClr val="1A1A2E"/>
              </a:solidFill>
              <a:latin typeface="Calibri"/>
            </a:endParaRPr>
          </a:p>
        </p:txBody>
      </p:sp>
      <p:sp>
        <p:nvSpPr>
          <p:cNvPr id="43" name="TextBox 42"/>
          <p:cNvSpPr txBox="1"/>
          <p:nvPr/>
        </p:nvSpPr>
        <p:spPr>
          <a:xfrm>
            <a:off x="2569464" y="5440680"/>
            <a:ext cx="2423160" cy="502920"/>
          </a:xfrm>
          <a:prstGeom prst="rect">
            <a:avLst/>
          </a:prstGeom>
          <a:noFill/>
        </p:spPr>
        <p:txBody>
          <a:bodyPr wrap="square">
            <a:spAutoFit/>
          </a:bodyPr>
          <a:lstStyle/>
          <a:p>
            <a:pPr algn="l"/>
            <a:r>
              <a:rPr sz="1200" b="0" i="0">
                <a:solidFill>
                  <a:srgbClr val="1A1A2E"/>
                </a:solidFill>
                <a:latin typeface="Calibri"/>
              </a:rPr>
              <a:t>ACWX ETF log-return</a:t>
            </a:r>
            <a:endParaRPr sz="1200" b="0" i="0">
              <a:solidFill>
                <a:srgbClr val="1A1A2E"/>
              </a:solidFill>
              <a:latin typeface="Calibri"/>
            </a:endParaRPr>
          </a:p>
        </p:txBody>
      </p:sp>
      <p:sp>
        <p:nvSpPr>
          <p:cNvPr id="44" name="TextBox 43"/>
          <p:cNvSpPr txBox="1"/>
          <p:nvPr/>
        </p:nvSpPr>
        <p:spPr>
          <a:xfrm>
            <a:off x="5129784" y="5440680"/>
            <a:ext cx="4434840" cy="502920"/>
          </a:xfrm>
          <a:prstGeom prst="rect">
            <a:avLst/>
          </a:prstGeom>
          <a:noFill/>
        </p:spPr>
        <p:txBody>
          <a:bodyPr wrap="square">
            <a:spAutoFit/>
          </a:bodyPr>
          <a:lstStyle/>
          <a:p>
            <a:pPr algn="l"/>
            <a:r>
              <a:rPr sz="1200" b="0" i="0">
                <a:solidFill>
                  <a:srgbClr val="1A1A2E"/>
                </a:solidFill>
                <a:latin typeface="Calibri"/>
              </a:rPr>
              <a:t>Yahoo Finance</a:t>
            </a:r>
            <a:endParaRPr sz="1200" b="0" i="0">
              <a:solidFill>
                <a:srgbClr val="1A1A2E"/>
              </a:solidFill>
              <a:latin typeface="Calibri"/>
            </a:endParaRPr>
          </a:p>
        </p:txBody>
      </p:sp>
      <p:sp>
        <p:nvSpPr>
          <p:cNvPr id="45" name="TextBox 44"/>
          <p:cNvSpPr txBox="1"/>
          <p:nvPr/>
        </p:nvSpPr>
        <p:spPr>
          <a:xfrm>
            <a:off x="9701784" y="5440680"/>
            <a:ext cx="2057400" cy="502920"/>
          </a:xfrm>
          <a:prstGeom prst="rect">
            <a:avLst/>
          </a:prstGeom>
          <a:noFill/>
        </p:spPr>
        <p:txBody>
          <a:bodyPr wrap="square">
            <a:spAutoFit/>
          </a:bodyPr>
          <a:lstStyle/>
          <a:p>
            <a:pPr algn="l"/>
            <a:r>
              <a:rPr sz="1200" b="0" i="0">
                <a:solidFill>
                  <a:srgbClr val="1A1A2E"/>
                </a:solidFill>
                <a:latin typeface="Calibri"/>
              </a:rPr>
              <a:t>Daily → Monthly</a:t>
            </a:r>
            <a:endParaRPr sz="1200" b="0" i="0">
              <a:solidFill>
                <a:srgbClr val="1A1A2E"/>
              </a:solidFill>
              <a:latin typeface="Calibri"/>
            </a:endParaRPr>
          </a:p>
        </p:txBody>
      </p:sp>
      <p:sp>
        <p:nvSpPr>
          <p:cNvPr id="46" name="TextBox 45"/>
          <p:cNvSpPr txBox="1"/>
          <p:nvPr/>
        </p:nvSpPr>
        <p:spPr>
          <a:xfrm>
            <a:off x="320040" y="6355080"/>
            <a:ext cx="11521440" cy="384048"/>
          </a:xfrm>
          <a:prstGeom prst="rect">
            <a:avLst/>
          </a:prstGeom>
          <a:noFill/>
        </p:spPr>
        <p:txBody>
          <a:bodyPr wrap="square">
            <a:spAutoFit/>
          </a:bodyPr>
          <a:lstStyle/>
          <a:p>
            <a:pPr algn="ctr"/>
            <a:r>
              <a:rPr sz="1100" b="0" i="1">
                <a:solidFill>
                  <a:srgbClr val="555566"/>
                </a:solidFill>
                <a:latin typeface="Calibri"/>
              </a:rPr>
              <a:t>Sample: January 2022 – March 2026  |  N = 51 monthly observations  |  θ and L sourced from Tether/BDO and Circle/Deloitte reserve attestations</a:t>
            </a:r>
            <a:endParaRPr sz="1100" b="0" i="1">
              <a:solidFill>
                <a:srgbClr val="555566"/>
              </a:solidFill>
              <a:latin typeface="Calibri"/>
            </a:endParaRPr>
          </a:p>
        </p:txBody>
      </p:sp>
      <p:sp>
        <p:nvSpPr>
          <p:cNvPr id="47" name="TextBox 46"/>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6</a:t>
            </a:r>
            <a:endParaRPr sz="1300" b="0" i="0">
              <a:solidFill>
                <a:srgbClr val="555566"/>
              </a:solidFill>
              <a:latin typeface="Calibri"/>
            </a:endParaRPr>
          </a:p>
        </p:txBody>
      </p:sp>
      <p:sp>
        <p:nvSpPr>
          <p:cNvPr id="48" name="TextBox 47"/>
          <p:cNvSpPr txBox="1"/>
          <p:nvPr/>
        </p:nvSpPr>
        <p:spPr>
          <a:xfrm>
            <a:off x="11064240" y="206829"/>
            <a:ext cx="942703" cy="369332"/>
          </a:xfrm>
          <a:prstGeom prst="rect">
            <a:avLst/>
          </a:prstGeom>
          <a:noFill/>
        </p:spPr>
        <p:txBody>
          <a:bodyPr wrap="square" rtlCol="0">
            <a:spAutoFit/>
          </a:bodyPr>
          <a:lstStyle/>
          <a:p>
            <a:r>
              <a:rPr kumimoji="1" lang="en-US" altLang="ko-KR" dirty="0">
                <a:solidFill>
                  <a:schemeClr val="bg1"/>
                </a:solidFill>
              </a:rPr>
              <a:t>Oybek</a:t>
            </a:r>
            <a:endParaRPr kumimoji="1" lang="ko-KR" altLang="en-US"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Key Variables: January 2022 – March 2026</a:t>
            </a:r>
            <a:endParaRPr sz="2600" b="0" i="0">
              <a:solidFill>
                <a:srgbClr val="FFFFFF"/>
              </a:solidFill>
              <a:latin typeface="Calibri"/>
            </a:endParaRP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7</a:t>
            </a:r>
            <a:endParaRPr sz="1300" b="0" i="0">
              <a:solidFill>
                <a:srgbClr val="555566"/>
              </a:solidFill>
              <a:latin typeface="Calibri"/>
            </a:endParaRPr>
          </a:p>
        </p:txBody>
      </p:sp>
      <p:pic>
        <p:nvPicPr>
          <p:cNvPr id="6" name="Picture 5" descr="fig_timeseries.png"/>
          <p:cNvPicPr>
            <a:picLocks noChangeAspect="1"/>
          </p:cNvPicPr>
          <p:nvPr/>
        </p:nvPicPr>
        <p:blipFill>
          <a:blip r:embed="rId1"/>
          <a:stretch>
            <a:fillRect/>
          </a:stretch>
        </p:blipFill>
        <p:spPr>
          <a:xfrm>
            <a:off x="274320" y="914400"/>
            <a:ext cx="7772400" cy="5692886"/>
          </a:xfrm>
          <a:prstGeom prst="rect">
            <a:avLst/>
          </a:prstGeom>
        </p:spPr>
      </p:pic>
      <p:sp>
        <p:nvSpPr>
          <p:cNvPr id="7" name="TextBox 6"/>
          <p:cNvSpPr txBox="1"/>
          <p:nvPr/>
        </p:nvSpPr>
        <p:spPr>
          <a:xfrm>
            <a:off x="8119871" y="1075509"/>
            <a:ext cx="4068954" cy="5463034"/>
          </a:xfrm>
          <a:prstGeom prst="rect">
            <a:avLst/>
          </a:prstGeom>
          <a:noFill/>
        </p:spPr>
        <p:txBody>
          <a:bodyPr wrap="square">
            <a:spAutoFit/>
          </a:bodyPr>
          <a:lstStyle/>
          <a:p>
            <a:pPr algn="l">
              <a:spcBef>
                <a:spcPts val="400"/>
              </a:spcBef>
            </a:pPr>
            <a:r>
              <a:rPr b="1" i="0" dirty="0">
                <a:solidFill>
                  <a:srgbClr val="1B3A72"/>
                </a:solidFill>
                <a:latin typeface="Calibri"/>
              </a:rPr>
              <a:t>Three panels</a:t>
            </a:r>
            <a:endParaRPr lang="en-US" b="1" i="0" dirty="0">
              <a:solidFill>
                <a:srgbClr val="1B3A72"/>
              </a:solidFill>
              <a:latin typeface="Calibri"/>
            </a:endParaRPr>
          </a:p>
          <a:p>
            <a:pPr algn="l">
              <a:spcBef>
                <a:spcPts val="400"/>
              </a:spcBef>
            </a:pPr>
            <a:r>
              <a:rPr sz="1600" b="0" i="0" dirty="0">
                <a:solidFill>
                  <a:srgbClr val="1A1A2E"/>
                </a:solidFill>
                <a:latin typeface="Calibri"/>
              </a:rPr>
              <a:t>❖  A: Treasury spread — compresses when supply grows, spikes in crises</a:t>
            </a:r>
            <a:r>
              <a:rPr lang="en-US" sz="1600" b="0" i="0" dirty="0">
                <a:solidFill>
                  <a:srgbClr val="1A1A2E"/>
                </a:solidFill>
                <a:latin typeface="Calibri"/>
              </a:rPr>
              <a:t>.</a:t>
            </a:r>
            <a:endParaRPr lang="en-US" sz="1600" b="0" i="0" dirty="0">
              <a:solidFill>
                <a:srgbClr val="1A1A2E"/>
              </a:solidFill>
              <a:latin typeface="Calibri"/>
            </a:endParaRPr>
          </a:p>
          <a:p>
            <a:pPr>
              <a:spcBef>
                <a:spcPts val="900"/>
              </a:spcBef>
            </a:pPr>
            <a:r>
              <a:rPr lang="en-US" altLang="ko-KR" sz="1600" dirty="0"/>
              <a:t>T-bill (DTB3) is a </a:t>
            </a:r>
            <a:r>
              <a:rPr lang="en-US" altLang="ko-KR" sz="1600" b="1" dirty="0"/>
              <a:t>3-month U.S. government bond</a:t>
            </a:r>
            <a:r>
              <a:rPr lang="en-US" altLang="ko-KR" sz="1600" dirty="0"/>
              <a:t>. </a:t>
            </a:r>
            <a:r>
              <a:rPr lang="en-US" altLang="ko-KR" sz="1600" b="1" dirty="0"/>
              <a:t>Secured Overnight Financing Rate </a:t>
            </a:r>
            <a:r>
              <a:rPr lang="en-US" altLang="ko-KR" sz="1600" dirty="0"/>
              <a:t>is the rate banks charge for one night. </a:t>
            </a:r>
            <a:endParaRPr lang="en-US" sz="1600" b="0" i="0" dirty="0">
              <a:solidFill>
                <a:srgbClr val="1A1A2E"/>
              </a:solidFill>
              <a:latin typeface="Calibri"/>
            </a:endParaRPr>
          </a:p>
          <a:p>
            <a:pPr>
              <a:spcBef>
                <a:spcPts val="900"/>
              </a:spcBef>
            </a:pPr>
            <a:r>
              <a:rPr lang="en-US" altLang="ko-KR" sz="1600" dirty="0">
                <a:solidFill>
                  <a:srgbClr val="1A1A2E"/>
                </a:solidFill>
              </a:rPr>
              <a:t>❖  Red vertical lines = stress events we study</a:t>
            </a:r>
            <a:endParaRPr lang="en-US" altLang="ko-KR" sz="1600" dirty="0">
              <a:solidFill>
                <a:srgbClr val="1A1A2E"/>
              </a:solidFill>
            </a:endParaRPr>
          </a:p>
          <a:p>
            <a:pPr algn="l">
              <a:spcBef>
                <a:spcPts val="900"/>
              </a:spcBef>
            </a:pPr>
            <a:endParaRPr sz="1600" b="0" i="0" dirty="0">
              <a:solidFill>
                <a:srgbClr val="1A1A2E"/>
              </a:solidFill>
              <a:latin typeface="Calibri"/>
            </a:endParaRPr>
          </a:p>
          <a:p>
            <a:pPr algn="l">
              <a:spcBef>
                <a:spcPts val="900"/>
              </a:spcBef>
            </a:pPr>
            <a:r>
              <a:rPr sz="1600" b="0" i="0" dirty="0">
                <a:solidFill>
                  <a:srgbClr val="1A1A2E"/>
                </a:solidFill>
                <a:latin typeface="Calibri"/>
              </a:rPr>
              <a:t>❖  B: USDT + USDC supply — grew from $100bn to $200bn+ over this period</a:t>
            </a:r>
            <a:endParaRPr lang="en-US" sz="1600" b="0" i="0" dirty="0">
              <a:solidFill>
                <a:srgbClr val="1A1A2E"/>
              </a:solidFill>
              <a:latin typeface="Calibri"/>
            </a:endParaRPr>
          </a:p>
          <a:p>
            <a:pPr algn="l">
              <a:spcBef>
                <a:spcPts val="900"/>
              </a:spcBef>
            </a:pPr>
            <a:endParaRPr lang="en-US" sz="1600" dirty="0">
              <a:solidFill>
                <a:srgbClr val="1A1A2E"/>
              </a:solidFill>
              <a:latin typeface="Calibri"/>
            </a:endParaRPr>
          </a:p>
          <a:p>
            <a:pPr algn="l">
              <a:spcBef>
                <a:spcPts val="900"/>
              </a:spcBef>
            </a:pPr>
            <a:endParaRPr lang="en-US" sz="1600" b="0" i="0" dirty="0">
              <a:solidFill>
                <a:srgbClr val="1A1A2E"/>
              </a:solidFill>
              <a:latin typeface="Calibri"/>
            </a:endParaRPr>
          </a:p>
          <a:p>
            <a:pPr algn="l">
              <a:spcBef>
                <a:spcPts val="900"/>
              </a:spcBef>
            </a:pPr>
            <a:endParaRPr sz="1600" b="0" i="0" dirty="0">
              <a:solidFill>
                <a:srgbClr val="1A1A2E"/>
              </a:solidFill>
              <a:latin typeface="Calibri"/>
            </a:endParaRPr>
          </a:p>
          <a:p>
            <a:pPr algn="l">
              <a:spcBef>
                <a:spcPts val="900"/>
              </a:spcBef>
            </a:pPr>
            <a:r>
              <a:rPr sz="1600" b="0" i="0" dirty="0">
                <a:solidFill>
                  <a:srgbClr val="1A1A2E"/>
                </a:solidFill>
                <a:latin typeface="Calibri"/>
              </a:rPr>
              <a:t>❖  C: Liquid buffer L — dangerously thin in 2022, recovering since 2023</a:t>
            </a:r>
            <a:endParaRPr sz="1600" b="0" i="0" dirty="0">
              <a:solidFill>
                <a:srgbClr val="1A1A2E"/>
              </a:solidFill>
              <a:latin typeface="Calibri"/>
            </a:endParaRPr>
          </a:p>
          <a:p>
            <a:pPr algn="l">
              <a:spcBef>
                <a:spcPts val="900"/>
              </a:spcBef>
            </a:pPr>
            <a:r>
              <a:rPr sz="1600" b="0" i="0" dirty="0">
                <a:solidFill>
                  <a:srgbClr val="1A1A2E"/>
                </a:solidFill>
                <a:latin typeface="Calibri"/>
              </a:rPr>
              <a:t>❖  Red dashed line = our estimated safety threshold (13%)</a:t>
            </a:r>
            <a:endParaRPr sz="1600" b="0" i="0" dirty="0">
              <a:solidFill>
                <a:srgbClr val="1A1A2E"/>
              </a:solidFill>
              <a:latin typeface="Calibri"/>
            </a:endParaRPr>
          </a:p>
        </p:txBody>
      </p:sp>
      <p:sp>
        <p:nvSpPr>
          <p:cNvPr id="8" name="TextBox 7"/>
          <p:cNvSpPr txBox="1"/>
          <p:nvPr/>
        </p:nvSpPr>
        <p:spPr>
          <a:xfrm>
            <a:off x="11288486" y="206829"/>
            <a:ext cx="718457" cy="369332"/>
          </a:xfrm>
          <a:prstGeom prst="rect">
            <a:avLst/>
          </a:prstGeom>
          <a:noFill/>
        </p:spPr>
        <p:txBody>
          <a:bodyPr wrap="square" rtlCol="0">
            <a:spAutoFit/>
          </a:bodyPr>
          <a:lstStyle/>
          <a:p>
            <a:r>
              <a:rPr kumimoji="1" lang="en-US" altLang="ko-KR" dirty="0">
                <a:solidFill>
                  <a:schemeClr val="bg1"/>
                </a:solidFill>
              </a:rPr>
              <a:t>Mimi</a:t>
            </a:r>
            <a:endParaRPr kumimoji="1" lang="ko-KR" altLang="en-US" dirty="0">
              <a:solidFill>
                <a:schemeClr val="bg1"/>
              </a:solidFill>
            </a:endParaRPr>
          </a:p>
        </p:txBody>
      </p:sp>
      <p:sp>
        <p:nvSpPr>
          <p:cNvPr id="9" name="줄무늬가 있는 오른쪽 화살표[S] 8"/>
          <p:cNvSpPr/>
          <p:nvPr/>
        </p:nvSpPr>
        <p:spPr>
          <a:xfrm>
            <a:off x="2493108" y="2365829"/>
            <a:ext cx="1004836" cy="377371"/>
          </a:xfrm>
          <a:prstGeom prst="stripedRightArrow">
            <a:avLst>
              <a:gd name="adj1" fmla="val 54142"/>
              <a:gd name="adj2" fmla="val 50000"/>
            </a:avLst>
          </a:prstGeom>
          <a:gradFill>
            <a:gsLst>
              <a:gs pos="0">
                <a:srgbClr val="FF0000"/>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ko-KR" dirty="0"/>
              <a:t>LUNA</a:t>
            </a:r>
            <a:endParaRPr kumimoji="1" lang="ko-KR" altLang="en-US" dirty="0"/>
          </a:p>
        </p:txBody>
      </p:sp>
      <p:sp>
        <p:nvSpPr>
          <p:cNvPr id="10" name="왼쪽 화살표[L] 9"/>
          <p:cNvSpPr/>
          <p:nvPr/>
        </p:nvSpPr>
        <p:spPr>
          <a:xfrm>
            <a:off x="4538132" y="2365829"/>
            <a:ext cx="1178599" cy="377371"/>
          </a:xfrm>
          <a:prstGeom prst="leftArrow">
            <a:avLst>
              <a:gd name="adj1" fmla="val 55983"/>
              <a:gd name="adj2" fmla="val 50000"/>
            </a:avLst>
          </a:prstGeom>
          <a:gradFill>
            <a:gsLst>
              <a:gs pos="0">
                <a:srgbClr val="FF0000"/>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ko-KR" dirty="0"/>
              <a:t>SVB</a:t>
            </a:r>
            <a:endParaRPr kumimoji="1" lang="ko-KR" altLang="en-US" dirty="0"/>
          </a:p>
        </p:txBody>
      </p:sp>
      <p:sp>
        <p:nvSpPr>
          <p:cNvPr id="11" name="오른쪽 화살표[R] 10"/>
          <p:cNvSpPr/>
          <p:nvPr/>
        </p:nvSpPr>
        <p:spPr>
          <a:xfrm>
            <a:off x="991892" y="5238427"/>
            <a:ext cx="650928" cy="356461"/>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What the Data Shows Us</a:t>
            </a:r>
            <a:endParaRPr sz="2600" b="0" i="0">
              <a:solidFill>
                <a:srgbClr val="FFFFFF"/>
              </a:solidFill>
              <a:latin typeface="Calibri"/>
            </a:endParaRPr>
          </a:p>
        </p:txBody>
      </p:sp>
      <p:grpSp>
        <p:nvGrpSpPr>
          <p:cNvPr id="19" name="그룹 18"/>
          <p:cNvGrpSpPr/>
          <p:nvPr/>
        </p:nvGrpSpPr>
        <p:grpSpPr>
          <a:xfrm>
            <a:off x="365760" y="1005840"/>
            <a:ext cx="11430000" cy="1709928"/>
            <a:chOff x="365760" y="1005840"/>
            <a:chExt cx="11430000" cy="1709928"/>
          </a:xfrm>
        </p:grpSpPr>
        <p:sp>
          <p:nvSpPr>
            <p:cNvPr id="6" name="Rectangle 5"/>
            <p:cNvSpPr/>
            <p:nvPr/>
          </p:nvSpPr>
          <p:spPr>
            <a:xfrm>
              <a:off x="365760" y="1005840"/>
              <a:ext cx="11430000" cy="4114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69848"/>
              <a:ext cx="11064240" cy="320040"/>
            </a:xfrm>
            <a:prstGeom prst="rect">
              <a:avLst/>
            </a:prstGeom>
            <a:noFill/>
          </p:spPr>
          <p:txBody>
            <a:bodyPr wrap="square">
              <a:spAutoFit/>
            </a:bodyPr>
            <a:lstStyle/>
            <a:p>
              <a:pPr algn="l"/>
              <a:r>
                <a:rPr sz="1500" b="1" i="0">
                  <a:solidFill>
                    <a:srgbClr val="FFFFFF"/>
                  </a:solidFill>
                  <a:latin typeface="Calibri"/>
                </a:rPr>
                <a:t>MORE SUPPLY  →  LOWER SPREAD</a:t>
              </a:r>
              <a:endParaRPr sz="1500" b="1" i="0">
                <a:solidFill>
                  <a:srgbClr val="FFFFFF"/>
                </a:solidFill>
                <a:latin typeface="Calibri"/>
              </a:endParaRPr>
            </a:p>
          </p:txBody>
        </p:sp>
        <p:sp>
          <p:nvSpPr>
            <p:cNvPr id="8" name="Rectangle 7"/>
            <p:cNvSpPr/>
            <p:nvPr/>
          </p:nvSpPr>
          <p:spPr>
            <a:xfrm>
              <a:off x="365760" y="1417320"/>
              <a:ext cx="11430000" cy="1298448"/>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536192"/>
              <a:ext cx="11064240" cy="646331"/>
            </a:xfrm>
            <a:prstGeom prst="rect">
              <a:avLst/>
            </a:prstGeom>
            <a:noFill/>
          </p:spPr>
          <p:txBody>
            <a:bodyPr wrap="square">
              <a:spAutoFit/>
            </a:bodyPr>
            <a:lstStyle/>
            <a:p>
              <a:pPr algn="l"/>
              <a:r>
                <a:rPr b="0" i="0" dirty="0">
                  <a:solidFill>
                    <a:srgbClr val="1A1A2E"/>
                  </a:solidFill>
                  <a:latin typeface="Calibri"/>
                </a:rPr>
                <a:t>As USDT and USDC supply grew, the gap between Treasury yields and overnight rates compressed. Stablecoin issuers were buying U.S. T-bills to back their tokens — deepening demand for safe assets.</a:t>
              </a:r>
              <a:endParaRPr b="0" i="0" dirty="0">
                <a:solidFill>
                  <a:srgbClr val="1A1A2E"/>
                </a:solidFill>
                <a:latin typeface="Calibri"/>
              </a:endParaRPr>
            </a:p>
          </p:txBody>
        </p:sp>
      </p:grpSp>
      <p:grpSp>
        <p:nvGrpSpPr>
          <p:cNvPr id="20" name="그룹 19"/>
          <p:cNvGrpSpPr/>
          <p:nvPr/>
        </p:nvGrpSpPr>
        <p:grpSpPr>
          <a:xfrm>
            <a:off x="365760" y="2788920"/>
            <a:ext cx="11430000" cy="1709928"/>
            <a:chOff x="365760" y="2788920"/>
            <a:chExt cx="11430000" cy="1709928"/>
          </a:xfrm>
        </p:grpSpPr>
        <p:sp>
          <p:nvSpPr>
            <p:cNvPr id="10" name="Rectangle 9"/>
            <p:cNvSpPr/>
            <p:nvPr/>
          </p:nvSpPr>
          <p:spPr>
            <a:xfrm>
              <a:off x="365760" y="2788920"/>
              <a:ext cx="1143000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852928"/>
              <a:ext cx="11064240" cy="320040"/>
            </a:xfrm>
            <a:prstGeom prst="rect">
              <a:avLst/>
            </a:prstGeom>
            <a:noFill/>
          </p:spPr>
          <p:txBody>
            <a:bodyPr wrap="square">
              <a:spAutoFit/>
            </a:bodyPr>
            <a:lstStyle/>
            <a:p>
              <a:pPr algn="l"/>
              <a:r>
                <a:rPr sz="1500" b="1" i="0">
                  <a:solidFill>
                    <a:srgbClr val="FFFFFF"/>
                  </a:solidFill>
                  <a:latin typeface="Calibri"/>
                </a:rPr>
                <a:t>CRISIS  →  SPREAD SPIKES</a:t>
              </a:r>
              <a:endParaRPr sz="1500" b="1" i="0">
                <a:solidFill>
                  <a:srgbClr val="FFFFFF"/>
                </a:solidFill>
                <a:latin typeface="Calibri"/>
              </a:endParaRPr>
            </a:p>
          </p:txBody>
        </p:sp>
        <p:sp>
          <p:nvSpPr>
            <p:cNvPr id="12" name="Rectangle 11"/>
            <p:cNvSpPr/>
            <p:nvPr/>
          </p:nvSpPr>
          <p:spPr>
            <a:xfrm>
              <a:off x="365760" y="3200400"/>
              <a:ext cx="11430000" cy="1298448"/>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319272"/>
              <a:ext cx="11064240" cy="646331"/>
            </a:xfrm>
            <a:prstGeom prst="rect">
              <a:avLst/>
            </a:prstGeom>
            <a:noFill/>
          </p:spPr>
          <p:txBody>
            <a:bodyPr wrap="square">
              <a:spAutoFit/>
            </a:bodyPr>
            <a:lstStyle/>
            <a:p>
              <a:pPr algn="l"/>
              <a:r>
                <a:rPr b="0" i="0" dirty="0">
                  <a:solidFill>
                    <a:srgbClr val="1A1A2E"/>
                  </a:solidFill>
                  <a:latin typeface="Calibri"/>
                </a:rPr>
                <a:t>During the LUNA/UST collapse (May 2022), spreads spiked as issuers were forced to liquidate T-bill holdings to meet redemptions. The privilege reversed — exactly what our theory predicts.</a:t>
              </a:r>
              <a:endParaRPr b="0" i="0" dirty="0">
                <a:solidFill>
                  <a:srgbClr val="1A1A2E"/>
                </a:solidFill>
                <a:latin typeface="Calibri"/>
              </a:endParaRPr>
            </a:p>
          </p:txBody>
        </p:sp>
      </p:grpSp>
      <p:grpSp>
        <p:nvGrpSpPr>
          <p:cNvPr id="21" name="그룹 20"/>
          <p:cNvGrpSpPr/>
          <p:nvPr/>
        </p:nvGrpSpPr>
        <p:grpSpPr>
          <a:xfrm>
            <a:off x="365760" y="4572000"/>
            <a:ext cx="11731752" cy="2221992"/>
            <a:chOff x="365760" y="4572000"/>
            <a:chExt cx="11731752" cy="2221992"/>
          </a:xfrm>
        </p:grpSpPr>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8</a:t>
              </a:r>
              <a:endParaRPr sz="1300" b="0" i="0">
                <a:solidFill>
                  <a:srgbClr val="555566"/>
                </a:solidFill>
                <a:latin typeface="Calibri"/>
              </a:endParaRPr>
            </a:p>
          </p:txBody>
        </p:sp>
        <p:sp>
          <p:nvSpPr>
            <p:cNvPr id="14" name="Rectangle 13"/>
            <p:cNvSpPr/>
            <p:nvPr/>
          </p:nvSpPr>
          <p:spPr>
            <a:xfrm>
              <a:off x="365760" y="4572000"/>
              <a:ext cx="11430000" cy="4114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4636008"/>
              <a:ext cx="11064240" cy="320040"/>
            </a:xfrm>
            <a:prstGeom prst="rect">
              <a:avLst/>
            </a:prstGeom>
            <a:noFill/>
          </p:spPr>
          <p:txBody>
            <a:bodyPr wrap="square">
              <a:spAutoFit/>
            </a:bodyPr>
            <a:lstStyle/>
            <a:p>
              <a:pPr algn="l"/>
              <a:r>
                <a:rPr sz="1500" b="1" i="0" dirty="0">
                  <a:solidFill>
                    <a:srgbClr val="FFFFFF"/>
                  </a:solidFill>
                  <a:latin typeface="Calibri"/>
                </a:rPr>
                <a:t>BUFFER WAS THIN WHEN IT MATTERED MOST</a:t>
              </a:r>
              <a:endParaRPr sz="1500" b="1" i="0" dirty="0">
                <a:solidFill>
                  <a:srgbClr val="FFFFFF"/>
                </a:solidFill>
                <a:latin typeface="Calibri"/>
              </a:endParaRPr>
            </a:p>
          </p:txBody>
        </p:sp>
        <p:sp>
          <p:nvSpPr>
            <p:cNvPr id="16" name="Rectangle 15"/>
            <p:cNvSpPr/>
            <p:nvPr/>
          </p:nvSpPr>
          <p:spPr>
            <a:xfrm>
              <a:off x="365760" y="4983480"/>
              <a:ext cx="11430000" cy="129844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5102352"/>
              <a:ext cx="11064240" cy="646331"/>
            </a:xfrm>
            <a:prstGeom prst="rect">
              <a:avLst/>
            </a:prstGeom>
            <a:noFill/>
          </p:spPr>
          <p:txBody>
            <a:bodyPr wrap="square">
              <a:spAutoFit/>
            </a:bodyPr>
            <a:lstStyle/>
            <a:p>
              <a:pPr algn="l"/>
              <a:r>
                <a:rPr b="0" i="0" dirty="0">
                  <a:solidFill>
                    <a:srgbClr val="1A1A2E"/>
                  </a:solidFill>
                  <a:latin typeface="Calibri"/>
                </a:rPr>
                <a:t>In 2022, liquid cash reserves sat below our estimated 13% safety threshold. Issuers had to sell T-bills instead of using cash — amplifying the shock.</a:t>
              </a:r>
              <a:endParaRPr b="0" i="0" dirty="0">
                <a:solidFill>
                  <a:srgbClr val="1A1A2E"/>
                </a:solidFill>
                <a:latin typeface="Calibri"/>
              </a:endParaRPr>
            </a:p>
          </p:txBody>
        </p:sp>
      </p:grpSp>
      <p:sp>
        <p:nvSpPr>
          <p:cNvPr id="18" name="TextBox 17"/>
          <p:cNvSpPr txBox="1"/>
          <p:nvPr/>
        </p:nvSpPr>
        <p:spPr>
          <a:xfrm>
            <a:off x="11288486" y="206829"/>
            <a:ext cx="718457" cy="369332"/>
          </a:xfrm>
          <a:prstGeom prst="rect">
            <a:avLst/>
          </a:prstGeom>
          <a:noFill/>
        </p:spPr>
        <p:txBody>
          <a:bodyPr wrap="square" rtlCol="0">
            <a:spAutoFit/>
          </a:bodyPr>
          <a:lstStyle/>
          <a:p>
            <a:r>
              <a:rPr kumimoji="1" lang="en-US" altLang="ko-KR" dirty="0">
                <a:solidFill>
                  <a:schemeClr val="bg1"/>
                </a:solidFill>
              </a:rPr>
              <a:t>Mimi</a:t>
            </a:r>
            <a:endParaRPr kumimoji="1" lang="ko-KR" altLang="en-US"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Result 1: Stablecoin Growth Compresses Treasury Spreads</a:t>
            </a:r>
            <a:endParaRPr sz="2600" b="0" i="0">
              <a:solidFill>
                <a:srgbClr val="FFFFFF"/>
              </a:solidFill>
              <a:latin typeface="Calibri"/>
            </a:endParaRP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9</a:t>
            </a:r>
            <a:endParaRPr sz="1300" b="0" i="0">
              <a:solidFill>
                <a:srgbClr val="555566"/>
              </a:solidFill>
              <a:latin typeface="Calibri"/>
            </a:endParaRPr>
          </a:p>
        </p:txBody>
      </p:sp>
      <p:sp>
        <p:nvSpPr>
          <p:cNvPr id="6" name="Rectangle 5"/>
          <p:cNvSpPr/>
          <p:nvPr/>
        </p:nvSpPr>
        <p:spPr>
          <a:xfrm>
            <a:off x="365760" y="960120"/>
            <a:ext cx="11430000" cy="47548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005840"/>
            <a:ext cx="11064240" cy="338554"/>
          </a:xfrm>
          <a:prstGeom prst="rect">
            <a:avLst/>
          </a:prstGeom>
          <a:noFill/>
        </p:spPr>
        <p:txBody>
          <a:bodyPr wrap="square">
            <a:spAutoFit/>
          </a:bodyPr>
          <a:lstStyle/>
          <a:p>
            <a:pPr algn="ctr"/>
            <a:r>
              <a:rPr sz="1600" b="1" i="0" dirty="0">
                <a:solidFill>
                  <a:srgbClr val="FFFFFF"/>
                </a:solidFill>
                <a:latin typeface="Calibri"/>
              </a:rPr>
              <a:t>H1  CONFIRMED    —   statistically significant at the 5% level</a:t>
            </a:r>
            <a:endParaRPr sz="1600" b="1" i="0" dirty="0">
              <a:solidFill>
                <a:srgbClr val="FFFFFF"/>
              </a:solidFill>
              <a:latin typeface="Calibri"/>
            </a:endParaRPr>
          </a:p>
        </p:txBody>
      </p:sp>
      <p:sp>
        <p:nvSpPr>
          <p:cNvPr id="8" name="Rectangle 7"/>
          <p:cNvSpPr/>
          <p:nvPr/>
        </p:nvSpPr>
        <p:spPr>
          <a:xfrm>
            <a:off x="365760" y="1508760"/>
            <a:ext cx="5303520" cy="228600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600200"/>
            <a:ext cx="5120640" cy="1097280"/>
          </a:xfrm>
          <a:prstGeom prst="rect">
            <a:avLst/>
          </a:prstGeom>
          <a:noFill/>
        </p:spPr>
        <p:txBody>
          <a:bodyPr wrap="square">
            <a:spAutoFit/>
          </a:bodyPr>
          <a:lstStyle/>
          <a:p>
            <a:pPr algn="ctr"/>
            <a:r>
              <a:rPr sz="4400" b="1" i="0">
                <a:solidFill>
                  <a:srgbClr val="FFFFFF"/>
                </a:solidFill>
                <a:latin typeface="Calibri"/>
              </a:rPr>
              <a:t>β₁ = −6.02**</a:t>
            </a:r>
            <a:endParaRPr sz="4400" b="1" i="0">
              <a:solidFill>
                <a:srgbClr val="FFFFFF"/>
              </a:solidFill>
              <a:latin typeface="Calibri"/>
            </a:endParaRPr>
          </a:p>
        </p:txBody>
      </p:sp>
      <p:sp>
        <p:nvSpPr>
          <p:cNvPr id="10" name="TextBox 9"/>
          <p:cNvSpPr txBox="1"/>
          <p:nvPr/>
        </p:nvSpPr>
        <p:spPr>
          <a:xfrm>
            <a:off x="457200" y="2697480"/>
            <a:ext cx="5120640" cy="320040"/>
          </a:xfrm>
          <a:prstGeom prst="rect">
            <a:avLst/>
          </a:prstGeom>
          <a:noFill/>
        </p:spPr>
        <p:txBody>
          <a:bodyPr wrap="square">
            <a:spAutoFit/>
          </a:bodyPr>
          <a:lstStyle/>
          <a:p>
            <a:pPr algn="ctr"/>
            <a:r>
              <a:rPr sz="1300" b="0" i="1">
                <a:solidFill>
                  <a:srgbClr val="AAC4E8"/>
                </a:solidFill>
                <a:latin typeface="Calibri"/>
              </a:rPr>
              <a:t>N = 51 months  |  R² = 0.50</a:t>
            </a:r>
            <a:endParaRPr sz="1300" b="0" i="1">
              <a:solidFill>
                <a:srgbClr val="AAC4E8"/>
              </a:solidFill>
              <a:latin typeface="Calibri"/>
            </a:endParaRPr>
          </a:p>
        </p:txBody>
      </p:sp>
      <p:sp>
        <p:nvSpPr>
          <p:cNvPr id="11" name="Rectangle 10"/>
          <p:cNvSpPr/>
          <p:nvPr/>
        </p:nvSpPr>
        <p:spPr>
          <a:xfrm>
            <a:off x="5852160" y="1508760"/>
            <a:ext cx="5943600" cy="2286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627632"/>
            <a:ext cx="5577840" cy="347472"/>
          </a:xfrm>
          <a:prstGeom prst="rect">
            <a:avLst/>
          </a:prstGeom>
          <a:noFill/>
        </p:spPr>
        <p:txBody>
          <a:bodyPr wrap="square">
            <a:spAutoFit/>
          </a:bodyPr>
          <a:lstStyle/>
          <a:p>
            <a:pPr algn="l"/>
            <a:r>
              <a:rPr sz="1400" b="1" i="0" dirty="0">
                <a:solidFill>
                  <a:srgbClr val="1B3A72"/>
                </a:solidFill>
                <a:latin typeface="Calibri"/>
              </a:rPr>
              <a:t>What this means in plain terms:</a:t>
            </a:r>
            <a:endParaRPr sz="1400" b="1" i="0" dirty="0">
              <a:solidFill>
                <a:srgbClr val="1B3A72"/>
              </a:solidFill>
              <a:latin typeface="Calibri"/>
            </a:endParaRPr>
          </a:p>
        </p:txBody>
      </p:sp>
      <p:sp>
        <p:nvSpPr>
          <p:cNvPr id="13" name="TextBox 12"/>
          <p:cNvSpPr txBox="1"/>
          <p:nvPr/>
        </p:nvSpPr>
        <p:spPr>
          <a:xfrm>
            <a:off x="6035040" y="2029968"/>
            <a:ext cx="5577840" cy="1292662"/>
          </a:xfrm>
          <a:prstGeom prst="rect">
            <a:avLst/>
          </a:prstGeom>
          <a:noFill/>
        </p:spPr>
        <p:txBody>
          <a:bodyPr wrap="square">
            <a:spAutoFit/>
          </a:bodyPr>
          <a:lstStyle/>
          <a:p>
            <a:pPr algn="l"/>
            <a:r>
              <a:rPr sz="1300" b="0" i="0" dirty="0">
                <a:solidFill>
                  <a:srgbClr val="1A1A2E"/>
                </a:solidFill>
                <a:latin typeface="Calibri"/>
              </a:rPr>
              <a:t>Every 1% growth in stablecoin supply compresses the Treasury spread by about </a:t>
            </a:r>
            <a:r>
              <a:rPr sz="1300" b="1" i="0" dirty="0">
                <a:solidFill>
                  <a:srgbClr val="1A1A2E"/>
                </a:solidFill>
                <a:latin typeface="Calibri"/>
              </a:rPr>
              <a:t>6 basis points.</a:t>
            </a:r>
            <a:r>
              <a:rPr sz="1300" b="0" i="0" dirty="0">
                <a:solidFill>
                  <a:srgbClr val="1A1A2E"/>
                </a:solidFill>
                <a:latin typeface="Calibri"/>
              </a:rPr>
              <a:t>
When Tether and Circle expand, they buy more U.S. T-bills — pushing Treasury yields down relative to overnight rates. This is the exorbitant privilege being amplified.</a:t>
            </a:r>
            <a:endParaRPr sz="1300" b="0" i="0" dirty="0">
              <a:solidFill>
                <a:srgbClr val="1A1A2E"/>
              </a:solidFill>
              <a:latin typeface="Calibri"/>
            </a:endParaRPr>
          </a:p>
        </p:txBody>
      </p:sp>
      <p:sp>
        <p:nvSpPr>
          <p:cNvPr id="14" name="Rectangle 13"/>
          <p:cNvSpPr/>
          <p:nvPr/>
        </p:nvSpPr>
        <p:spPr>
          <a:xfrm>
            <a:off x="365760" y="3913632"/>
            <a:ext cx="9326880" cy="32918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3941063"/>
            <a:ext cx="7086600" cy="256032"/>
          </a:xfrm>
          <a:prstGeom prst="rect">
            <a:avLst/>
          </a:prstGeom>
          <a:noFill/>
        </p:spPr>
        <p:txBody>
          <a:bodyPr wrap="square">
            <a:spAutoFit/>
          </a:bodyPr>
          <a:lstStyle/>
          <a:p>
            <a:pPr algn="l"/>
            <a:r>
              <a:rPr sz="1100" b="1" i="0">
                <a:solidFill>
                  <a:srgbClr val="FFFFFF"/>
                </a:solidFill>
                <a:latin typeface="Calibri"/>
              </a:rPr>
              <a:t>Variable</a:t>
            </a:r>
            <a:endParaRPr sz="1100" b="1" i="0">
              <a:solidFill>
                <a:srgbClr val="FFFFFF"/>
              </a:solidFill>
              <a:latin typeface="Calibri"/>
            </a:endParaRPr>
          </a:p>
        </p:txBody>
      </p:sp>
      <p:sp>
        <p:nvSpPr>
          <p:cNvPr id="16" name="TextBox 15"/>
          <p:cNvSpPr txBox="1"/>
          <p:nvPr/>
        </p:nvSpPr>
        <p:spPr>
          <a:xfrm>
            <a:off x="7543799" y="3941063"/>
            <a:ext cx="1508760" cy="256032"/>
          </a:xfrm>
          <a:prstGeom prst="rect">
            <a:avLst/>
          </a:prstGeom>
          <a:noFill/>
        </p:spPr>
        <p:txBody>
          <a:bodyPr wrap="square">
            <a:spAutoFit/>
          </a:bodyPr>
          <a:lstStyle/>
          <a:p>
            <a:pPr algn="ctr"/>
            <a:r>
              <a:rPr sz="1100" b="1" i="0">
                <a:solidFill>
                  <a:srgbClr val="FFFFFF"/>
                </a:solidFill>
                <a:latin typeface="Calibri"/>
              </a:rPr>
              <a:t>Coefficient</a:t>
            </a:r>
            <a:endParaRPr sz="1100" b="1" i="0">
              <a:solidFill>
                <a:srgbClr val="FFFFFF"/>
              </a:solidFill>
              <a:latin typeface="Calibri"/>
            </a:endParaRPr>
          </a:p>
        </p:txBody>
      </p:sp>
      <p:sp>
        <p:nvSpPr>
          <p:cNvPr id="17" name="TextBox 16"/>
          <p:cNvSpPr txBox="1"/>
          <p:nvPr/>
        </p:nvSpPr>
        <p:spPr>
          <a:xfrm>
            <a:off x="9098280" y="3941063"/>
            <a:ext cx="731520" cy="256032"/>
          </a:xfrm>
          <a:prstGeom prst="rect">
            <a:avLst/>
          </a:prstGeom>
          <a:noFill/>
        </p:spPr>
        <p:txBody>
          <a:bodyPr wrap="square">
            <a:spAutoFit/>
          </a:bodyPr>
          <a:lstStyle/>
          <a:p>
            <a:pPr algn="ctr"/>
            <a:r>
              <a:rPr sz="1100" b="1" i="0">
                <a:solidFill>
                  <a:srgbClr val="FFFFFF"/>
                </a:solidFill>
                <a:latin typeface="Calibri"/>
              </a:rPr>
              <a:t>Sig.</a:t>
            </a:r>
            <a:endParaRPr sz="1100" b="1" i="0">
              <a:solidFill>
                <a:srgbClr val="FFFFFF"/>
              </a:solidFill>
              <a:latin typeface="Calibri"/>
            </a:endParaRPr>
          </a:p>
        </p:txBody>
      </p:sp>
      <p:sp>
        <p:nvSpPr>
          <p:cNvPr id="18" name="Rectangle 17"/>
          <p:cNvSpPr/>
          <p:nvPr/>
        </p:nvSpPr>
        <p:spPr>
          <a:xfrm>
            <a:off x="365760" y="4242816"/>
            <a:ext cx="9326880" cy="347472"/>
          </a:xfrm>
          <a:prstGeom prst="rect">
            <a:avLst/>
          </a:prstGeom>
          <a:solidFill>
            <a:srgbClr val="FFF0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4297680"/>
            <a:ext cx="7013448" cy="256032"/>
          </a:xfrm>
          <a:prstGeom prst="rect">
            <a:avLst/>
          </a:prstGeom>
          <a:noFill/>
        </p:spPr>
        <p:txBody>
          <a:bodyPr wrap="square">
            <a:spAutoFit/>
          </a:bodyPr>
          <a:lstStyle/>
          <a:p>
            <a:pPr algn="l"/>
            <a:r>
              <a:rPr sz="1100" b="1" i="0">
                <a:solidFill>
                  <a:srgbClr val="1A1A2E"/>
                </a:solidFill>
                <a:latin typeface="Calibri"/>
              </a:rPr>
              <a:t>ΔlnS  (stablecoin supply growth)</a:t>
            </a:r>
            <a:endParaRPr sz="1100" b="1" i="0">
              <a:solidFill>
                <a:srgbClr val="1A1A2E"/>
              </a:solidFill>
              <a:latin typeface="Calibri"/>
            </a:endParaRPr>
          </a:p>
        </p:txBody>
      </p:sp>
      <p:sp>
        <p:nvSpPr>
          <p:cNvPr id="20" name="TextBox 19"/>
          <p:cNvSpPr txBox="1"/>
          <p:nvPr/>
        </p:nvSpPr>
        <p:spPr>
          <a:xfrm>
            <a:off x="7543799" y="4297680"/>
            <a:ext cx="1435608" cy="256032"/>
          </a:xfrm>
          <a:prstGeom prst="rect">
            <a:avLst/>
          </a:prstGeom>
          <a:noFill/>
        </p:spPr>
        <p:txBody>
          <a:bodyPr wrap="square">
            <a:spAutoFit/>
          </a:bodyPr>
          <a:lstStyle/>
          <a:p>
            <a:pPr algn="ctr"/>
            <a:r>
              <a:rPr sz="1100" b="1" i="0">
                <a:solidFill>
                  <a:srgbClr val="1A1A2E"/>
                </a:solidFill>
                <a:latin typeface="Calibri"/>
              </a:rPr>
              <a:t>−6.017</a:t>
            </a:r>
            <a:endParaRPr sz="1100" b="1" i="0">
              <a:solidFill>
                <a:srgbClr val="1A1A2E"/>
              </a:solidFill>
              <a:latin typeface="Calibri"/>
            </a:endParaRPr>
          </a:p>
        </p:txBody>
      </p:sp>
      <p:sp>
        <p:nvSpPr>
          <p:cNvPr id="21" name="TextBox 20"/>
          <p:cNvSpPr txBox="1"/>
          <p:nvPr/>
        </p:nvSpPr>
        <p:spPr>
          <a:xfrm>
            <a:off x="9098280" y="4297680"/>
            <a:ext cx="658368" cy="256032"/>
          </a:xfrm>
          <a:prstGeom prst="rect">
            <a:avLst/>
          </a:prstGeom>
          <a:noFill/>
        </p:spPr>
        <p:txBody>
          <a:bodyPr wrap="square">
            <a:spAutoFit/>
          </a:bodyPr>
          <a:lstStyle/>
          <a:p>
            <a:pPr algn="ctr"/>
            <a:r>
              <a:rPr sz="1100" b="1" i="0">
                <a:solidFill>
                  <a:srgbClr val="1A1A2E"/>
                </a:solidFill>
                <a:latin typeface="Calibri"/>
              </a:rPr>
              <a:t>**</a:t>
            </a:r>
            <a:endParaRPr sz="1100" b="1" i="0">
              <a:solidFill>
                <a:srgbClr val="1A1A2E"/>
              </a:solidFill>
              <a:latin typeface="Calibri"/>
            </a:endParaRPr>
          </a:p>
        </p:txBody>
      </p:sp>
      <p:sp>
        <p:nvSpPr>
          <p:cNvPr id="22" name="Rectangle 21"/>
          <p:cNvSpPr/>
          <p:nvPr/>
        </p:nvSpPr>
        <p:spPr>
          <a:xfrm>
            <a:off x="365760" y="4590288"/>
            <a:ext cx="932688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4645152"/>
            <a:ext cx="7013448" cy="256032"/>
          </a:xfrm>
          <a:prstGeom prst="rect">
            <a:avLst/>
          </a:prstGeom>
          <a:noFill/>
        </p:spPr>
        <p:txBody>
          <a:bodyPr wrap="square">
            <a:spAutoFit/>
          </a:bodyPr>
          <a:lstStyle/>
          <a:p>
            <a:pPr algn="l"/>
            <a:r>
              <a:rPr sz="1100" b="0" i="0" dirty="0" err="1">
                <a:solidFill>
                  <a:srgbClr val="1A1A2E"/>
                </a:solidFill>
                <a:latin typeface="Calibri"/>
              </a:rPr>
              <a:t>θ</a:t>
            </a:r>
            <a:r>
              <a:rPr sz="1100" b="0" i="0" dirty="0">
                <a:solidFill>
                  <a:srgbClr val="1A1A2E"/>
                </a:solidFill>
                <a:latin typeface="Calibri"/>
              </a:rPr>
              <a:t>  (Treasury Exposure)</a:t>
            </a:r>
            <a:endParaRPr sz="1100" b="0" i="0" dirty="0">
              <a:solidFill>
                <a:srgbClr val="1A1A2E"/>
              </a:solidFill>
              <a:latin typeface="Calibri"/>
            </a:endParaRPr>
          </a:p>
        </p:txBody>
      </p:sp>
      <p:sp>
        <p:nvSpPr>
          <p:cNvPr id="24" name="TextBox 23"/>
          <p:cNvSpPr txBox="1"/>
          <p:nvPr/>
        </p:nvSpPr>
        <p:spPr>
          <a:xfrm>
            <a:off x="7543799" y="4645152"/>
            <a:ext cx="1435608" cy="256032"/>
          </a:xfrm>
          <a:prstGeom prst="rect">
            <a:avLst/>
          </a:prstGeom>
          <a:noFill/>
        </p:spPr>
        <p:txBody>
          <a:bodyPr wrap="square">
            <a:spAutoFit/>
          </a:bodyPr>
          <a:lstStyle/>
          <a:p>
            <a:pPr algn="ctr"/>
            <a:r>
              <a:rPr sz="1100" b="0" i="0">
                <a:solidFill>
                  <a:srgbClr val="1A1A2E"/>
                </a:solidFill>
                <a:latin typeface="Calibri"/>
              </a:rPr>
              <a:t> 0.100</a:t>
            </a:r>
            <a:endParaRPr sz="1100" b="0" i="0">
              <a:solidFill>
                <a:srgbClr val="1A1A2E"/>
              </a:solidFill>
              <a:latin typeface="Calibri"/>
            </a:endParaRPr>
          </a:p>
        </p:txBody>
      </p:sp>
      <p:sp>
        <p:nvSpPr>
          <p:cNvPr id="25" name="TextBox 24"/>
          <p:cNvSpPr txBox="1"/>
          <p:nvPr/>
        </p:nvSpPr>
        <p:spPr>
          <a:xfrm>
            <a:off x="9098280" y="4645152"/>
            <a:ext cx="658368" cy="256032"/>
          </a:xfrm>
          <a:prstGeom prst="rect">
            <a:avLst/>
          </a:prstGeom>
          <a:noFill/>
        </p:spPr>
        <p:txBody>
          <a:bodyPr wrap="square">
            <a:spAutoFit/>
          </a:bodyPr>
          <a:lstStyle/>
          <a:p>
            <a:pPr algn="ctr"/>
            <a:r>
              <a:rPr sz="1100" b="0" i="0">
                <a:solidFill>
                  <a:srgbClr val="1A1A2E"/>
                </a:solidFill>
                <a:latin typeface="Calibri"/>
              </a:rPr>
              <a:t>—</a:t>
            </a:r>
            <a:endParaRPr sz="1100" b="0" i="0">
              <a:solidFill>
                <a:srgbClr val="1A1A2E"/>
              </a:solidFill>
              <a:latin typeface="Calibri"/>
            </a:endParaRPr>
          </a:p>
        </p:txBody>
      </p:sp>
      <p:sp>
        <p:nvSpPr>
          <p:cNvPr id="26" name="Rectangle 25"/>
          <p:cNvSpPr/>
          <p:nvPr/>
        </p:nvSpPr>
        <p:spPr>
          <a:xfrm>
            <a:off x="365760" y="4937760"/>
            <a:ext cx="932688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4992624"/>
            <a:ext cx="7013448" cy="256032"/>
          </a:xfrm>
          <a:prstGeom prst="rect">
            <a:avLst/>
          </a:prstGeom>
          <a:noFill/>
        </p:spPr>
        <p:txBody>
          <a:bodyPr wrap="square">
            <a:spAutoFit/>
          </a:bodyPr>
          <a:lstStyle/>
          <a:p>
            <a:pPr algn="l"/>
            <a:r>
              <a:rPr sz="1100" b="0" i="0">
                <a:solidFill>
                  <a:srgbClr val="1A1A2E"/>
                </a:solidFill>
                <a:latin typeface="Calibri"/>
              </a:rPr>
              <a:t>L  (Liquid Buffer)</a:t>
            </a:r>
            <a:endParaRPr sz="1100" b="0" i="0">
              <a:solidFill>
                <a:srgbClr val="1A1A2E"/>
              </a:solidFill>
              <a:latin typeface="Calibri"/>
            </a:endParaRPr>
          </a:p>
        </p:txBody>
      </p:sp>
      <p:sp>
        <p:nvSpPr>
          <p:cNvPr id="28" name="TextBox 27"/>
          <p:cNvSpPr txBox="1"/>
          <p:nvPr/>
        </p:nvSpPr>
        <p:spPr>
          <a:xfrm>
            <a:off x="7543799" y="4992624"/>
            <a:ext cx="1435608" cy="256032"/>
          </a:xfrm>
          <a:prstGeom prst="rect">
            <a:avLst/>
          </a:prstGeom>
          <a:noFill/>
        </p:spPr>
        <p:txBody>
          <a:bodyPr wrap="square">
            <a:spAutoFit/>
          </a:bodyPr>
          <a:lstStyle/>
          <a:p>
            <a:pPr algn="ctr"/>
            <a:r>
              <a:rPr sz="1100" b="0" i="0">
                <a:solidFill>
                  <a:srgbClr val="1A1A2E"/>
                </a:solidFill>
                <a:latin typeface="Calibri"/>
              </a:rPr>
              <a:t> 1.034</a:t>
            </a:r>
            <a:endParaRPr sz="1100" b="0" i="0">
              <a:solidFill>
                <a:srgbClr val="1A1A2E"/>
              </a:solidFill>
              <a:latin typeface="Calibri"/>
            </a:endParaRPr>
          </a:p>
        </p:txBody>
      </p:sp>
      <p:sp>
        <p:nvSpPr>
          <p:cNvPr id="29" name="TextBox 28"/>
          <p:cNvSpPr txBox="1"/>
          <p:nvPr/>
        </p:nvSpPr>
        <p:spPr>
          <a:xfrm>
            <a:off x="9098280" y="4992624"/>
            <a:ext cx="658368" cy="256032"/>
          </a:xfrm>
          <a:prstGeom prst="rect">
            <a:avLst/>
          </a:prstGeom>
          <a:noFill/>
        </p:spPr>
        <p:txBody>
          <a:bodyPr wrap="square">
            <a:spAutoFit/>
          </a:bodyPr>
          <a:lstStyle/>
          <a:p>
            <a:pPr algn="ctr"/>
            <a:r>
              <a:rPr sz="1100" b="0" i="0">
                <a:solidFill>
                  <a:srgbClr val="1A1A2E"/>
                </a:solidFill>
                <a:latin typeface="Calibri"/>
              </a:rPr>
              <a:t>—</a:t>
            </a:r>
            <a:endParaRPr sz="1100" b="0" i="0">
              <a:solidFill>
                <a:srgbClr val="1A1A2E"/>
              </a:solidFill>
              <a:latin typeface="Calibri"/>
            </a:endParaRPr>
          </a:p>
        </p:txBody>
      </p:sp>
      <p:sp>
        <p:nvSpPr>
          <p:cNvPr id="30" name="Rectangle 29"/>
          <p:cNvSpPr/>
          <p:nvPr/>
        </p:nvSpPr>
        <p:spPr>
          <a:xfrm>
            <a:off x="365760" y="5285232"/>
            <a:ext cx="932688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5340096"/>
            <a:ext cx="7013448" cy="256032"/>
          </a:xfrm>
          <a:prstGeom prst="rect">
            <a:avLst/>
          </a:prstGeom>
          <a:noFill/>
        </p:spPr>
        <p:txBody>
          <a:bodyPr wrap="square">
            <a:spAutoFit/>
          </a:bodyPr>
          <a:lstStyle/>
          <a:p>
            <a:pPr algn="l"/>
            <a:r>
              <a:rPr sz="1100" b="0" i="0">
                <a:solidFill>
                  <a:srgbClr val="1A1A2E"/>
                </a:solidFill>
                <a:latin typeface="Calibri"/>
              </a:rPr>
              <a:t>L × ΔlnS  (buffer interaction)</a:t>
            </a:r>
            <a:endParaRPr sz="1100" b="0" i="0">
              <a:solidFill>
                <a:srgbClr val="1A1A2E"/>
              </a:solidFill>
              <a:latin typeface="Calibri"/>
            </a:endParaRPr>
          </a:p>
        </p:txBody>
      </p:sp>
      <p:sp>
        <p:nvSpPr>
          <p:cNvPr id="32" name="TextBox 31"/>
          <p:cNvSpPr txBox="1"/>
          <p:nvPr/>
        </p:nvSpPr>
        <p:spPr>
          <a:xfrm>
            <a:off x="7543799" y="5340096"/>
            <a:ext cx="1435608" cy="256032"/>
          </a:xfrm>
          <a:prstGeom prst="rect">
            <a:avLst/>
          </a:prstGeom>
          <a:noFill/>
        </p:spPr>
        <p:txBody>
          <a:bodyPr wrap="square">
            <a:spAutoFit/>
          </a:bodyPr>
          <a:lstStyle/>
          <a:p>
            <a:pPr algn="ctr"/>
            <a:r>
              <a:rPr sz="1100" b="0" i="0">
                <a:solidFill>
                  <a:srgbClr val="1A1A2E"/>
                </a:solidFill>
                <a:latin typeface="Calibri"/>
              </a:rPr>
              <a:t> 3.891</a:t>
            </a:r>
            <a:endParaRPr sz="1100" b="0" i="0">
              <a:solidFill>
                <a:srgbClr val="1A1A2E"/>
              </a:solidFill>
              <a:latin typeface="Calibri"/>
            </a:endParaRPr>
          </a:p>
        </p:txBody>
      </p:sp>
      <p:sp>
        <p:nvSpPr>
          <p:cNvPr id="33" name="TextBox 32"/>
          <p:cNvSpPr txBox="1"/>
          <p:nvPr/>
        </p:nvSpPr>
        <p:spPr>
          <a:xfrm>
            <a:off x="9098280" y="5340096"/>
            <a:ext cx="658368" cy="256032"/>
          </a:xfrm>
          <a:prstGeom prst="rect">
            <a:avLst/>
          </a:prstGeom>
          <a:noFill/>
        </p:spPr>
        <p:txBody>
          <a:bodyPr wrap="square">
            <a:spAutoFit/>
          </a:bodyPr>
          <a:lstStyle/>
          <a:p>
            <a:pPr algn="ctr"/>
            <a:r>
              <a:rPr sz="1100" b="0" i="0">
                <a:solidFill>
                  <a:srgbClr val="1A1A2E"/>
                </a:solidFill>
                <a:latin typeface="Calibri"/>
              </a:rPr>
              <a:t>—</a:t>
            </a:r>
            <a:endParaRPr sz="1100" b="0" i="0">
              <a:solidFill>
                <a:srgbClr val="1A1A2E"/>
              </a:solidFill>
              <a:latin typeface="Calibri"/>
            </a:endParaRPr>
          </a:p>
        </p:txBody>
      </p:sp>
      <p:sp>
        <p:nvSpPr>
          <p:cNvPr id="34" name="Rectangle 33"/>
          <p:cNvSpPr/>
          <p:nvPr/>
        </p:nvSpPr>
        <p:spPr>
          <a:xfrm>
            <a:off x="365760" y="5632704"/>
            <a:ext cx="9326880" cy="34747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5687568"/>
            <a:ext cx="7013448" cy="256032"/>
          </a:xfrm>
          <a:prstGeom prst="rect">
            <a:avLst/>
          </a:prstGeom>
          <a:noFill/>
        </p:spPr>
        <p:txBody>
          <a:bodyPr wrap="square">
            <a:spAutoFit/>
          </a:bodyPr>
          <a:lstStyle/>
          <a:p>
            <a:pPr algn="l"/>
            <a:r>
              <a:rPr sz="1100" b="0" i="0">
                <a:solidFill>
                  <a:srgbClr val="1A1A2E"/>
                </a:solidFill>
                <a:latin typeface="Calibri"/>
              </a:rPr>
              <a:t>Controls (velocity, VIX, ΔlnN*)</a:t>
            </a:r>
            <a:endParaRPr sz="1100" b="0" i="0">
              <a:solidFill>
                <a:srgbClr val="1A1A2E"/>
              </a:solidFill>
              <a:latin typeface="Calibri"/>
            </a:endParaRPr>
          </a:p>
        </p:txBody>
      </p:sp>
      <p:sp>
        <p:nvSpPr>
          <p:cNvPr id="36" name="TextBox 35"/>
          <p:cNvSpPr txBox="1"/>
          <p:nvPr/>
        </p:nvSpPr>
        <p:spPr>
          <a:xfrm>
            <a:off x="7543799" y="5687568"/>
            <a:ext cx="1435608" cy="256032"/>
          </a:xfrm>
          <a:prstGeom prst="rect">
            <a:avLst/>
          </a:prstGeom>
          <a:noFill/>
        </p:spPr>
        <p:txBody>
          <a:bodyPr wrap="square">
            <a:spAutoFit/>
          </a:bodyPr>
          <a:lstStyle/>
          <a:p>
            <a:pPr algn="ctr"/>
            <a:r>
              <a:rPr sz="1100" b="0" i="0">
                <a:solidFill>
                  <a:srgbClr val="1A1A2E"/>
                </a:solidFill>
                <a:latin typeface="Calibri"/>
              </a:rPr>
              <a:t>included</a:t>
            </a:r>
            <a:endParaRPr sz="1100" b="0" i="0">
              <a:solidFill>
                <a:srgbClr val="1A1A2E"/>
              </a:solidFill>
              <a:latin typeface="Calibri"/>
            </a:endParaRPr>
          </a:p>
        </p:txBody>
      </p:sp>
      <p:sp>
        <p:nvSpPr>
          <p:cNvPr id="37" name="TextBox 36"/>
          <p:cNvSpPr txBox="1"/>
          <p:nvPr/>
        </p:nvSpPr>
        <p:spPr>
          <a:xfrm>
            <a:off x="9098280" y="5687568"/>
            <a:ext cx="658368" cy="256032"/>
          </a:xfrm>
          <a:prstGeom prst="rect">
            <a:avLst/>
          </a:prstGeom>
          <a:noFill/>
        </p:spPr>
        <p:txBody>
          <a:bodyPr wrap="square">
            <a:spAutoFit/>
          </a:bodyPr>
          <a:lstStyle/>
          <a:p>
            <a:pPr algn="ctr"/>
          </a:p>
        </p:txBody>
      </p:sp>
      <p:sp>
        <p:nvSpPr>
          <p:cNvPr id="38" name="TextBox 37"/>
          <p:cNvSpPr txBox="1"/>
          <p:nvPr/>
        </p:nvSpPr>
        <p:spPr>
          <a:xfrm>
            <a:off x="365760" y="6080760"/>
            <a:ext cx="11430000" cy="228600"/>
          </a:xfrm>
          <a:prstGeom prst="rect">
            <a:avLst/>
          </a:prstGeom>
          <a:noFill/>
        </p:spPr>
        <p:txBody>
          <a:bodyPr wrap="square">
            <a:spAutoFit/>
          </a:bodyPr>
          <a:lstStyle/>
          <a:p>
            <a:pPr algn="l"/>
            <a:r>
              <a:rPr sz="900" b="0" i="1">
                <a:solidFill>
                  <a:srgbClr val="555566"/>
                </a:solidFill>
                <a:latin typeface="Calibri"/>
              </a:rPr>
              <a:t>** p &lt; 0.05   — = not significant at conventional levels   HAC Newey–West SE (3 lags)</a:t>
            </a:r>
            <a:endParaRPr sz="900" b="0" i="1">
              <a:solidFill>
                <a:srgbClr val="555566"/>
              </a:solidFill>
              <a:latin typeface="Calibri"/>
            </a:endParaRPr>
          </a:p>
        </p:txBody>
      </p:sp>
      <p:sp>
        <p:nvSpPr>
          <p:cNvPr id="39" name="TextBox 38"/>
          <p:cNvSpPr txBox="1"/>
          <p:nvPr/>
        </p:nvSpPr>
        <p:spPr>
          <a:xfrm>
            <a:off x="11288486" y="206829"/>
            <a:ext cx="718457" cy="369332"/>
          </a:xfrm>
          <a:prstGeom prst="rect">
            <a:avLst/>
          </a:prstGeom>
          <a:noFill/>
        </p:spPr>
        <p:txBody>
          <a:bodyPr wrap="square" rtlCol="0">
            <a:spAutoFit/>
          </a:bodyPr>
          <a:lstStyle/>
          <a:p>
            <a:r>
              <a:rPr kumimoji="1" lang="en-US" altLang="ko-KR" dirty="0">
                <a:solidFill>
                  <a:schemeClr val="bg1"/>
                </a:solidFill>
              </a:rPr>
              <a:t>Mimi</a:t>
            </a:r>
            <a:endParaRPr kumimoji="1" lang="ko-KR" altLang="en-US" dirty="0">
              <a:solidFill>
                <a:schemeClr val="bg1"/>
              </a:solidFill>
            </a:endParaRPr>
          </a:p>
        </p:txBody>
      </p:sp>
      <p:sp>
        <p:nvSpPr>
          <p:cNvPr id="40" name="오각형[P] 39"/>
          <p:cNvSpPr/>
          <p:nvPr/>
        </p:nvSpPr>
        <p:spPr>
          <a:xfrm>
            <a:off x="9756648" y="4645152"/>
            <a:ext cx="2340864" cy="1042416"/>
          </a:xfrm>
          <a:prstGeom prst="homePlat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ko-KR" dirty="0"/>
              <a:t>Not significant enough</a:t>
            </a:r>
            <a:endParaRPr kumimoji="1" lang="ko-KR"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Result 1: When Data Quality Improves, the Picture Sharpens</a:t>
            </a:r>
            <a:endParaRPr sz="2600" b="0" i="0">
              <a:solidFill>
                <a:srgbClr val="FFFFFF"/>
              </a:solidFill>
              <a:latin typeface="Calibri"/>
            </a:endParaRP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10</a:t>
            </a:r>
            <a:endParaRPr sz="1300" b="0" i="0">
              <a:solidFill>
                <a:srgbClr val="555566"/>
              </a:solidFill>
              <a:latin typeface="Calibri"/>
            </a:endParaRPr>
          </a:p>
        </p:txBody>
      </p:sp>
      <p:sp>
        <p:nvSpPr>
          <p:cNvPr id="6" name="Rectangle 5"/>
          <p:cNvSpPr/>
          <p:nvPr/>
        </p:nvSpPr>
        <p:spPr>
          <a:xfrm>
            <a:off x="365760" y="960120"/>
            <a:ext cx="11430000" cy="62179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024128"/>
            <a:ext cx="11064240" cy="868680"/>
          </a:xfrm>
          <a:prstGeom prst="rect">
            <a:avLst/>
          </a:prstGeom>
          <a:noFill/>
        </p:spPr>
        <p:txBody>
          <a:bodyPr wrap="square">
            <a:spAutoFit/>
          </a:bodyPr>
          <a:lstStyle/>
          <a:p>
            <a:pPr algn="l"/>
            <a:r>
              <a:rPr sz="1400" b="0" i="1" dirty="0">
                <a:solidFill>
                  <a:srgbClr val="1A1A2E"/>
                </a:solidFill>
                <a:latin typeface="Calibri"/>
              </a:rPr>
              <a:t>The buffer variables (</a:t>
            </a:r>
            <a:r>
              <a:rPr sz="1400" b="0" i="1" dirty="0" err="1">
                <a:solidFill>
                  <a:srgbClr val="1A1A2E"/>
                </a:solidFill>
                <a:latin typeface="Calibri"/>
              </a:rPr>
              <a:t>θ</a:t>
            </a:r>
            <a:r>
              <a:rPr sz="1400" b="0" i="1" dirty="0">
                <a:solidFill>
                  <a:srgbClr val="1A1A2E"/>
                </a:solidFill>
                <a:latin typeface="Calibri"/>
              </a:rPr>
              <a:t> and L) were not individually significant at our full sample of 51 months. This is a power problem — not a theory problem. Reserve attestations only became comprehensive after 2023.</a:t>
            </a:r>
            <a:endParaRPr sz="1400" b="0" i="1" dirty="0">
              <a:solidFill>
                <a:srgbClr val="1A1A2E"/>
              </a:solidFill>
              <a:latin typeface="Calibri"/>
            </a:endParaRPr>
          </a:p>
        </p:txBody>
      </p:sp>
      <p:sp>
        <p:nvSpPr>
          <p:cNvPr id="8" name="TextBox 7"/>
          <p:cNvSpPr txBox="1"/>
          <p:nvPr/>
        </p:nvSpPr>
        <p:spPr>
          <a:xfrm>
            <a:off x="365760" y="1664208"/>
            <a:ext cx="11430000" cy="365760"/>
          </a:xfrm>
          <a:prstGeom prst="rect">
            <a:avLst/>
          </a:prstGeom>
          <a:noFill/>
        </p:spPr>
        <p:txBody>
          <a:bodyPr wrap="square">
            <a:spAutoFit/>
          </a:bodyPr>
          <a:lstStyle/>
          <a:p>
            <a:pPr algn="l"/>
            <a:r>
              <a:rPr sz="1500" b="1" i="0" dirty="0">
                <a:solidFill>
                  <a:srgbClr val="1B3A72"/>
                </a:solidFill>
                <a:latin typeface="Calibri"/>
              </a:rPr>
              <a:t>When we restrict to January 2023 – March 2026  (N = 39 months, best attestation coverage):</a:t>
            </a:r>
            <a:endParaRPr sz="1500" b="1" i="0" dirty="0">
              <a:solidFill>
                <a:srgbClr val="1B3A72"/>
              </a:solidFill>
              <a:latin typeface="Calibri"/>
            </a:endParaRPr>
          </a:p>
        </p:txBody>
      </p:sp>
      <p:sp>
        <p:nvSpPr>
          <p:cNvPr id="9" name="Rectangle 8"/>
          <p:cNvSpPr/>
          <p:nvPr/>
        </p:nvSpPr>
        <p:spPr>
          <a:xfrm>
            <a:off x="365760" y="2167128"/>
            <a:ext cx="3596640" cy="29260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286000"/>
            <a:ext cx="5212080" cy="347472"/>
          </a:xfrm>
          <a:prstGeom prst="rect">
            <a:avLst/>
          </a:prstGeom>
          <a:noFill/>
        </p:spPr>
        <p:txBody>
          <a:bodyPr wrap="square">
            <a:spAutoFit/>
          </a:bodyPr>
          <a:lstStyle/>
          <a:p>
            <a:pPr algn="l"/>
            <a:r>
              <a:rPr sz="1400" b="1" i="0">
                <a:solidFill>
                  <a:srgbClr val="AAC4E8"/>
                </a:solidFill>
                <a:latin typeface="Calibri"/>
              </a:rPr>
              <a:t>Supply channel</a:t>
            </a:r>
            <a:endParaRPr sz="1400" b="1" i="0">
              <a:solidFill>
                <a:srgbClr val="AAC4E8"/>
              </a:solidFill>
              <a:latin typeface="Calibri"/>
            </a:endParaRPr>
          </a:p>
        </p:txBody>
      </p:sp>
      <p:sp>
        <p:nvSpPr>
          <p:cNvPr id="11" name="TextBox 10"/>
          <p:cNvSpPr txBox="1"/>
          <p:nvPr/>
        </p:nvSpPr>
        <p:spPr>
          <a:xfrm>
            <a:off x="548640" y="2670048"/>
            <a:ext cx="5212080" cy="777240"/>
          </a:xfrm>
          <a:prstGeom prst="rect">
            <a:avLst/>
          </a:prstGeom>
          <a:noFill/>
        </p:spPr>
        <p:txBody>
          <a:bodyPr wrap="square">
            <a:spAutoFit/>
          </a:bodyPr>
          <a:lstStyle/>
          <a:p>
            <a:pPr algn="l"/>
            <a:r>
              <a:rPr sz="3000" b="1" i="0">
                <a:solidFill>
                  <a:srgbClr val="FFFFFF"/>
                </a:solidFill>
                <a:latin typeface="Calibri"/>
              </a:rPr>
              <a:t>β₁  =  −8.14</a:t>
            </a:r>
            <a:endParaRPr sz="3000" b="1" i="0">
              <a:solidFill>
                <a:srgbClr val="FFFFFF"/>
              </a:solidFill>
              <a:latin typeface="Calibri"/>
            </a:endParaRPr>
          </a:p>
        </p:txBody>
      </p:sp>
      <p:sp>
        <p:nvSpPr>
          <p:cNvPr id="12" name="TextBox 11"/>
          <p:cNvSpPr txBox="1"/>
          <p:nvPr/>
        </p:nvSpPr>
        <p:spPr>
          <a:xfrm>
            <a:off x="548640" y="3474720"/>
            <a:ext cx="5212080" cy="347472"/>
          </a:xfrm>
          <a:prstGeom prst="rect">
            <a:avLst/>
          </a:prstGeom>
          <a:noFill/>
        </p:spPr>
        <p:txBody>
          <a:bodyPr wrap="square">
            <a:spAutoFit/>
          </a:bodyPr>
          <a:lstStyle/>
          <a:p>
            <a:pPr algn="l"/>
            <a:r>
              <a:rPr sz="1800" b="1" i="0">
                <a:solidFill>
                  <a:srgbClr val="FFD700"/>
                </a:solidFill>
                <a:latin typeface="Calibri"/>
              </a:rPr>
              <a:t>***</a:t>
            </a:r>
            <a:endParaRPr sz="1800" b="1" i="0">
              <a:solidFill>
                <a:srgbClr val="FFD700"/>
              </a:solidFill>
              <a:latin typeface="Calibri"/>
            </a:endParaRPr>
          </a:p>
        </p:txBody>
      </p:sp>
      <p:sp>
        <p:nvSpPr>
          <p:cNvPr id="13" name="TextBox 12"/>
          <p:cNvSpPr txBox="1"/>
          <p:nvPr/>
        </p:nvSpPr>
        <p:spPr>
          <a:xfrm>
            <a:off x="548640" y="3877056"/>
            <a:ext cx="5212080" cy="914400"/>
          </a:xfrm>
          <a:prstGeom prst="rect">
            <a:avLst/>
          </a:prstGeom>
          <a:noFill/>
        </p:spPr>
        <p:txBody>
          <a:bodyPr wrap="square">
            <a:spAutoFit/>
          </a:bodyPr>
          <a:lstStyle/>
          <a:p>
            <a:pPr algn="l"/>
            <a:r>
              <a:rPr sz="1300" b="0" i="0" dirty="0">
                <a:solidFill>
                  <a:srgbClr val="AAC4E8"/>
                </a:solidFill>
                <a:latin typeface="Calibri"/>
              </a:rPr>
              <a:t>Even stronger supply effect in recent data.
Confirmed at the 1% level.</a:t>
            </a:r>
            <a:endParaRPr sz="1300" b="0" i="0" dirty="0">
              <a:solidFill>
                <a:srgbClr val="AAC4E8"/>
              </a:solidFill>
              <a:latin typeface="Calibri"/>
            </a:endParaRPr>
          </a:p>
        </p:txBody>
      </p:sp>
      <p:sp>
        <p:nvSpPr>
          <p:cNvPr id="14" name="Rectangle 13"/>
          <p:cNvSpPr/>
          <p:nvPr/>
        </p:nvSpPr>
        <p:spPr>
          <a:xfrm>
            <a:off x="4145280" y="2167128"/>
            <a:ext cx="7650480" cy="29260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28160" y="2286000"/>
            <a:ext cx="5212080" cy="347472"/>
          </a:xfrm>
          <a:prstGeom prst="rect">
            <a:avLst/>
          </a:prstGeom>
          <a:noFill/>
        </p:spPr>
        <p:txBody>
          <a:bodyPr wrap="square">
            <a:spAutoFit/>
          </a:bodyPr>
          <a:lstStyle/>
          <a:p>
            <a:pPr algn="l"/>
            <a:r>
              <a:rPr sz="1400" b="1" i="0">
                <a:solidFill>
                  <a:srgbClr val="AAC4E8"/>
                </a:solidFill>
                <a:latin typeface="Calibri"/>
              </a:rPr>
              <a:t>Buffer interaction</a:t>
            </a:r>
            <a:endParaRPr sz="1400" b="1" i="0">
              <a:solidFill>
                <a:srgbClr val="AAC4E8"/>
              </a:solidFill>
              <a:latin typeface="Calibri"/>
            </a:endParaRPr>
          </a:p>
        </p:txBody>
      </p:sp>
      <p:sp>
        <p:nvSpPr>
          <p:cNvPr id="16" name="TextBox 15"/>
          <p:cNvSpPr txBox="1"/>
          <p:nvPr/>
        </p:nvSpPr>
        <p:spPr>
          <a:xfrm>
            <a:off x="4328160" y="2670048"/>
            <a:ext cx="5212080" cy="830997"/>
          </a:xfrm>
          <a:prstGeom prst="rect">
            <a:avLst/>
          </a:prstGeom>
          <a:noFill/>
        </p:spPr>
        <p:txBody>
          <a:bodyPr wrap="square">
            <a:spAutoFit/>
          </a:bodyPr>
          <a:lstStyle/>
          <a:p>
            <a:pPr algn="l"/>
            <a:r>
              <a:rPr sz="3000" b="1" i="0" dirty="0" err="1">
                <a:solidFill>
                  <a:srgbClr val="FFFFFF"/>
                </a:solidFill>
                <a:latin typeface="Calibri"/>
              </a:rPr>
              <a:t>L×ΔlnS</a:t>
            </a:r>
            <a:r>
              <a:rPr sz="3000" b="1" i="0" dirty="0">
                <a:solidFill>
                  <a:srgbClr val="FFFFFF"/>
                </a:solidFill>
                <a:latin typeface="Calibri"/>
              </a:rPr>
              <a:t>  =  +49.17</a:t>
            </a:r>
            <a:endParaRPr lang="en-US" sz="3000" b="1" i="0" dirty="0">
              <a:solidFill>
                <a:srgbClr val="FFFFFF"/>
              </a:solidFill>
              <a:latin typeface="Calibri"/>
            </a:endParaRPr>
          </a:p>
          <a:p>
            <a:r>
              <a:rPr lang="el-GR" altLang="ko-KR" dirty="0">
                <a:solidFill>
                  <a:schemeClr val="bg1"/>
                </a:solidFill>
              </a:rPr>
              <a:t>β₁ + β₄ × </a:t>
            </a:r>
            <a:r>
              <a:rPr lang="en-US" altLang="ko-KR" dirty="0">
                <a:solidFill>
                  <a:schemeClr val="bg1"/>
                </a:solidFill>
              </a:rPr>
              <a:t>L = −8.14 + 49.17 × L</a:t>
            </a:r>
            <a:endParaRPr lang="en-US" altLang="ko-KR" dirty="0">
              <a:solidFill>
                <a:schemeClr val="bg1"/>
              </a:solidFill>
            </a:endParaRPr>
          </a:p>
        </p:txBody>
      </p:sp>
      <p:sp>
        <p:nvSpPr>
          <p:cNvPr id="17" name="TextBox 16"/>
          <p:cNvSpPr txBox="1"/>
          <p:nvPr/>
        </p:nvSpPr>
        <p:spPr>
          <a:xfrm>
            <a:off x="7342632" y="2823603"/>
            <a:ext cx="5212080" cy="347472"/>
          </a:xfrm>
          <a:prstGeom prst="rect">
            <a:avLst/>
          </a:prstGeom>
          <a:noFill/>
        </p:spPr>
        <p:txBody>
          <a:bodyPr wrap="square">
            <a:spAutoFit/>
          </a:bodyPr>
          <a:lstStyle/>
          <a:p>
            <a:pPr algn="l"/>
            <a:r>
              <a:rPr sz="1800" b="1" i="0" dirty="0">
                <a:solidFill>
                  <a:srgbClr val="FFD700"/>
                </a:solidFill>
                <a:latin typeface="Calibri"/>
              </a:rPr>
              <a:t>***  (p = 0.004)</a:t>
            </a:r>
            <a:endParaRPr sz="1800" b="1" i="0" dirty="0">
              <a:solidFill>
                <a:srgbClr val="FFD700"/>
              </a:solidFill>
              <a:latin typeface="Calibri"/>
            </a:endParaRPr>
          </a:p>
        </p:txBody>
      </p:sp>
      <p:sp>
        <p:nvSpPr>
          <p:cNvPr id="18" name="TextBox 17"/>
          <p:cNvSpPr txBox="1"/>
          <p:nvPr/>
        </p:nvSpPr>
        <p:spPr>
          <a:xfrm>
            <a:off x="4310742" y="3548793"/>
            <a:ext cx="7485017" cy="2077492"/>
          </a:xfrm>
          <a:prstGeom prst="rect">
            <a:avLst/>
          </a:prstGeom>
          <a:noFill/>
        </p:spPr>
        <p:txBody>
          <a:bodyPr wrap="square">
            <a:spAutoFit/>
          </a:bodyPr>
          <a:lstStyle/>
          <a:p>
            <a:r>
              <a:rPr lang="en-US" altLang="ko-KR" dirty="0">
                <a:solidFill>
                  <a:schemeClr val="bg1"/>
                </a:solidFill>
              </a:rPr>
              <a:t>When L is </a:t>
            </a:r>
            <a:r>
              <a:rPr lang="en-US" altLang="ko-KR" b="1" dirty="0">
                <a:solidFill>
                  <a:schemeClr val="bg1"/>
                </a:solidFill>
              </a:rPr>
              <a:t>low</a:t>
            </a:r>
            <a:r>
              <a:rPr lang="en-US" altLang="ko-KR" dirty="0">
                <a:solidFill>
                  <a:schemeClr val="bg1"/>
                </a:solidFill>
              </a:rPr>
              <a:t> (say 0.05): total effect = −8.14 + (49.17 × 0.05) = </a:t>
            </a:r>
            <a:r>
              <a:rPr lang="en-US" altLang="ko-KR" b="1" dirty="0">
                <a:solidFill>
                  <a:schemeClr val="bg1"/>
                </a:solidFill>
              </a:rPr>
              <a:t>−5.68</a:t>
            </a:r>
            <a:r>
              <a:rPr lang="en-US" altLang="ko-KR" dirty="0">
                <a:solidFill>
                  <a:schemeClr val="bg1"/>
                </a:solidFill>
              </a:rPr>
              <a:t> → strong compression, issuers are actively buying T-bills</a:t>
            </a:r>
            <a:endParaRPr lang="en-US" altLang="ko-KR" dirty="0">
              <a:solidFill>
                <a:schemeClr val="bg1"/>
              </a:solidFill>
            </a:endParaRPr>
          </a:p>
          <a:p>
            <a:r>
              <a:rPr lang="en-US" altLang="ko-KR" dirty="0">
                <a:solidFill>
                  <a:schemeClr val="bg1"/>
                </a:solidFill>
              </a:rPr>
              <a:t>When L is </a:t>
            </a:r>
            <a:r>
              <a:rPr lang="en-US" altLang="ko-KR" b="1" dirty="0">
                <a:solidFill>
                  <a:schemeClr val="bg1"/>
                </a:solidFill>
              </a:rPr>
              <a:t>high</a:t>
            </a:r>
            <a:r>
              <a:rPr lang="en-US" altLang="ko-KR" dirty="0">
                <a:solidFill>
                  <a:schemeClr val="bg1"/>
                </a:solidFill>
              </a:rPr>
              <a:t> (say 0.16): total effect = −8.14 + (49.17 × 0.16) = </a:t>
            </a:r>
            <a:r>
              <a:rPr lang="en-US" altLang="ko-KR" b="1" dirty="0">
                <a:solidFill>
                  <a:schemeClr val="bg1"/>
                </a:solidFill>
              </a:rPr>
              <a:t>−0.27</a:t>
            </a:r>
            <a:r>
              <a:rPr lang="en-US" altLang="ko-KR" dirty="0">
                <a:solidFill>
                  <a:schemeClr val="bg1"/>
                </a:solidFill>
              </a:rPr>
              <a:t> → effect nearly disappears, issuers have enough cash and don't need to move T-bill markets</a:t>
            </a:r>
            <a:endParaRPr lang="en-US" altLang="ko-KR" dirty="0">
              <a:solidFill>
                <a:schemeClr val="bg1"/>
              </a:solidFill>
            </a:endParaRPr>
          </a:p>
          <a:p>
            <a:pPr algn="l"/>
            <a:endParaRPr lang="en-US" sz="1300" b="0" i="0" dirty="0">
              <a:solidFill>
                <a:schemeClr val="bg1"/>
              </a:solidFill>
              <a:latin typeface="Calibri"/>
            </a:endParaRPr>
          </a:p>
          <a:p>
            <a:pPr algn="l"/>
            <a:r>
              <a:rPr sz="1300" b="0" i="0" dirty="0">
                <a:solidFill>
                  <a:schemeClr val="bg1"/>
                </a:solidFill>
                <a:latin typeface="Calibri"/>
              </a:rPr>
              <a:t>Higher liquid buffer dampens the spread compression.
The fragility mechanism is confirmed.</a:t>
            </a:r>
            <a:endParaRPr sz="1300" b="0" i="0" dirty="0">
              <a:solidFill>
                <a:schemeClr val="bg1"/>
              </a:solidFill>
              <a:latin typeface="Calibri"/>
            </a:endParaRPr>
          </a:p>
        </p:txBody>
      </p:sp>
      <p:sp>
        <p:nvSpPr>
          <p:cNvPr id="19" name="Rectangle 18"/>
          <p:cNvSpPr/>
          <p:nvPr/>
        </p:nvSpPr>
        <p:spPr>
          <a:xfrm>
            <a:off x="0" y="5596128"/>
            <a:ext cx="12188952" cy="109728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760720"/>
            <a:ext cx="11274552" cy="830997"/>
          </a:xfrm>
          <a:prstGeom prst="rect">
            <a:avLst/>
          </a:prstGeom>
          <a:noFill/>
        </p:spPr>
        <p:txBody>
          <a:bodyPr wrap="square">
            <a:spAutoFit/>
          </a:bodyPr>
          <a:lstStyle/>
          <a:p>
            <a:pPr algn="ctr"/>
            <a:r>
              <a:rPr sz="2400" b="1" i="0" dirty="0">
                <a:solidFill>
                  <a:srgbClr val="FFFFFF"/>
                </a:solidFill>
                <a:latin typeface="Calibri"/>
              </a:rPr>
              <a:t>Both channels confirmed in recent data. The mechanism is real — our full sample just needs more months to reach significance.</a:t>
            </a:r>
            <a:endParaRPr sz="2400" b="1" i="0" dirty="0">
              <a:solidFill>
                <a:srgbClr val="FFFFFF"/>
              </a:solidFill>
              <a:latin typeface="Calibri"/>
            </a:endParaRPr>
          </a:p>
        </p:txBody>
      </p:sp>
      <p:sp>
        <p:nvSpPr>
          <p:cNvPr id="21" name="TextBox 20"/>
          <p:cNvSpPr txBox="1"/>
          <p:nvPr/>
        </p:nvSpPr>
        <p:spPr>
          <a:xfrm>
            <a:off x="11288486" y="206829"/>
            <a:ext cx="718457" cy="369332"/>
          </a:xfrm>
          <a:prstGeom prst="rect">
            <a:avLst/>
          </a:prstGeom>
          <a:noFill/>
        </p:spPr>
        <p:txBody>
          <a:bodyPr wrap="square" rtlCol="0">
            <a:spAutoFit/>
          </a:bodyPr>
          <a:lstStyle/>
          <a:p>
            <a:r>
              <a:rPr kumimoji="1" lang="en-US" altLang="ko-KR" dirty="0">
                <a:solidFill>
                  <a:schemeClr val="bg1"/>
                </a:solidFill>
              </a:rPr>
              <a:t>Mimi</a:t>
            </a:r>
            <a:endParaRPr kumimoji="1" lang="ko-KR" altLang="en-US"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d</a:t>
            </a:r>
            <a:endParaRPr dirty="0"/>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Result 2: Is There a Safety Threshold?</a:t>
            </a:r>
            <a:endParaRPr sz="2600" b="0" i="0">
              <a:solidFill>
                <a:srgbClr val="FFFFFF"/>
              </a:solidFill>
              <a:latin typeface="Calibri"/>
            </a:endParaRP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11</a:t>
            </a:r>
            <a:endParaRPr sz="1300" b="0" i="0">
              <a:solidFill>
                <a:srgbClr val="555566"/>
              </a:solidFill>
              <a:latin typeface="Calibri"/>
            </a:endParaRPr>
          </a:p>
        </p:txBody>
      </p:sp>
      <p:pic>
        <p:nvPicPr>
          <p:cNvPr id="6" name="Picture 5" descr="threshold_ssr.png"/>
          <p:cNvPicPr>
            <a:picLocks noChangeAspect="1"/>
          </p:cNvPicPr>
          <p:nvPr/>
        </p:nvPicPr>
        <p:blipFill>
          <a:blip r:embed="rId1"/>
          <a:stretch>
            <a:fillRect/>
          </a:stretch>
        </p:blipFill>
        <p:spPr>
          <a:xfrm>
            <a:off x="228600" y="1833354"/>
            <a:ext cx="6400800" cy="3602771"/>
          </a:xfrm>
          <a:prstGeom prst="rect">
            <a:avLst/>
          </a:prstGeom>
        </p:spPr>
      </p:pic>
      <p:sp>
        <p:nvSpPr>
          <p:cNvPr id="7" name="Rectangle 6"/>
          <p:cNvSpPr/>
          <p:nvPr/>
        </p:nvSpPr>
        <p:spPr>
          <a:xfrm>
            <a:off x="6858000" y="1555768"/>
            <a:ext cx="5029200" cy="182880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0" y="1647208"/>
            <a:ext cx="4754880" cy="822960"/>
          </a:xfrm>
          <a:prstGeom prst="rect">
            <a:avLst/>
          </a:prstGeom>
          <a:noFill/>
        </p:spPr>
        <p:txBody>
          <a:bodyPr wrap="square">
            <a:spAutoFit/>
          </a:bodyPr>
          <a:lstStyle/>
          <a:p>
            <a:pPr algn="ctr"/>
            <a:r>
              <a:rPr sz="4000" b="1" i="0">
                <a:solidFill>
                  <a:srgbClr val="FFFFFF"/>
                </a:solidFill>
                <a:latin typeface="Calibri"/>
              </a:rPr>
              <a:t>q*  =  13%</a:t>
            </a:r>
            <a:endParaRPr sz="4000" b="1" i="0">
              <a:solidFill>
                <a:srgbClr val="FFFFFF"/>
              </a:solidFill>
              <a:latin typeface="Calibri"/>
            </a:endParaRPr>
          </a:p>
        </p:txBody>
      </p:sp>
      <p:sp>
        <p:nvSpPr>
          <p:cNvPr id="9" name="TextBox 8"/>
          <p:cNvSpPr txBox="1"/>
          <p:nvPr/>
        </p:nvSpPr>
        <p:spPr>
          <a:xfrm>
            <a:off x="6995160" y="2470167"/>
            <a:ext cx="4754880" cy="347472"/>
          </a:xfrm>
          <a:prstGeom prst="rect">
            <a:avLst/>
          </a:prstGeom>
          <a:noFill/>
        </p:spPr>
        <p:txBody>
          <a:bodyPr wrap="square">
            <a:spAutoFit/>
          </a:bodyPr>
          <a:lstStyle/>
          <a:p>
            <a:pPr algn="ctr"/>
            <a:r>
              <a:rPr sz="1400" b="0" i="1">
                <a:solidFill>
                  <a:srgbClr val="AAC4E8"/>
                </a:solidFill>
                <a:latin typeface="Calibri"/>
              </a:rPr>
              <a:t>of supply held as liquid cash</a:t>
            </a:r>
            <a:endParaRPr sz="1400" b="0" i="1">
              <a:solidFill>
                <a:srgbClr val="AAC4E8"/>
              </a:solidFill>
              <a:latin typeface="Calibri"/>
            </a:endParaRPr>
          </a:p>
        </p:txBody>
      </p:sp>
      <p:sp>
        <p:nvSpPr>
          <p:cNvPr id="10" name="Rectangle 9"/>
          <p:cNvSpPr/>
          <p:nvPr/>
        </p:nvSpPr>
        <p:spPr>
          <a:xfrm>
            <a:off x="6858000" y="3476008"/>
            <a:ext cx="5029200" cy="23774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0" y="3594880"/>
            <a:ext cx="4663440" cy="320040"/>
          </a:xfrm>
          <a:prstGeom prst="rect">
            <a:avLst/>
          </a:prstGeom>
          <a:noFill/>
        </p:spPr>
        <p:txBody>
          <a:bodyPr wrap="square">
            <a:spAutoFit/>
          </a:bodyPr>
          <a:lstStyle/>
          <a:p>
            <a:pPr algn="l"/>
            <a:r>
              <a:rPr sz="1400" b="1" i="0" dirty="0">
                <a:solidFill>
                  <a:srgbClr val="1B3A72"/>
                </a:solidFill>
                <a:latin typeface="Calibri"/>
              </a:rPr>
              <a:t>What this means:</a:t>
            </a:r>
            <a:endParaRPr sz="1400" b="1" i="0" dirty="0">
              <a:solidFill>
                <a:srgbClr val="1B3A72"/>
              </a:solidFill>
              <a:latin typeface="Calibri"/>
            </a:endParaRPr>
          </a:p>
        </p:txBody>
      </p:sp>
      <p:sp>
        <p:nvSpPr>
          <p:cNvPr id="12" name="TextBox 11"/>
          <p:cNvSpPr txBox="1"/>
          <p:nvPr/>
        </p:nvSpPr>
        <p:spPr>
          <a:xfrm>
            <a:off x="7040880" y="3960640"/>
            <a:ext cx="4663440" cy="1691640"/>
          </a:xfrm>
          <a:prstGeom prst="rect">
            <a:avLst/>
          </a:prstGeom>
          <a:noFill/>
        </p:spPr>
        <p:txBody>
          <a:bodyPr wrap="square">
            <a:spAutoFit/>
          </a:bodyPr>
          <a:lstStyle/>
          <a:p>
            <a:pPr algn="l"/>
            <a:r>
              <a:rPr sz="1300" b="0" i="0" dirty="0">
                <a:solidFill>
                  <a:srgbClr val="1A1A2E"/>
                </a:solidFill>
                <a:latin typeface="Calibri"/>
              </a:rPr>
              <a:t>Using Hansen (2000) threshold regression, we find a tipping point at 13% liquid cash reserves.
Below this level — where most of our data falls — issuers don't have enough cash to absorb redemptions without selling T-bills.</a:t>
            </a:r>
            <a:endParaRPr sz="1300" b="0" i="0" dirty="0">
              <a:solidFill>
                <a:srgbClr val="1A1A2E"/>
              </a:solidFill>
              <a:latin typeface="Calibri"/>
            </a:endParaRPr>
          </a:p>
        </p:txBody>
      </p:sp>
      <p:sp>
        <p:nvSpPr>
          <p:cNvPr id="13" name="TextBox 12"/>
          <p:cNvSpPr txBox="1"/>
          <p:nvPr/>
        </p:nvSpPr>
        <p:spPr>
          <a:xfrm>
            <a:off x="2931795" y="4678198"/>
            <a:ext cx="6400800" cy="246221"/>
          </a:xfrm>
          <a:prstGeom prst="rect">
            <a:avLst/>
          </a:prstGeom>
          <a:noFill/>
        </p:spPr>
        <p:txBody>
          <a:bodyPr wrap="square">
            <a:spAutoFit/>
          </a:bodyPr>
          <a:lstStyle/>
          <a:p>
            <a:pPr algn="l"/>
            <a:r>
              <a:rPr sz="1000" b="0" i="1" dirty="0">
                <a:solidFill>
                  <a:srgbClr val="555566"/>
                </a:solidFill>
                <a:latin typeface="Calibri"/>
              </a:rPr>
              <a:t> Lower SSR = better model fit at that threshold value</a:t>
            </a:r>
            <a:endParaRPr sz="1000" b="0" i="1" dirty="0">
              <a:solidFill>
                <a:srgbClr val="555566"/>
              </a:solidFill>
              <a:latin typeface="Calibri"/>
            </a:endParaRPr>
          </a:p>
        </p:txBody>
      </p:sp>
      <p:sp>
        <p:nvSpPr>
          <p:cNvPr id="14" name="TextBox 13"/>
          <p:cNvSpPr txBox="1"/>
          <p:nvPr/>
        </p:nvSpPr>
        <p:spPr>
          <a:xfrm>
            <a:off x="320040" y="6400800"/>
            <a:ext cx="11521440" cy="292608"/>
          </a:xfrm>
          <a:prstGeom prst="rect">
            <a:avLst/>
          </a:prstGeom>
          <a:noFill/>
        </p:spPr>
        <p:txBody>
          <a:bodyPr wrap="square">
            <a:spAutoFit/>
          </a:bodyPr>
          <a:lstStyle/>
          <a:p>
            <a:pPr algn="ctr"/>
            <a:r>
              <a:rPr sz="1100" b="0" i="1" dirty="0">
                <a:solidFill>
                  <a:srgbClr val="555566"/>
                </a:solidFill>
                <a:latin typeface="Calibri"/>
              </a:rPr>
              <a:t>Bootstrap p = 0.260  (suggestive — the direction is clear; significance grows as data accumulates past 2026)</a:t>
            </a:r>
            <a:endParaRPr sz="1100" b="0" i="1" dirty="0">
              <a:solidFill>
                <a:srgbClr val="555566"/>
              </a:solidFill>
              <a:latin typeface="Calibri"/>
            </a:endParaRPr>
          </a:p>
        </p:txBody>
      </p:sp>
      <p:sp>
        <p:nvSpPr>
          <p:cNvPr id="15" name="TextBox 14"/>
          <p:cNvSpPr txBox="1"/>
          <p:nvPr/>
        </p:nvSpPr>
        <p:spPr>
          <a:xfrm>
            <a:off x="11288486" y="206829"/>
            <a:ext cx="718457" cy="369332"/>
          </a:xfrm>
          <a:prstGeom prst="rect">
            <a:avLst/>
          </a:prstGeom>
          <a:noFill/>
        </p:spPr>
        <p:txBody>
          <a:bodyPr wrap="square" rtlCol="0">
            <a:spAutoFit/>
          </a:bodyPr>
          <a:lstStyle/>
          <a:p>
            <a:r>
              <a:rPr kumimoji="1" lang="en-US" altLang="ko-KR" dirty="0">
                <a:solidFill>
                  <a:schemeClr val="bg1"/>
                </a:solidFill>
              </a:rPr>
              <a:t>Sara</a:t>
            </a:r>
            <a:endParaRPr kumimoji="1" lang="ko-KR" altLang="en-US" dirty="0">
              <a:solidFill>
                <a:schemeClr val="bg1"/>
              </a:solidFill>
            </a:endParaRPr>
          </a:p>
        </p:txBody>
      </p:sp>
      <p:sp>
        <p:nvSpPr>
          <p:cNvPr id="16" name="TextBox 15"/>
          <p:cNvSpPr txBox="1"/>
          <p:nvPr/>
        </p:nvSpPr>
        <p:spPr>
          <a:xfrm>
            <a:off x="320040" y="1440898"/>
            <a:ext cx="4663440" cy="292388"/>
          </a:xfrm>
          <a:prstGeom prst="rect">
            <a:avLst/>
          </a:prstGeom>
          <a:noFill/>
        </p:spPr>
        <p:txBody>
          <a:bodyPr wrap="square">
            <a:spAutoFit/>
          </a:bodyPr>
          <a:lstStyle/>
          <a:p>
            <a:pPr algn="l"/>
            <a:r>
              <a:rPr lang="en-US" sz="1300" b="0" i="0" dirty="0">
                <a:solidFill>
                  <a:srgbClr val="1A1A2E"/>
                </a:solidFill>
                <a:latin typeface="Calibri"/>
              </a:rPr>
              <a:t>SSR : Sum of Squared Residuals </a:t>
            </a:r>
            <a:endParaRPr sz="1300" b="0" i="0" dirty="0">
              <a:solidFill>
                <a:srgbClr val="1A1A2E"/>
              </a:solidFill>
              <a:latin typeface="Calibri"/>
            </a:endParaRPr>
          </a:p>
        </p:txBody>
      </p:sp>
      <p:sp>
        <p:nvSpPr>
          <p:cNvPr id="18" name="위쪽 화살표[U] 17"/>
          <p:cNvSpPr/>
          <p:nvPr/>
        </p:nvSpPr>
        <p:spPr>
          <a:xfrm>
            <a:off x="5193665" y="5097563"/>
            <a:ext cx="1527175" cy="846037"/>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ko-KR" dirty="0"/>
              <a:t>13%</a:t>
            </a:r>
            <a:endParaRPr kumimoji="1" lang="ko-KR"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dirty="0">
                <a:solidFill>
                  <a:srgbClr val="FFFFFF"/>
                </a:solidFill>
                <a:latin typeface="Calibri"/>
              </a:rPr>
              <a:t>Below vs. Above the Threshold: Two Different Worlds</a:t>
            </a:r>
            <a:endParaRPr sz="2600" b="0" i="0" dirty="0">
              <a:solidFill>
                <a:srgbClr val="FFFFFF"/>
              </a:solidFill>
              <a:latin typeface="Calibri"/>
            </a:endParaRP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12</a:t>
            </a:r>
            <a:endParaRPr sz="1300" b="0" i="0">
              <a:solidFill>
                <a:srgbClr val="555566"/>
              </a:solidFill>
              <a:latin typeface="Calibri"/>
            </a:endParaRPr>
          </a:p>
        </p:txBody>
      </p:sp>
      <p:sp>
        <p:nvSpPr>
          <p:cNvPr id="6" name="TextBox 5"/>
          <p:cNvSpPr txBox="1"/>
          <p:nvPr/>
        </p:nvSpPr>
        <p:spPr>
          <a:xfrm>
            <a:off x="365760" y="960120"/>
            <a:ext cx="11430000" cy="384048"/>
          </a:xfrm>
          <a:prstGeom prst="rect">
            <a:avLst/>
          </a:prstGeom>
          <a:noFill/>
        </p:spPr>
        <p:txBody>
          <a:bodyPr wrap="square">
            <a:spAutoFit/>
          </a:bodyPr>
          <a:lstStyle/>
          <a:p>
            <a:pPr algn="l"/>
            <a:r>
              <a:rPr sz="1400" b="0" i="1" dirty="0">
                <a:solidFill>
                  <a:srgbClr val="555566"/>
                </a:solidFill>
                <a:latin typeface="Calibri"/>
              </a:rPr>
              <a:t>Splitting our 51 months at q* = 13% reveals a striking difference in how stablecoin growth affects Treasury markets:</a:t>
            </a:r>
            <a:endParaRPr sz="1400" b="0" i="1" dirty="0">
              <a:solidFill>
                <a:srgbClr val="555566"/>
              </a:solidFill>
              <a:latin typeface="Calibri"/>
            </a:endParaRPr>
          </a:p>
        </p:txBody>
      </p:sp>
      <p:sp>
        <p:nvSpPr>
          <p:cNvPr id="7" name="Rectangle 6"/>
          <p:cNvSpPr/>
          <p:nvPr/>
        </p:nvSpPr>
        <p:spPr>
          <a:xfrm>
            <a:off x="365760" y="1463040"/>
            <a:ext cx="5486400" cy="416052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463040"/>
            <a:ext cx="5486400" cy="5029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08760"/>
            <a:ext cx="5303520" cy="402336"/>
          </a:xfrm>
          <a:prstGeom prst="rect">
            <a:avLst/>
          </a:prstGeom>
          <a:noFill/>
        </p:spPr>
        <p:txBody>
          <a:bodyPr wrap="square">
            <a:spAutoFit/>
          </a:bodyPr>
          <a:lstStyle/>
          <a:p>
            <a:pPr algn="ctr"/>
            <a:r>
              <a:rPr sz="1400" b="1" i="0">
                <a:solidFill>
                  <a:srgbClr val="FFFFFF"/>
                </a:solidFill>
                <a:latin typeface="Calibri"/>
              </a:rPr>
              <a:t>BELOW  13%  LIQUID BUFFER</a:t>
            </a:r>
            <a:endParaRPr sz="1400" b="1" i="0">
              <a:solidFill>
                <a:srgbClr val="FFFFFF"/>
              </a:solidFill>
              <a:latin typeface="Calibri"/>
            </a:endParaRPr>
          </a:p>
        </p:txBody>
      </p:sp>
      <p:sp>
        <p:nvSpPr>
          <p:cNvPr id="10" name="TextBox 9"/>
          <p:cNvSpPr txBox="1"/>
          <p:nvPr/>
        </p:nvSpPr>
        <p:spPr>
          <a:xfrm>
            <a:off x="457200" y="2057400"/>
            <a:ext cx="5303520" cy="320040"/>
          </a:xfrm>
          <a:prstGeom prst="rect">
            <a:avLst/>
          </a:prstGeom>
          <a:noFill/>
        </p:spPr>
        <p:txBody>
          <a:bodyPr wrap="square">
            <a:spAutoFit/>
          </a:bodyPr>
          <a:lstStyle/>
          <a:p>
            <a:pPr algn="ctr"/>
            <a:r>
              <a:rPr sz="1300" b="0" i="1">
                <a:solidFill>
                  <a:srgbClr val="555566"/>
                </a:solidFill>
                <a:latin typeface="Calibri"/>
              </a:rPr>
              <a:t>38 out of 51 months</a:t>
            </a:r>
            <a:endParaRPr sz="1300" b="0" i="1">
              <a:solidFill>
                <a:srgbClr val="555566"/>
              </a:solidFill>
              <a:latin typeface="Calibri"/>
            </a:endParaRPr>
          </a:p>
        </p:txBody>
      </p:sp>
      <p:sp>
        <p:nvSpPr>
          <p:cNvPr id="11" name="TextBox 10"/>
          <p:cNvSpPr txBox="1"/>
          <p:nvPr/>
        </p:nvSpPr>
        <p:spPr>
          <a:xfrm>
            <a:off x="457200" y="2423160"/>
            <a:ext cx="5303520" cy="777240"/>
          </a:xfrm>
          <a:prstGeom prst="rect">
            <a:avLst/>
          </a:prstGeom>
          <a:noFill/>
        </p:spPr>
        <p:txBody>
          <a:bodyPr wrap="square">
            <a:spAutoFit/>
          </a:bodyPr>
          <a:lstStyle/>
          <a:p>
            <a:pPr algn="ctr"/>
            <a:r>
              <a:rPr sz="4200" b="1" i="0" dirty="0">
                <a:solidFill>
                  <a:srgbClr val="C0392B"/>
                </a:solidFill>
                <a:latin typeface="Calibri"/>
              </a:rPr>
              <a:t>β  =  −6.97</a:t>
            </a:r>
            <a:endParaRPr sz="4200" b="1" i="0" dirty="0">
              <a:solidFill>
                <a:srgbClr val="C0392B"/>
              </a:solidFill>
              <a:latin typeface="Calibri"/>
            </a:endParaRPr>
          </a:p>
        </p:txBody>
      </p:sp>
      <p:sp>
        <p:nvSpPr>
          <p:cNvPr id="12" name="TextBox 11"/>
          <p:cNvSpPr txBox="1"/>
          <p:nvPr/>
        </p:nvSpPr>
        <p:spPr>
          <a:xfrm>
            <a:off x="548640" y="3291840"/>
            <a:ext cx="5120640" cy="1754326"/>
          </a:xfrm>
          <a:prstGeom prst="rect">
            <a:avLst/>
          </a:prstGeom>
          <a:noFill/>
        </p:spPr>
        <p:txBody>
          <a:bodyPr wrap="square">
            <a:spAutoFit/>
          </a:bodyPr>
          <a:lstStyle/>
          <a:p>
            <a:r>
              <a:rPr lang="en-US" altLang="ko-KR" i="1" dirty="0"/>
              <a:t>"With no cash buffer, every new token issued requires buying T-bills. That constant T-bill demand compresses spreads strongly. And during redemptions, they have no cash — so they must sell T-bills too. </a:t>
            </a:r>
            <a:r>
              <a:rPr lang="en-US" altLang="ko-KR" b="1" i="1" dirty="0"/>
              <a:t>Their activity moves the market in both directions."</a:t>
            </a:r>
            <a:endParaRPr sz="1400" b="1" i="0" dirty="0">
              <a:solidFill>
                <a:srgbClr val="1A1A2E"/>
              </a:solidFill>
              <a:latin typeface="Calibri"/>
            </a:endParaRPr>
          </a:p>
        </p:txBody>
      </p:sp>
      <p:sp>
        <p:nvSpPr>
          <p:cNvPr id="13" name="Rectangle 12"/>
          <p:cNvSpPr/>
          <p:nvPr/>
        </p:nvSpPr>
        <p:spPr>
          <a:xfrm>
            <a:off x="6309360" y="1463040"/>
            <a:ext cx="5486400" cy="416052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1463040"/>
            <a:ext cx="5486400" cy="5029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508760"/>
            <a:ext cx="5303520" cy="402336"/>
          </a:xfrm>
          <a:prstGeom prst="rect">
            <a:avLst/>
          </a:prstGeom>
          <a:noFill/>
        </p:spPr>
        <p:txBody>
          <a:bodyPr wrap="square">
            <a:spAutoFit/>
          </a:bodyPr>
          <a:lstStyle/>
          <a:p>
            <a:pPr algn="ctr"/>
            <a:r>
              <a:rPr sz="1400" b="1" i="0">
                <a:solidFill>
                  <a:srgbClr val="FFFFFF"/>
                </a:solidFill>
                <a:latin typeface="Calibri"/>
              </a:rPr>
              <a:t>ABOVE  13%  LIQUID BUFFER</a:t>
            </a:r>
            <a:endParaRPr sz="1400" b="1" i="0">
              <a:solidFill>
                <a:srgbClr val="FFFFFF"/>
              </a:solidFill>
              <a:latin typeface="Calibri"/>
            </a:endParaRPr>
          </a:p>
        </p:txBody>
      </p:sp>
      <p:sp>
        <p:nvSpPr>
          <p:cNvPr id="16" name="TextBox 15"/>
          <p:cNvSpPr txBox="1"/>
          <p:nvPr/>
        </p:nvSpPr>
        <p:spPr>
          <a:xfrm>
            <a:off x="6400800" y="2057400"/>
            <a:ext cx="5303520" cy="320040"/>
          </a:xfrm>
          <a:prstGeom prst="rect">
            <a:avLst/>
          </a:prstGeom>
          <a:noFill/>
        </p:spPr>
        <p:txBody>
          <a:bodyPr wrap="square">
            <a:spAutoFit/>
          </a:bodyPr>
          <a:lstStyle/>
          <a:p>
            <a:pPr algn="ctr"/>
            <a:r>
              <a:rPr sz="1300" b="0" i="1">
                <a:solidFill>
                  <a:srgbClr val="555566"/>
                </a:solidFill>
                <a:latin typeface="Calibri"/>
              </a:rPr>
              <a:t>13 out of 51 months</a:t>
            </a:r>
            <a:endParaRPr sz="1300" b="0" i="1">
              <a:solidFill>
                <a:srgbClr val="555566"/>
              </a:solidFill>
              <a:latin typeface="Calibri"/>
            </a:endParaRPr>
          </a:p>
        </p:txBody>
      </p:sp>
      <p:sp>
        <p:nvSpPr>
          <p:cNvPr id="17" name="TextBox 16"/>
          <p:cNvSpPr txBox="1"/>
          <p:nvPr/>
        </p:nvSpPr>
        <p:spPr>
          <a:xfrm>
            <a:off x="6400800" y="2423160"/>
            <a:ext cx="5303520" cy="777240"/>
          </a:xfrm>
          <a:prstGeom prst="rect">
            <a:avLst/>
          </a:prstGeom>
          <a:noFill/>
        </p:spPr>
        <p:txBody>
          <a:bodyPr wrap="square">
            <a:spAutoFit/>
          </a:bodyPr>
          <a:lstStyle/>
          <a:p>
            <a:pPr algn="ctr"/>
            <a:r>
              <a:rPr sz="4200" b="1" i="0" dirty="0">
                <a:solidFill>
                  <a:srgbClr val="1A7A4A"/>
                </a:solidFill>
                <a:latin typeface="Calibri"/>
              </a:rPr>
              <a:t>β  =  +1.26</a:t>
            </a:r>
            <a:endParaRPr sz="4200" b="1" i="0" dirty="0">
              <a:solidFill>
                <a:srgbClr val="1A7A4A"/>
              </a:solidFill>
              <a:latin typeface="Calibri"/>
            </a:endParaRPr>
          </a:p>
        </p:txBody>
      </p:sp>
      <p:sp>
        <p:nvSpPr>
          <p:cNvPr id="18" name="TextBox 17"/>
          <p:cNvSpPr txBox="1"/>
          <p:nvPr/>
        </p:nvSpPr>
        <p:spPr>
          <a:xfrm>
            <a:off x="6492240" y="3291840"/>
            <a:ext cx="5120640" cy="1200329"/>
          </a:xfrm>
          <a:prstGeom prst="rect">
            <a:avLst/>
          </a:prstGeom>
          <a:noFill/>
        </p:spPr>
        <p:txBody>
          <a:bodyPr wrap="square">
            <a:spAutoFit/>
          </a:bodyPr>
          <a:lstStyle/>
          <a:p>
            <a:r>
              <a:rPr lang="en-US" altLang="ko-KR" i="1" dirty="0"/>
              <a:t>"With enough cash on hand, new tokens are backed by existing reserves — no T-bill buying needed. During redemptions, cash absorbs the shock instead of T-bill selling. </a:t>
            </a:r>
            <a:r>
              <a:rPr lang="en-US" altLang="ko-KR" b="1" i="1" dirty="0"/>
              <a:t>The T-bill market is undisturbed."</a:t>
            </a:r>
            <a:endParaRPr sz="1400" b="1" i="0" dirty="0">
              <a:solidFill>
                <a:srgbClr val="1A1A2E"/>
              </a:solidFill>
              <a:latin typeface="Calibri"/>
            </a:endParaRPr>
          </a:p>
        </p:txBody>
      </p:sp>
      <p:sp>
        <p:nvSpPr>
          <p:cNvPr id="19" name="Rectangle 18"/>
          <p:cNvSpPr/>
          <p:nvPr/>
        </p:nvSpPr>
        <p:spPr>
          <a:xfrm>
            <a:off x="0" y="5596128"/>
            <a:ext cx="12188952" cy="109728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760720"/>
            <a:ext cx="11274552" cy="830997"/>
          </a:xfrm>
          <a:prstGeom prst="rect">
            <a:avLst/>
          </a:prstGeom>
          <a:noFill/>
        </p:spPr>
        <p:txBody>
          <a:bodyPr wrap="square">
            <a:spAutoFit/>
          </a:bodyPr>
          <a:lstStyle/>
          <a:p>
            <a:pPr algn="ctr"/>
            <a:r>
              <a:rPr sz="2400" b="1" i="0" dirty="0">
                <a:solidFill>
                  <a:srgbClr val="FFFFFF"/>
                </a:solidFill>
                <a:latin typeface="Calibri"/>
              </a:rPr>
              <a:t>The liquid cash buffer is what separates a stablecoin issuer that </a:t>
            </a:r>
            <a:r>
              <a:rPr sz="2400" b="1" i="0" dirty="0" err="1">
                <a:solidFill>
                  <a:srgbClr val="FFFFFF"/>
                </a:solidFill>
                <a:latin typeface="Calibri"/>
              </a:rPr>
              <a:t>stabilises</a:t>
            </a:r>
            <a:r>
              <a:rPr sz="2400" b="1" i="0" dirty="0">
                <a:solidFill>
                  <a:srgbClr val="FFFFFF"/>
                </a:solidFill>
                <a:latin typeface="Calibri"/>
              </a:rPr>
              <a:t> Treasury markets from one that disrupts them.</a:t>
            </a:r>
            <a:endParaRPr sz="2400" b="1" i="0" dirty="0">
              <a:solidFill>
                <a:srgbClr val="FFFFFF"/>
              </a:solidFill>
              <a:latin typeface="Calibri"/>
            </a:endParaRPr>
          </a:p>
        </p:txBody>
      </p:sp>
      <p:sp>
        <p:nvSpPr>
          <p:cNvPr id="21" name="TextBox 20"/>
          <p:cNvSpPr txBox="1"/>
          <p:nvPr/>
        </p:nvSpPr>
        <p:spPr>
          <a:xfrm>
            <a:off x="11288486" y="206829"/>
            <a:ext cx="718457" cy="369332"/>
          </a:xfrm>
          <a:prstGeom prst="rect">
            <a:avLst/>
          </a:prstGeom>
          <a:noFill/>
        </p:spPr>
        <p:txBody>
          <a:bodyPr wrap="square" rtlCol="0">
            <a:spAutoFit/>
          </a:bodyPr>
          <a:lstStyle/>
          <a:p>
            <a:r>
              <a:rPr kumimoji="1" lang="en-US" altLang="ko-KR" dirty="0">
                <a:solidFill>
                  <a:schemeClr val="bg1"/>
                </a:solidFill>
              </a:rPr>
              <a:t>Sara</a:t>
            </a:r>
            <a:endParaRPr kumimoji="1" lang="ko-KR" altLang="en-US"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492443"/>
          </a:xfrm>
          <a:prstGeom prst="rect">
            <a:avLst/>
          </a:prstGeom>
          <a:noFill/>
        </p:spPr>
        <p:txBody>
          <a:bodyPr wrap="square">
            <a:spAutoFit/>
          </a:bodyPr>
          <a:lstStyle/>
          <a:p>
            <a:pPr algn="l"/>
            <a:r>
              <a:rPr lang="en-US" sz="2600" b="0" i="0" dirty="0">
                <a:solidFill>
                  <a:srgbClr val="FFFFFF"/>
                </a:solidFill>
                <a:latin typeface="Calibri"/>
              </a:rPr>
              <a:t>Looking Ahead: Causal Proof &amp; Policy Solutions</a:t>
            </a:r>
            <a:endParaRPr sz="2600" b="0" i="0" dirty="0">
              <a:solidFill>
                <a:srgbClr val="FFFFFF"/>
              </a:solidFill>
              <a:latin typeface="Calibri"/>
            </a:endParaRPr>
          </a:p>
        </p:txBody>
      </p:sp>
      <p:sp>
        <p:nvSpPr>
          <p:cNvPr id="5" name="TextBox 4"/>
          <p:cNvSpPr txBox="1"/>
          <p:nvPr/>
        </p:nvSpPr>
        <p:spPr>
          <a:xfrm>
            <a:off x="11686032" y="6473952"/>
            <a:ext cx="411480" cy="292388"/>
          </a:xfrm>
          <a:prstGeom prst="rect">
            <a:avLst/>
          </a:prstGeom>
          <a:noFill/>
        </p:spPr>
        <p:txBody>
          <a:bodyPr wrap="square">
            <a:spAutoFit/>
          </a:bodyPr>
          <a:lstStyle/>
          <a:p>
            <a:pPr algn="r"/>
            <a:r>
              <a:rPr sz="1300" b="0" i="0" dirty="0">
                <a:solidFill>
                  <a:srgbClr val="555566"/>
                </a:solidFill>
                <a:latin typeface="Calibri"/>
              </a:rPr>
              <a:t>1</a:t>
            </a:r>
            <a:r>
              <a:rPr lang="en-US" sz="1300" b="0" i="0" dirty="0">
                <a:solidFill>
                  <a:srgbClr val="555566"/>
                </a:solidFill>
                <a:latin typeface="Calibri"/>
              </a:rPr>
              <a:t>3</a:t>
            </a:r>
            <a:endParaRPr sz="1300" b="0" i="0" dirty="0">
              <a:solidFill>
                <a:srgbClr val="555566"/>
              </a:solidFill>
              <a:latin typeface="Calibri"/>
            </a:endParaRPr>
          </a:p>
        </p:txBody>
      </p:sp>
      <p:sp>
        <p:nvSpPr>
          <p:cNvPr id="15" name="TextBox 14"/>
          <p:cNvSpPr txBox="1"/>
          <p:nvPr/>
        </p:nvSpPr>
        <p:spPr>
          <a:xfrm>
            <a:off x="11288486" y="206829"/>
            <a:ext cx="718457" cy="369332"/>
          </a:xfrm>
          <a:prstGeom prst="rect">
            <a:avLst/>
          </a:prstGeom>
          <a:noFill/>
        </p:spPr>
        <p:txBody>
          <a:bodyPr wrap="square" rtlCol="0">
            <a:spAutoFit/>
          </a:bodyPr>
          <a:lstStyle/>
          <a:p>
            <a:r>
              <a:rPr kumimoji="1" lang="en-US" altLang="ko-KR" dirty="0">
                <a:solidFill>
                  <a:schemeClr val="bg1"/>
                </a:solidFill>
              </a:rPr>
              <a:t>Sara</a:t>
            </a:r>
            <a:endParaRPr kumimoji="1" lang="ko-KR" altLang="en-US" dirty="0">
              <a:solidFill>
                <a:schemeClr val="bg1"/>
              </a:solidFill>
            </a:endParaRPr>
          </a:p>
        </p:txBody>
      </p:sp>
      <p:sp>
        <p:nvSpPr>
          <p:cNvPr id="18" name="TextBox 17"/>
          <p:cNvSpPr txBox="1"/>
          <p:nvPr/>
        </p:nvSpPr>
        <p:spPr>
          <a:xfrm>
            <a:off x="441159" y="1312039"/>
            <a:ext cx="5653253" cy="2308324"/>
          </a:xfrm>
          <a:prstGeom prst="rect">
            <a:avLst/>
          </a:prstGeom>
          <a:noFill/>
        </p:spPr>
        <p:txBody>
          <a:bodyPr wrap="square">
            <a:spAutoFit/>
          </a:bodyPr>
          <a:lstStyle/>
          <a:p>
            <a:pPr algn="l">
              <a:buFont typeface="Arial" panose="020B0704020202020204" pitchFamily="34" charset="0"/>
              <a:buChar char="•"/>
            </a:pPr>
            <a:r>
              <a:rPr lang="en-US" altLang="ko-KR" b="1" i="0" dirty="0">
                <a:solidFill>
                  <a:srgbClr val="303030"/>
                </a:solidFill>
                <a:effectLst/>
                <a:latin typeface="Google Sans Text"/>
              </a:rPr>
              <a:t>Result 3: The Buffer-Conditioned Event Study</a:t>
            </a:r>
            <a:endParaRPr lang="en-US" altLang="ko-KR" b="0" i="0" dirty="0">
              <a:solidFill>
                <a:srgbClr val="303030"/>
              </a:solidFill>
              <a:effectLst/>
              <a:latin typeface="Google Sans Text"/>
            </a:endParaRPr>
          </a:p>
          <a:p>
            <a:pPr marL="742950" lvl="1" indent="-285750" algn="l">
              <a:buFont typeface="Arial" panose="020B0704020202020204" pitchFamily="34" charset="0"/>
              <a:buChar char="•"/>
            </a:pPr>
            <a:r>
              <a:rPr lang="en-US" altLang="ko-KR" b="0" i="0" dirty="0">
                <a:solidFill>
                  <a:srgbClr val="303030"/>
                </a:solidFill>
                <a:effectLst/>
                <a:latin typeface="Google Sans Text"/>
              </a:rPr>
              <a:t>Moving from monthly trends to daily "quasi-experimental" causal identification.</a:t>
            </a:r>
            <a:endParaRPr lang="en-US" altLang="ko-KR" b="0" i="0" dirty="0">
              <a:solidFill>
                <a:srgbClr val="303030"/>
              </a:solidFill>
              <a:effectLst/>
              <a:latin typeface="Google Sans Text"/>
            </a:endParaRPr>
          </a:p>
          <a:p>
            <a:pPr marL="742950" lvl="1" indent="-285750" algn="l">
              <a:buFont typeface="Arial" panose="020B0704020202020204" pitchFamily="34" charset="0"/>
              <a:buChar char="•"/>
            </a:pPr>
            <a:r>
              <a:rPr lang="en-US" altLang="ko-KR" b="0" i="0" dirty="0">
                <a:solidFill>
                  <a:srgbClr val="303030"/>
                </a:solidFill>
                <a:effectLst/>
                <a:latin typeface="Google Sans Text"/>
              </a:rPr>
              <a:t>Analyzing three major stress episodes: LUNA/UST, the USDT partial </a:t>
            </a:r>
            <a:r>
              <a:rPr lang="en-US" altLang="ko-KR" b="0" i="0" dirty="0" err="1">
                <a:solidFill>
                  <a:srgbClr val="303030"/>
                </a:solidFill>
                <a:effectLst/>
                <a:latin typeface="Google Sans Text"/>
              </a:rPr>
              <a:t>depeg</a:t>
            </a:r>
            <a:r>
              <a:rPr lang="en-US" altLang="ko-KR" b="0" i="0" dirty="0">
                <a:solidFill>
                  <a:srgbClr val="303030"/>
                </a:solidFill>
                <a:effectLst/>
                <a:latin typeface="Google Sans Text"/>
              </a:rPr>
              <a:t>, and the USDC/SVB failure.</a:t>
            </a:r>
            <a:endParaRPr lang="en-US" altLang="ko-KR" b="0" i="0" dirty="0">
              <a:solidFill>
                <a:srgbClr val="303030"/>
              </a:solidFill>
              <a:effectLst/>
              <a:latin typeface="Google Sans Text"/>
            </a:endParaRPr>
          </a:p>
          <a:p>
            <a:pPr marL="742950" lvl="1" indent="-285750" algn="l">
              <a:buFont typeface="Arial" panose="020B0704020202020204" pitchFamily="34" charset="0"/>
              <a:buChar char="•"/>
            </a:pPr>
            <a:r>
              <a:rPr lang="en-US" altLang="ko-KR" b="0" i="0" dirty="0">
                <a:solidFill>
                  <a:srgbClr val="303030"/>
                </a:solidFill>
                <a:effectLst/>
                <a:latin typeface="Google Sans Text"/>
              </a:rPr>
              <a:t>Proving how the </a:t>
            </a:r>
            <a:r>
              <a:rPr lang="en-US" altLang="ko-KR" b="1" i="0" dirty="0">
                <a:solidFill>
                  <a:srgbClr val="303030"/>
                </a:solidFill>
                <a:effectLst/>
                <a:latin typeface="Google Sans Text"/>
              </a:rPr>
              <a:t>buffer size</a:t>
            </a:r>
            <a:r>
              <a:rPr lang="en-US" altLang="ko-KR" b="0" i="0" dirty="0">
                <a:solidFill>
                  <a:srgbClr val="303030"/>
                </a:solidFill>
                <a:effectLst/>
                <a:latin typeface="Google Sans Text"/>
              </a:rPr>
              <a:t> determines if a crisis causes a "sovereign-linked liquidity shock" or a "flight-to-safety".</a:t>
            </a:r>
            <a:endParaRPr lang="en-US" altLang="ko-KR" b="0" i="0" dirty="0">
              <a:solidFill>
                <a:srgbClr val="303030"/>
              </a:solidFill>
              <a:effectLst/>
              <a:latin typeface="Google Sans Text"/>
            </a:endParaRPr>
          </a:p>
        </p:txBody>
      </p:sp>
      <p:sp>
        <p:nvSpPr>
          <p:cNvPr id="20" name="TextBox 19"/>
          <p:cNvSpPr txBox="1"/>
          <p:nvPr/>
        </p:nvSpPr>
        <p:spPr>
          <a:xfrm>
            <a:off x="274320" y="4060308"/>
            <a:ext cx="6144126" cy="1754326"/>
          </a:xfrm>
          <a:prstGeom prst="rect">
            <a:avLst/>
          </a:prstGeom>
          <a:noFill/>
        </p:spPr>
        <p:txBody>
          <a:bodyPr wrap="square">
            <a:spAutoFit/>
          </a:bodyPr>
          <a:lstStyle/>
          <a:p>
            <a:pPr algn="l">
              <a:buFont typeface="Arial" panose="020B0704020202020204" pitchFamily="34" charset="0"/>
              <a:buChar char="•"/>
            </a:pPr>
            <a:r>
              <a:rPr lang="en-US" altLang="ko-KR" b="1" i="0" dirty="0">
                <a:solidFill>
                  <a:srgbClr val="303030"/>
                </a:solidFill>
                <a:effectLst/>
                <a:latin typeface="Google Sans Text"/>
              </a:rPr>
              <a:t>Robustness: "Data Sharpening" Post-2023</a:t>
            </a:r>
            <a:endParaRPr lang="en-US" altLang="ko-KR" b="0" i="0" dirty="0">
              <a:solidFill>
                <a:srgbClr val="303030"/>
              </a:solidFill>
              <a:effectLst/>
              <a:latin typeface="Google Sans Text"/>
            </a:endParaRPr>
          </a:p>
          <a:p>
            <a:pPr marL="742950" lvl="1" indent="-285750" algn="l">
              <a:buFont typeface="Arial" panose="020B0704020202020204" pitchFamily="34" charset="0"/>
              <a:buChar char="•"/>
            </a:pPr>
            <a:r>
              <a:rPr lang="en-US" altLang="ko-KR" b="0" i="0" dirty="0">
                <a:solidFill>
                  <a:srgbClr val="303030"/>
                </a:solidFill>
                <a:effectLst/>
                <a:latin typeface="Google Sans Text"/>
              </a:rPr>
              <a:t>Testing a more recent sub-sample (N=39) where reporting and attestations are more transparent.</a:t>
            </a:r>
            <a:endParaRPr lang="en-US" altLang="ko-KR" b="0" i="0" dirty="0">
              <a:solidFill>
                <a:srgbClr val="303030"/>
              </a:solidFill>
              <a:effectLst/>
              <a:latin typeface="Google Sans Text"/>
            </a:endParaRPr>
          </a:p>
          <a:p>
            <a:pPr marL="742950" lvl="1" indent="-285750" algn="l">
              <a:buFont typeface="Arial" panose="020B0704020202020204" pitchFamily="34" charset="0"/>
              <a:buChar char="•"/>
            </a:pPr>
            <a:r>
              <a:rPr lang="en-US" altLang="ko-KR" b="0" i="0" dirty="0">
                <a:solidFill>
                  <a:srgbClr val="303030"/>
                </a:solidFill>
                <a:effectLst/>
                <a:latin typeface="Google Sans Text"/>
              </a:rPr>
              <a:t>Showing how the relationship between reserves and market spreads becomes even more statistically significant as the market matures.</a:t>
            </a:r>
            <a:endParaRPr lang="en-US" altLang="ko-KR" b="0" i="0" dirty="0">
              <a:solidFill>
                <a:srgbClr val="303030"/>
              </a:solidFill>
              <a:effectLst/>
              <a:latin typeface="Google Sans Text"/>
            </a:endParaRPr>
          </a:p>
        </p:txBody>
      </p:sp>
      <p:sp>
        <p:nvSpPr>
          <p:cNvPr id="22" name="TextBox 21"/>
          <p:cNvSpPr txBox="1"/>
          <p:nvPr/>
        </p:nvSpPr>
        <p:spPr>
          <a:xfrm>
            <a:off x="6094412" y="1308625"/>
            <a:ext cx="6144126" cy="2031325"/>
          </a:xfrm>
          <a:prstGeom prst="rect">
            <a:avLst/>
          </a:prstGeom>
          <a:noFill/>
        </p:spPr>
        <p:txBody>
          <a:bodyPr wrap="square">
            <a:spAutoFit/>
          </a:bodyPr>
          <a:lstStyle/>
          <a:p>
            <a:pPr>
              <a:buFont typeface="Arial" panose="020B0704020202020204" pitchFamily="34" charset="0"/>
              <a:buChar char="•"/>
            </a:pPr>
            <a:r>
              <a:rPr lang="en-US" altLang="ko-KR" b="1" dirty="0"/>
              <a:t>Policy Recommendation: The "13% Liquid Reserve Rule”</a:t>
            </a:r>
            <a:endParaRPr lang="en-US" altLang="ko-KR" b="1" dirty="0"/>
          </a:p>
          <a:p>
            <a:pPr lvl="1">
              <a:buFont typeface="Arial" panose="020B0704020202020204" pitchFamily="34" charset="0"/>
              <a:buChar char="•"/>
            </a:pPr>
            <a:r>
              <a:rPr lang="en-US" altLang="ko-KR" dirty="0">
                <a:effectLst/>
              </a:rPr>
              <a:t>Translating the threshold regression into a concrete regulatory requirement.</a:t>
            </a:r>
            <a:endParaRPr lang="en-US" altLang="ko-KR" dirty="0">
              <a:effectLst/>
            </a:endParaRPr>
          </a:p>
          <a:p>
            <a:pPr lvl="1">
              <a:buFont typeface="Arial" panose="020B0704020202020204" pitchFamily="34" charset="0"/>
              <a:buChar char="•"/>
            </a:pPr>
            <a:r>
              <a:rPr lang="en-US" altLang="ko-KR" b="0" i="0" dirty="0">
                <a:solidFill>
                  <a:srgbClr val="303030"/>
                </a:solidFill>
                <a:effectLst/>
                <a:latin typeface="Google Sans Text"/>
              </a:rPr>
              <a:t>Proposing a </a:t>
            </a:r>
            <a:r>
              <a:rPr lang="en-US" altLang="ko-KR" b="1" i="0" dirty="0">
                <a:solidFill>
                  <a:srgbClr val="303030"/>
                </a:solidFill>
                <a:effectLst/>
                <a:latin typeface="Google Sans Text"/>
              </a:rPr>
              <a:t>minimum 13% liquid buffer</a:t>
            </a:r>
            <a:r>
              <a:rPr lang="en-US" altLang="ko-KR" b="0" i="0" dirty="0">
                <a:solidFill>
                  <a:srgbClr val="303030"/>
                </a:solidFill>
                <a:effectLst/>
                <a:latin typeface="Google Sans Text"/>
              </a:rPr>
              <a:t> (cash/near-cash) to prevent private stablecoin runs from spilling into public Treasury markets</a:t>
            </a:r>
            <a:br>
              <a:rPr lang="en-US" altLang="ko-KR" b="0" i="0" dirty="0">
                <a:solidFill>
                  <a:srgbClr val="303030"/>
                </a:solidFill>
                <a:effectLst/>
                <a:latin typeface="Google Sans Text"/>
              </a:rPr>
            </a:br>
            <a:endParaRPr lang="en-US" altLang="ko-KR" dirty="0">
              <a:effectLst/>
            </a:endParaRPr>
          </a:p>
        </p:txBody>
      </p:sp>
      <p:sp>
        <p:nvSpPr>
          <p:cNvPr id="24" name="TextBox 23"/>
          <p:cNvSpPr txBox="1"/>
          <p:nvPr/>
        </p:nvSpPr>
        <p:spPr>
          <a:xfrm>
            <a:off x="6208294" y="4174503"/>
            <a:ext cx="6192252" cy="923330"/>
          </a:xfrm>
          <a:prstGeom prst="rect">
            <a:avLst/>
          </a:prstGeom>
          <a:noFill/>
        </p:spPr>
        <p:txBody>
          <a:bodyPr wrap="square">
            <a:spAutoFit/>
          </a:bodyPr>
          <a:lstStyle/>
          <a:p>
            <a:pPr algn="l">
              <a:buFont typeface="Arial" panose="020B0704020202020204" pitchFamily="34" charset="0"/>
              <a:buChar char="•"/>
            </a:pPr>
            <a:r>
              <a:rPr lang="en-US" altLang="ko-KR" b="1" i="0" dirty="0">
                <a:solidFill>
                  <a:srgbClr val="303030"/>
                </a:solidFill>
                <a:effectLst/>
                <a:latin typeface="Google Sans Text"/>
              </a:rPr>
              <a:t>Conclusion: Navigating the New Triffin Dilemma</a:t>
            </a:r>
            <a:endParaRPr lang="en-US" altLang="ko-KR" b="0" i="0" dirty="0">
              <a:solidFill>
                <a:srgbClr val="303030"/>
              </a:solidFill>
              <a:effectLst/>
              <a:latin typeface="Google Sans Text"/>
            </a:endParaRPr>
          </a:p>
          <a:p>
            <a:pPr marL="742950" lvl="1" indent="-285750" algn="l">
              <a:buFont typeface="Arial" panose="020B0704020202020204" pitchFamily="34" charset="0"/>
              <a:buChar char="•"/>
            </a:pPr>
            <a:r>
              <a:rPr lang="en-US" altLang="ko-KR" b="0" i="0" dirty="0">
                <a:solidFill>
                  <a:srgbClr val="303030"/>
                </a:solidFill>
                <a:effectLst/>
                <a:latin typeface="Google Sans Text"/>
              </a:rPr>
              <a:t>Final synthesis of how stablecoins both support and threaten the U.S. "exorbitant privilege".</a:t>
            </a:r>
            <a:endParaRPr lang="en-US" altLang="ko-KR" b="0" i="0" dirty="0">
              <a:solidFill>
                <a:srgbClr val="303030"/>
              </a:solidFill>
              <a:effectLst/>
              <a:latin typeface="Google Sans Tex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5" name="그림 4" descr="원, 그래픽, 스크린샷, 그래픽 디자인이(가) 표시된 사진&#10;&#10;자동 생성된 설명"/>
          <p:cNvPicPr>
            <a:picLocks noChangeAspect="1"/>
          </p:cNvPicPr>
          <p:nvPr/>
        </p:nvPicPr>
        <p:blipFill>
          <a:blip r:embed="rId1">
            <a:lum bright="70000" contrast="-70000"/>
            <a:extLst>
              <a:ext uri="{BEBA8EAE-BF5A-486C-A8C5-ECC9F3942E4B}">
                <a14:imgProps xmlns:a14="http://schemas.microsoft.com/office/drawing/2010/main">
                  <a14:imgLayer r:embed="rId2">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0" y="890"/>
            <a:ext cx="4809898" cy="6856214"/>
          </a:xfrm>
          <a:prstGeom prst="rect">
            <a:avLst/>
          </a:prstGeom>
        </p:spPr>
      </p:pic>
      <p:pic>
        <p:nvPicPr>
          <p:cNvPr id="4" name="그림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427" y="5009673"/>
            <a:ext cx="1554891" cy="1554891"/>
          </a:xfrm>
          <a:prstGeom prst="rect">
            <a:avLst/>
          </a:prstGeom>
        </p:spPr>
      </p:pic>
      <p:sp>
        <p:nvSpPr>
          <p:cNvPr id="6" name="직사각형 5"/>
          <p:cNvSpPr/>
          <p:nvPr/>
        </p:nvSpPr>
        <p:spPr>
          <a:xfrm>
            <a:off x="-1" y="1879560"/>
            <a:ext cx="12188826" cy="2576274"/>
          </a:xfrm>
          <a:prstGeom prst="rect">
            <a:avLst/>
          </a:prstGeom>
          <a:solidFill>
            <a:schemeClr val="tx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latinLnBrk="1">
              <a:defRPr/>
            </a:pPr>
            <a:r>
              <a:rPr lang="en-US" altLang="ko-KR" sz="2400" dirty="0">
                <a:solidFill>
                  <a:prstClr val="white"/>
                </a:solidFill>
                <a:latin typeface="Hiragino Kaku Gothic Std W8" panose="020B0800000000000000" pitchFamily="34" charset="-128"/>
                <a:ea typeface="Hiragino Kaku Gothic Std W8" panose="020B0800000000000000" pitchFamily="34" charset="-128"/>
              </a:rPr>
              <a:t>THANK YOU</a:t>
            </a:r>
            <a:endParaRPr lang="en-US" altLang="ko-KR" sz="2400" dirty="0">
              <a:solidFill>
                <a:prstClr val="white"/>
              </a:solidFill>
              <a:latin typeface="Hiragino Kaku Gothic Std W8" panose="020B0800000000000000" pitchFamily="34" charset="-128"/>
              <a:ea typeface="Hiragino Kaku Gothic Std W8" panose="020B0800000000000000" pitchFamily="34" charset="-128"/>
            </a:endParaRPr>
          </a:p>
          <a:p>
            <a:pPr algn="ctr" defTabSz="914400" latinLnBrk="1">
              <a:defRPr/>
            </a:pPr>
            <a:endParaRPr lang="ko-KR" altLang="en-US" sz="2400" dirty="0">
              <a:solidFill>
                <a:prstClr val="white"/>
              </a:solidFill>
              <a:latin typeface="Hiragino Kaku Gothic Std W8" panose="020B0800000000000000" pitchFamily="34" charset="-128"/>
              <a:ea typeface="Malgun Gothic" panose="020B0503020000020004" pitchFamily="50" charset="-127"/>
            </a:endParaRPr>
          </a:p>
        </p:txBody>
      </p:sp>
      <p:sp>
        <p:nvSpPr>
          <p:cNvPr id="11" name="TextBox 10"/>
          <p:cNvSpPr txBox="1"/>
          <p:nvPr/>
        </p:nvSpPr>
        <p:spPr>
          <a:xfrm>
            <a:off x="7507054" y="5787118"/>
            <a:ext cx="4650632" cy="923073"/>
          </a:xfrm>
          <a:prstGeom prst="rect">
            <a:avLst/>
          </a:prstGeom>
          <a:noFill/>
        </p:spPr>
        <p:txBody>
          <a:bodyPr wrap="none" rtlCol="0">
            <a:spAutoFit/>
          </a:bodyPr>
          <a:lstStyle/>
          <a:p>
            <a:r>
              <a:rPr lang="en-US" altLang="ko-KR" sz="1800" b="1" dirty="0">
                <a:solidFill>
                  <a:schemeClr val="bg1"/>
                </a:solidFill>
              </a:rPr>
              <a:t>Yonsei GSIS 2026-1 </a:t>
            </a:r>
            <a:endParaRPr lang="en-US" altLang="ko-KR" sz="1800" b="1" dirty="0">
              <a:solidFill>
                <a:schemeClr val="bg1"/>
              </a:solidFill>
            </a:endParaRPr>
          </a:p>
          <a:p>
            <a:r>
              <a:rPr lang="en-US" altLang="ko-KR" sz="1800" b="1" dirty="0">
                <a:solidFill>
                  <a:schemeClr val="bg1"/>
                </a:solidFill>
              </a:rPr>
              <a:t>Topics in International Finance</a:t>
            </a:r>
            <a:endParaRPr lang="en-US" altLang="ko-KR" sz="1800" dirty="0">
              <a:solidFill>
                <a:schemeClr val="bg1"/>
              </a:solidFill>
            </a:endParaRPr>
          </a:p>
          <a:p>
            <a:r>
              <a:rPr lang="en-US" altLang="ko-KR" b="1" dirty="0">
                <a:solidFill>
                  <a:srgbClr val="FFFFFF"/>
                </a:solidFill>
              </a:rPr>
              <a:t>Mireu Kim · Sara Chekroune · Oybek Ibragimov</a:t>
            </a:r>
            <a:endParaRPr lang="en-US" altLang="ko-KR" sz="1800" b="1"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10622</Words>
  <Application>WPS Presentation</Application>
  <PresentationFormat>사용자 지정</PresentationFormat>
  <Paragraphs>416</Paragraphs>
  <Slides>15</Slides>
  <Notes>14</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15</vt:i4>
      </vt:variant>
    </vt:vector>
  </HeadingPairs>
  <TitlesOfParts>
    <vt:vector size="38" baseType="lpstr">
      <vt:lpstr>Arial</vt:lpstr>
      <vt:lpstr>SimSun</vt:lpstr>
      <vt:lpstr>Wingdings</vt:lpstr>
      <vt:lpstr>Arial</vt:lpstr>
      <vt:lpstr>Hiragino Kaku Gothic Std W8</vt:lpstr>
      <vt:lpstr>Malgun Gothic</vt:lpstr>
      <vt:lpstr>Calibri</vt:lpstr>
      <vt:lpstr>Helvetica Neue</vt:lpstr>
      <vt:lpstr>Courier New</vt:lpstr>
      <vt:lpstr>Google Sans Text</vt:lpstr>
      <vt:lpstr>Microsoft YaHei</vt:lpstr>
      <vt:lpstr>汉仪旗黑</vt:lpstr>
      <vt:lpstr>Arial Unicode MS</vt:lpstr>
      <vt:lpstr>Apple SD Gothic Neo</vt:lpstr>
      <vt:lpstr>汉仪书宋二KW</vt:lpstr>
      <vt:lpstr>Apple Color Emoji</vt:lpstr>
      <vt:lpstr>宋体-简</vt:lpstr>
      <vt:lpstr>MS PGothic</vt:lpstr>
      <vt:lpstr>苹方-简</vt:lpstr>
      <vt:lpstr>Thonburi</vt:lpstr>
      <vt:lpstr>Calibri</vt:lpstr>
      <vt:lpstr>Malgun Gothic</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OybekIbragimov</cp:lastModifiedBy>
  <cp:revision>9</cp:revision>
  <dcterms:created xsi:type="dcterms:W3CDTF">2026-05-11T09:20:44Z</dcterms:created>
  <dcterms:modified xsi:type="dcterms:W3CDTF">2026-05-11T09:20:44Z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1033-12.1.25880.25880</vt:lpwstr>
  </property>
  <property fmtid="{D5CDD505-2E9C-101B-9397-08002B2CF9AE}" pid="3" name="ICV">
    <vt:lpwstr>C4E69ADC909C8591689C016A12859320_42</vt:lpwstr>
  </property>
</Properties>
</file>