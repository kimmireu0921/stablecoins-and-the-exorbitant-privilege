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71" r:id="rId2"/>
    <p:sldId id="257" r:id="rId3"/>
    <p:sldId id="258" r:id="rId4"/>
    <p:sldId id="259" r:id="rId5"/>
    <p:sldId id="260" r:id="rId6"/>
    <p:sldId id="261" r:id="rId7"/>
    <p:sldId id="262" r:id="rId8"/>
    <p:sldId id="263" r:id="rId9"/>
    <p:sldId id="264" r:id="rId10"/>
    <p:sldId id="265" r:id="rId11"/>
    <p:sldId id="266" r:id="rId12"/>
    <p:sldId id="267" r:id="rId13"/>
    <p:sldId id="273" r:id="rId14"/>
    <p:sldId id="272" r:id="rId1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891"/>
    <p:restoredTop sz="68054"/>
  </p:normalViewPr>
  <p:slideViewPr>
    <p:cSldViewPr snapToGrid="0" snapToObjects="1">
      <p:cViewPr varScale="1">
        <p:scale>
          <a:sx n="82" d="100"/>
          <a:sy n="82" d="100"/>
        </p:scale>
        <p:origin x="1216" y="1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t>2026. 5. 11.</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t>‹#›</a:t>
            </a:fld>
            <a:endParaRPr kumimoji="1" lang="ko-KR" altLang="en-US"/>
          </a:p>
        </p:txBody>
      </p:sp>
    </p:spTree>
    <p:extLst>
      <p:ext uri="{BB962C8B-B14F-4D97-AF65-F5344CB8AC3E}">
        <p14:creationId xmlns:p14="http://schemas.microsoft.com/office/powerpoint/2010/main" val="3146233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a:t>
            </a:fld>
            <a:endParaRPr kumimoji="1" lang="ko-KR" altLang="en-US"/>
          </a:p>
        </p:txBody>
      </p:sp>
    </p:spTree>
    <p:extLst>
      <p:ext uri="{BB962C8B-B14F-4D97-AF65-F5344CB8AC3E}">
        <p14:creationId xmlns:p14="http://schemas.microsoft.com/office/powerpoint/2010/main" val="2673642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2</a:t>
            </a:fld>
            <a:endParaRPr kumimoji="1" lang="ko-KR" altLang="en-US"/>
          </a:p>
        </p:txBody>
      </p:sp>
    </p:spTree>
    <p:extLst>
      <p:ext uri="{BB962C8B-B14F-4D97-AF65-F5344CB8AC3E}">
        <p14:creationId xmlns:p14="http://schemas.microsoft.com/office/powerpoint/2010/main" val="35767152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3</a:t>
            </a:fld>
            <a:endParaRPr kumimoji="1" lang="ko-KR" altLang="en-US"/>
          </a:p>
        </p:txBody>
      </p:sp>
    </p:spTree>
    <p:extLst>
      <p:ext uri="{BB962C8B-B14F-4D97-AF65-F5344CB8AC3E}">
        <p14:creationId xmlns:p14="http://schemas.microsoft.com/office/powerpoint/2010/main" val="2254327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4</a:t>
            </a:fld>
            <a:endParaRPr kumimoji="1" lang="ko-KR" altLang="en-US"/>
          </a:p>
        </p:txBody>
      </p:sp>
    </p:spTree>
    <p:extLst>
      <p:ext uri="{BB962C8B-B14F-4D97-AF65-F5344CB8AC3E}">
        <p14:creationId xmlns:p14="http://schemas.microsoft.com/office/powerpoint/2010/main" val="3574446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5</a:t>
            </a:fld>
            <a:endParaRPr kumimoji="1" lang="ko-KR" altLang="en-US"/>
          </a:p>
        </p:txBody>
      </p:sp>
    </p:spTree>
    <p:extLst>
      <p:ext uri="{BB962C8B-B14F-4D97-AF65-F5344CB8AC3E}">
        <p14:creationId xmlns:p14="http://schemas.microsoft.com/office/powerpoint/2010/main" val="29446683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6</a:t>
            </a:fld>
            <a:endParaRPr kumimoji="1" lang="ko-KR" altLang="en-US"/>
          </a:p>
        </p:txBody>
      </p:sp>
    </p:spTree>
    <p:extLst>
      <p:ext uri="{BB962C8B-B14F-4D97-AF65-F5344CB8AC3E}">
        <p14:creationId xmlns:p14="http://schemas.microsoft.com/office/powerpoint/2010/main" val="17173558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a:t>
            </a:r>
          </a:p>
          <a:p>
            <a:endParaRPr lang="en-US" altLang="ko-KR" sz="1200" b="0" i="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A: T-bill (DTB3) is a </a:t>
            </a:r>
            <a:r>
              <a:rPr lang="en-US" altLang="ko-KR" sz="1200" b="1" kern="1200" dirty="0">
                <a:solidFill>
                  <a:schemeClr val="tx1"/>
                </a:solidFill>
                <a:effectLst/>
                <a:latin typeface="+mn-lt"/>
                <a:ea typeface="+mn-ea"/>
                <a:cs typeface="+mn-cs"/>
              </a:rPr>
              <a:t>3-month U.S. government bond</a:t>
            </a:r>
            <a:r>
              <a:rPr lang="en-US" altLang="ko-KR" sz="1200" kern="1200" dirty="0">
                <a:solidFill>
                  <a:schemeClr val="tx1"/>
                </a:solidFill>
                <a:effectLst/>
                <a:latin typeface="+mn-lt"/>
                <a:ea typeface="+mn-ea"/>
                <a:cs typeface="+mn-cs"/>
              </a:rPr>
              <a:t>.</a:t>
            </a:r>
          </a:p>
          <a:p>
            <a:r>
              <a:rPr lang="en-US" altLang="ko-KR" sz="1200" b="1" kern="1200" dirty="0">
                <a:solidFill>
                  <a:schemeClr val="tx1"/>
                </a:solidFill>
                <a:effectLst/>
                <a:latin typeface="+mn-lt"/>
                <a:ea typeface="+mn-ea"/>
                <a:cs typeface="+mn-cs"/>
              </a:rPr>
              <a:t>Secured Overnight Financing Rate</a:t>
            </a:r>
            <a:r>
              <a:rPr lang="en-US" altLang="ko-KR" sz="1200" kern="1200" dirty="0">
                <a:solidFill>
                  <a:schemeClr val="tx1"/>
                </a:solidFill>
                <a:effectLst/>
                <a:latin typeface="+mn-lt"/>
                <a:ea typeface="+mn-ea"/>
                <a:cs typeface="+mn-cs"/>
              </a:rPr>
              <a:t>. - Think of it as the interest rate banks charge each other to lend money </a:t>
            </a:r>
            <a:r>
              <a:rPr lang="en-US" altLang="ko-KR" sz="1200" b="1" kern="1200" dirty="0">
                <a:solidFill>
                  <a:schemeClr val="tx1"/>
                </a:solidFill>
                <a:effectLst/>
                <a:latin typeface="+mn-lt"/>
                <a:ea typeface="+mn-ea"/>
                <a:cs typeface="+mn-cs"/>
              </a:rPr>
              <a:t>just for one night</a:t>
            </a:r>
            <a:r>
              <a:rPr lang="en-US" altLang="ko-KR" sz="1200" kern="1200" dirty="0">
                <a:solidFill>
                  <a:schemeClr val="tx1"/>
                </a:solidFill>
                <a:effectLst/>
                <a:latin typeface="+mn-lt"/>
                <a:ea typeface="+mn-ea"/>
                <a:cs typeface="+mn-cs"/>
              </a:rPr>
              <a:t>.</a:t>
            </a:r>
          </a:p>
          <a:p>
            <a:r>
              <a:rPr lang="en-US" altLang="ko-KR" sz="1200" kern="1200" dirty="0">
                <a:solidFill>
                  <a:schemeClr val="tx1"/>
                </a:solidFill>
                <a:effectLst/>
                <a:latin typeface="+mn-lt"/>
                <a:ea typeface="+mn-ea"/>
                <a:cs typeface="+mn-cs"/>
              </a:rPr>
              <a:t>In a normal world with no stablecoins, these two rates should be roughly equal — both risk-free, both short-term. The spread should hover near zero.</a:t>
            </a:r>
          </a:p>
          <a:p>
            <a:r>
              <a:rPr lang="en-US" altLang="ko-KR" sz="1200" kern="1200" dirty="0">
                <a:solidFill>
                  <a:schemeClr val="tx1"/>
                </a:solidFill>
                <a:effectLst/>
                <a:latin typeface="+mn-lt"/>
                <a:ea typeface="+mn-ea"/>
                <a:cs typeface="+mn-cs"/>
              </a:rPr>
              <a:t>When stablecoin issuers </a:t>
            </a:r>
            <a:r>
              <a:rPr lang="en-US" altLang="ko-KR" sz="1200" b="1" kern="1200" dirty="0">
                <a:solidFill>
                  <a:schemeClr val="tx1"/>
                </a:solidFill>
                <a:effectLst/>
                <a:latin typeface="+mn-lt"/>
                <a:ea typeface="+mn-ea"/>
                <a:cs typeface="+mn-cs"/>
              </a:rPr>
              <a:t>grow</a:t>
            </a:r>
            <a:r>
              <a:rPr lang="en-US" altLang="ko-KR" sz="1200" kern="1200" dirty="0">
                <a:solidFill>
                  <a:schemeClr val="tx1"/>
                </a:solidFill>
                <a:effectLst/>
                <a:latin typeface="+mn-lt"/>
                <a:ea typeface="+mn-ea"/>
                <a:cs typeface="+mn-cs"/>
              </a:rPr>
              <a:t> (buy T-bills), the spread </a:t>
            </a:r>
            <a:r>
              <a:rPr lang="en-US" altLang="ko-KR" sz="1200" b="1" kern="1200" dirty="0">
                <a:solidFill>
                  <a:schemeClr val="tx1"/>
                </a:solidFill>
                <a:effectLst/>
                <a:latin typeface="+mn-lt"/>
                <a:ea typeface="+mn-ea"/>
                <a:cs typeface="+mn-cs"/>
              </a:rPr>
              <a:t>compresses</a:t>
            </a:r>
            <a:r>
              <a:rPr lang="en-US" altLang="ko-KR" sz="1200" kern="1200" dirty="0">
                <a:solidFill>
                  <a:schemeClr val="tx1"/>
                </a:solidFill>
                <a:effectLst/>
                <a:latin typeface="+mn-lt"/>
                <a:ea typeface="+mn-ea"/>
                <a:cs typeface="+mn-cs"/>
              </a:rPr>
              <a:t> (goes negative). When they're hit by a run and </a:t>
            </a:r>
            <a:r>
              <a:rPr lang="en-US" altLang="ko-KR" sz="1200" b="1" kern="1200" dirty="0">
                <a:solidFill>
                  <a:schemeClr val="tx1"/>
                </a:solidFill>
                <a:effectLst/>
                <a:latin typeface="+mn-lt"/>
                <a:ea typeface="+mn-ea"/>
                <a:cs typeface="+mn-cs"/>
              </a:rPr>
              <a:t>sell</a:t>
            </a:r>
            <a:r>
              <a:rPr lang="en-US" altLang="ko-KR" sz="1200" kern="1200" dirty="0">
                <a:solidFill>
                  <a:schemeClr val="tx1"/>
                </a:solidFill>
                <a:effectLst/>
                <a:latin typeface="+mn-lt"/>
                <a:ea typeface="+mn-ea"/>
                <a:cs typeface="+mn-cs"/>
              </a:rPr>
              <a:t> T-bills, the spread </a:t>
            </a:r>
            <a:r>
              <a:rPr lang="en-US" altLang="ko-KR" sz="1200" b="1" kern="1200" dirty="0">
                <a:solidFill>
                  <a:schemeClr val="tx1"/>
                </a:solidFill>
                <a:effectLst/>
                <a:latin typeface="+mn-lt"/>
                <a:ea typeface="+mn-ea"/>
                <a:cs typeface="+mn-cs"/>
              </a:rPr>
              <a:t>spikes</a:t>
            </a:r>
            <a:r>
              <a:rPr lang="en-US" altLang="ko-KR" sz="1200" kern="1200" dirty="0">
                <a:solidFill>
                  <a:schemeClr val="tx1"/>
                </a:solidFill>
                <a:effectLst/>
                <a:latin typeface="+mn-lt"/>
                <a:ea typeface="+mn-ea"/>
                <a:cs typeface="+mn-cs"/>
              </a:rPr>
              <a:t> (goes positive).</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B: middle panel shows the combined supply of USDT and USDC — it grew from around a hundred billion to over two hundred billion over this period. </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C: The red dashed line is the safety threshold we estimate to be the buffer— 13%.  When the </a:t>
            </a:r>
            <a:r>
              <a:rPr lang="en-US" altLang="ko-KR" sz="1200" b="1" kern="1200" dirty="0">
                <a:solidFill>
                  <a:schemeClr val="tx1"/>
                </a:solidFill>
                <a:effectLst/>
                <a:latin typeface="+mn-lt"/>
                <a:ea typeface="+mn-ea"/>
                <a:cs typeface="+mn-cs"/>
              </a:rPr>
              <a:t>supply falls fast</a:t>
            </a:r>
            <a:r>
              <a:rPr lang="ko-KR" altLang="en-US" sz="1200" i="1" kern="1200" dirty="0">
                <a:solidFill>
                  <a:schemeClr val="tx1"/>
                </a:solidFill>
                <a:effectLst/>
                <a:latin typeface="+mn-lt"/>
                <a:ea typeface="+mn-ea"/>
                <a:cs typeface="+mn-cs"/>
              </a:rPr>
              <a:t> </a:t>
            </a:r>
            <a:r>
              <a:rPr lang="en-US" altLang="ko-KR" sz="1200" kern="1200" dirty="0">
                <a:solidFill>
                  <a:schemeClr val="tx1"/>
                </a:solidFill>
                <a:effectLst/>
                <a:latin typeface="+mn-lt"/>
                <a:ea typeface="+mn-ea"/>
                <a:cs typeface="+mn-cs"/>
              </a:rPr>
              <a:t>but the cash reserves number hasn't been updated yet, </a:t>
            </a:r>
            <a:r>
              <a:rPr lang="en-US" altLang="ko-KR" sz="1200" b="1" kern="1200" dirty="0">
                <a:solidFill>
                  <a:schemeClr val="tx1"/>
                </a:solidFill>
                <a:effectLst/>
                <a:latin typeface="+mn-lt"/>
                <a:ea typeface="+mn-ea"/>
                <a:cs typeface="+mn-cs"/>
              </a:rPr>
              <a:t>the ratio spikes up</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"The small spike in mid-2022 reflects the LUNA crisis — supply collapsed so fast that the buffer ratio temporarily jumped. But once new reserve data came in, it became clear that cash had also been used to fund those redemptions, and the buffer fell back. It's a good illustration of exactly the fragility mechanism our paper studies."</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7</a:t>
            </a:fld>
            <a:endParaRPr kumimoji="1" lang="ko-KR" altLang="en-US"/>
          </a:p>
        </p:txBody>
      </p:sp>
    </p:spTree>
    <p:extLst>
      <p:ext uri="{BB962C8B-B14F-4D97-AF65-F5344CB8AC3E}">
        <p14:creationId xmlns:p14="http://schemas.microsoft.com/office/powerpoint/2010/main" val="22800358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First: more supply means lower spreads. As Tether and Circle grew, they bought more T-bills to back their tokens. More T-bill buying pushes Treasury yields down relative to overnight rates — that's the spread compressing.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Second: when a crisis hits, spreads spike. During the LUNA collapse in May 2022, issuers were forced to sell T-bills to pay back redemptions. That sudden selling pushed yields up — the privilege reversed.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Third: the buffer was dangerously thin exactly when it mattered most. In 2022, liquid cash reserves were near zero. Issuers had no cushion. They had to sell assets into a falling market. These three patterns together are what our regressions test."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8</a:t>
            </a:fld>
            <a:endParaRPr kumimoji="1" lang="ko-KR" altLang="en-US"/>
          </a:p>
        </p:txBody>
      </p:sp>
    </p:spTree>
    <p:extLst>
      <p:ext uri="{BB962C8B-B14F-4D97-AF65-F5344CB8AC3E}">
        <p14:creationId xmlns:p14="http://schemas.microsoft.com/office/powerpoint/2010/main" val="3067529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i="1" kern="1200" dirty="0">
                <a:solidFill>
                  <a:schemeClr val="tx1"/>
                </a:solidFill>
                <a:effectLst/>
                <a:latin typeface="+mn-lt"/>
                <a:ea typeface="+mn-ea"/>
                <a:cs typeface="+mn-cs"/>
              </a:rPr>
              <a:t>"To estimate this equation, we used OLS — ordinary least squares — which finds the line that best fits our 51 months of data. </a:t>
            </a:r>
          </a:p>
          <a:p>
            <a:r>
              <a:rPr lang="en-US" altLang="ko-KR" sz="120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a:t>
            </a: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Looking at the table, you'll notice that the buffer variables — theta, L, and the interaction term — are not individually significant at this sample size of 51 months. So why wasn’t it significant?</a:t>
            </a:r>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9</a:t>
            </a:fld>
            <a:endParaRPr kumimoji="1" lang="ko-KR" altLang="en-US"/>
          </a:p>
        </p:txBody>
      </p:sp>
    </p:spTree>
    <p:extLst>
      <p:ext uri="{BB962C8B-B14F-4D97-AF65-F5344CB8AC3E}">
        <p14:creationId xmlns:p14="http://schemas.microsoft.com/office/powerpoint/2010/main" val="16879928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It comes down to </a:t>
            </a:r>
            <a:r>
              <a:rPr lang="en-US" altLang="ko-KR" sz="1200" b="1" kern="1200" dirty="0">
                <a:solidFill>
                  <a:schemeClr val="tx1"/>
                </a:solidFill>
                <a:effectLst/>
                <a:latin typeface="+mn-lt"/>
                <a:ea typeface="+mn-ea"/>
                <a:cs typeface="+mn-cs"/>
              </a:rPr>
              <a:t>data quality, not theory</a:t>
            </a:r>
            <a:r>
              <a:rPr lang="en-US" altLang="ko-KR" sz="1200" kern="1200" dirty="0">
                <a:solidFill>
                  <a:schemeClr val="tx1"/>
                </a:solidFill>
                <a:effectLst/>
                <a:latin typeface="+mn-lt"/>
                <a:ea typeface="+mn-ea"/>
                <a:cs typeface="+mn-cs"/>
              </a:rPr>
              <a:t>. Tether and Circle only started publishing detailed, frequent reserve breakdowns after 2023. Before that, the cash reserves figures were either missing, infrequent, or less precise. </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a:t>
            </a:r>
            <a:r>
              <a:rPr lang="en-US" altLang="ko-KR" dirty="0"/>
              <a:t>change in the natural log of S)</a:t>
            </a:r>
            <a:r>
              <a:rPr lang="en-US" altLang="ko-KR" sz="1200" kern="1200" dirty="0">
                <a:solidFill>
                  <a:schemeClr val="tx1"/>
                </a:solidFill>
                <a:effectLst/>
                <a:latin typeface="+mn-lt"/>
                <a:ea typeface="+mn-ea"/>
                <a:cs typeface="+mn-cs"/>
              </a:rPr>
              <a:t>— becomes positive 49.17, also significant at the 1% level with a p-value of 0.004. This tells us the buffer mechanism is real. Our full sample is just too short to reach significance yet. As this data series extends past 2026, we expect both channels to confirm at the full sample level." </a:t>
            </a:r>
            <a:r>
              <a:rPr lang="en-US" altLang="ko-KR" sz="1200" i="1" kern="1200" dirty="0">
                <a:solidFill>
                  <a:schemeClr val="tx1"/>
                </a:solidFill>
                <a:effectLst/>
                <a:latin typeface="+mn-lt"/>
                <a:ea typeface="+mn-ea"/>
                <a:cs typeface="+mn-cs"/>
              </a:rPr>
              <a:t>Issuers with enough cash don't need to buy or sell T-bills when their supply changes. That's the fragility channel our theory predicted, and the data confirms it."</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10</a:t>
            </a:fld>
            <a:endParaRPr kumimoji="1" lang="ko-KR" altLang="en-US"/>
          </a:p>
        </p:txBody>
      </p:sp>
    </p:spTree>
    <p:extLst>
      <p:ext uri="{BB962C8B-B14F-4D97-AF65-F5344CB8AC3E}">
        <p14:creationId xmlns:p14="http://schemas.microsoft.com/office/powerpoint/2010/main" val="359123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a:t>
            </a:r>
            <a:r>
              <a:rPr lang="en-US" altLang="ko-KR" sz="1200" kern="1200" dirty="0">
                <a:solidFill>
                  <a:schemeClr val="tx1"/>
                </a:solidFill>
                <a:effectLst/>
                <a:latin typeface="+mn-lt"/>
                <a:ea typeface="+mn-ea"/>
                <a:cs typeface="+mn-cs"/>
              </a:rPr>
              <a:t>The x-axis shows every possible value of L (the liquid buffer) from low to high. The y-axis shows how well the model fits at each value — technically called the </a:t>
            </a:r>
            <a:r>
              <a:rPr lang="en-US" altLang="ko-KR" sz="1200" b="1" kern="1200" dirty="0">
                <a:solidFill>
                  <a:schemeClr val="tx1"/>
                </a:solidFill>
                <a:effectLst/>
                <a:latin typeface="+mn-lt"/>
                <a:ea typeface="+mn-ea"/>
                <a:cs typeface="+mn-cs"/>
              </a:rPr>
              <a:t>Sum of Squared Residuals (SSR)</a:t>
            </a:r>
            <a:r>
              <a:rPr lang="en-US" altLang="ko-KR" sz="1200" kern="1200" dirty="0">
                <a:solidFill>
                  <a:schemeClr val="tx1"/>
                </a:solidFill>
                <a:effectLst/>
                <a:latin typeface="+mn-lt"/>
                <a:ea typeface="+mn-ea"/>
                <a:cs typeface="+mn-cs"/>
              </a:rPr>
              <a:t>. </a:t>
            </a:r>
          </a:p>
          <a:p>
            <a:r>
              <a:rPr lang="en-US" altLang="ko-KR" sz="1200" kern="1200" dirty="0">
                <a:solidFill>
                  <a:schemeClr val="tx1"/>
                </a:solidFill>
                <a:effectLst/>
                <a:latin typeface="+mn-lt"/>
                <a:ea typeface="+mn-ea"/>
                <a:cs typeface="+mn-cs"/>
              </a:rPr>
              <a:t>The method tries splitting the 51 months at every possible value of L and asks </a:t>
            </a:r>
            <a:r>
              <a:rPr lang="en-US" altLang="ko-KR" sz="1200" i="1" kern="1200" dirty="0">
                <a:solidFill>
                  <a:schemeClr val="tx1"/>
                </a:solidFill>
                <a:effectLst/>
                <a:latin typeface="+mn-lt"/>
                <a:ea typeface="+mn-ea"/>
                <a:cs typeface="+mn-cs"/>
              </a:rPr>
              <a:t>"if I use this value as my cut-off, how well does a two-group model explain the spread data?"</a:t>
            </a:r>
            <a:r>
              <a:rPr lang="en-US" altLang="ko-KR" sz="1200" kern="1200" dirty="0">
                <a:solidFill>
                  <a:schemeClr val="tx1"/>
                </a:solidFill>
                <a:effectLst/>
                <a:latin typeface="+mn-lt"/>
                <a:ea typeface="+mn-ea"/>
                <a:cs typeface="+mn-cs"/>
              </a:rPr>
              <a:t> </a:t>
            </a:r>
          </a:p>
          <a:p>
            <a:r>
              <a:rPr lang="en-US" altLang="ko-KR" sz="1200" kern="1200" dirty="0">
                <a:solidFill>
                  <a:schemeClr val="tx1"/>
                </a:solidFill>
                <a:effectLst/>
                <a:latin typeface="+mn-lt"/>
                <a:ea typeface="+mn-ea"/>
                <a:cs typeface="+mn-cs"/>
              </a:rPr>
              <a:t>The </a:t>
            </a:r>
            <a:r>
              <a:rPr lang="en-US" altLang="ko-KR" sz="1200" b="1" kern="1200" dirty="0">
                <a:solidFill>
                  <a:schemeClr val="tx1"/>
                </a:solidFill>
                <a:effectLst/>
                <a:latin typeface="+mn-lt"/>
                <a:ea typeface="+mn-ea"/>
                <a:cs typeface="+mn-cs"/>
              </a:rPr>
              <a:t>lowest point on the curve</a:t>
            </a:r>
            <a:r>
              <a:rPr lang="en-US" altLang="ko-KR" sz="1200" kern="1200" dirty="0">
                <a:solidFill>
                  <a:schemeClr val="tx1"/>
                </a:solidFill>
                <a:effectLst/>
                <a:latin typeface="+mn-lt"/>
                <a:ea typeface="+mn-ea"/>
                <a:cs typeface="+mn-cs"/>
              </a:rPr>
              <a:t> is where the model fits best. That lowest point lands at </a:t>
            </a:r>
            <a:r>
              <a:rPr lang="en-US" altLang="ko-KR" sz="1200" b="1" kern="1200" dirty="0">
                <a:solidFill>
                  <a:schemeClr val="tx1"/>
                </a:solidFill>
                <a:effectLst/>
                <a:latin typeface="+mn-lt"/>
                <a:ea typeface="+mn-ea"/>
                <a:cs typeface="+mn-cs"/>
              </a:rPr>
              <a:t>L = 0.1301 — 13%</a:t>
            </a:r>
            <a:r>
              <a:rPr lang="en-US" altLang="ko-KR" sz="1200" kern="1200" dirty="0">
                <a:solidFill>
                  <a:schemeClr val="tx1"/>
                </a:solidFill>
                <a:effectLst/>
                <a:latin typeface="+mn-lt"/>
                <a:ea typeface="+mn-ea"/>
                <a:cs typeface="+mn-cs"/>
              </a:rPr>
              <a:t>. That is the data telling us: </a:t>
            </a:r>
            <a:r>
              <a:rPr lang="en-US" altLang="ko-KR" sz="1200" i="1" kern="1200" dirty="0">
                <a:solidFill>
                  <a:schemeClr val="tx1"/>
                </a:solidFill>
                <a:effectLst/>
                <a:latin typeface="+mn-lt"/>
                <a:ea typeface="+mn-ea"/>
                <a:cs typeface="+mn-cs"/>
              </a:rPr>
              <a:t>"the most natural dividing line between two different </a:t>
            </a:r>
            <a:r>
              <a:rPr lang="en-US" altLang="ko-KR" sz="1200" i="1" kern="1200" dirty="0" err="1">
                <a:solidFill>
                  <a:schemeClr val="tx1"/>
                </a:solidFill>
                <a:effectLst/>
                <a:latin typeface="+mn-lt"/>
                <a:ea typeface="+mn-ea"/>
                <a:cs typeface="+mn-cs"/>
              </a:rPr>
              <a:t>behaviours</a:t>
            </a:r>
            <a:r>
              <a:rPr lang="en-US" altLang="ko-KR" sz="1200" i="1" kern="1200" dirty="0">
                <a:solidFill>
                  <a:schemeClr val="tx1"/>
                </a:solidFill>
                <a:effectLst/>
                <a:latin typeface="+mn-lt"/>
                <a:ea typeface="+mn-ea"/>
                <a:cs typeface="+mn-cs"/>
              </a:rPr>
              <a:t> is at 13% liquid reserves."</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11</a:t>
            </a:fld>
            <a:endParaRPr kumimoji="1" lang="ko-KR" altLang="en-US"/>
          </a:p>
        </p:txBody>
      </p:sp>
    </p:spTree>
    <p:extLst>
      <p:ext uri="{BB962C8B-B14F-4D97-AF65-F5344CB8AC3E}">
        <p14:creationId xmlns:p14="http://schemas.microsoft.com/office/powerpoint/2010/main" val="3526662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When supply </a:t>
            </a:r>
            <a:r>
              <a:rPr lang="en-US" altLang="ko-KR" sz="1200" b="1" i="0" kern="1200" dirty="0">
                <a:solidFill>
                  <a:schemeClr val="tx1"/>
                </a:solidFill>
                <a:effectLst/>
                <a:latin typeface="+mn-lt"/>
                <a:ea typeface="+mn-ea"/>
                <a:cs typeface="+mn-cs"/>
              </a:rPr>
              <a:t>grows</a:t>
            </a:r>
            <a:r>
              <a:rPr lang="en-US" altLang="ko-KR" sz="1200" b="0" i="0" kern="1200" dirty="0">
                <a:solidFill>
                  <a:schemeClr val="tx1"/>
                </a:solidFill>
                <a:effectLst/>
                <a:latin typeface="+mn-lt"/>
                <a:ea typeface="+mn-ea"/>
                <a:cs typeface="+mn-cs"/>
              </a:rPr>
              <a:t>, issuers need to back every new token they issue with reserves. The question is: do they use </a:t>
            </a:r>
            <a:r>
              <a:rPr lang="en-US" altLang="ko-KR" sz="1200" b="1" i="0" kern="1200" dirty="0">
                <a:solidFill>
                  <a:schemeClr val="tx1"/>
                </a:solidFill>
                <a:effectLst/>
                <a:latin typeface="+mn-lt"/>
                <a:ea typeface="+mn-ea"/>
                <a:cs typeface="+mn-cs"/>
              </a:rPr>
              <a:t>cash</a:t>
            </a:r>
            <a:r>
              <a:rPr lang="en-US" altLang="ko-KR" sz="1200" b="0" i="0" kern="1200" dirty="0">
                <a:solidFill>
                  <a:schemeClr val="tx1"/>
                </a:solidFill>
                <a:effectLst/>
                <a:latin typeface="+mn-lt"/>
                <a:ea typeface="+mn-ea"/>
                <a:cs typeface="+mn-cs"/>
              </a:rPr>
              <a:t> or do they go buy </a:t>
            </a:r>
            <a:r>
              <a:rPr lang="en-US" altLang="ko-KR" sz="1200" b="1" i="0" kern="1200" dirty="0">
                <a:solidFill>
                  <a:schemeClr val="tx1"/>
                </a:solidFill>
                <a:effectLst/>
                <a:latin typeface="+mn-lt"/>
                <a:ea typeface="+mn-ea"/>
                <a:cs typeface="+mn-cs"/>
              </a:rPr>
              <a:t>T-bills</a:t>
            </a:r>
            <a:r>
              <a:rPr lang="en-US" altLang="ko-KR" sz="1200" b="0" i="0" kern="1200" dirty="0">
                <a:solidFill>
                  <a:schemeClr val="tx1"/>
                </a:solidFill>
                <a:effectLst/>
                <a:latin typeface="+mn-lt"/>
                <a:ea typeface="+mn-ea"/>
                <a:cs typeface="+mn-cs"/>
              </a:rPr>
              <a:t>?</a:t>
            </a:r>
          </a:p>
          <a:p>
            <a:r>
              <a:rPr lang="en-US" altLang="ko-KR" sz="1200" b="1" i="0" kern="1200" dirty="0">
                <a:solidFill>
                  <a:schemeClr val="tx1"/>
                </a:solidFill>
                <a:effectLst/>
                <a:latin typeface="+mn-lt"/>
                <a:ea typeface="+mn-ea"/>
                <a:cs typeface="+mn-cs"/>
              </a:rPr>
              <a:t>Low buffer (left box) — </a:t>
            </a:r>
            <a:r>
              <a:rPr lang="el-GR" altLang="ko-KR" sz="1200" b="1" i="0" kern="1200" dirty="0">
                <a:solidFill>
                  <a:schemeClr val="tx1"/>
                </a:solidFill>
                <a:effectLst/>
                <a:latin typeface="+mn-lt"/>
                <a:ea typeface="+mn-ea"/>
                <a:cs typeface="+mn-cs"/>
              </a:rPr>
              <a:t>β = −6.97:</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has almost no cash. So every time supply grows, they must </a:t>
            </a:r>
            <a:r>
              <a:rPr lang="en-US" altLang="ko-KR" sz="1200" b="1" i="0" kern="1200" dirty="0">
                <a:solidFill>
                  <a:schemeClr val="tx1"/>
                </a:solidFill>
                <a:effectLst/>
                <a:latin typeface="+mn-lt"/>
                <a:ea typeface="+mn-ea"/>
                <a:cs typeface="+mn-cs"/>
              </a:rPr>
              <a:t>go out and buy T-bills</a:t>
            </a:r>
            <a:r>
              <a:rPr lang="en-US" altLang="ko-KR" sz="1200" b="0" i="0" kern="1200" dirty="0">
                <a:solidFill>
                  <a:schemeClr val="tx1"/>
                </a:solidFill>
                <a:effectLst/>
                <a:latin typeface="+mn-lt"/>
                <a:ea typeface="+mn-ea"/>
                <a:cs typeface="+mn-cs"/>
              </a:rPr>
              <a:t> to back the new tokens. That extra T-bill buying pushes T-bill prices up, yields down — the spread </a:t>
            </a:r>
            <a:r>
              <a:rPr lang="en-US" altLang="ko-KR" sz="1200" b="1" i="0" kern="1200" dirty="0">
                <a:solidFill>
                  <a:schemeClr val="tx1"/>
                </a:solidFill>
                <a:effectLst/>
                <a:latin typeface="+mn-lt"/>
                <a:ea typeface="+mn-ea"/>
                <a:cs typeface="+mn-cs"/>
              </a:rPr>
              <a:t>compresses strongly</a:t>
            </a:r>
            <a:r>
              <a:rPr lang="en-US" altLang="ko-KR" sz="1200" b="0" i="0" kern="1200" dirty="0">
                <a:solidFill>
                  <a:schemeClr val="tx1"/>
                </a:solidFill>
                <a:effectLst/>
                <a:latin typeface="+mn-lt"/>
                <a:ea typeface="+mn-ea"/>
                <a:cs typeface="+mn-cs"/>
              </a:rPr>
              <a:t>. They are completely dependent on the T-bill market for everything.</a:t>
            </a:r>
          </a:p>
          <a:p>
            <a:r>
              <a:rPr lang="en-US" altLang="ko-KR" sz="1200" b="1" i="0" kern="1200" dirty="0">
                <a:solidFill>
                  <a:schemeClr val="tx1"/>
                </a:solidFill>
                <a:effectLst/>
                <a:latin typeface="+mn-lt"/>
                <a:ea typeface="+mn-ea"/>
                <a:cs typeface="+mn-cs"/>
              </a:rPr>
              <a:t>High buffer (right box) — </a:t>
            </a:r>
            <a:r>
              <a:rPr lang="el-GR" altLang="ko-KR" sz="1200" b="1" i="0" kern="1200" dirty="0">
                <a:solidFill>
                  <a:schemeClr val="tx1"/>
                </a:solidFill>
                <a:effectLst/>
                <a:latin typeface="+mn-lt"/>
                <a:ea typeface="+mn-ea"/>
                <a:cs typeface="+mn-cs"/>
              </a:rPr>
              <a:t>β = +1.26:</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already has plenty of cash sitting in reserve. When supply grows, they can use that cash to back new tokens — </a:t>
            </a:r>
            <a:r>
              <a:rPr lang="en-US" altLang="ko-KR" sz="1200" b="1" i="0" kern="1200" dirty="0">
                <a:solidFill>
                  <a:schemeClr val="tx1"/>
                </a:solidFill>
                <a:effectLst/>
                <a:latin typeface="+mn-lt"/>
                <a:ea typeface="+mn-ea"/>
                <a:cs typeface="+mn-cs"/>
              </a:rPr>
              <a:t>no T-bill buying needed</a:t>
            </a:r>
            <a:r>
              <a:rPr lang="en-US" altLang="ko-KR" sz="1200" b="0" i="0" kern="1200" dirty="0">
                <a:solidFill>
                  <a:schemeClr val="tx1"/>
                </a:solidFill>
                <a:effectLst/>
                <a:latin typeface="+mn-lt"/>
                <a:ea typeface="+mn-ea"/>
                <a:cs typeface="+mn-cs"/>
              </a:rPr>
              <a:t>. The T-bill market is undisturbed. The compression effect disappears. </a:t>
            </a:r>
          </a:p>
          <a:p>
            <a:br>
              <a:rPr lang="en-US" altLang="ko-KR" dirty="0"/>
            </a:br>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12</a:t>
            </a:fld>
            <a:endParaRPr kumimoji="1" lang="ko-KR" altLang="en-US"/>
          </a:p>
        </p:txBody>
      </p:sp>
    </p:spTree>
    <p:extLst>
      <p:ext uri="{BB962C8B-B14F-4D97-AF65-F5344CB8AC3E}">
        <p14:creationId xmlns:p14="http://schemas.microsoft.com/office/powerpoint/2010/main" val="3118385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p>
          <a:p>
            <a:r>
              <a:rPr lang="en-US" altLang="ko-KR" dirty="0"/>
              <a:t>See you next week for the causal proof and the policy solutions!"</a:t>
            </a: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13</a:t>
            </a:fld>
            <a:endParaRPr kumimoji="1" lang="ko-KR" altLang="en-US"/>
          </a:p>
        </p:txBody>
      </p:sp>
    </p:spTree>
    <p:extLst>
      <p:ext uri="{BB962C8B-B14F-4D97-AF65-F5344CB8AC3E}">
        <p14:creationId xmlns:p14="http://schemas.microsoft.com/office/powerpoint/2010/main" val="6885356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14</a:t>
            </a:fld>
            <a:endParaRPr kumimoji="1" lang="ko-KR" altLang="en-US"/>
          </a:p>
        </p:txBody>
      </p:sp>
    </p:spTree>
    <p:extLst>
      <p:ext uri="{BB962C8B-B14F-4D97-AF65-F5344CB8AC3E}">
        <p14:creationId xmlns:p14="http://schemas.microsoft.com/office/powerpoint/2010/main" val="12222217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D7EB7DC8-31D2-C2CA-A2F8-27FAC3902EA3}"/>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B49FCC2D-4CBD-DC60-6535-823D3BDCAEA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EE463249-DD54-8009-485B-261B3F4275D0}"/>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2924223-4822-8D82-13C7-9E1362F054E1}"/>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39546232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p>
          <a:p>
            <a:pPr algn="l">
              <a:spcBef>
                <a:spcPts val="800"/>
              </a:spcBef>
            </a:pPr>
            <a:r>
              <a:rPr sz="2000" b="0" i="0" dirty="0">
                <a:solidFill>
                  <a:srgbClr val="1A1A2E"/>
                </a:solidFill>
                <a:latin typeface="Calibri"/>
              </a:rPr>
              <a:t>❖  The New Triffin Dilemma — our core argument</a:t>
            </a:r>
          </a:p>
          <a:p>
            <a:pPr algn="l">
              <a:spcBef>
                <a:spcPts val="800"/>
              </a:spcBef>
            </a:pPr>
            <a:r>
              <a:rPr sz="2000" b="0" i="0" dirty="0">
                <a:solidFill>
                  <a:srgbClr val="1A1A2E"/>
                </a:solidFill>
                <a:latin typeface="Calibri"/>
              </a:rPr>
              <a:t>❖  Theoretical extension of Maggiori (2017)</a:t>
            </a:r>
          </a:p>
          <a:p>
            <a:pPr algn="l">
              <a:spcBef>
                <a:spcPts val="800"/>
              </a:spcBef>
            </a:pPr>
            <a:r>
              <a:rPr sz="2000" b="0" i="0" dirty="0">
                <a:solidFill>
                  <a:srgbClr val="1A1A2E"/>
                </a:solidFill>
                <a:latin typeface="Calibri"/>
              </a:rPr>
              <a:t>❖  Data &amp; Methodology</a:t>
            </a:r>
          </a:p>
          <a:p>
            <a:pPr algn="l">
              <a:spcBef>
                <a:spcPts val="800"/>
              </a:spcBef>
            </a:pPr>
            <a:r>
              <a:rPr sz="2000" b="0" i="0" dirty="0">
                <a:solidFill>
                  <a:srgbClr val="1A1A2E"/>
                </a:solidFill>
                <a:latin typeface="Calibri"/>
              </a:rPr>
              <a:t>❖  Result 1 — Privilege amplification regression</a:t>
            </a: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p>
          <a:p>
            <a:pPr algn="l">
              <a:spcBef>
                <a:spcPts val="800"/>
              </a:spcBef>
            </a:pPr>
            <a:r>
              <a:rPr sz="2000" b="0" i="0" dirty="0">
                <a:solidFill>
                  <a:srgbClr val="1A1A2E"/>
                </a:solidFill>
                <a:latin typeface="Calibri"/>
              </a:rPr>
              <a:t>❖  Conclusion &amp; Policy implications</a:t>
            </a:r>
          </a:p>
        </p:txBody>
      </p:sp>
      <p:sp>
        <p:nvSpPr>
          <p:cNvPr id="7" name="TextBox 6">
            <a:extLst>
              <a:ext uri="{FF2B5EF4-FFF2-40B4-BE49-F238E27FC236}">
                <a16:creationId xmlns:a16="http://schemas.microsoft.com/office/drawing/2014/main" id="{5E7D6D2F-FD72-0289-8B38-930452CE7F5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endParaRPr/>
          </a:p>
          <a:p>
            <a:pPr algn="l">
              <a:spcBef>
                <a:spcPts val="200"/>
              </a:spcBef>
            </a:pPr>
            <a:r>
              <a:rPr sz="1800" b="1" i="0">
                <a:solidFill>
                  <a:srgbClr val="1B3A72"/>
                </a:solidFill>
                <a:latin typeface="Calibri"/>
              </a:rPr>
              <a:t>Key Market Trends</a:t>
            </a:r>
          </a:p>
          <a:p>
            <a:pPr algn="l">
              <a:spcBef>
                <a:spcPts val="1000"/>
              </a:spcBef>
            </a:pPr>
            <a:r>
              <a:rPr sz="1700" b="0" i="0">
                <a:solidFill>
                  <a:srgbClr val="1A1A2E"/>
                </a:solidFill>
                <a:latin typeface="Calibri"/>
              </a:rPr>
              <a:t>❖  Growth: Combined market cap surged from under $50bn (2021) to over $300bn (2026)</a:t>
            </a:r>
          </a:p>
          <a:p>
            <a:pPr algn="l">
              <a:spcBef>
                <a:spcPts val="1000"/>
              </a:spcBef>
            </a:pPr>
            <a:r>
              <a:rPr sz="1700" b="0" i="0">
                <a:solidFill>
                  <a:srgbClr val="1A1A2E"/>
                </a:solidFill>
                <a:latin typeface="Calibri"/>
              </a:rPr>
              <a:t>❖  Usage: 30%+ of on-chain crypto transactions involve stablecoins</a:t>
            </a:r>
          </a:p>
          <a:p>
            <a:pPr algn="l">
              <a:spcBef>
                <a:spcPts val="1000"/>
              </a:spcBef>
            </a:pPr>
            <a:r>
              <a:rPr sz="1700" b="0" i="0">
                <a:solidFill>
                  <a:srgbClr val="1A1A2E"/>
                </a:solidFill>
                <a:latin typeface="Calibri"/>
              </a:rPr>
              <a:t>❖  Regulation: US, EU, Japan, and Hong Kong each finalising reserve legislation</a:t>
            </a:r>
          </a:p>
          <a:p>
            <a:pPr algn="l">
              <a:spcBef>
                <a:spcPts val="1000"/>
              </a:spcBef>
            </a:pPr>
            <a:r>
              <a:rPr sz="1700" b="0" i="0">
                <a:solidFill>
                  <a:srgbClr val="1A1A2E"/>
                </a:solidFill>
                <a:latin typeface="Calibri"/>
              </a:rPr>
              <a:t>❖  Scale: Tether alone holds $127bn in US Treasuries (Q2 2025) — comparable to mid-sized sovereigns</a:t>
            </a:r>
          </a:p>
          <a:p>
            <a:pPr algn="l">
              <a:spcBef>
                <a:spcPts val="1000"/>
              </a:spcBef>
            </a:pPr>
            <a:r>
              <a:rPr sz="1700" b="0" i="0">
                <a:solidFill>
                  <a:srgbClr val="1A1A2E"/>
                </a:solidFill>
                <a:latin typeface="Calibri"/>
              </a:rPr>
              <a:t>❖  Projection: $1–2 trillion ecosystem within this decade</a:t>
            </a: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p>
        </p:txBody>
      </p:sp>
      <p:sp>
        <p:nvSpPr>
          <p:cNvPr id="16" name="Rectangle 15"/>
          <p:cNvSpPr/>
          <p:nvPr/>
        </p:nvSpPr>
        <p:spPr>
          <a:xfrm>
            <a:off x="6492240" y="4745736"/>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4818888"/>
            <a:ext cx="5120640" cy="566928"/>
          </a:xfrm>
          <a:prstGeom prst="rect">
            <a:avLst/>
          </a:prstGeom>
          <a:noFill/>
        </p:spPr>
        <p:txBody>
          <a:bodyPr wrap="square">
            <a:spAutoFit/>
          </a:bodyPr>
          <a:lstStyle/>
          <a:p>
            <a:pPr algn="ctr"/>
            <a:r>
              <a:rPr sz="2800" b="1" i="0">
                <a:solidFill>
                  <a:srgbClr val="FFFFFF"/>
                </a:solidFill>
                <a:latin typeface="Calibri"/>
              </a:rPr>
              <a:t>4</a:t>
            </a:r>
          </a:p>
        </p:txBody>
      </p:sp>
      <p:sp>
        <p:nvSpPr>
          <p:cNvPr id="18" name="TextBox 17"/>
          <p:cNvSpPr txBox="1"/>
          <p:nvPr/>
        </p:nvSpPr>
        <p:spPr>
          <a:xfrm>
            <a:off x="6583680" y="54041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p>
        </p:txBody>
      </p:sp>
      <p:sp>
        <p:nvSpPr>
          <p:cNvPr id="21" name="TextBox 20">
            <a:extLst>
              <a:ext uri="{FF2B5EF4-FFF2-40B4-BE49-F238E27FC236}">
                <a16:creationId xmlns:a16="http://schemas.microsoft.com/office/drawing/2014/main" id="{1927671F-D694-C338-363E-98F0841CD0B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65760" y="960120"/>
            <a:ext cx="11430000" cy="7772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155680" cy="685800"/>
          </a:xfrm>
          <a:prstGeom prst="rect">
            <a:avLst/>
          </a:prstGeom>
          <a:noFill/>
        </p:spPr>
        <p:txBody>
          <a:bodyPr wrap="square">
            <a:spAutoFit/>
          </a:bodyPr>
          <a:lstStyle/>
          <a:p>
            <a:pPr>
              <a:spcBef>
                <a:spcPts val="0"/>
              </a:spcBef>
            </a:pPr>
            <a:endParaRPr/>
          </a:p>
          <a:p>
            <a:pPr algn="l">
              <a:spcBef>
                <a:spcPts val="400"/>
              </a:spcBef>
            </a:pPr>
            <a:r>
              <a:rPr sz="1400" b="0" i="1">
                <a:solidFill>
                  <a:srgbClr val="1A1A2E"/>
                </a:solidFill>
                <a:latin typeface="Calibri"/>
              </a:rPr>
              <a:t>Triffin (1960): the reserve currency country must supply safe assets to the world — but that very supply undermines confidence in the currency.</a:t>
            </a:r>
          </a:p>
        </p:txBody>
      </p:sp>
      <p:sp>
        <p:nvSpPr>
          <p:cNvPr id="8" name="TextBox 7"/>
          <p:cNvSpPr txBox="1"/>
          <p:nvPr/>
        </p:nvSpPr>
        <p:spPr>
          <a:xfrm>
            <a:off x="457200" y="187451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65760" y="2286000"/>
            <a:ext cx="3749039"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313432"/>
            <a:ext cx="3566160" cy="329184"/>
          </a:xfrm>
          <a:prstGeom prst="rect">
            <a:avLst/>
          </a:prstGeom>
          <a:noFill/>
        </p:spPr>
        <p:txBody>
          <a:bodyPr wrap="square">
            <a:spAutoFit/>
          </a:bodyPr>
          <a:lstStyle/>
          <a:p>
            <a:pPr algn="l"/>
            <a:r>
              <a:rPr sz="1400" b="1" i="0">
                <a:solidFill>
                  <a:srgbClr val="FFFFFF"/>
                </a:solidFill>
                <a:latin typeface="Calibri"/>
              </a:rPr>
              <a:t>Normal times ✅</a:t>
            </a:r>
          </a:p>
        </p:txBody>
      </p:sp>
      <p:sp>
        <p:nvSpPr>
          <p:cNvPr id="11" name="Rectangle 10"/>
          <p:cNvSpPr/>
          <p:nvPr/>
        </p:nvSpPr>
        <p:spPr>
          <a:xfrm>
            <a:off x="365760" y="2670048"/>
            <a:ext cx="3749039"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548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Stablecoin growth → more T-bill buying</a:t>
            </a:r>
          </a:p>
          <a:p>
            <a:pPr algn="l">
              <a:spcBef>
                <a:spcPts val="600"/>
              </a:spcBef>
            </a:pPr>
            <a:r>
              <a:rPr sz="1300" b="0" i="0">
                <a:solidFill>
                  <a:srgbClr val="1A1A2E"/>
                </a:solidFill>
                <a:latin typeface="Calibri"/>
              </a:rPr>
              <a:t>•  Deepens US safe-asset demand</a:t>
            </a:r>
          </a:p>
          <a:p>
            <a:pPr algn="l">
              <a:spcBef>
                <a:spcPts val="600"/>
              </a:spcBef>
            </a:pPr>
            <a:r>
              <a:rPr sz="1300" b="0" i="0">
                <a:solidFill>
                  <a:srgbClr val="1A1A2E"/>
                </a:solidFill>
                <a:latin typeface="Calibri"/>
              </a:rPr>
              <a:t>•  Compresses OIS–Treasury spreads</a:t>
            </a:r>
          </a:p>
          <a:p>
            <a:pPr algn="l">
              <a:spcBef>
                <a:spcPts val="600"/>
              </a:spcBef>
            </a:pPr>
            <a:r>
              <a:rPr sz="1300" b="0" i="0">
                <a:solidFill>
                  <a:srgbClr val="1A1A2E"/>
                </a:solidFill>
                <a:latin typeface="Calibri"/>
              </a:rPr>
              <a:t>•  Amplifies exorbitant privilege</a:t>
            </a:r>
          </a:p>
        </p:txBody>
      </p:sp>
      <p:sp>
        <p:nvSpPr>
          <p:cNvPr id="13" name="Rectangle 12"/>
          <p:cNvSpPr/>
          <p:nvPr/>
        </p:nvSpPr>
        <p:spPr>
          <a:xfrm>
            <a:off x="4297680" y="2286000"/>
            <a:ext cx="3749039"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2313432"/>
            <a:ext cx="3566160" cy="329184"/>
          </a:xfrm>
          <a:prstGeom prst="rect">
            <a:avLst/>
          </a:prstGeom>
          <a:noFill/>
        </p:spPr>
        <p:txBody>
          <a:bodyPr wrap="square">
            <a:spAutoFit/>
          </a:bodyPr>
          <a:lstStyle/>
          <a:p>
            <a:pPr algn="l"/>
            <a:r>
              <a:rPr sz="1400" b="1" i="0">
                <a:solidFill>
                  <a:srgbClr val="FFFFFF"/>
                </a:solidFill>
                <a:latin typeface="Calibri"/>
              </a:rPr>
              <a:t>Run scenario ❌</a:t>
            </a:r>
          </a:p>
        </p:txBody>
      </p:sp>
      <p:sp>
        <p:nvSpPr>
          <p:cNvPr id="15" name="Rectangle 14"/>
          <p:cNvSpPr/>
          <p:nvPr/>
        </p:nvSpPr>
        <p:spPr>
          <a:xfrm>
            <a:off x="4297680" y="2670048"/>
            <a:ext cx="3749039"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0740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Run on issuer → forced T-bill liquidation</a:t>
            </a:r>
          </a:p>
          <a:p>
            <a:pPr algn="l">
              <a:spcBef>
                <a:spcPts val="600"/>
              </a:spcBef>
            </a:pPr>
            <a:r>
              <a:rPr sz="1300" b="0" i="0">
                <a:solidFill>
                  <a:srgbClr val="1A1A2E"/>
                </a:solidFill>
                <a:latin typeface="Calibri"/>
              </a:rPr>
              <a:t>•  Yields spike above OIS</a:t>
            </a:r>
          </a:p>
          <a:p>
            <a:pPr algn="l">
              <a:spcBef>
                <a:spcPts val="600"/>
              </a:spcBef>
            </a:pPr>
            <a:r>
              <a:rPr sz="1300" b="0" i="0">
                <a:solidFill>
                  <a:srgbClr val="1A1A2E"/>
                </a:solidFill>
                <a:latin typeface="Calibri"/>
              </a:rPr>
              <a:t>•  Sovereign-linked liquidity shock</a:t>
            </a:r>
          </a:p>
          <a:p>
            <a:pPr algn="l">
              <a:spcBef>
                <a:spcPts val="600"/>
              </a:spcBef>
            </a:pPr>
            <a:r>
              <a:rPr sz="1300" b="0" i="0">
                <a:solidFill>
                  <a:srgbClr val="1A1A2E"/>
                </a:solidFill>
                <a:latin typeface="Calibri"/>
              </a:rPr>
              <a:t>•  Cole–Kehoe crisis zone activated</a:t>
            </a:r>
          </a:p>
        </p:txBody>
      </p:sp>
      <p:sp>
        <p:nvSpPr>
          <p:cNvPr id="17" name="Rectangle 16"/>
          <p:cNvSpPr/>
          <p:nvPr/>
        </p:nvSpPr>
        <p:spPr>
          <a:xfrm>
            <a:off x="8229600" y="2286000"/>
            <a:ext cx="3749039"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21040" y="2313432"/>
            <a:ext cx="3566160" cy="329184"/>
          </a:xfrm>
          <a:prstGeom prst="rect">
            <a:avLst/>
          </a:prstGeom>
          <a:noFill/>
        </p:spPr>
        <p:txBody>
          <a:bodyPr wrap="square">
            <a:spAutoFit/>
          </a:bodyPr>
          <a:lstStyle/>
          <a:p>
            <a:pPr algn="l"/>
            <a:r>
              <a:rPr sz="1400" b="1" i="0">
                <a:solidFill>
                  <a:srgbClr val="FFFFFF"/>
                </a:solidFill>
                <a:latin typeface="Calibri"/>
              </a:rPr>
              <a:t>What determines outcome</a:t>
            </a:r>
          </a:p>
        </p:txBody>
      </p:sp>
      <p:sp>
        <p:nvSpPr>
          <p:cNvPr id="19" name="Rectangle 18"/>
          <p:cNvSpPr/>
          <p:nvPr/>
        </p:nvSpPr>
        <p:spPr>
          <a:xfrm>
            <a:off x="8229600" y="2670048"/>
            <a:ext cx="3749039" cy="2331720"/>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932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θ = T-bill holdings / supply  (Treasury Exposure)</a:t>
            </a:r>
          </a:p>
          <a:p>
            <a:pPr algn="l">
              <a:spcBef>
                <a:spcPts val="600"/>
              </a:spcBef>
            </a:pPr>
            <a:r>
              <a:rPr sz="1300" b="0" i="0">
                <a:solidFill>
                  <a:srgbClr val="1A1A2E"/>
                </a:solidFill>
                <a:latin typeface="Calibri"/>
              </a:rPr>
              <a:t>•  L = cash reserves / supply  (Liquid Buffer)</a:t>
            </a:r>
          </a:p>
          <a:p>
            <a:pPr algn="l">
              <a:spcBef>
                <a:spcPts val="600"/>
              </a:spcBef>
            </a:pPr>
            <a:r>
              <a:rPr sz="1300" b="0" i="0">
                <a:solidFill>
                  <a:srgbClr val="1A1A2E"/>
                </a:solidFill>
                <a:latin typeface="Calibri"/>
              </a:rPr>
              <a:t>•  L adequate: run absorbed, no liquidation</a:t>
            </a:r>
          </a:p>
          <a:p>
            <a:pPr algn="l">
              <a:spcBef>
                <a:spcPts val="600"/>
              </a:spcBef>
            </a:pPr>
            <a:r>
              <a:rPr sz="1300" b="0" i="0">
                <a:solidFill>
                  <a:srgbClr val="1A1A2E"/>
                </a:solidFill>
                <a:latin typeface="Calibri"/>
              </a:rPr>
              <a:t>•  → We estimate the threshold L* (Hansen 2000)</a:t>
            </a:r>
          </a:p>
        </p:txBody>
      </p:sp>
      <p:sp>
        <p:nvSpPr>
          <p:cNvPr id="21" name="Rectangle 20"/>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Our paper: decompose reserve quality into θ (privilege channel) and L (fragility channel); estimate threshold L*.</a:t>
            </a:r>
          </a:p>
        </p:txBody>
      </p:sp>
      <p:sp>
        <p:nvSpPr>
          <p:cNvPr id="23" name="TextBox 22">
            <a:extLst>
              <a:ext uri="{FF2B5EF4-FFF2-40B4-BE49-F238E27FC236}">
                <a16:creationId xmlns:a16="http://schemas.microsoft.com/office/drawing/2014/main" id="{22437335-5159-8673-D9A3-9ED5A5F5B81E}"/>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5394960" cy="4572000"/>
          </a:xfrm>
          <a:prstGeom prst="rect">
            <a:avLst/>
          </a:prstGeom>
          <a:noFill/>
        </p:spPr>
        <p:txBody>
          <a:bodyPr wrap="square">
            <a:spAutoFit/>
          </a:bodyPr>
          <a:lstStyle/>
          <a:p>
            <a:pPr>
              <a:spcBef>
                <a:spcPts val="0"/>
              </a:spcBef>
            </a:pPr>
            <a:endParaRPr/>
          </a:p>
          <a:p>
            <a:pPr algn="l">
              <a:spcBef>
                <a:spcPts val="400"/>
              </a:spcBef>
            </a:pPr>
            <a:r>
              <a:rPr sz="1400" b="1" i="0">
                <a:solidFill>
                  <a:srgbClr val="1B3A72"/>
                </a:solidFill>
                <a:latin typeface="Calibri"/>
              </a:rPr>
              <a:t>Maggiori (2017) original:</a:t>
            </a:r>
          </a:p>
          <a:p>
            <a:pPr algn="l">
              <a:spcBef>
                <a:spcPts val="400"/>
              </a:spcBef>
            </a:pPr>
            <a:r>
              <a:rPr sz="1300" b="0" i="0">
                <a:solidFill>
                  <a:srgbClr val="1A1A2E"/>
                </a:solidFill>
                <a:latin typeface="Calibri"/>
              </a:rPr>
              <a:t>Safe-asset demand driven by Ω* (marginal value of RoW net worth).</a:t>
            </a:r>
          </a:p>
          <a:p>
            <a:pPr algn="l">
              <a:spcBef>
                <a:spcPts val="400"/>
              </a:spcBef>
            </a:pPr>
            <a:r>
              <a:rPr sz="800" b="0" i="0">
                <a:solidFill>
                  <a:srgbClr val="1A1A2E"/>
                </a:solidFill>
                <a:latin typeface="Calibri"/>
              </a:rPr>
              <a:t> </a:t>
            </a:r>
          </a:p>
          <a:p>
            <a:pPr algn="l">
              <a:spcBef>
                <a:spcPts val="600"/>
              </a:spcBef>
            </a:pPr>
            <a:r>
              <a:rPr sz="1400" b="1" i="0">
                <a:solidFill>
                  <a:srgbClr val="1B3A72"/>
                </a:solidFill>
                <a:latin typeface="Calibri"/>
              </a:rPr>
              <a:t>Our extension — add stablecoin supply S, θ, and L:</a:t>
            </a:r>
          </a:p>
          <a:p>
            <a:pPr algn="l">
              <a:spcBef>
                <a:spcPts val="400"/>
              </a:spcBef>
            </a:pPr>
            <a:r>
              <a:rPr sz="1300" b="0" i="1">
                <a:solidFill>
                  <a:srgbClr val="1A1A2E"/>
                </a:solidFill>
                <a:latin typeface="Calibri"/>
              </a:rPr>
              <a:t>D*(Ñ*, S, θ, L)  =  D*precautionary(Ñ*)  +  D*stablecoin(S, θ)  +  D*buffer(L)</a:t>
            </a:r>
          </a:p>
          <a:p>
            <a:pPr algn="l">
              <a:spcBef>
                <a:spcPts val="400"/>
              </a:spcBef>
            </a:pPr>
            <a:r>
              <a:rPr sz="800" b="0" i="0">
                <a:solidFill>
                  <a:srgbClr val="1A1A2E"/>
                </a:solidFill>
                <a:latin typeface="Calibri"/>
              </a:rPr>
              <a:t> </a:t>
            </a:r>
          </a:p>
          <a:p>
            <a:pPr algn="l">
              <a:spcBef>
                <a:spcPts val="400"/>
              </a:spcBef>
            </a:pPr>
            <a:r>
              <a:rPr sz="1400" b="1" i="0">
                <a:solidFill>
                  <a:srgbClr val="1B3A72"/>
                </a:solidFill>
                <a:latin typeface="Calibri"/>
              </a:rPr>
              <a:t>Liquid Buffer L enters asymmetrically:</a:t>
            </a:r>
          </a:p>
          <a:p>
            <a:pPr algn="l">
              <a:spcBef>
                <a:spcPts val="400"/>
              </a:spcBef>
            </a:pPr>
            <a:r>
              <a:rPr sz="1300" b="0" i="0">
                <a:solidFill>
                  <a:srgbClr val="1A7A4A"/>
                </a:solidFill>
                <a:latin typeface="Calibri"/>
              </a:rPr>
              <a:t>❖  L ≥ L*  →  run absorbed, no T-bill liquidation</a:t>
            </a:r>
          </a:p>
          <a:p>
            <a:pPr algn="l">
              <a:spcBef>
                <a:spcPts val="400"/>
              </a:spcBef>
            </a:pPr>
            <a:r>
              <a:rPr sz="1300" b="0" i="0">
                <a:solidFill>
                  <a:srgbClr val="C0392B"/>
                </a:solidFill>
                <a:latin typeface="Calibri"/>
              </a:rPr>
              <a:t>❖  L &lt; L*  →  forced T-bill sales, spread spikes</a:t>
            </a: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a:rPr>
              <a:t>Spreadₜ = α + β₁·ΔlnSₜ + β₂·θₜ + β₃·Lₜ
           + β₄·(Lₜ × ΔlnSₜ)
           + β₅·Vₜ + β₆·VIXₜ
           + β₇·ΔlnN*ₜ + εₜ</a:t>
            </a:r>
          </a:p>
        </p:txBody>
      </p:sp>
      <p:sp>
        <p:nvSpPr>
          <p:cNvPr id="11" name="TextBox 10"/>
          <p:cNvSpPr txBox="1"/>
          <p:nvPr/>
        </p:nvSpPr>
        <p:spPr>
          <a:xfrm>
            <a:off x="6355080" y="3337560"/>
            <a:ext cx="5303520" cy="2286000"/>
          </a:xfrm>
          <a:prstGeom prst="rect">
            <a:avLst/>
          </a:prstGeom>
          <a:noFill/>
        </p:spPr>
        <p:txBody>
          <a:bodyPr wrap="square">
            <a:spAutoFit/>
          </a:bodyPr>
          <a:lstStyle/>
          <a:p>
            <a:pPr>
              <a:spcBef>
                <a:spcPts val="0"/>
              </a:spcBef>
            </a:pPr>
            <a:endParaRPr/>
          </a:p>
          <a:p>
            <a:pPr algn="l">
              <a:spcBef>
                <a:spcPts val="400"/>
              </a:spcBef>
            </a:pPr>
            <a:r>
              <a:rPr sz="1300" b="1" i="0">
                <a:solidFill>
                  <a:srgbClr val="AAC4E8"/>
                </a:solidFill>
                <a:latin typeface="Calibri"/>
              </a:rPr>
              <a:t>Predicted signs:</a:t>
            </a:r>
          </a:p>
          <a:p>
            <a:pPr algn="l">
              <a:spcBef>
                <a:spcPts val="600"/>
              </a:spcBef>
            </a:pPr>
            <a:r>
              <a:rPr sz="1200" b="0" i="0">
                <a:solidFill>
                  <a:srgbClr val="FFFFFF"/>
                </a:solidFill>
                <a:latin typeface="Calibri"/>
              </a:rPr>
              <a:t>❖  β₁ &lt; 0: ΔlnS compresses spreads (privilege amplification)</a:t>
            </a:r>
          </a:p>
          <a:p>
            <a:pPr algn="l">
              <a:spcBef>
                <a:spcPts val="600"/>
              </a:spcBef>
            </a:pPr>
            <a:r>
              <a:rPr sz="1200" b="0" i="0">
                <a:solidFill>
                  <a:srgbClr val="FFFFFF"/>
                </a:solidFill>
                <a:latin typeface="Calibri"/>
              </a:rPr>
              <a:t>❖  β₂ &gt; 0: Higher T-bill exposure θ amplifies demand</a:t>
            </a:r>
          </a:p>
          <a:p>
            <a:pPr algn="l">
              <a:spcBef>
                <a:spcPts val="600"/>
              </a:spcBef>
            </a:pPr>
            <a:r>
              <a:rPr sz="1200" b="0" i="0">
                <a:solidFill>
                  <a:srgbClr val="FFFFFF"/>
                </a:solidFill>
                <a:latin typeface="Calibri"/>
              </a:rPr>
              <a:t>❖  β₄ &gt; 0: Higher L dampens crisis transmission during runs</a:t>
            </a:r>
          </a:p>
        </p:txBody>
      </p:sp>
      <p:sp>
        <p:nvSpPr>
          <p:cNvPr id="12" name="TextBox 11">
            <a:extLst>
              <a:ext uri="{FF2B5EF4-FFF2-40B4-BE49-F238E27FC236}">
                <a16:creationId xmlns:a16="http://schemas.microsoft.com/office/drawing/2014/main" id="{B1D29A55-C321-CDB2-A402-EDE9D16F264F}"/>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a:solidFill>
                  <a:srgbClr val="1A1A2E"/>
                </a:solidFill>
                <a:latin typeface="Calibri"/>
              </a:rPr>
              <a:t>DeFiLlama stablecoins API (free)</a:t>
            </a: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p>
        </p:txBody>
      </p:sp>
      <p:sp>
        <p:nvSpPr>
          <p:cNvPr id="47" name="TextBox 46"/>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48" name="TextBox 47">
            <a:extLst>
              <a:ext uri="{FF2B5EF4-FFF2-40B4-BE49-F238E27FC236}">
                <a16:creationId xmlns:a16="http://schemas.microsoft.com/office/drawing/2014/main" id="{A5FBE91D-72ED-0B4C-F17A-42F3893CD05A}"/>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pic>
        <p:nvPicPr>
          <p:cNvPr id="6" name="Picture 5" descr="fig_timeseries.png"/>
          <p:cNvPicPr>
            <a:picLocks noChangeAspect="1"/>
          </p:cNvPicPr>
          <p:nvPr/>
        </p:nvPicPr>
        <p:blipFill>
          <a:blip r:embed="rId3"/>
          <a:stretch>
            <a:fillRect/>
          </a:stretch>
        </p:blipFill>
        <p:spPr>
          <a:xfrm>
            <a:off x="274320" y="914400"/>
            <a:ext cx="7772400" cy="5692886"/>
          </a:xfrm>
          <a:prstGeom prst="rect">
            <a:avLst/>
          </a:prstGeom>
        </p:spPr>
      </p:pic>
      <p:sp>
        <p:nvSpPr>
          <p:cNvPr id="7" name="TextBox 6"/>
          <p:cNvSpPr txBox="1"/>
          <p:nvPr/>
        </p:nvSpPr>
        <p:spPr>
          <a:xfrm>
            <a:off x="8119871" y="1075509"/>
            <a:ext cx="4068954" cy="5463034"/>
          </a:xfrm>
          <a:prstGeom prst="rect">
            <a:avLst/>
          </a:prstGeom>
          <a:noFill/>
        </p:spPr>
        <p:txBody>
          <a:bodyPr wrap="square">
            <a:spAutoFit/>
          </a:bodyPr>
          <a:lstStyle/>
          <a:p>
            <a:pPr algn="l">
              <a:spcBef>
                <a:spcPts val="400"/>
              </a:spcBef>
            </a:pPr>
            <a:r>
              <a:rPr b="1" i="0" dirty="0">
                <a:solidFill>
                  <a:srgbClr val="1B3A72"/>
                </a:solidFill>
                <a:latin typeface="Calibri"/>
              </a:rPr>
              <a:t>Three panels</a:t>
            </a:r>
            <a:endParaRPr lang="en-US" b="1" i="0" dirty="0">
              <a:solidFill>
                <a:srgbClr val="1B3A72"/>
              </a:solidFill>
              <a:latin typeface="Calibri"/>
            </a:endParaRPr>
          </a:p>
          <a:p>
            <a:pPr algn="l">
              <a:spcBef>
                <a:spcPts val="400"/>
              </a:spcBef>
            </a:pPr>
            <a:r>
              <a:rPr sz="1600" b="0" i="0" dirty="0">
                <a:solidFill>
                  <a:srgbClr val="1A1A2E"/>
                </a:solidFill>
                <a:latin typeface="Calibri"/>
              </a:rPr>
              <a:t>❖  A: Treasury spread — compresses when supply grows, spikes in crises</a:t>
            </a:r>
            <a:r>
              <a:rPr lang="en-US" sz="1600" b="0" i="0" dirty="0">
                <a:solidFill>
                  <a:srgbClr val="1A1A2E"/>
                </a:solidFill>
                <a:latin typeface="Calibri"/>
              </a:rPr>
              <a:t>.</a:t>
            </a:r>
          </a:p>
          <a:p>
            <a:pPr>
              <a:spcBef>
                <a:spcPts val="900"/>
              </a:spcBef>
            </a:pPr>
            <a:r>
              <a:rPr lang="en-US" altLang="ko-KR" sz="1600" dirty="0"/>
              <a:t>T-bill (DTB3) is a </a:t>
            </a:r>
            <a:r>
              <a:rPr lang="en-US" altLang="ko-KR" sz="1600" b="1" dirty="0"/>
              <a:t>3-month U.S. government bond</a:t>
            </a:r>
            <a:r>
              <a:rPr lang="en-US" altLang="ko-KR" sz="1600" dirty="0"/>
              <a:t>. </a:t>
            </a:r>
            <a:r>
              <a:rPr lang="en-US" altLang="ko-KR" sz="1600" b="1" dirty="0"/>
              <a:t>Secured Overnight Financing Rate </a:t>
            </a:r>
            <a:r>
              <a:rPr lang="en-US" altLang="ko-KR" sz="1600" dirty="0"/>
              <a:t>is the rate banks charge for one night. </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p>
          <a:p>
            <a:pPr algn="l">
              <a:spcBef>
                <a:spcPts val="900"/>
              </a:spcBef>
            </a:pPr>
            <a:r>
              <a:rPr sz="1600" b="0" i="0" dirty="0">
                <a:solidFill>
                  <a:srgbClr val="1A1A2E"/>
                </a:solidFill>
                <a:latin typeface="Calibri"/>
              </a:rPr>
              <a:t>❖  Red dashed line = our estimated safety threshold (13%)</a:t>
            </a:r>
          </a:p>
        </p:txBody>
      </p:sp>
      <p:sp>
        <p:nvSpPr>
          <p:cNvPr id="8" name="TextBox 7">
            <a:extLst>
              <a:ext uri="{FF2B5EF4-FFF2-40B4-BE49-F238E27FC236}">
                <a16:creationId xmlns:a16="http://schemas.microsoft.com/office/drawing/2014/main" id="{6A4CFF89-60C4-FB31-F517-9FD869800F9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9" name="줄무늬가 있는 오른쪽 화살표[S] 8">
            <a:extLst>
              <a:ext uri="{FF2B5EF4-FFF2-40B4-BE49-F238E27FC236}">
                <a16:creationId xmlns:a16="http://schemas.microsoft.com/office/drawing/2014/main" id="{68670B3B-D9F8-0728-E725-53EDF98D042D}"/>
              </a:ext>
            </a:extLst>
          </p:cNvPr>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a:extLst>
              <a:ext uri="{FF2B5EF4-FFF2-40B4-BE49-F238E27FC236}">
                <a16:creationId xmlns:a16="http://schemas.microsoft.com/office/drawing/2014/main" id="{D1A6A2B1-4BE2-4F94-F1D2-81C8FDB9FCFB}"/>
              </a:ext>
            </a:extLst>
          </p:cNvPr>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
        <p:nvSpPr>
          <p:cNvPr id="11" name="오른쪽 화살표[R] 10">
            <a:extLst>
              <a:ext uri="{FF2B5EF4-FFF2-40B4-BE49-F238E27FC236}">
                <a16:creationId xmlns:a16="http://schemas.microsoft.com/office/drawing/2014/main" id="{AC24544B-7ED7-9DC2-903C-F911A2F2D61B}"/>
              </a:ext>
            </a:extLst>
          </p:cNvPr>
          <p:cNvSpPr/>
          <p:nvPr/>
        </p:nvSpPr>
        <p:spPr>
          <a:xfrm>
            <a:off x="991892" y="5238427"/>
            <a:ext cx="650928" cy="35646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p>
        </p:txBody>
      </p:sp>
      <p:grpSp>
        <p:nvGrpSpPr>
          <p:cNvPr id="19" name="그룹 18">
            <a:extLst>
              <a:ext uri="{FF2B5EF4-FFF2-40B4-BE49-F238E27FC236}">
                <a16:creationId xmlns:a16="http://schemas.microsoft.com/office/drawing/2014/main" id="{0A152D90-8C4D-2A6C-3C26-92F1B8F6A6DF}"/>
              </a:ext>
            </a:extLst>
          </p:cNvPr>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p>
          </p:txBody>
        </p:sp>
      </p:grpSp>
      <p:grpSp>
        <p:nvGrpSpPr>
          <p:cNvPr id="20" name="그룹 19">
            <a:extLst>
              <a:ext uri="{FF2B5EF4-FFF2-40B4-BE49-F238E27FC236}">
                <a16:creationId xmlns:a16="http://schemas.microsoft.com/office/drawing/2014/main" id="{FB96DE00-4788-E873-537C-694F9BC27380}"/>
              </a:ext>
            </a:extLst>
          </p:cNvPr>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p>
          </p:txBody>
        </p:sp>
      </p:grpSp>
      <p:grpSp>
        <p:nvGrpSpPr>
          <p:cNvPr id="21" name="그룹 20">
            <a:extLst>
              <a:ext uri="{FF2B5EF4-FFF2-40B4-BE49-F238E27FC236}">
                <a16:creationId xmlns:a16="http://schemas.microsoft.com/office/drawing/2014/main" id="{1D44961A-FA22-F6A7-C7DE-CB13F2D0DE61}"/>
              </a:ext>
            </a:extLst>
          </p:cNvPr>
          <p:cNvGrpSpPr/>
          <p:nvPr/>
        </p:nvGrpSpPr>
        <p:grpSpPr>
          <a:xfrm>
            <a:off x="365760" y="4572000"/>
            <a:ext cx="11731752" cy="2221992"/>
            <a:chOff x="365760" y="4572000"/>
            <a:chExt cx="11731752" cy="2221992"/>
          </a:xfrm>
        </p:grpSpPr>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p>
          </p:txBody>
        </p:sp>
      </p:grpSp>
      <p:sp>
        <p:nvSpPr>
          <p:cNvPr id="18" name="TextBox 17">
            <a:extLst>
              <a:ext uri="{FF2B5EF4-FFF2-40B4-BE49-F238E27FC236}">
                <a16:creationId xmlns:a16="http://schemas.microsoft.com/office/drawing/2014/main" id="{0ED52BC4-B622-B5CA-4650-A0CDDE5FFE7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dirty="0" err="1">
                <a:solidFill>
                  <a:srgbClr val="1A1A2E"/>
                </a:solidFill>
                <a:latin typeface="Calibri"/>
              </a:rPr>
              <a:t>θ</a:t>
            </a:r>
            <a:r>
              <a:rPr sz="1100" b="0" i="0" dirty="0">
                <a:solidFill>
                  <a:srgbClr val="1A1A2E"/>
                </a:solidFill>
                <a:latin typeface="Calibri"/>
              </a:rPr>
              <a:t>  (Treasury Exposure)</a:t>
            </a: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p>
        </p:txBody>
      </p:sp>
      <p:sp>
        <p:nvSpPr>
          <p:cNvPr id="37" name="TextBox 36"/>
          <p:cNvSpPr txBox="1"/>
          <p:nvPr/>
        </p:nvSpPr>
        <p:spPr>
          <a:xfrm>
            <a:off x="9098280" y="5687568"/>
            <a:ext cx="658368" cy="256032"/>
          </a:xfrm>
          <a:prstGeom prst="rect">
            <a:avLst/>
          </a:prstGeom>
          <a:noFill/>
        </p:spPr>
        <p:txBody>
          <a:bodyPr wrap="square">
            <a:spAutoFit/>
          </a:bodyPr>
          <a:lstStyle/>
          <a:p>
            <a:pPr algn="ctr"/>
            <a:endParaRP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p>
        </p:txBody>
      </p:sp>
      <p:sp>
        <p:nvSpPr>
          <p:cNvPr id="39" name="TextBox 38">
            <a:extLst>
              <a:ext uri="{FF2B5EF4-FFF2-40B4-BE49-F238E27FC236}">
                <a16:creationId xmlns:a16="http://schemas.microsoft.com/office/drawing/2014/main" id="{173EA64A-48DE-A8FC-AC85-DD9541E50B02}"/>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40" name="오각형[P] 39">
            <a:extLst>
              <a:ext uri="{FF2B5EF4-FFF2-40B4-BE49-F238E27FC236}">
                <a16:creationId xmlns:a16="http://schemas.microsoft.com/office/drawing/2014/main" id="{26F34FDF-1B68-ED00-129A-5CBE6EFCEE66}"/>
              </a:ext>
            </a:extLst>
          </p:cNvPr>
          <p:cNvSpPr/>
          <p:nvPr/>
        </p:nvSpPr>
        <p:spPr>
          <a:xfrm>
            <a:off x="9756648" y="4645152"/>
            <a:ext cx="2340864" cy="1042416"/>
          </a:xfrm>
          <a:prstGeom prst="homePlat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Not significant enough</a:t>
            </a:r>
            <a:endParaRPr kumimoji="1" lang="ko-KR"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p>
        </p:txBody>
      </p:sp>
      <p:sp>
        <p:nvSpPr>
          <p:cNvPr id="6" name="Rectangle 5"/>
          <p:cNvSpPr/>
          <p:nvPr/>
        </p:nvSpPr>
        <p:spPr>
          <a:xfrm>
            <a:off x="365760" y="960120"/>
            <a:ext cx="11430000" cy="6217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p>
        </p:txBody>
      </p:sp>
      <p:sp>
        <p:nvSpPr>
          <p:cNvPr id="8" name="TextBox 7"/>
          <p:cNvSpPr txBox="1"/>
          <p:nvPr/>
        </p:nvSpPr>
        <p:spPr>
          <a:xfrm>
            <a:off x="365760" y="1664208"/>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p>
        </p:txBody>
      </p:sp>
      <p:sp>
        <p:nvSpPr>
          <p:cNvPr id="9" name="Rectangle 8"/>
          <p:cNvSpPr/>
          <p:nvPr/>
        </p:nvSpPr>
        <p:spPr>
          <a:xfrm>
            <a:off x="365760" y="2167128"/>
            <a:ext cx="35966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286000"/>
            <a:ext cx="5212080" cy="347472"/>
          </a:xfrm>
          <a:prstGeom prst="rect">
            <a:avLst/>
          </a:prstGeom>
          <a:noFill/>
        </p:spPr>
        <p:txBody>
          <a:bodyPr wrap="square">
            <a:spAutoFit/>
          </a:bodyPr>
          <a:lstStyle/>
          <a:p>
            <a:pPr algn="l"/>
            <a:r>
              <a:rPr sz="1400" b="1" i="0">
                <a:solidFill>
                  <a:srgbClr val="AAC4E8"/>
                </a:solidFill>
                <a:latin typeface="Calibri"/>
              </a:rPr>
              <a:t>Supply channel</a:t>
            </a:r>
          </a:p>
        </p:txBody>
      </p:sp>
      <p:sp>
        <p:nvSpPr>
          <p:cNvPr id="11" name="TextBox 10"/>
          <p:cNvSpPr txBox="1"/>
          <p:nvPr/>
        </p:nvSpPr>
        <p:spPr>
          <a:xfrm>
            <a:off x="548640" y="2670048"/>
            <a:ext cx="5212080" cy="777240"/>
          </a:xfrm>
          <a:prstGeom prst="rect">
            <a:avLst/>
          </a:prstGeom>
          <a:noFill/>
        </p:spPr>
        <p:txBody>
          <a:bodyPr wrap="square">
            <a:spAutoFit/>
          </a:bodyPr>
          <a:lstStyle/>
          <a:p>
            <a:pPr algn="l"/>
            <a:r>
              <a:rPr sz="3000" b="1" i="0">
                <a:solidFill>
                  <a:srgbClr val="FFFFFF"/>
                </a:solidFill>
                <a:latin typeface="Calibri"/>
              </a:rPr>
              <a:t>β₁  =  −8.14</a:t>
            </a:r>
          </a:p>
        </p:txBody>
      </p:sp>
      <p:sp>
        <p:nvSpPr>
          <p:cNvPr id="12" name="TextBox 11"/>
          <p:cNvSpPr txBox="1"/>
          <p:nvPr/>
        </p:nvSpPr>
        <p:spPr>
          <a:xfrm>
            <a:off x="548640" y="3474720"/>
            <a:ext cx="5212080" cy="347472"/>
          </a:xfrm>
          <a:prstGeom prst="rect">
            <a:avLst/>
          </a:prstGeom>
          <a:noFill/>
        </p:spPr>
        <p:txBody>
          <a:bodyPr wrap="square">
            <a:spAutoFit/>
          </a:bodyPr>
          <a:lstStyle/>
          <a:p>
            <a:pPr algn="l"/>
            <a:r>
              <a:rPr sz="1800" b="1" i="0">
                <a:solidFill>
                  <a:srgbClr val="FFD700"/>
                </a:solidFill>
                <a:latin typeface="Calibri"/>
              </a:rPr>
              <a:t>***</a:t>
            </a:r>
          </a:p>
        </p:txBody>
      </p:sp>
      <p:sp>
        <p:nvSpPr>
          <p:cNvPr id="13" name="TextBox 12"/>
          <p:cNvSpPr txBox="1"/>
          <p:nvPr/>
        </p:nvSpPr>
        <p:spPr>
          <a:xfrm>
            <a:off x="548640" y="3877056"/>
            <a:ext cx="5212080" cy="914400"/>
          </a:xfrm>
          <a:prstGeom prst="rect">
            <a:avLst/>
          </a:prstGeom>
          <a:noFill/>
        </p:spPr>
        <p:txBody>
          <a:bodyPr wrap="square">
            <a:spAutoFit/>
          </a:bodyPr>
          <a:lstStyle/>
          <a:p>
            <a:pPr algn="l"/>
            <a:r>
              <a:rPr sz="1300" b="0" i="0" dirty="0">
                <a:solidFill>
                  <a:srgbClr val="AAC4E8"/>
                </a:solidFill>
                <a:latin typeface="Calibri"/>
              </a:rPr>
              <a:t>Even stronger supply effect in recent data.
Confirmed at the 1% level.</a:t>
            </a:r>
          </a:p>
        </p:txBody>
      </p:sp>
      <p:sp>
        <p:nvSpPr>
          <p:cNvPr id="14" name="Rectangle 13"/>
          <p:cNvSpPr/>
          <p:nvPr/>
        </p:nvSpPr>
        <p:spPr>
          <a:xfrm>
            <a:off x="4145280" y="2167128"/>
            <a:ext cx="765048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28160" y="2286000"/>
            <a:ext cx="5212080" cy="347472"/>
          </a:xfrm>
          <a:prstGeom prst="rect">
            <a:avLst/>
          </a:prstGeom>
          <a:noFill/>
        </p:spPr>
        <p:txBody>
          <a:bodyPr wrap="square">
            <a:spAutoFit/>
          </a:bodyPr>
          <a:lstStyle/>
          <a:p>
            <a:pPr algn="l"/>
            <a:r>
              <a:rPr sz="1400" b="1" i="0">
                <a:solidFill>
                  <a:srgbClr val="AAC4E8"/>
                </a:solidFill>
                <a:latin typeface="Calibri"/>
              </a:rPr>
              <a:t>Buffer interaction</a:t>
            </a:r>
          </a:p>
        </p:txBody>
      </p:sp>
      <p:sp>
        <p:nvSpPr>
          <p:cNvPr id="16" name="TextBox 15"/>
          <p:cNvSpPr txBox="1"/>
          <p:nvPr/>
        </p:nvSpPr>
        <p:spPr>
          <a:xfrm>
            <a:off x="4328160" y="2670048"/>
            <a:ext cx="5212080" cy="830997"/>
          </a:xfrm>
          <a:prstGeom prst="rect">
            <a:avLst/>
          </a:prstGeom>
          <a:noFill/>
        </p:spPr>
        <p:txBody>
          <a:bodyPr wrap="square">
            <a:spAutoFit/>
          </a:bodyPr>
          <a:lstStyle/>
          <a:p>
            <a:pPr algn="l"/>
            <a:r>
              <a:rPr sz="3000" b="1" i="0" dirty="0" err="1">
                <a:solidFill>
                  <a:srgbClr val="FFFFFF"/>
                </a:solidFill>
                <a:latin typeface="Calibri"/>
              </a:rPr>
              <a:t>L×ΔlnS</a:t>
            </a:r>
            <a:r>
              <a:rPr sz="3000" b="1" i="0" dirty="0">
                <a:solidFill>
                  <a:srgbClr val="FFFFFF"/>
                </a:solidFill>
                <a:latin typeface="Calibri"/>
              </a:rPr>
              <a:t>  =  +49.17</a:t>
            </a:r>
            <a:endParaRPr lang="en-US" sz="3000" b="1" i="0" dirty="0">
              <a:solidFill>
                <a:srgbClr val="FFFFFF"/>
              </a:solidFill>
              <a:latin typeface="Calibri"/>
            </a:endParaRPr>
          </a:p>
          <a:p>
            <a:r>
              <a:rPr lang="el-GR" altLang="ko-KR" dirty="0">
                <a:solidFill>
                  <a:schemeClr val="bg1"/>
                </a:solidFill>
              </a:rPr>
              <a:t>β₁ + β₄ × </a:t>
            </a:r>
            <a:r>
              <a:rPr lang="en-US" altLang="ko-KR" dirty="0">
                <a:solidFill>
                  <a:schemeClr val="bg1"/>
                </a:solidFill>
              </a:rPr>
              <a:t>L = −8.14 + 49.17 × L</a:t>
            </a:r>
          </a:p>
        </p:txBody>
      </p:sp>
      <p:sp>
        <p:nvSpPr>
          <p:cNvPr id="17" name="TextBox 16"/>
          <p:cNvSpPr txBox="1"/>
          <p:nvPr/>
        </p:nvSpPr>
        <p:spPr>
          <a:xfrm>
            <a:off x="7342632" y="2823603"/>
            <a:ext cx="5212080" cy="347472"/>
          </a:xfrm>
          <a:prstGeom prst="rect">
            <a:avLst/>
          </a:prstGeom>
          <a:noFill/>
        </p:spPr>
        <p:txBody>
          <a:bodyPr wrap="square">
            <a:spAutoFit/>
          </a:bodyPr>
          <a:lstStyle/>
          <a:p>
            <a:pPr algn="l"/>
            <a:r>
              <a:rPr sz="1800" b="1" i="0" dirty="0">
                <a:solidFill>
                  <a:srgbClr val="FFD700"/>
                </a:solidFill>
                <a:latin typeface="Calibri"/>
              </a:rPr>
              <a:t>***  (p = 0.004)</a:t>
            </a:r>
          </a:p>
        </p:txBody>
      </p:sp>
      <p:sp>
        <p:nvSpPr>
          <p:cNvPr id="18" name="TextBox 17"/>
          <p:cNvSpPr txBox="1"/>
          <p:nvPr/>
        </p:nvSpPr>
        <p:spPr>
          <a:xfrm>
            <a:off x="4310742" y="3548793"/>
            <a:ext cx="7485017" cy="2077492"/>
          </a:xfrm>
          <a:prstGeom prst="rect">
            <a:avLst/>
          </a:prstGeom>
          <a:noFill/>
        </p:spPr>
        <p:txBody>
          <a:bodyPr wrap="square">
            <a:spAutoFit/>
          </a:bodyPr>
          <a:lstStyle/>
          <a:p>
            <a:r>
              <a:rPr lang="en-US" altLang="ko-KR" dirty="0">
                <a:solidFill>
                  <a:schemeClr val="bg1"/>
                </a:solidFill>
              </a:rPr>
              <a:t>When L is </a:t>
            </a:r>
            <a:r>
              <a:rPr lang="en-US" altLang="ko-KR" b="1" dirty="0">
                <a:solidFill>
                  <a:schemeClr val="bg1"/>
                </a:solidFill>
              </a:rPr>
              <a:t>low</a:t>
            </a:r>
            <a:r>
              <a:rPr lang="en-US" altLang="ko-KR" dirty="0">
                <a:solidFill>
                  <a:schemeClr val="bg1"/>
                </a:solidFill>
              </a:rPr>
              <a:t> (say 0.05): total effect = −8.14 + (49.17 × 0.05) = </a:t>
            </a:r>
            <a:r>
              <a:rPr lang="en-US" altLang="ko-KR" b="1" dirty="0">
                <a:solidFill>
                  <a:schemeClr val="bg1"/>
                </a:solidFill>
              </a:rPr>
              <a:t>−5.68</a:t>
            </a:r>
            <a:r>
              <a:rPr lang="en-US" altLang="ko-KR" dirty="0">
                <a:solidFill>
                  <a:schemeClr val="bg1"/>
                </a:solidFill>
              </a:rPr>
              <a:t> → strong compression, issuers are actively buying T-bills</a:t>
            </a:r>
          </a:p>
          <a:p>
            <a:r>
              <a:rPr lang="en-US" altLang="ko-KR" dirty="0">
                <a:solidFill>
                  <a:schemeClr val="bg1"/>
                </a:solidFill>
              </a:rPr>
              <a:t>When L is </a:t>
            </a:r>
            <a:r>
              <a:rPr lang="en-US" altLang="ko-KR" b="1" dirty="0">
                <a:solidFill>
                  <a:schemeClr val="bg1"/>
                </a:solidFill>
              </a:rPr>
              <a:t>high</a:t>
            </a:r>
            <a:r>
              <a:rPr lang="en-US" altLang="ko-KR" dirty="0">
                <a:solidFill>
                  <a:schemeClr val="bg1"/>
                </a:solidFill>
              </a:rPr>
              <a:t> (say 0.16): total effect = −8.14 + (49.17 × 0.16) = </a:t>
            </a:r>
            <a:r>
              <a:rPr lang="en-US" altLang="ko-KR" b="1" dirty="0">
                <a:solidFill>
                  <a:schemeClr val="bg1"/>
                </a:solidFill>
              </a:rPr>
              <a:t>−0.27</a:t>
            </a:r>
            <a:r>
              <a:rPr lang="en-US" altLang="ko-KR" dirty="0">
                <a:solidFill>
                  <a:schemeClr val="bg1"/>
                </a:solidFill>
              </a:rPr>
              <a:t> → effect nearly disappears, issuers have enough cash and don't need to move T-bill markets</a:t>
            </a:r>
          </a:p>
          <a:p>
            <a:pPr algn="l"/>
            <a:endParaRPr lang="en-US" sz="1300" b="0" i="0" dirty="0">
              <a:solidFill>
                <a:schemeClr val="bg1"/>
              </a:solidFill>
              <a:latin typeface="Calibri"/>
            </a:endParaRPr>
          </a:p>
          <a:p>
            <a:pPr algn="l"/>
            <a:r>
              <a:rPr sz="1300" b="0" i="0" dirty="0">
                <a:solidFill>
                  <a:schemeClr val="bg1"/>
                </a:solidFill>
                <a:latin typeface="Calibri"/>
              </a:rPr>
              <a:t>Higher liquid buffer dampens the spread compression.
The fragility mechanism is confirmed.</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Both channels confirmed in recent data. The mechanism is real — our full sample just needs more months to reach significance.</a:t>
            </a:r>
          </a:p>
        </p:txBody>
      </p:sp>
      <p:sp>
        <p:nvSpPr>
          <p:cNvPr id="21" name="TextBox 20">
            <a:extLst>
              <a:ext uri="{FF2B5EF4-FFF2-40B4-BE49-F238E27FC236}">
                <a16:creationId xmlns:a16="http://schemas.microsoft.com/office/drawing/2014/main" id="{AE033ACC-A3A0-F6D7-8B64-D2A08C9C0CF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d</a:t>
            </a: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11</a:t>
            </a:r>
          </a:p>
        </p:txBody>
      </p:sp>
      <p:pic>
        <p:nvPicPr>
          <p:cNvPr id="6" name="Picture 5" descr="threshold_ssr.png"/>
          <p:cNvPicPr>
            <a:picLocks noChangeAspect="1"/>
          </p:cNvPicPr>
          <p:nvPr/>
        </p:nvPicPr>
        <p:blipFill>
          <a:blip r:embed="rId3"/>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dirty="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p>
        </p:txBody>
      </p:sp>
      <p:sp>
        <p:nvSpPr>
          <p:cNvPr id="13" name="TextBox 12"/>
          <p:cNvSpPr txBox="1"/>
          <p:nvPr/>
        </p:nvSpPr>
        <p:spPr>
          <a:xfrm>
            <a:off x="2931795" y="4678198"/>
            <a:ext cx="6400800" cy="246221"/>
          </a:xfrm>
          <a:prstGeom prst="rect">
            <a:avLst/>
          </a:prstGeom>
          <a:noFill/>
        </p:spPr>
        <p:txBody>
          <a:bodyPr wrap="square">
            <a:spAutoFit/>
          </a:bodyPr>
          <a:lstStyle/>
          <a:p>
            <a:pPr algn="l"/>
            <a:r>
              <a:rPr sz="1000" b="0" i="1" dirty="0">
                <a:solidFill>
                  <a:srgbClr val="555566"/>
                </a:solidFill>
                <a:latin typeface="Calibri"/>
              </a:rPr>
              <a:t> Lower SSR = better model fit at that threshold value</a:t>
            </a: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dirty="0">
                <a:solidFill>
                  <a:srgbClr val="555566"/>
                </a:solidFill>
                <a:latin typeface="Calibri"/>
              </a:rPr>
              <a:t>Bootstrap p = 0.260  (suggestive — the direction is clear; significance grows as data accumulates past 2026)</a:t>
            </a:r>
          </a:p>
        </p:txBody>
      </p:sp>
      <p:sp>
        <p:nvSpPr>
          <p:cNvPr id="15" name="TextBox 14">
            <a:extLst>
              <a:ext uri="{FF2B5EF4-FFF2-40B4-BE49-F238E27FC236}">
                <a16:creationId xmlns:a16="http://schemas.microsoft.com/office/drawing/2014/main" id="{1407FDC2-9FDA-353D-7FAA-6E3D296B6CCD}"/>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
        <p:nvSpPr>
          <p:cNvPr id="16" name="TextBox 15">
            <a:extLst>
              <a:ext uri="{FF2B5EF4-FFF2-40B4-BE49-F238E27FC236}">
                <a16:creationId xmlns:a16="http://schemas.microsoft.com/office/drawing/2014/main" id="{289DC43A-B951-5EA0-989B-41C703A8AEE5}"/>
              </a:ext>
            </a:extLst>
          </p:cNvPr>
          <p:cNvSpPr txBox="1"/>
          <p:nvPr/>
        </p:nvSpPr>
        <p:spPr>
          <a:xfrm>
            <a:off x="320040" y="1440898"/>
            <a:ext cx="4663440" cy="292388"/>
          </a:xfrm>
          <a:prstGeom prst="rect">
            <a:avLst/>
          </a:prstGeom>
          <a:noFill/>
        </p:spPr>
        <p:txBody>
          <a:bodyPr wrap="square">
            <a:spAutoFit/>
          </a:bodyPr>
          <a:lstStyle/>
          <a:p>
            <a:pPr algn="l"/>
            <a:r>
              <a:rPr lang="en-US" sz="1300" b="0" i="0" dirty="0">
                <a:solidFill>
                  <a:srgbClr val="1A1A2E"/>
                </a:solidFill>
                <a:latin typeface="Calibri"/>
              </a:rPr>
              <a:t>SSR : Sum of Squared Residuals </a:t>
            </a:r>
            <a:endParaRPr sz="1300" b="0" i="0" dirty="0">
              <a:solidFill>
                <a:srgbClr val="1A1A2E"/>
              </a:solidFill>
              <a:latin typeface="Calibri"/>
            </a:endParaRPr>
          </a:p>
        </p:txBody>
      </p:sp>
      <p:sp>
        <p:nvSpPr>
          <p:cNvPr id="18" name="위쪽 화살표[U] 17">
            <a:extLst>
              <a:ext uri="{FF2B5EF4-FFF2-40B4-BE49-F238E27FC236}">
                <a16:creationId xmlns:a16="http://schemas.microsoft.com/office/drawing/2014/main" id="{45E3C1A4-961C-FE06-84C4-123F730A75B0}"/>
              </a:ext>
            </a:extLst>
          </p:cNvPr>
          <p:cNvSpPr/>
          <p:nvPr/>
        </p:nvSpPr>
        <p:spPr>
          <a:xfrm>
            <a:off x="5193665" y="5097563"/>
            <a:ext cx="1527175" cy="846037"/>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13%</a:t>
            </a:r>
            <a:endParaRPr kumimoji="1" lang="ko-KR" alt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p>
        </p:txBody>
      </p:sp>
      <p:sp>
        <p:nvSpPr>
          <p:cNvPr id="12" name="TextBox 11"/>
          <p:cNvSpPr txBox="1"/>
          <p:nvPr/>
        </p:nvSpPr>
        <p:spPr>
          <a:xfrm>
            <a:off x="548640" y="3291840"/>
            <a:ext cx="5120640" cy="1754326"/>
          </a:xfrm>
          <a:prstGeom prst="rect">
            <a:avLst/>
          </a:prstGeom>
          <a:noFill/>
        </p:spPr>
        <p:txBody>
          <a:bodyPr wrap="square">
            <a:spAutoFit/>
          </a:bodyPr>
          <a:lstStyle/>
          <a:p>
            <a:r>
              <a:rPr lang="en-US" altLang="ko-KR" i="1" dirty="0"/>
              <a:t>"With no cash buffer, every new token issued requires buying T-bills. That constant T-bill demand compresses spreads strongly. And during redemptions, they have no cash — so they must sell T-bills too. </a:t>
            </a:r>
            <a:r>
              <a:rPr lang="en-US" altLang="ko-KR" b="1" i="1" dirty="0"/>
              <a:t>Their activity moves the market in both directions."</a:t>
            </a:r>
            <a:endParaRPr sz="1400" b="1" i="0" dirty="0">
              <a:solidFill>
                <a:srgbClr val="1A1A2E"/>
              </a:solidFill>
              <a:latin typeface="Calibri"/>
            </a:endParaRP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dirty="0">
                <a:solidFill>
                  <a:srgbClr val="1A7A4A"/>
                </a:solidFill>
                <a:latin typeface="Calibri"/>
              </a:rPr>
              <a:t>β  =  +1.26</a:t>
            </a:r>
          </a:p>
        </p:txBody>
      </p:sp>
      <p:sp>
        <p:nvSpPr>
          <p:cNvPr id="18" name="TextBox 17"/>
          <p:cNvSpPr txBox="1"/>
          <p:nvPr/>
        </p:nvSpPr>
        <p:spPr>
          <a:xfrm>
            <a:off x="6492240" y="3291840"/>
            <a:ext cx="5120640" cy="1200329"/>
          </a:xfrm>
          <a:prstGeom prst="rect">
            <a:avLst/>
          </a:prstGeom>
          <a:noFill/>
        </p:spPr>
        <p:txBody>
          <a:bodyPr wrap="square">
            <a:spAutoFit/>
          </a:bodyPr>
          <a:lstStyle/>
          <a:p>
            <a:r>
              <a:rPr lang="en-US" altLang="ko-KR" i="1" dirty="0"/>
              <a:t>"With enough cash on hand, new tokens are backed by existing reserves — no T-bill buying needed. During redemptions, cash absorbs the shock instead of T-bill selling. </a:t>
            </a:r>
            <a:r>
              <a:rPr lang="en-US" altLang="ko-KR" b="1" i="1" dirty="0"/>
              <a:t>The T-bill market is undisturbed."</a:t>
            </a:r>
            <a:endParaRPr sz="1400" b="1" i="0" dirty="0">
              <a:solidFill>
                <a:srgbClr val="1A1A2E"/>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p>
        </p:txBody>
      </p:sp>
      <p:sp>
        <p:nvSpPr>
          <p:cNvPr id="21" name="TextBox 20">
            <a:extLst>
              <a:ext uri="{FF2B5EF4-FFF2-40B4-BE49-F238E27FC236}">
                <a16:creationId xmlns:a16="http://schemas.microsoft.com/office/drawing/2014/main" id="{180EEF62-E56B-3F8C-ABDE-9DA3B7CA076E}"/>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F843276-D42E-0C7D-C4D7-4C8A673006EF}"/>
              </a:ext>
            </a:extLst>
          </p:cNvPr>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C1ECF740-C59E-A8F2-B17F-970603888CB7}"/>
              </a:ext>
            </a:extLst>
          </p:cNvPr>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5" name="TextBox 4">
            <a:extLst>
              <a:ext uri="{FF2B5EF4-FFF2-40B4-BE49-F238E27FC236}">
                <a16:creationId xmlns:a16="http://schemas.microsoft.com/office/drawing/2014/main" id="{5B1CC960-09A8-8203-717D-8C49489AC588}"/>
              </a:ext>
            </a:extLst>
          </p:cNvPr>
          <p:cNvSpPr txBox="1"/>
          <p:nvPr/>
        </p:nvSpPr>
        <p:spPr>
          <a:xfrm>
            <a:off x="11686032" y="6473952"/>
            <a:ext cx="411480" cy="292388"/>
          </a:xfrm>
          <a:prstGeom prst="rect">
            <a:avLst/>
          </a:prstGeom>
          <a:noFill/>
        </p:spPr>
        <p:txBody>
          <a:bodyPr wrap="square">
            <a:spAutoFit/>
          </a:bodyPr>
          <a:lstStyle/>
          <a:p>
            <a:pPr algn="r"/>
            <a:r>
              <a:rPr sz="1300" b="0" i="0" dirty="0">
                <a:solidFill>
                  <a:srgbClr val="555566"/>
                </a:solidFill>
                <a:latin typeface="Calibri"/>
              </a:rPr>
              <a:t>1</a:t>
            </a:r>
            <a:r>
              <a:rPr lang="en-US" sz="1300" b="0" i="0" dirty="0">
                <a:solidFill>
                  <a:srgbClr val="555566"/>
                </a:solidFill>
                <a:latin typeface="Calibri"/>
              </a:rPr>
              <a:t>3</a:t>
            </a:r>
            <a:endParaRPr sz="1300" b="0" i="0" dirty="0">
              <a:solidFill>
                <a:srgbClr val="555566"/>
              </a:solidFill>
              <a:latin typeface="Calibri"/>
            </a:endParaRPr>
          </a:p>
        </p:txBody>
      </p:sp>
      <p:sp>
        <p:nvSpPr>
          <p:cNvPr id="15" name="TextBox 14">
            <a:extLst>
              <a:ext uri="{FF2B5EF4-FFF2-40B4-BE49-F238E27FC236}">
                <a16:creationId xmlns:a16="http://schemas.microsoft.com/office/drawing/2014/main" id="{91A39CEE-FED1-8B0D-9155-343F894C605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
        <p:nvSpPr>
          <p:cNvPr id="18" name="TextBox 17">
            <a:extLst>
              <a:ext uri="{FF2B5EF4-FFF2-40B4-BE49-F238E27FC236}">
                <a16:creationId xmlns:a16="http://schemas.microsoft.com/office/drawing/2014/main" id="{B7308D40-C675-A0E3-4725-268F3424017E}"/>
              </a:ext>
            </a:extLst>
          </p:cNvPr>
          <p:cNvSpPr txBox="1"/>
          <p:nvPr/>
        </p:nvSpPr>
        <p:spPr>
          <a:xfrm>
            <a:off x="441159" y="1312039"/>
            <a:ext cx="5653253" cy="2308324"/>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Moving from monthly trends to daily "quasi-experimental" causal identification.</a:t>
            </a:r>
          </a:p>
          <a:p>
            <a:pPr marL="742950" lvl="1" indent="-285750" algn="l">
              <a:buFont typeface="Arial" panose="020B06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p>
          <a:p>
            <a:pPr marL="742950" lvl="1" indent="-285750" algn="l">
              <a:buFont typeface="Arial" panose="020B06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p>
        </p:txBody>
      </p:sp>
      <p:sp>
        <p:nvSpPr>
          <p:cNvPr id="20" name="TextBox 19">
            <a:extLst>
              <a:ext uri="{FF2B5EF4-FFF2-40B4-BE49-F238E27FC236}">
                <a16:creationId xmlns:a16="http://schemas.microsoft.com/office/drawing/2014/main" id="{A3A00608-6034-986A-1015-91DD4C96A527}"/>
              </a:ext>
            </a:extLst>
          </p:cNvPr>
          <p:cNvSpPr txBox="1"/>
          <p:nvPr/>
        </p:nvSpPr>
        <p:spPr>
          <a:xfrm>
            <a:off x="274320" y="4060308"/>
            <a:ext cx="6144126" cy="1754326"/>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p>
          <a:p>
            <a:pPr marL="742950" lvl="1" indent="-285750" algn="l">
              <a:buFont typeface="Arial" panose="020B06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p>
        </p:txBody>
      </p:sp>
      <p:sp>
        <p:nvSpPr>
          <p:cNvPr id="22" name="TextBox 21">
            <a:extLst>
              <a:ext uri="{FF2B5EF4-FFF2-40B4-BE49-F238E27FC236}">
                <a16:creationId xmlns:a16="http://schemas.microsoft.com/office/drawing/2014/main" id="{0B48A6D4-B989-83E3-B8E6-6F7D1FD5676B}"/>
              </a:ext>
            </a:extLst>
          </p:cNvPr>
          <p:cNvSpPr txBox="1"/>
          <p:nvPr/>
        </p:nvSpPr>
        <p:spPr>
          <a:xfrm>
            <a:off x="6094412" y="1308625"/>
            <a:ext cx="6144126" cy="2031325"/>
          </a:xfrm>
          <a:prstGeom prst="rect">
            <a:avLst/>
          </a:prstGeom>
          <a:noFill/>
        </p:spPr>
        <p:txBody>
          <a:bodyPr wrap="square">
            <a:spAutoFit/>
          </a:bodyPr>
          <a:lstStyle/>
          <a:p>
            <a:pPr>
              <a:buFont typeface="Arial" panose="020B0604020202020204" pitchFamily="34" charset="0"/>
              <a:buChar char="•"/>
            </a:pPr>
            <a:r>
              <a:rPr lang="en-US" altLang="ko-KR" b="1" dirty="0"/>
              <a:t>Policy Recommendation: The "13% Liquid Reserve Rule”</a:t>
            </a:r>
          </a:p>
          <a:p>
            <a:pPr lvl="1">
              <a:buFont typeface="Arial" panose="020B0604020202020204" pitchFamily="34" charset="0"/>
              <a:buChar char="•"/>
            </a:pPr>
            <a:r>
              <a:rPr lang="en-US" altLang="ko-KR" dirty="0">
                <a:effectLst/>
              </a:rPr>
              <a:t>Translating the threshold regression into a concrete regulatory requirement.</a:t>
            </a:r>
          </a:p>
          <a:p>
            <a:pPr lvl="1">
              <a:buFont typeface="Arial" panose="020B06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a:extLst>
              <a:ext uri="{FF2B5EF4-FFF2-40B4-BE49-F238E27FC236}">
                <a16:creationId xmlns:a16="http://schemas.microsoft.com/office/drawing/2014/main" id="{4457C1DF-2FBF-998A-F63A-67586932F9FA}"/>
              </a:ext>
            </a:extLst>
          </p:cNvPr>
          <p:cNvSpPr txBox="1"/>
          <p:nvPr/>
        </p:nvSpPr>
        <p:spPr>
          <a:xfrm>
            <a:off x="6208294" y="4174503"/>
            <a:ext cx="6192252" cy="923330"/>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p>
        </p:txBody>
      </p:sp>
    </p:spTree>
    <p:extLst>
      <p:ext uri="{BB962C8B-B14F-4D97-AF65-F5344CB8AC3E}">
        <p14:creationId xmlns:p14="http://schemas.microsoft.com/office/powerpoint/2010/main" val="4271329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BFB7E374-D243-23C6-B67C-3CAF574932FD}"/>
            </a:ext>
          </a:extLst>
        </p:cNvPr>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CA9BBA08-064C-BA6F-302C-D6CFFC5FA398}"/>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A6476964-D562-D15F-1E0D-F212F4CEF6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962CE00F-DCA5-846E-81CE-D52C1B8523F5}"/>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7DA3265-719E-3F00-D94A-3D163CF28C1E}"/>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2226890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160</TotalTime>
  <Words>3867</Words>
  <Application>Microsoft Macintosh PowerPoint</Application>
  <PresentationFormat>사용자 지정</PresentationFormat>
  <Paragraphs>292</Paragraphs>
  <Slides>14</Slides>
  <Notes>14</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14</vt:i4>
      </vt:variant>
    </vt:vector>
  </HeadingPairs>
  <TitlesOfParts>
    <vt:vector size="21" baseType="lpstr">
      <vt:lpstr>맑은 고딕</vt:lpstr>
      <vt:lpstr>Google Sans Text</vt:lpstr>
      <vt:lpstr>Hiragino Kaku Gothic Std W8</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7</cp:revision>
  <dcterms:created xsi:type="dcterms:W3CDTF">2013-01-27T09:14:16Z</dcterms:created>
  <dcterms:modified xsi:type="dcterms:W3CDTF">2026-05-11T05:56:21Z</dcterms:modified>
  <cp:category/>
</cp:coreProperties>
</file>