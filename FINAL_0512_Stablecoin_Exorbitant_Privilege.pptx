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
  </p:notesMasterIdLst>
  <p:sldIdLst>
    <p:sldId id="271" r:id="rId2"/>
    <p:sldId id="257" r:id="rId3"/>
    <p:sldId id="258" r:id="rId4"/>
    <p:sldId id="259" r:id="rId5"/>
    <p:sldId id="260" r:id="rId6"/>
    <p:sldId id="261" r:id="rId7"/>
    <p:sldId id="262" r:id="rId8"/>
    <p:sldId id="263" r:id="rId9"/>
    <p:sldId id="264" r:id="rId10"/>
    <p:sldId id="265" r:id="rId11"/>
    <p:sldId id="266" r:id="rId12"/>
    <p:sldId id="267" r:id="rId13"/>
    <p:sldId id="273" r:id="rId14"/>
    <p:sldId id="272" r:id="rId15"/>
  </p:sldIdLst>
  <p:sldSz cx="12188825"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8532"/>
    <p:restoredTop sz="67987"/>
  </p:normalViewPr>
  <p:slideViewPr>
    <p:cSldViewPr snapToGrid="0" snapToObjects="1">
      <p:cViewPr varScale="1">
        <p:scale>
          <a:sx n="81" d="100"/>
          <a:sy n="81" d="100"/>
        </p:scale>
        <p:origin x="1584" y="19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3EC6BE1-A4B7-974B-915D-03C1CF773469}" type="datetimeFigureOut">
              <a:rPr kumimoji="1" lang="ko-KR" altLang="en-US" smtClean="0"/>
              <a:t>2026. 5. 10.</a:t>
            </a:fld>
            <a:endParaRPr kumimoji="1" lang="ko-KR" altLang="en-US"/>
          </a:p>
        </p:txBody>
      </p:sp>
      <p:sp>
        <p:nvSpPr>
          <p:cNvPr id="4" name="슬라이드 이미지 개체 틀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ko-KR" altLang="en-US"/>
              <a:t>마스터 텍스트 스타일을 편집하려면 클릭</a:t>
            </a:r>
          </a:p>
          <a:p>
            <a:pPr lvl="1"/>
            <a:r>
              <a:rPr kumimoji="1" lang="ko-KR" altLang="en-US"/>
              <a:t>두 번째 수준</a:t>
            </a:r>
          </a:p>
          <a:p>
            <a:pPr lvl="2"/>
            <a:r>
              <a:rPr kumimoji="1" lang="ko-KR" altLang="en-US"/>
              <a:t>세 번째 수준</a:t>
            </a:r>
          </a:p>
          <a:p>
            <a:pPr lvl="3"/>
            <a:r>
              <a:rPr kumimoji="1" lang="ko-KR" altLang="en-US"/>
              <a:t>네 번째 수준</a:t>
            </a:r>
          </a:p>
          <a:p>
            <a:pPr lvl="4"/>
            <a:r>
              <a:rPr kumimoji="1" lang="ko-KR" altLang="en-US"/>
              <a:t>다섯 번째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AF3784E-D73A-6545-9F12-21649F82E67D}" type="slidenum">
              <a:rPr kumimoji="1" lang="ko-KR" altLang="en-US" smtClean="0"/>
              <a:t>‹#›</a:t>
            </a:fld>
            <a:endParaRPr kumimoji="1" lang="ko-KR" altLang="en-US"/>
          </a:p>
        </p:txBody>
      </p:sp>
    </p:spTree>
    <p:extLst>
      <p:ext uri="{BB962C8B-B14F-4D97-AF65-F5344CB8AC3E}">
        <p14:creationId xmlns:p14="http://schemas.microsoft.com/office/powerpoint/2010/main" val="31462332"/>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sz="1200" b="0" i="0" kern="1200" dirty="0">
                <a:solidFill>
                  <a:schemeClr val="tx1"/>
                </a:solidFill>
                <a:effectLst/>
                <a:latin typeface="+mn-lt"/>
                <a:ea typeface="+mn-ea"/>
                <a:cs typeface="+mn-cs"/>
              </a:rPr>
              <a:t>"Good afternoon everyone. Our paper is titled </a:t>
            </a:r>
            <a:r>
              <a:rPr lang="en-US" altLang="ko-KR" sz="1200" b="0" i="1" kern="1200" dirty="0">
                <a:solidFill>
                  <a:schemeClr val="tx1"/>
                </a:solidFill>
                <a:effectLst/>
                <a:latin typeface="+mn-lt"/>
                <a:ea typeface="+mn-ea"/>
                <a:cs typeface="+mn-cs"/>
              </a:rPr>
              <a:t>Stablecoins and the Exorbitant Privilege: A New Channel for Safe-Asset Demand and Its Systemic Fragility.</a:t>
            </a:r>
            <a:r>
              <a:rPr lang="en-US" altLang="ko-KR" sz="1200" b="0" i="0" kern="1200" dirty="0">
                <a:solidFill>
                  <a:schemeClr val="tx1"/>
                </a:solidFill>
                <a:effectLst/>
                <a:latin typeface="+mn-lt"/>
                <a:ea typeface="+mn-ea"/>
                <a:cs typeface="+mn-cs"/>
              </a:rPr>
              <a:t> We're Mireu Kim, Sara Chekroune, and Oybek Ibragimov from Yonsei GSIS. Today we'll be presenting the first half of our findings."</a:t>
            </a:r>
            <a:endParaRPr kumimoji="1" lang="ko-KR" altLang="en-US" dirty="0"/>
          </a:p>
        </p:txBody>
      </p:sp>
      <p:sp>
        <p:nvSpPr>
          <p:cNvPr id="4" name="슬라이드 번호 개체 틀 3"/>
          <p:cNvSpPr>
            <a:spLocks noGrp="1"/>
          </p:cNvSpPr>
          <p:nvPr>
            <p:ph type="sldNum" sz="quarter" idx="5"/>
          </p:nvPr>
        </p:nvSpPr>
        <p:spPr/>
        <p:txBody>
          <a:bodyPr/>
          <a:lstStyle/>
          <a:p>
            <a:fld id="{5D514313-3BDE-834F-BE4B-14A4F858B1F2}" type="slidenum">
              <a:rPr kumimoji="1" lang="ko-KR" altLang="en-US" smtClean="0"/>
              <a:t>1</a:t>
            </a:fld>
            <a:endParaRPr kumimoji="1" lang="ko-KR" altLang="en-US"/>
          </a:p>
        </p:txBody>
      </p:sp>
    </p:spTree>
    <p:extLst>
      <p:ext uri="{BB962C8B-B14F-4D97-AF65-F5344CB8AC3E}">
        <p14:creationId xmlns:p14="http://schemas.microsoft.com/office/powerpoint/2010/main" val="267364205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sz="1200" b="0" i="0" kern="1200" dirty="0">
                <a:solidFill>
                  <a:schemeClr val="tx1"/>
                </a:solidFill>
                <a:effectLst/>
                <a:latin typeface="+mn-lt"/>
                <a:ea typeface="+mn-ea"/>
                <a:cs typeface="+mn-cs"/>
              </a:rPr>
              <a:t>"Here's our roadmap for today. We'll start with motivation — why stablecoins matter for sovereign debt markets. Then we'll introduce our core argument, which we call the New Triffin Dilemma. From there we move to the theoretical model, our data, and then two empirical results: the privilege amplification regression and the reserve adequacy threshold. The third result — the buffer-conditioned event study — and our policy conclusions will come next week."</a:t>
            </a:r>
          </a:p>
          <a:p>
            <a:br>
              <a:rPr lang="en-US" altLang="ko-KR" dirty="0"/>
            </a:br>
            <a:endParaRPr kumimoji="1" lang="ko-KR" altLang="en-US" dirty="0"/>
          </a:p>
        </p:txBody>
      </p:sp>
      <p:sp>
        <p:nvSpPr>
          <p:cNvPr id="4" name="슬라이드 번호 개체 틀 3"/>
          <p:cNvSpPr>
            <a:spLocks noGrp="1"/>
          </p:cNvSpPr>
          <p:nvPr>
            <p:ph type="sldNum" sz="quarter" idx="5"/>
          </p:nvPr>
        </p:nvSpPr>
        <p:spPr/>
        <p:txBody>
          <a:bodyPr/>
          <a:lstStyle/>
          <a:p>
            <a:fld id="{8AF3784E-D73A-6545-9F12-21649F82E67D}" type="slidenum">
              <a:rPr kumimoji="1" lang="ko-KR" altLang="en-US" smtClean="0"/>
              <a:t>2</a:t>
            </a:fld>
            <a:endParaRPr kumimoji="1" lang="ko-KR" altLang="en-US"/>
          </a:p>
        </p:txBody>
      </p:sp>
    </p:spTree>
    <p:extLst>
      <p:ext uri="{BB962C8B-B14F-4D97-AF65-F5344CB8AC3E}">
        <p14:creationId xmlns:p14="http://schemas.microsoft.com/office/powerpoint/2010/main" val="357671523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sz="1200" b="0" i="0" kern="1200" dirty="0">
                <a:solidFill>
                  <a:schemeClr val="tx1"/>
                </a:solidFill>
                <a:effectLst/>
                <a:latin typeface="+mn-lt"/>
                <a:ea typeface="+mn-ea"/>
                <a:cs typeface="+mn-cs"/>
              </a:rPr>
              <a:t>"Why should a course on international finance care about stablecoins? The scale alone makes them impossible to ignore. The combined market cap of USD-pegged stablecoins has gone from under fifty billion in 2021 to over three hundred billion in 2026. Tether alone holds a hundred and twenty-seven billion dollars in U.S. Treasury bills — comparable to the foreign reserves of a mid-sized sovereign nation. Four major jurisdictions are right now writing legislation to regulate their reserve requirements. And projections put this ecosystem at one to two trillion dollars within the decade. These are not niche crypto instruments anymore — they are Treasury buyers operating at scale, and that has consequences for the U.S. safe-asset market."</a:t>
            </a:r>
          </a:p>
          <a:p>
            <a:br>
              <a:rPr lang="en-US" altLang="ko-KR" dirty="0"/>
            </a:br>
            <a:endParaRPr kumimoji="1" lang="ko-KR" altLang="en-US" dirty="0"/>
          </a:p>
        </p:txBody>
      </p:sp>
      <p:sp>
        <p:nvSpPr>
          <p:cNvPr id="4" name="슬라이드 번호 개체 틀 3"/>
          <p:cNvSpPr>
            <a:spLocks noGrp="1"/>
          </p:cNvSpPr>
          <p:nvPr>
            <p:ph type="sldNum" sz="quarter" idx="5"/>
          </p:nvPr>
        </p:nvSpPr>
        <p:spPr/>
        <p:txBody>
          <a:bodyPr/>
          <a:lstStyle/>
          <a:p>
            <a:fld id="{8AF3784E-D73A-6545-9F12-21649F82E67D}" type="slidenum">
              <a:rPr kumimoji="1" lang="ko-KR" altLang="en-US" smtClean="0"/>
              <a:t>3</a:t>
            </a:fld>
            <a:endParaRPr kumimoji="1" lang="ko-KR" altLang="en-US"/>
          </a:p>
        </p:txBody>
      </p:sp>
    </p:spTree>
    <p:extLst>
      <p:ext uri="{BB962C8B-B14F-4D97-AF65-F5344CB8AC3E}">
        <p14:creationId xmlns:p14="http://schemas.microsoft.com/office/powerpoint/2010/main" val="225432723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sz="1200" b="0" i="0" kern="1200" dirty="0">
                <a:solidFill>
                  <a:schemeClr val="tx1"/>
                </a:solidFill>
                <a:effectLst/>
                <a:latin typeface="+mn-lt"/>
                <a:ea typeface="+mn-ea"/>
                <a:cs typeface="+mn-cs"/>
              </a:rPr>
              <a:t>"Our core argument is built on an analogy to the original Triffin Dilemma from 1960. Triffin observed that the United States had to run deficits to supply the world with dollars — but those same deficits eventually undermined confidence in the dollar. We find the same structural tension in stablecoin issuers. In normal times, when stablecoins grow, issuers buy more T-bills to back their tokens. This deepens safe-asset demand and compresses Treasury spreads — amplifying the U.S. exorbitant privilege. But when a run occurs, those same T-bill holdings get liquidated to pay redemptions. Yields spike, and the privilege reverses. What separates these two outcomes is the quality of the reserve buffer. We decompose reserves into two components: theta, which measures T-bill exposure — the privilege channel — and L, the liquid cash buffer — the fragility channel. Our paper estimates the threshold L-star that separates safe from fragile."</a:t>
            </a:r>
            <a:endParaRPr kumimoji="1" lang="ko-KR" altLang="en-US" dirty="0"/>
          </a:p>
        </p:txBody>
      </p:sp>
      <p:sp>
        <p:nvSpPr>
          <p:cNvPr id="4" name="슬라이드 번호 개체 틀 3"/>
          <p:cNvSpPr>
            <a:spLocks noGrp="1"/>
          </p:cNvSpPr>
          <p:nvPr>
            <p:ph type="sldNum" sz="quarter" idx="5"/>
          </p:nvPr>
        </p:nvSpPr>
        <p:spPr/>
        <p:txBody>
          <a:bodyPr/>
          <a:lstStyle/>
          <a:p>
            <a:fld id="{8AF3784E-D73A-6545-9F12-21649F82E67D}" type="slidenum">
              <a:rPr kumimoji="1" lang="ko-KR" altLang="en-US" smtClean="0"/>
              <a:t>4</a:t>
            </a:fld>
            <a:endParaRPr kumimoji="1" lang="ko-KR" altLang="en-US"/>
          </a:p>
        </p:txBody>
      </p:sp>
    </p:spTree>
    <p:extLst>
      <p:ext uri="{BB962C8B-B14F-4D97-AF65-F5344CB8AC3E}">
        <p14:creationId xmlns:p14="http://schemas.microsoft.com/office/powerpoint/2010/main" val="357444613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sz="1200" b="0" i="0" kern="1200" dirty="0">
                <a:solidFill>
                  <a:schemeClr val="tx1"/>
                </a:solidFill>
                <a:effectLst/>
                <a:latin typeface="+mn-lt"/>
                <a:ea typeface="+mn-ea"/>
                <a:cs typeface="+mn-cs"/>
              </a:rPr>
              <a:t>"Our theoretical framework extends Maggiori's 2017 model of safe-asset demand. In the original model, demand is driven solely by the rest-of-world's marginal value of net worth — what Maggiori calls Omega-star. We add three new elements: stablecoin supply S, Treasury exposure theta, and liquid buffer L. The key innovation is that L enters asymmetrically. When L is above the threshold L-star, any redemptions can be absorbed using cash — no T-bills need to be sold, and the market is undisturbed. When L falls below L-star, the issuer is forced to sell T-bills to meet redemptions, and the spread spikes. This asymmetry generates testable predictions. Beta-one should be negative — supply growth compresses spreads. Beta-two should be positive — higher T-bill exposure amplifies demand. And beta-four should be positive — a higher liquid buffer dampens crisis transmission."</a:t>
            </a:r>
            <a:endParaRPr kumimoji="1" lang="ko-KR" altLang="en-US" dirty="0"/>
          </a:p>
        </p:txBody>
      </p:sp>
      <p:sp>
        <p:nvSpPr>
          <p:cNvPr id="4" name="슬라이드 번호 개체 틀 3"/>
          <p:cNvSpPr>
            <a:spLocks noGrp="1"/>
          </p:cNvSpPr>
          <p:nvPr>
            <p:ph type="sldNum" sz="quarter" idx="5"/>
          </p:nvPr>
        </p:nvSpPr>
        <p:spPr/>
        <p:txBody>
          <a:bodyPr/>
          <a:lstStyle/>
          <a:p>
            <a:fld id="{8AF3784E-D73A-6545-9F12-21649F82E67D}" type="slidenum">
              <a:rPr kumimoji="1" lang="ko-KR" altLang="en-US" smtClean="0"/>
              <a:t>5</a:t>
            </a:fld>
            <a:endParaRPr kumimoji="1" lang="ko-KR" altLang="en-US"/>
          </a:p>
        </p:txBody>
      </p:sp>
    </p:spTree>
    <p:extLst>
      <p:ext uri="{BB962C8B-B14F-4D97-AF65-F5344CB8AC3E}">
        <p14:creationId xmlns:p14="http://schemas.microsoft.com/office/powerpoint/2010/main" val="294466838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sz="1200" b="0" i="0" kern="1200" dirty="0">
                <a:solidFill>
                  <a:schemeClr val="tx1"/>
                </a:solidFill>
                <a:effectLst/>
                <a:latin typeface="+mn-lt"/>
                <a:ea typeface="+mn-ea"/>
                <a:cs typeface="+mn-cs"/>
              </a:rPr>
              <a:t>"Our dataset covers January 2022 through March 2026 — 51 monthly observations. The dependent variable is the OIS-Treasury spread, constructed as the 3-month T-bill rate minus the 90-day SOFR average, both from FRED. Stablecoin supply is the combined market cap of USDT and USDC from </a:t>
            </a:r>
            <a:r>
              <a:rPr lang="en-US" altLang="ko-KR" sz="1200" b="0" i="0" kern="1200" dirty="0" err="1">
                <a:solidFill>
                  <a:schemeClr val="tx1"/>
                </a:solidFill>
                <a:effectLst/>
                <a:latin typeface="+mn-lt"/>
                <a:ea typeface="+mn-ea"/>
                <a:cs typeface="+mn-cs"/>
              </a:rPr>
              <a:t>DeFiLlama</a:t>
            </a:r>
            <a:r>
              <a:rPr lang="en-US" altLang="ko-KR" sz="1200" b="0" i="0" kern="1200" dirty="0">
                <a:solidFill>
                  <a:schemeClr val="tx1"/>
                </a:solidFill>
                <a:effectLst/>
                <a:latin typeface="+mn-lt"/>
                <a:ea typeface="+mn-ea"/>
                <a:cs typeface="+mn-cs"/>
              </a:rPr>
              <a:t>. Our two key reserve variables — theta and L — come from quarterly and monthly reserve attestations published by Tether's auditor BDO and Circle's auditor Deloitte. We also include velocity, which captures the pace of redemptions, the VIX as a global risk control, and the log return on the ACWX ETF as a proxy for rest-of-world equity returns. The sample starts in January 2022 because reliable, disaggregated attestation data only becomes available from that point."</a:t>
            </a:r>
            <a:endParaRPr kumimoji="1" lang="ko-KR" altLang="en-US" dirty="0"/>
          </a:p>
        </p:txBody>
      </p:sp>
      <p:sp>
        <p:nvSpPr>
          <p:cNvPr id="4" name="슬라이드 번호 개체 틀 3"/>
          <p:cNvSpPr>
            <a:spLocks noGrp="1"/>
          </p:cNvSpPr>
          <p:nvPr>
            <p:ph type="sldNum" sz="quarter" idx="5"/>
          </p:nvPr>
        </p:nvSpPr>
        <p:spPr/>
        <p:txBody>
          <a:bodyPr/>
          <a:lstStyle/>
          <a:p>
            <a:fld id="{8AF3784E-D73A-6545-9F12-21649F82E67D}" type="slidenum">
              <a:rPr kumimoji="1" lang="ko-KR" altLang="en-US" smtClean="0"/>
              <a:t>6</a:t>
            </a:fld>
            <a:endParaRPr kumimoji="1" lang="ko-KR" altLang="en-US"/>
          </a:p>
        </p:txBody>
      </p:sp>
    </p:spTree>
    <p:extLst>
      <p:ext uri="{BB962C8B-B14F-4D97-AF65-F5344CB8AC3E}">
        <p14:creationId xmlns:p14="http://schemas.microsoft.com/office/powerpoint/2010/main" val="171735589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sz="1200" b="0" i="0" kern="1200" dirty="0">
                <a:solidFill>
                  <a:schemeClr val="tx1"/>
                </a:solidFill>
                <a:effectLst/>
                <a:latin typeface="+mn-lt"/>
                <a:ea typeface="+mn-ea"/>
                <a:cs typeface="+mn-cs"/>
              </a:rPr>
              <a:t>"Now let me walk you through what the data actually looks like. This chart has three panels covering January 2022 to March 2026. The top panel is our dependent variable — the spread between Treasury yields and overnight rates. You can see it compress as stablecoin supply grew, and spike sharply during two major crises in May 2022. The middle panel shows the combined supply of USDT and USDC — it grew from around a hundred billion to over two hundred billion over this period. The bottom panel is the variable that's central to our second result: the liquid cash buffer L. The red dashed line is the safety threshold we estimate — 13%. You can see that during the crisis period of 2022, the buffer was well below that line. The three red vertical lines mark the three stress events we study. Keep these patterns in mind — our regressions are quantifying exactly what you see here visually."</a:t>
            </a:r>
            <a:endParaRPr kumimoji="1" lang="ko-KR" altLang="en-US" dirty="0"/>
          </a:p>
        </p:txBody>
      </p:sp>
      <p:sp>
        <p:nvSpPr>
          <p:cNvPr id="4" name="슬라이드 번호 개체 틀 3"/>
          <p:cNvSpPr>
            <a:spLocks noGrp="1"/>
          </p:cNvSpPr>
          <p:nvPr>
            <p:ph type="sldNum" sz="quarter" idx="5"/>
          </p:nvPr>
        </p:nvSpPr>
        <p:spPr/>
        <p:txBody>
          <a:bodyPr/>
          <a:lstStyle/>
          <a:p>
            <a:fld id="{8AF3784E-D73A-6545-9F12-21649F82E67D}" type="slidenum">
              <a:rPr kumimoji="1" lang="ko-KR" altLang="en-US" smtClean="0"/>
              <a:t>7</a:t>
            </a:fld>
            <a:endParaRPr kumimoji="1" lang="ko-KR" altLang="en-US"/>
          </a:p>
        </p:txBody>
      </p:sp>
    </p:spTree>
    <p:extLst>
      <p:ext uri="{BB962C8B-B14F-4D97-AF65-F5344CB8AC3E}">
        <p14:creationId xmlns:p14="http://schemas.microsoft.com/office/powerpoint/2010/main" val="228003587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sz="1200" b="0" i="0" kern="1200" dirty="0">
                <a:solidFill>
                  <a:schemeClr val="tx1"/>
                </a:solidFill>
                <a:effectLst/>
                <a:latin typeface="+mn-lt"/>
                <a:ea typeface="+mn-ea"/>
                <a:cs typeface="+mn-cs"/>
              </a:rPr>
              <a:t>"Before we get to the numbers, let me translate what we just saw into plain terms — because the story is actually quite intuitive. First: more supply means lower spreads. As Tether and Circle grew, they bought more T-bills to back their tokens. More T-bill buying pushes Treasury yields down relative to overnight rates — that's the spread compressing. Second: when a crisis hits, spreads spike. During the LUNA collapse in May 2022, issuers were forced to sell T-bills to pay back redemptions. That sudden selling pushed yields up — the privilege reversed. Third: the buffer was dangerously thin exactly when it mattered most. In 2022, liquid cash reserves were near zero. Issuers had no cushion. They had to sell assets into a falling market. These three patterns together are what our regressions test."</a:t>
            </a:r>
          </a:p>
          <a:p>
            <a:br>
              <a:rPr lang="en-US" altLang="ko-KR" dirty="0"/>
            </a:br>
            <a:endParaRPr kumimoji="1" lang="ko-KR" altLang="en-US" dirty="0"/>
          </a:p>
        </p:txBody>
      </p:sp>
      <p:sp>
        <p:nvSpPr>
          <p:cNvPr id="4" name="슬라이드 번호 개체 틀 3"/>
          <p:cNvSpPr>
            <a:spLocks noGrp="1"/>
          </p:cNvSpPr>
          <p:nvPr>
            <p:ph type="sldNum" sz="quarter" idx="5"/>
          </p:nvPr>
        </p:nvSpPr>
        <p:spPr/>
        <p:txBody>
          <a:bodyPr/>
          <a:lstStyle/>
          <a:p>
            <a:fld id="{8AF3784E-D73A-6545-9F12-21649F82E67D}" type="slidenum">
              <a:rPr kumimoji="1" lang="ko-KR" altLang="en-US" smtClean="0"/>
              <a:t>8</a:t>
            </a:fld>
            <a:endParaRPr kumimoji="1" lang="ko-KR" altLang="en-US"/>
          </a:p>
        </p:txBody>
      </p:sp>
    </p:spTree>
    <p:extLst>
      <p:ext uri="{BB962C8B-B14F-4D97-AF65-F5344CB8AC3E}">
        <p14:creationId xmlns:p14="http://schemas.microsoft.com/office/powerpoint/2010/main" val="306752941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sz="1200" b="0" i="0" kern="1200" dirty="0">
                <a:solidFill>
                  <a:schemeClr val="tx1"/>
                </a:solidFill>
                <a:effectLst/>
                <a:latin typeface="+mn-lt"/>
                <a:ea typeface="+mn-ea"/>
                <a:cs typeface="+mn-cs"/>
              </a:rPr>
              <a:t>"Our first result confirms Hypothesis 1. The coefficient on stablecoin supply growth — beta-one — is negative 6.02, and it is statistically significant at the 5% level. The double star here means there is less than a 5% chance this result is due to random noise. In practical terms: every 1% growth in stablecoin supply compresses the Treasury spread by about 6 basis points. When you consider that the typical monthly move in this spread is only 10 to 15 basis points, that's a meaningful effect. The model explains 50% of the variation in the spread — which is strong for a monthly macro regression. Looking at the table, you'll notice that the buffer variables — theta, L, and the interaction term — are not individually significant at this sample size of 51 months. We address that directly on the next slide."</a:t>
            </a:r>
          </a:p>
          <a:p>
            <a:br>
              <a:rPr lang="en-US" altLang="ko-KR" dirty="0"/>
            </a:br>
            <a:endParaRPr kumimoji="1" lang="ko-KR" altLang="en-US" dirty="0"/>
          </a:p>
        </p:txBody>
      </p:sp>
      <p:sp>
        <p:nvSpPr>
          <p:cNvPr id="4" name="슬라이드 번호 개체 틀 3"/>
          <p:cNvSpPr>
            <a:spLocks noGrp="1"/>
          </p:cNvSpPr>
          <p:nvPr>
            <p:ph type="sldNum" sz="quarter" idx="5"/>
          </p:nvPr>
        </p:nvSpPr>
        <p:spPr/>
        <p:txBody>
          <a:bodyPr/>
          <a:lstStyle/>
          <a:p>
            <a:fld id="{8AF3784E-D73A-6545-9F12-21649F82E67D}" type="slidenum">
              <a:rPr kumimoji="1" lang="ko-KR" altLang="en-US" smtClean="0"/>
              <a:t>9</a:t>
            </a:fld>
            <a:endParaRPr kumimoji="1" lang="ko-KR" altLang="en-US"/>
          </a:p>
        </p:txBody>
      </p:sp>
    </p:spTree>
    <p:extLst>
      <p:ext uri="{BB962C8B-B14F-4D97-AF65-F5344CB8AC3E}">
        <p14:creationId xmlns:p14="http://schemas.microsoft.com/office/powerpoint/2010/main" val="168799285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sz="1200" b="0" i="0" kern="1200" dirty="0">
                <a:solidFill>
                  <a:schemeClr val="tx1"/>
                </a:solidFill>
                <a:effectLst/>
                <a:latin typeface="+mn-lt"/>
                <a:ea typeface="+mn-ea"/>
                <a:cs typeface="+mn-cs"/>
              </a:rPr>
              <a:t>"So why are the buffer variables not significant in the full sample? This is a data availability problem, not a theory problem. Reserve attestations only became comprehensive and frequent after 2023. Before that, the data is sparser and less detailed. When we restrict our sample to January 2023 through March 2026 — the 39 months where attestation coverage is best — a much clearer picture emerges. The supply effect strengthens to negative 8.14, now significant at the 1% level. And crucially, the liquid buffer interaction term — L times delta-ln-S — becomes positive 49.17, also significant at the 1% level with a p-value of 0.004. This tells us the buffer mechanism is real. Our full sample is just too short to reach significance yet. As this data series extends past 2026, we expect both channels to confirm at the full sample level."</a:t>
            </a:r>
            <a:endParaRPr kumimoji="1" lang="ko-KR" altLang="en-US" dirty="0"/>
          </a:p>
        </p:txBody>
      </p:sp>
      <p:sp>
        <p:nvSpPr>
          <p:cNvPr id="4" name="슬라이드 번호 개체 틀 3"/>
          <p:cNvSpPr>
            <a:spLocks noGrp="1"/>
          </p:cNvSpPr>
          <p:nvPr>
            <p:ph type="sldNum" sz="quarter" idx="5"/>
          </p:nvPr>
        </p:nvSpPr>
        <p:spPr/>
        <p:txBody>
          <a:bodyPr/>
          <a:lstStyle/>
          <a:p>
            <a:fld id="{8AF3784E-D73A-6545-9F12-21649F82E67D}" type="slidenum">
              <a:rPr kumimoji="1" lang="ko-KR" altLang="en-US" smtClean="0"/>
              <a:t>10</a:t>
            </a:fld>
            <a:endParaRPr kumimoji="1" lang="ko-KR" altLang="en-US"/>
          </a:p>
        </p:txBody>
      </p:sp>
    </p:spTree>
    <p:extLst>
      <p:ext uri="{BB962C8B-B14F-4D97-AF65-F5344CB8AC3E}">
        <p14:creationId xmlns:p14="http://schemas.microsoft.com/office/powerpoint/2010/main" val="359123010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sz="1200" b="0" i="0" kern="1200" dirty="0">
                <a:solidFill>
                  <a:schemeClr val="tx1"/>
                </a:solidFill>
                <a:effectLst/>
                <a:latin typeface="+mn-lt"/>
                <a:ea typeface="+mn-ea"/>
                <a:cs typeface="+mn-cs"/>
              </a:rPr>
              <a:t>"Our second result asks a more specific question: is there a particular level of liquid reserves below which an issuer becomes dangerous to the Treasury market? Using a technique called Hansen threshold regression — which searches statistically for a structural break in the data — we find a tipping point at 13% of supply. The chart on the left shows the model fit at every possible threshold value. The lowest point — where the model fits best — is at 13%. The right side states it simply: liquid cash reserves below 13% of outstanding supply is the fragility zone. Two honest notes. First, the bootstrap p-value is 0.26. This means the threshold is statistically suggestive rather than conclusive — which is expected given 51 months of data. Second, the direction is clear and consistent with our theory, and as the dataset grows past 2026, this will sharpen."</a:t>
            </a:r>
            <a:endParaRPr kumimoji="1" lang="ko-KR" altLang="en-US" dirty="0"/>
          </a:p>
        </p:txBody>
      </p:sp>
      <p:sp>
        <p:nvSpPr>
          <p:cNvPr id="4" name="슬라이드 번호 개체 틀 3"/>
          <p:cNvSpPr>
            <a:spLocks noGrp="1"/>
          </p:cNvSpPr>
          <p:nvPr>
            <p:ph type="sldNum" sz="quarter" idx="5"/>
          </p:nvPr>
        </p:nvSpPr>
        <p:spPr/>
        <p:txBody>
          <a:bodyPr/>
          <a:lstStyle/>
          <a:p>
            <a:fld id="{8AF3784E-D73A-6545-9F12-21649F82E67D}" type="slidenum">
              <a:rPr kumimoji="1" lang="ko-KR" altLang="en-US" smtClean="0"/>
              <a:t>11</a:t>
            </a:fld>
            <a:endParaRPr kumimoji="1" lang="ko-KR" altLang="en-US"/>
          </a:p>
        </p:txBody>
      </p:sp>
    </p:spTree>
    <p:extLst>
      <p:ext uri="{BB962C8B-B14F-4D97-AF65-F5344CB8AC3E}">
        <p14:creationId xmlns:p14="http://schemas.microsoft.com/office/powerpoint/2010/main" val="352666256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sz="1200" b="0" i="0" kern="1200" dirty="0">
                <a:solidFill>
                  <a:schemeClr val="tx1"/>
                </a:solidFill>
                <a:effectLst/>
                <a:latin typeface="+mn-lt"/>
                <a:ea typeface="+mn-ea"/>
                <a:cs typeface="+mn-cs"/>
              </a:rPr>
              <a:t>"The threshold result becomes most vivid when we split the data into two groups. On the left: the 38 months where the liquid buffer was below 13%. In those months, stablecoin supply growth had a coefficient of negative 6.97 — a strong compression effect. Issuers didn't have enough cash, so any growth in supply came with aggressive T-bill buying, and any redemptions came with forced T-bill selling. On the right: the 13 months where the liquid buffer was above 13%. The coefficient is positive 1.26 — the compression effect essentially disappears. Issuers with enough cash on hand didn't need to rush into or out of T-bills. Their activity didn't move the market. The takeaway is simple: the liquid cash buffer is what separates a stablecoin issuer that </a:t>
            </a:r>
            <a:r>
              <a:rPr lang="en-US" altLang="ko-KR" sz="1200" b="0" i="0" kern="1200" dirty="0" err="1">
                <a:solidFill>
                  <a:schemeClr val="tx1"/>
                </a:solidFill>
                <a:effectLst/>
                <a:latin typeface="+mn-lt"/>
                <a:ea typeface="+mn-ea"/>
                <a:cs typeface="+mn-cs"/>
              </a:rPr>
              <a:t>stabilises</a:t>
            </a:r>
            <a:r>
              <a:rPr lang="en-US" altLang="ko-KR" sz="1200" b="0" i="0" kern="1200" dirty="0">
                <a:solidFill>
                  <a:schemeClr val="tx1"/>
                </a:solidFill>
                <a:effectLst/>
                <a:latin typeface="+mn-lt"/>
                <a:ea typeface="+mn-ea"/>
                <a:cs typeface="+mn-cs"/>
              </a:rPr>
              <a:t> Treasury markets from one that disrupts them. That is the core empirical finding of our paper, and it has a direct implication for how regulators should write reserve requirements."</a:t>
            </a:r>
          </a:p>
          <a:p>
            <a:br>
              <a:rPr lang="en-US" altLang="ko-KR" dirty="0"/>
            </a:br>
            <a:endParaRPr kumimoji="1" lang="ko-KR" altLang="en-US" dirty="0"/>
          </a:p>
        </p:txBody>
      </p:sp>
      <p:sp>
        <p:nvSpPr>
          <p:cNvPr id="4" name="슬라이드 번호 개체 틀 3"/>
          <p:cNvSpPr>
            <a:spLocks noGrp="1"/>
          </p:cNvSpPr>
          <p:nvPr>
            <p:ph type="sldNum" sz="quarter" idx="5"/>
          </p:nvPr>
        </p:nvSpPr>
        <p:spPr/>
        <p:txBody>
          <a:bodyPr/>
          <a:lstStyle/>
          <a:p>
            <a:fld id="{8AF3784E-D73A-6545-9F12-21649F82E67D}" type="slidenum">
              <a:rPr kumimoji="1" lang="ko-KR" altLang="en-US" smtClean="0"/>
              <a:t>12</a:t>
            </a:fld>
            <a:endParaRPr kumimoji="1" lang="ko-KR" altLang="en-US"/>
          </a:p>
        </p:txBody>
      </p:sp>
    </p:spTree>
    <p:extLst>
      <p:ext uri="{BB962C8B-B14F-4D97-AF65-F5344CB8AC3E}">
        <p14:creationId xmlns:p14="http://schemas.microsoft.com/office/powerpoint/2010/main" val="311838560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dirty="0"/>
              <a:t>"To wrap up our first half: we’ve shown that in normal times, stablecoins act as a massive support pillar for the U.S. dollar, effectively lowering borrowing costs for the government. But next week, we’re going to look at the </a:t>
            </a:r>
            <a:r>
              <a:rPr lang="en-US" altLang="ko-KR" b="1" dirty="0"/>
              <a:t>'danger zone.'</a:t>
            </a:r>
            <a:endParaRPr lang="en-US" altLang="ko-KR" dirty="0"/>
          </a:p>
          <a:p>
            <a:r>
              <a:rPr lang="en-US" altLang="ko-KR" dirty="0"/>
              <a:t>We will present our </a:t>
            </a:r>
            <a:r>
              <a:rPr lang="en-US" altLang="ko-KR" b="1" dirty="0"/>
              <a:t>Event Study</a:t>
            </a:r>
            <a:r>
              <a:rPr lang="en-US" altLang="ko-KR" dirty="0"/>
              <a:t>, which functions like a financial 'crash test.' We looked at daily data from real-world disasters like the LUNA collapse and the Silicon Valley Bank crisis to see how the markets reacted in real-time. What we found is fascinating: when a stablecoin issuer has a </a:t>
            </a:r>
            <a:r>
              <a:rPr lang="en-US" altLang="ko-KR" b="1" dirty="0"/>
              <a:t>low cash buffer</a:t>
            </a:r>
            <a:r>
              <a:rPr lang="en-US" altLang="ko-KR" dirty="0"/>
              <a:t>, a run on the coin causes a shock that actually </a:t>
            </a:r>
            <a:r>
              <a:rPr lang="en-US" altLang="ko-KR" b="1" dirty="0"/>
              <a:t>drives up U.S. Treasury yields</a:t>
            </a:r>
            <a:r>
              <a:rPr lang="en-US" altLang="ko-KR" dirty="0"/>
              <a:t>—validating the 'New Triffin Dilemma'. However, when the buffer is high, we see the opposite: a 'flight-to-safety' that actually stabilizes the market.</a:t>
            </a:r>
          </a:p>
          <a:p>
            <a:r>
              <a:rPr lang="en-US" altLang="ko-KR" dirty="0"/>
              <a:t>We will also share our </a:t>
            </a:r>
            <a:r>
              <a:rPr lang="en-US" altLang="ko-KR" b="1" dirty="0"/>
              <a:t>'13% Rule.'</a:t>
            </a:r>
            <a:r>
              <a:rPr lang="en-US" altLang="ko-KR" dirty="0"/>
              <a:t> Based on our mathematical threshold, we’ve identified a specific number that regulators can use. We’ll explain why requiring stablecoin issuers to keep at least 13% of their reserves in pure cash—not just T-bills—is the key to making sure a crypto crisis never turns into a U.S. government debt crisis.</a:t>
            </a:r>
          </a:p>
          <a:p>
            <a:r>
              <a:rPr lang="en-US" altLang="ko-KR" dirty="0"/>
              <a:t>See you next week for the causal proof and the policy solutions!"</a:t>
            </a:r>
          </a:p>
          <a:p>
            <a:endParaRPr kumimoji="1" lang="ko-KR" altLang="en-US" dirty="0"/>
          </a:p>
        </p:txBody>
      </p:sp>
      <p:sp>
        <p:nvSpPr>
          <p:cNvPr id="4" name="슬라이드 번호 개체 틀 3"/>
          <p:cNvSpPr>
            <a:spLocks noGrp="1"/>
          </p:cNvSpPr>
          <p:nvPr>
            <p:ph type="sldNum" sz="quarter" idx="5"/>
          </p:nvPr>
        </p:nvSpPr>
        <p:spPr/>
        <p:txBody>
          <a:bodyPr/>
          <a:lstStyle/>
          <a:p>
            <a:fld id="{8AF3784E-D73A-6545-9F12-21649F82E67D}" type="slidenum">
              <a:rPr kumimoji="1" lang="ko-KR" altLang="en-US" smtClean="0"/>
              <a:t>13</a:t>
            </a:fld>
            <a:endParaRPr kumimoji="1" lang="ko-KR" altLang="en-US"/>
          </a:p>
        </p:txBody>
      </p:sp>
    </p:spTree>
    <p:extLst>
      <p:ext uri="{BB962C8B-B14F-4D97-AF65-F5344CB8AC3E}">
        <p14:creationId xmlns:p14="http://schemas.microsoft.com/office/powerpoint/2010/main" val="68853561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dirty="0"/>
              <a:t>"Thank you. We're happy to take any questions on the theory, the data construction, the Hansen threshold methodology, or the event study design."</a:t>
            </a:r>
            <a:endParaRPr kumimoji="1" lang="ko-KR" altLang="en-US" dirty="0"/>
          </a:p>
        </p:txBody>
      </p:sp>
      <p:sp>
        <p:nvSpPr>
          <p:cNvPr id="4" name="슬라이드 번호 개체 틀 3"/>
          <p:cNvSpPr>
            <a:spLocks noGrp="1"/>
          </p:cNvSpPr>
          <p:nvPr>
            <p:ph type="sldNum" sz="quarter" idx="5"/>
          </p:nvPr>
        </p:nvSpPr>
        <p:spPr/>
        <p:txBody>
          <a:bodyPr/>
          <a:lstStyle/>
          <a:p>
            <a:fld id="{5D514313-3BDE-834F-BE4B-14A4F858B1F2}" type="slidenum">
              <a:rPr kumimoji="1" lang="ko-KR" altLang="en-US" smtClean="0"/>
              <a:t>14</a:t>
            </a:fld>
            <a:endParaRPr kumimoji="1" lang="ko-KR" altLang="en-US"/>
          </a:p>
        </p:txBody>
      </p:sp>
    </p:spTree>
    <p:extLst>
      <p:ext uri="{BB962C8B-B14F-4D97-AF65-F5344CB8AC3E}">
        <p14:creationId xmlns:p14="http://schemas.microsoft.com/office/powerpoint/2010/main" val="122222179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5/10/26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5/10/26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5/10/26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5/10/26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5/10/26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5/10/26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5/10/26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5/10/26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5/10/26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5/10/26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5/10/26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5/10/26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2.png"/><Relationship Id="rId4" Type="http://schemas.microsoft.com/office/2007/relationships/hdphoto" Target="../media/hdphoto1.wdp"/></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4.xml"/><Relationship Id="rId1" Type="http://schemas.openxmlformats.org/officeDocument/2006/relationships/slideLayout" Target="../slideLayouts/slideLayout1.xml"/><Relationship Id="rId5" Type="http://schemas.openxmlformats.org/officeDocument/2006/relationships/image" Target="../media/image2.png"/><Relationship Id="rId4" Type="http://schemas.microsoft.com/office/2007/relationships/hdphoto" Target="../media/hdphoto1.wdp"/></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02060"/>
        </a:solidFill>
        <a:effectLst/>
      </p:bgPr>
    </p:bg>
    <p:spTree>
      <p:nvGrpSpPr>
        <p:cNvPr id="1" name=""/>
        <p:cNvGrpSpPr/>
        <p:nvPr/>
      </p:nvGrpSpPr>
      <p:grpSpPr>
        <a:xfrm>
          <a:off x="0" y="0"/>
          <a:ext cx="0" cy="0"/>
          <a:chOff x="0" y="0"/>
          <a:chExt cx="0" cy="0"/>
        </a:xfrm>
      </p:grpSpPr>
      <p:pic>
        <p:nvPicPr>
          <p:cNvPr id="5" name="그림 4" descr="원, 그래픽, 스크린샷, 그래픽 디자인이(가) 표시된 사진&#10;&#10;자동 생성된 설명">
            <a:extLst>
              <a:ext uri="{FF2B5EF4-FFF2-40B4-BE49-F238E27FC236}">
                <a16:creationId xmlns:a16="http://schemas.microsoft.com/office/drawing/2014/main" id="{D7EB7DC8-31D2-C2CA-A2F8-27FAC3902EA3}"/>
              </a:ext>
            </a:extLst>
          </p:cNvPr>
          <p:cNvPicPr>
            <a:picLocks noChangeAspect="1"/>
          </p:cNvPicPr>
          <p:nvPr/>
        </p:nvPicPr>
        <p:blipFill>
          <a:blip r:embed="rId3">
            <a:lum bright="70000" contrast="-70000"/>
            <a:extLst>
              <a:ext uri="{BEBA8EAE-BF5A-486C-A8C5-ECC9F3942E4B}">
                <a14:imgProps xmlns:a14="http://schemas.microsoft.com/office/drawing/2010/main">
                  <a14:imgLayer r:embed="rId4">
                    <a14:imgEffect>
                      <a14:artisticPhotocopy/>
                    </a14:imgEffect>
                  </a14:imgLayer>
                </a14:imgProps>
              </a:ext>
              <a:ext uri="{28A0092B-C50C-407E-A947-70E740481C1C}">
                <a14:useLocalDpi xmlns:a14="http://schemas.microsoft.com/office/drawing/2010/main" val="0"/>
              </a:ext>
            </a:extLst>
          </a:blip>
          <a:stretch>
            <a:fillRect/>
          </a:stretch>
        </p:blipFill>
        <p:spPr>
          <a:xfrm>
            <a:off x="0" y="890"/>
            <a:ext cx="4809898" cy="6856214"/>
          </a:xfrm>
          <a:prstGeom prst="rect">
            <a:avLst/>
          </a:prstGeom>
        </p:spPr>
      </p:pic>
      <p:pic>
        <p:nvPicPr>
          <p:cNvPr id="4" name="그림 3">
            <a:extLst>
              <a:ext uri="{FF2B5EF4-FFF2-40B4-BE49-F238E27FC236}">
                <a16:creationId xmlns:a16="http://schemas.microsoft.com/office/drawing/2014/main" id="{B49FCC2D-4CBD-DC60-6535-823D3BDCAEA0}"/>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40427" y="5009673"/>
            <a:ext cx="1554891" cy="1554891"/>
          </a:xfrm>
          <a:prstGeom prst="rect">
            <a:avLst/>
          </a:prstGeom>
        </p:spPr>
      </p:pic>
      <p:sp>
        <p:nvSpPr>
          <p:cNvPr id="6" name="직사각형 5">
            <a:extLst>
              <a:ext uri="{FF2B5EF4-FFF2-40B4-BE49-F238E27FC236}">
                <a16:creationId xmlns:a16="http://schemas.microsoft.com/office/drawing/2014/main" id="{EE463249-DD54-8009-485B-261B3F4275D0}"/>
              </a:ext>
            </a:extLst>
          </p:cNvPr>
          <p:cNvSpPr/>
          <p:nvPr/>
        </p:nvSpPr>
        <p:spPr>
          <a:xfrm>
            <a:off x="-1" y="1879560"/>
            <a:ext cx="12188826" cy="2576274"/>
          </a:xfrm>
          <a:prstGeom prst="rect">
            <a:avLst/>
          </a:prstGeom>
          <a:solidFill>
            <a:schemeClr val="tx1">
              <a:alpha val="5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14126" latinLnBrk="1">
              <a:defRPr/>
            </a:pPr>
            <a:r>
              <a:rPr lang="en-US" altLang="ko-KR" sz="2399" dirty="0">
                <a:solidFill>
                  <a:prstClr val="white"/>
                </a:solidFill>
                <a:latin typeface="Hiragino Kaku Gothic Std W8" panose="020B0800000000000000" pitchFamily="34" charset="-128"/>
                <a:ea typeface="Hiragino Kaku Gothic Std W8" panose="020B0800000000000000" pitchFamily="34" charset="-128"/>
              </a:rPr>
              <a:t>STABLECOINS AND THE EXORBITANT PRIVILEGE</a:t>
            </a:r>
          </a:p>
          <a:p>
            <a:pPr algn="ctr" defTabSz="914126" latinLnBrk="1">
              <a:defRPr/>
            </a:pPr>
            <a:endParaRPr lang="ko-KR" altLang="en-US" sz="2399" dirty="0">
              <a:solidFill>
                <a:prstClr val="white"/>
              </a:solidFill>
              <a:latin typeface="Hiragino Kaku Gothic Std W8" panose="020B0800000000000000" pitchFamily="34" charset="-128"/>
              <a:ea typeface="맑은 고딕" panose="020B0503020000020004" pitchFamily="50" charset="-127"/>
            </a:endParaRPr>
          </a:p>
        </p:txBody>
      </p:sp>
      <p:sp>
        <p:nvSpPr>
          <p:cNvPr id="11" name="TextBox 10">
            <a:extLst>
              <a:ext uri="{FF2B5EF4-FFF2-40B4-BE49-F238E27FC236}">
                <a16:creationId xmlns:a16="http://schemas.microsoft.com/office/drawing/2014/main" id="{B2924223-4822-8D82-13C7-9E1362F054E1}"/>
              </a:ext>
            </a:extLst>
          </p:cNvPr>
          <p:cNvSpPr txBox="1"/>
          <p:nvPr/>
        </p:nvSpPr>
        <p:spPr>
          <a:xfrm>
            <a:off x="7507054" y="5787118"/>
            <a:ext cx="4650632" cy="923073"/>
          </a:xfrm>
          <a:prstGeom prst="rect">
            <a:avLst/>
          </a:prstGeom>
          <a:noFill/>
        </p:spPr>
        <p:txBody>
          <a:bodyPr wrap="none" rtlCol="0">
            <a:spAutoFit/>
          </a:bodyPr>
          <a:lstStyle/>
          <a:p>
            <a:r>
              <a:rPr lang="en-US" altLang="ko-KR" sz="1799" b="1" dirty="0">
                <a:solidFill>
                  <a:schemeClr val="bg1"/>
                </a:solidFill>
              </a:rPr>
              <a:t>Yonsei GSIS 2026-1 </a:t>
            </a:r>
          </a:p>
          <a:p>
            <a:r>
              <a:rPr lang="en-US" altLang="ko-KR" sz="1799" b="1" dirty="0">
                <a:solidFill>
                  <a:schemeClr val="bg1"/>
                </a:solidFill>
              </a:rPr>
              <a:t>Topics in International Finance</a:t>
            </a:r>
            <a:endParaRPr lang="en-US" altLang="ko-KR" sz="1799" dirty="0">
              <a:solidFill>
                <a:schemeClr val="bg1"/>
              </a:solidFill>
            </a:endParaRPr>
          </a:p>
          <a:p>
            <a:r>
              <a:rPr lang="en-US" altLang="ko-KR" b="1" dirty="0">
                <a:solidFill>
                  <a:srgbClr val="FFFFFF"/>
                </a:solidFill>
              </a:rPr>
              <a:t>Mireu Kim · Sara Chekroune · Oybek Ibragimov</a:t>
            </a:r>
            <a:endParaRPr lang="en-US" altLang="ko-KR" sz="1799" b="1" dirty="0">
              <a:solidFill>
                <a:schemeClr val="bg1"/>
              </a:solidFill>
            </a:endParaRPr>
          </a:p>
        </p:txBody>
      </p:sp>
    </p:spTree>
    <p:extLst>
      <p:ext uri="{BB962C8B-B14F-4D97-AF65-F5344CB8AC3E}">
        <p14:creationId xmlns:p14="http://schemas.microsoft.com/office/powerpoint/2010/main" val="395462329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Roadmap</a:t>
            </a:r>
          </a:p>
        </p:txBody>
      </p:sp>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2</a:t>
            </a:r>
          </a:p>
        </p:txBody>
      </p:sp>
      <p:sp>
        <p:nvSpPr>
          <p:cNvPr id="6" name="TextBox 5"/>
          <p:cNvSpPr txBox="1"/>
          <p:nvPr/>
        </p:nvSpPr>
        <p:spPr>
          <a:xfrm>
            <a:off x="640080" y="1005840"/>
            <a:ext cx="11155680" cy="4396075"/>
          </a:xfrm>
          <a:prstGeom prst="rect">
            <a:avLst/>
          </a:prstGeom>
          <a:noFill/>
        </p:spPr>
        <p:txBody>
          <a:bodyPr wrap="square">
            <a:spAutoFit/>
          </a:bodyPr>
          <a:lstStyle/>
          <a:p>
            <a:pPr>
              <a:spcBef>
                <a:spcPts val="0"/>
              </a:spcBef>
            </a:pPr>
            <a:r>
              <a:rPr lang="en-US" dirty="0"/>
              <a:t>This week: </a:t>
            </a:r>
            <a:endParaRPr dirty="0"/>
          </a:p>
          <a:p>
            <a:pPr algn="l">
              <a:spcBef>
                <a:spcPts val="200"/>
              </a:spcBef>
            </a:pPr>
            <a:r>
              <a:rPr sz="2000" b="0" i="0" dirty="0">
                <a:solidFill>
                  <a:srgbClr val="1A1A2E"/>
                </a:solidFill>
                <a:latin typeface="Calibri"/>
              </a:rPr>
              <a:t>❖  Motivation — why stablecoins matter for sovereign debt</a:t>
            </a:r>
          </a:p>
          <a:p>
            <a:pPr algn="l">
              <a:spcBef>
                <a:spcPts val="800"/>
              </a:spcBef>
            </a:pPr>
            <a:r>
              <a:rPr sz="2000" b="0" i="0" dirty="0">
                <a:solidFill>
                  <a:srgbClr val="1A1A2E"/>
                </a:solidFill>
                <a:latin typeface="Calibri"/>
              </a:rPr>
              <a:t>❖  The New Triffin Dilemma — our core argument</a:t>
            </a:r>
          </a:p>
          <a:p>
            <a:pPr algn="l">
              <a:spcBef>
                <a:spcPts val="800"/>
              </a:spcBef>
            </a:pPr>
            <a:r>
              <a:rPr sz="2000" b="0" i="0" dirty="0">
                <a:solidFill>
                  <a:srgbClr val="1A1A2E"/>
                </a:solidFill>
                <a:latin typeface="Calibri"/>
              </a:rPr>
              <a:t>❖  Theoretical extension of Maggiori (2017)</a:t>
            </a:r>
          </a:p>
          <a:p>
            <a:pPr algn="l">
              <a:spcBef>
                <a:spcPts val="800"/>
              </a:spcBef>
            </a:pPr>
            <a:r>
              <a:rPr sz="2000" b="0" i="0" dirty="0">
                <a:solidFill>
                  <a:srgbClr val="1A1A2E"/>
                </a:solidFill>
                <a:latin typeface="Calibri"/>
              </a:rPr>
              <a:t>❖  Data &amp; Methodology</a:t>
            </a:r>
          </a:p>
          <a:p>
            <a:pPr algn="l">
              <a:spcBef>
                <a:spcPts val="800"/>
              </a:spcBef>
            </a:pPr>
            <a:r>
              <a:rPr sz="2000" b="0" i="0" dirty="0">
                <a:solidFill>
                  <a:srgbClr val="1A1A2E"/>
                </a:solidFill>
                <a:latin typeface="Calibri"/>
              </a:rPr>
              <a:t>❖  Result 1 — Privilege amplification regression</a:t>
            </a:r>
          </a:p>
          <a:p>
            <a:pPr algn="l">
              <a:spcBef>
                <a:spcPts val="800"/>
              </a:spcBef>
            </a:pPr>
            <a:r>
              <a:rPr sz="2000" b="0" i="0" dirty="0">
                <a:solidFill>
                  <a:srgbClr val="1A1A2E"/>
                </a:solidFill>
                <a:latin typeface="Calibri"/>
              </a:rPr>
              <a:t>❖  Result 2 — Reserve adequacy threshold (Hansen 2000)</a:t>
            </a:r>
            <a:endParaRPr lang="en-US" sz="2000" b="0" i="0" dirty="0">
              <a:solidFill>
                <a:srgbClr val="1A1A2E"/>
              </a:solidFill>
              <a:latin typeface="Calibri"/>
            </a:endParaRPr>
          </a:p>
          <a:p>
            <a:pPr algn="l">
              <a:spcBef>
                <a:spcPts val="800"/>
              </a:spcBef>
            </a:pPr>
            <a:endParaRPr lang="en-US" sz="2000" dirty="0">
              <a:solidFill>
                <a:srgbClr val="1A1A2E"/>
              </a:solidFill>
              <a:latin typeface="Calibri"/>
            </a:endParaRPr>
          </a:p>
          <a:p>
            <a:pPr algn="l">
              <a:spcBef>
                <a:spcPts val="800"/>
              </a:spcBef>
            </a:pPr>
            <a:r>
              <a:rPr lang="en-US" sz="2000" b="0" i="0" dirty="0">
                <a:solidFill>
                  <a:srgbClr val="1A1A2E"/>
                </a:solidFill>
                <a:latin typeface="Calibri"/>
              </a:rPr>
              <a:t>Next week: </a:t>
            </a:r>
            <a:endParaRPr sz="2000" b="0" i="0" dirty="0">
              <a:solidFill>
                <a:srgbClr val="1A1A2E"/>
              </a:solidFill>
              <a:latin typeface="Calibri"/>
            </a:endParaRPr>
          </a:p>
          <a:p>
            <a:pPr algn="l">
              <a:spcBef>
                <a:spcPts val="800"/>
              </a:spcBef>
            </a:pPr>
            <a:r>
              <a:rPr sz="2000" b="0" i="0" dirty="0">
                <a:solidFill>
                  <a:srgbClr val="1A1A2E"/>
                </a:solidFill>
                <a:latin typeface="Calibri"/>
              </a:rPr>
              <a:t>❖  Result 3 — Buffer-conditioned event study</a:t>
            </a:r>
          </a:p>
          <a:p>
            <a:pPr algn="l">
              <a:spcBef>
                <a:spcPts val="800"/>
              </a:spcBef>
            </a:pPr>
            <a:r>
              <a:rPr sz="2000" b="0" i="0" dirty="0">
                <a:solidFill>
                  <a:srgbClr val="1A1A2E"/>
                </a:solidFill>
                <a:latin typeface="Calibri"/>
              </a:rPr>
              <a:t>❖  Conclusion &amp; Policy implications</a:t>
            </a:r>
          </a:p>
        </p:txBody>
      </p:sp>
      <p:sp>
        <p:nvSpPr>
          <p:cNvPr id="7" name="TextBox 6">
            <a:extLst>
              <a:ext uri="{FF2B5EF4-FFF2-40B4-BE49-F238E27FC236}">
                <a16:creationId xmlns:a16="http://schemas.microsoft.com/office/drawing/2014/main" id="{5E7D6D2F-FD72-0289-8B38-930452CE7F54}"/>
              </a:ext>
            </a:extLst>
          </p:cNvPr>
          <p:cNvSpPr txBox="1"/>
          <p:nvPr/>
        </p:nvSpPr>
        <p:spPr>
          <a:xfrm>
            <a:off x="11288486" y="206829"/>
            <a:ext cx="718457" cy="369332"/>
          </a:xfrm>
          <a:prstGeom prst="rect">
            <a:avLst/>
          </a:prstGeom>
          <a:noFill/>
        </p:spPr>
        <p:txBody>
          <a:bodyPr wrap="square" rtlCol="0">
            <a:spAutoFit/>
          </a:bodyPr>
          <a:lstStyle/>
          <a:p>
            <a:r>
              <a:rPr kumimoji="1" lang="en-US" altLang="ko-KR" dirty="0">
                <a:solidFill>
                  <a:schemeClr val="bg1"/>
                </a:solidFill>
              </a:rPr>
              <a:t>Sara</a:t>
            </a:r>
            <a:endParaRPr kumimoji="1" lang="ko-KR" altLang="en-US" dirty="0">
              <a:solidFill>
                <a:schemeClr val="bg1"/>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Motivation: Stablecoins as Treasury Buyers</a:t>
            </a:r>
          </a:p>
        </p:txBody>
      </p:sp>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3</a:t>
            </a:r>
          </a:p>
        </p:txBody>
      </p:sp>
      <p:sp>
        <p:nvSpPr>
          <p:cNvPr id="6" name="TextBox 5"/>
          <p:cNvSpPr txBox="1"/>
          <p:nvPr/>
        </p:nvSpPr>
        <p:spPr>
          <a:xfrm>
            <a:off x="457200" y="1005840"/>
            <a:ext cx="5669280" cy="4389120"/>
          </a:xfrm>
          <a:prstGeom prst="rect">
            <a:avLst/>
          </a:prstGeom>
          <a:noFill/>
        </p:spPr>
        <p:txBody>
          <a:bodyPr wrap="square">
            <a:spAutoFit/>
          </a:bodyPr>
          <a:lstStyle/>
          <a:p>
            <a:pPr>
              <a:spcBef>
                <a:spcPts val="0"/>
              </a:spcBef>
            </a:pPr>
            <a:endParaRPr/>
          </a:p>
          <a:p>
            <a:pPr algn="l">
              <a:spcBef>
                <a:spcPts val="200"/>
              </a:spcBef>
            </a:pPr>
            <a:r>
              <a:rPr sz="1800" b="1" i="0">
                <a:solidFill>
                  <a:srgbClr val="1B3A72"/>
                </a:solidFill>
                <a:latin typeface="Calibri"/>
              </a:rPr>
              <a:t>Key Market Trends</a:t>
            </a:r>
          </a:p>
          <a:p>
            <a:pPr algn="l">
              <a:spcBef>
                <a:spcPts val="1000"/>
              </a:spcBef>
            </a:pPr>
            <a:r>
              <a:rPr sz="1700" b="0" i="0">
                <a:solidFill>
                  <a:srgbClr val="1A1A2E"/>
                </a:solidFill>
                <a:latin typeface="Calibri"/>
              </a:rPr>
              <a:t>❖  Growth: Combined market cap surged from under $50bn (2021) to over $300bn (2026)</a:t>
            </a:r>
          </a:p>
          <a:p>
            <a:pPr algn="l">
              <a:spcBef>
                <a:spcPts val="1000"/>
              </a:spcBef>
            </a:pPr>
            <a:r>
              <a:rPr sz="1700" b="0" i="0">
                <a:solidFill>
                  <a:srgbClr val="1A1A2E"/>
                </a:solidFill>
                <a:latin typeface="Calibri"/>
              </a:rPr>
              <a:t>❖  Usage: 30%+ of on-chain crypto transactions involve stablecoins</a:t>
            </a:r>
          </a:p>
          <a:p>
            <a:pPr algn="l">
              <a:spcBef>
                <a:spcPts val="1000"/>
              </a:spcBef>
            </a:pPr>
            <a:r>
              <a:rPr sz="1700" b="0" i="0">
                <a:solidFill>
                  <a:srgbClr val="1A1A2E"/>
                </a:solidFill>
                <a:latin typeface="Calibri"/>
              </a:rPr>
              <a:t>❖  Regulation: US, EU, Japan, and Hong Kong each finalising reserve legislation</a:t>
            </a:r>
          </a:p>
          <a:p>
            <a:pPr algn="l">
              <a:spcBef>
                <a:spcPts val="1000"/>
              </a:spcBef>
            </a:pPr>
            <a:r>
              <a:rPr sz="1700" b="0" i="0">
                <a:solidFill>
                  <a:srgbClr val="1A1A2E"/>
                </a:solidFill>
                <a:latin typeface="Calibri"/>
              </a:rPr>
              <a:t>❖  Scale: Tether alone holds $127bn in US Treasuries (Q2 2025) — comparable to mid-sized sovereigns</a:t>
            </a:r>
          </a:p>
          <a:p>
            <a:pPr algn="l">
              <a:spcBef>
                <a:spcPts val="1000"/>
              </a:spcBef>
            </a:pPr>
            <a:r>
              <a:rPr sz="1700" b="0" i="0">
                <a:solidFill>
                  <a:srgbClr val="1A1A2E"/>
                </a:solidFill>
                <a:latin typeface="Calibri"/>
              </a:rPr>
              <a:t>❖  Projection: $1–2 trillion ecosystem within this decade</a:t>
            </a:r>
          </a:p>
        </p:txBody>
      </p:sp>
      <p:sp>
        <p:nvSpPr>
          <p:cNvPr id="7" name="Rectangle 6"/>
          <p:cNvSpPr/>
          <p:nvPr/>
        </p:nvSpPr>
        <p:spPr>
          <a:xfrm>
            <a:off x="6492240" y="960120"/>
            <a:ext cx="5303520" cy="10972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583680" y="1033272"/>
            <a:ext cx="5120640" cy="566928"/>
          </a:xfrm>
          <a:prstGeom prst="rect">
            <a:avLst/>
          </a:prstGeom>
          <a:noFill/>
        </p:spPr>
        <p:txBody>
          <a:bodyPr wrap="square">
            <a:spAutoFit/>
          </a:bodyPr>
          <a:lstStyle/>
          <a:p>
            <a:pPr algn="ctr"/>
            <a:r>
              <a:rPr sz="2800" b="1" i="0">
                <a:solidFill>
                  <a:srgbClr val="FFFFFF"/>
                </a:solidFill>
                <a:latin typeface="Calibri"/>
              </a:rPr>
              <a:t>$300bn+</a:t>
            </a:r>
          </a:p>
        </p:txBody>
      </p:sp>
      <p:sp>
        <p:nvSpPr>
          <p:cNvPr id="9" name="TextBox 8"/>
          <p:cNvSpPr txBox="1"/>
          <p:nvPr/>
        </p:nvSpPr>
        <p:spPr>
          <a:xfrm>
            <a:off x="6583680" y="1618488"/>
            <a:ext cx="5120640" cy="365760"/>
          </a:xfrm>
          <a:prstGeom prst="rect">
            <a:avLst/>
          </a:prstGeom>
          <a:noFill/>
        </p:spPr>
        <p:txBody>
          <a:bodyPr wrap="square">
            <a:spAutoFit/>
          </a:bodyPr>
          <a:lstStyle/>
          <a:p>
            <a:pPr algn="ctr"/>
            <a:r>
              <a:rPr sz="1200" b="0" i="1">
                <a:solidFill>
                  <a:srgbClr val="AAC4E8"/>
                </a:solidFill>
                <a:latin typeface="Calibri"/>
              </a:rPr>
              <a:t>Total USD-pegged supply (2026)</a:t>
            </a:r>
          </a:p>
        </p:txBody>
      </p:sp>
      <p:sp>
        <p:nvSpPr>
          <p:cNvPr id="10" name="Rectangle 9"/>
          <p:cNvSpPr/>
          <p:nvPr/>
        </p:nvSpPr>
        <p:spPr>
          <a:xfrm>
            <a:off x="6492240" y="2221992"/>
            <a:ext cx="5303520" cy="10972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583680" y="2295144"/>
            <a:ext cx="5120640" cy="566928"/>
          </a:xfrm>
          <a:prstGeom prst="rect">
            <a:avLst/>
          </a:prstGeom>
          <a:noFill/>
        </p:spPr>
        <p:txBody>
          <a:bodyPr wrap="square">
            <a:spAutoFit/>
          </a:bodyPr>
          <a:lstStyle/>
          <a:p>
            <a:pPr algn="ctr"/>
            <a:r>
              <a:rPr sz="2800" b="1" i="0">
                <a:solidFill>
                  <a:srgbClr val="FFFFFF"/>
                </a:solidFill>
                <a:latin typeface="Calibri"/>
              </a:rPr>
              <a:t>$127bn</a:t>
            </a:r>
          </a:p>
        </p:txBody>
      </p:sp>
      <p:sp>
        <p:nvSpPr>
          <p:cNvPr id="12" name="TextBox 11"/>
          <p:cNvSpPr txBox="1"/>
          <p:nvPr/>
        </p:nvSpPr>
        <p:spPr>
          <a:xfrm>
            <a:off x="6583680" y="2880360"/>
            <a:ext cx="5120640" cy="365760"/>
          </a:xfrm>
          <a:prstGeom prst="rect">
            <a:avLst/>
          </a:prstGeom>
          <a:noFill/>
        </p:spPr>
        <p:txBody>
          <a:bodyPr wrap="square">
            <a:spAutoFit/>
          </a:bodyPr>
          <a:lstStyle/>
          <a:p>
            <a:pPr algn="ctr"/>
            <a:r>
              <a:rPr sz="1200" b="0" i="1">
                <a:solidFill>
                  <a:srgbClr val="AAC4E8"/>
                </a:solidFill>
                <a:latin typeface="Calibri"/>
              </a:rPr>
              <a:t>Tether T-bill holdings (Q2 2025)</a:t>
            </a:r>
          </a:p>
        </p:txBody>
      </p:sp>
      <p:sp>
        <p:nvSpPr>
          <p:cNvPr id="13" name="Rectangle 12"/>
          <p:cNvSpPr/>
          <p:nvPr/>
        </p:nvSpPr>
        <p:spPr>
          <a:xfrm>
            <a:off x="6492240" y="3483864"/>
            <a:ext cx="5303520" cy="10972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583680" y="3557016"/>
            <a:ext cx="5120640" cy="566928"/>
          </a:xfrm>
          <a:prstGeom prst="rect">
            <a:avLst/>
          </a:prstGeom>
          <a:noFill/>
        </p:spPr>
        <p:txBody>
          <a:bodyPr wrap="square">
            <a:spAutoFit/>
          </a:bodyPr>
          <a:lstStyle/>
          <a:p>
            <a:pPr algn="ctr"/>
            <a:r>
              <a:rPr sz="2800" b="1" i="0">
                <a:solidFill>
                  <a:srgbClr val="FFFFFF"/>
                </a:solidFill>
                <a:latin typeface="Calibri"/>
              </a:rPr>
              <a:t>$1–2 tn</a:t>
            </a:r>
          </a:p>
        </p:txBody>
      </p:sp>
      <p:sp>
        <p:nvSpPr>
          <p:cNvPr id="15" name="TextBox 14"/>
          <p:cNvSpPr txBox="1"/>
          <p:nvPr/>
        </p:nvSpPr>
        <p:spPr>
          <a:xfrm>
            <a:off x="6583680" y="4142232"/>
            <a:ext cx="5120640" cy="365760"/>
          </a:xfrm>
          <a:prstGeom prst="rect">
            <a:avLst/>
          </a:prstGeom>
          <a:noFill/>
        </p:spPr>
        <p:txBody>
          <a:bodyPr wrap="square">
            <a:spAutoFit/>
          </a:bodyPr>
          <a:lstStyle/>
          <a:p>
            <a:pPr algn="ctr"/>
            <a:r>
              <a:rPr sz="1200" b="0" i="1">
                <a:solidFill>
                  <a:srgbClr val="AAC4E8"/>
                </a:solidFill>
                <a:latin typeface="Calibri"/>
              </a:rPr>
              <a:t>Projected ecosystem size</a:t>
            </a:r>
          </a:p>
        </p:txBody>
      </p:sp>
      <p:sp>
        <p:nvSpPr>
          <p:cNvPr id="16" name="Rectangle 15"/>
          <p:cNvSpPr/>
          <p:nvPr/>
        </p:nvSpPr>
        <p:spPr>
          <a:xfrm>
            <a:off x="6492240" y="4745736"/>
            <a:ext cx="5303520" cy="10972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583680" y="4818888"/>
            <a:ext cx="5120640" cy="566928"/>
          </a:xfrm>
          <a:prstGeom prst="rect">
            <a:avLst/>
          </a:prstGeom>
          <a:noFill/>
        </p:spPr>
        <p:txBody>
          <a:bodyPr wrap="square">
            <a:spAutoFit/>
          </a:bodyPr>
          <a:lstStyle/>
          <a:p>
            <a:pPr algn="ctr"/>
            <a:r>
              <a:rPr sz="2800" b="1" i="0">
                <a:solidFill>
                  <a:srgbClr val="FFFFFF"/>
                </a:solidFill>
                <a:latin typeface="Calibri"/>
              </a:rPr>
              <a:t>4</a:t>
            </a:r>
          </a:p>
        </p:txBody>
      </p:sp>
      <p:sp>
        <p:nvSpPr>
          <p:cNvPr id="18" name="TextBox 17"/>
          <p:cNvSpPr txBox="1"/>
          <p:nvPr/>
        </p:nvSpPr>
        <p:spPr>
          <a:xfrm>
            <a:off x="6583680" y="5404104"/>
            <a:ext cx="5120640" cy="365760"/>
          </a:xfrm>
          <a:prstGeom prst="rect">
            <a:avLst/>
          </a:prstGeom>
          <a:noFill/>
        </p:spPr>
        <p:txBody>
          <a:bodyPr wrap="square">
            <a:spAutoFit/>
          </a:bodyPr>
          <a:lstStyle/>
          <a:p>
            <a:pPr algn="ctr"/>
            <a:r>
              <a:rPr sz="1200" b="0" i="1">
                <a:solidFill>
                  <a:srgbClr val="AAC4E8"/>
                </a:solidFill>
                <a:latin typeface="Calibri"/>
              </a:rPr>
              <a:t>Jurisdictions finalising legislation</a:t>
            </a:r>
          </a:p>
        </p:txBody>
      </p:sp>
      <p:sp>
        <p:nvSpPr>
          <p:cNvPr id="19" name="Rectangle 18"/>
          <p:cNvSpPr/>
          <p:nvPr/>
        </p:nvSpPr>
        <p:spPr>
          <a:xfrm>
            <a:off x="0" y="5596128"/>
            <a:ext cx="12188952" cy="1097280"/>
          </a:xfrm>
          <a:prstGeom prst="rect">
            <a:avLst/>
          </a:prstGeom>
          <a:solidFill>
            <a:srgbClr val="D46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548640" y="5760720"/>
            <a:ext cx="11274552" cy="804672"/>
          </a:xfrm>
          <a:prstGeom prst="rect">
            <a:avLst/>
          </a:prstGeom>
          <a:noFill/>
        </p:spPr>
        <p:txBody>
          <a:bodyPr wrap="square">
            <a:spAutoFit/>
          </a:bodyPr>
          <a:lstStyle/>
          <a:p>
            <a:pPr algn="ctr"/>
            <a:r>
              <a:rPr sz="1800" b="1" i="0">
                <a:solidFill>
                  <a:srgbClr val="FFFFFF"/>
                </a:solidFill>
                <a:latin typeface="Calibri"/>
              </a:rPr>
              <a:t>The same structural role that deepens US safe-asset demand also embeds a fragility that can rapidly reverse it.</a:t>
            </a:r>
          </a:p>
        </p:txBody>
      </p:sp>
      <p:sp>
        <p:nvSpPr>
          <p:cNvPr id="21" name="TextBox 20">
            <a:extLst>
              <a:ext uri="{FF2B5EF4-FFF2-40B4-BE49-F238E27FC236}">
                <a16:creationId xmlns:a16="http://schemas.microsoft.com/office/drawing/2014/main" id="{1927671F-D694-C338-363E-98F0841CD0B1}"/>
              </a:ext>
            </a:extLst>
          </p:cNvPr>
          <p:cNvSpPr txBox="1"/>
          <p:nvPr/>
        </p:nvSpPr>
        <p:spPr>
          <a:xfrm>
            <a:off x="11288486" y="206829"/>
            <a:ext cx="718457" cy="369332"/>
          </a:xfrm>
          <a:prstGeom prst="rect">
            <a:avLst/>
          </a:prstGeom>
          <a:noFill/>
        </p:spPr>
        <p:txBody>
          <a:bodyPr wrap="square" rtlCol="0">
            <a:spAutoFit/>
          </a:bodyPr>
          <a:lstStyle/>
          <a:p>
            <a:r>
              <a:rPr kumimoji="1" lang="en-US" altLang="ko-KR" dirty="0">
                <a:solidFill>
                  <a:schemeClr val="bg1"/>
                </a:solidFill>
              </a:rPr>
              <a:t>Sara</a:t>
            </a:r>
            <a:endParaRPr kumimoji="1" lang="ko-KR" altLang="en-US" dirty="0">
              <a:solidFill>
                <a:schemeClr val="bg1"/>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The New Triffin Dilemma</a:t>
            </a:r>
          </a:p>
        </p:txBody>
      </p:sp>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4</a:t>
            </a:r>
          </a:p>
        </p:txBody>
      </p:sp>
      <p:sp>
        <p:nvSpPr>
          <p:cNvPr id="6" name="Rectangle 5"/>
          <p:cNvSpPr/>
          <p:nvPr/>
        </p:nvSpPr>
        <p:spPr>
          <a:xfrm>
            <a:off x="365760" y="960120"/>
            <a:ext cx="11430000" cy="77724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02920" y="1005840"/>
            <a:ext cx="11155680" cy="685800"/>
          </a:xfrm>
          <a:prstGeom prst="rect">
            <a:avLst/>
          </a:prstGeom>
          <a:noFill/>
        </p:spPr>
        <p:txBody>
          <a:bodyPr wrap="square">
            <a:spAutoFit/>
          </a:bodyPr>
          <a:lstStyle/>
          <a:p>
            <a:pPr>
              <a:spcBef>
                <a:spcPts val="0"/>
              </a:spcBef>
            </a:pPr>
            <a:endParaRPr/>
          </a:p>
          <a:p>
            <a:pPr algn="l">
              <a:spcBef>
                <a:spcPts val="400"/>
              </a:spcBef>
            </a:pPr>
            <a:r>
              <a:rPr sz="1400" b="0" i="1">
                <a:solidFill>
                  <a:srgbClr val="1A1A2E"/>
                </a:solidFill>
                <a:latin typeface="Calibri"/>
              </a:rPr>
              <a:t>Triffin (1960): the reserve currency country must supply safe assets to the world — but that very supply undermines confidence in the currency.</a:t>
            </a:r>
          </a:p>
        </p:txBody>
      </p:sp>
      <p:sp>
        <p:nvSpPr>
          <p:cNvPr id="8" name="TextBox 7"/>
          <p:cNvSpPr txBox="1"/>
          <p:nvPr/>
        </p:nvSpPr>
        <p:spPr>
          <a:xfrm>
            <a:off x="457200" y="1874519"/>
            <a:ext cx="11430000" cy="347472"/>
          </a:xfrm>
          <a:prstGeom prst="rect">
            <a:avLst/>
          </a:prstGeom>
          <a:noFill/>
        </p:spPr>
        <p:txBody>
          <a:bodyPr wrap="square">
            <a:spAutoFit/>
          </a:bodyPr>
          <a:lstStyle/>
          <a:p>
            <a:pPr algn="l"/>
            <a:r>
              <a:rPr sz="1700" b="1" i="0">
                <a:solidFill>
                  <a:srgbClr val="1B3A72"/>
                </a:solidFill>
                <a:latin typeface="Calibri"/>
              </a:rPr>
              <a:t>Our analogue for stablecoin issuers:</a:t>
            </a:r>
          </a:p>
        </p:txBody>
      </p:sp>
      <p:sp>
        <p:nvSpPr>
          <p:cNvPr id="9" name="Rectangle 8"/>
          <p:cNvSpPr/>
          <p:nvPr/>
        </p:nvSpPr>
        <p:spPr>
          <a:xfrm>
            <a:off x="365760" y="2286000"/>
            <a:ext cx="3749039" cy="384048"/>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57200" y="2313432"/>
            <a:ext cx="3566160" cy="329184"/>
          </a:xfrm>
          <a:prstGeom prst="rect">
            <a:avLst/>
          </a:prstGeom>
          <a:noFill/>
        </p:spPr>
        <p:txBody>
          <a:bodyPr wrap="square">
            <a:spAutoFit/>
          </a:bodyPr>
          <a:lstStyle/>
          <a:p>
            <a:pPr algn="l"/>
            <a:r>
              <a:rPr sz="1400" b="1" i="0">
                <a:solidFill>
                  <a:srgbClr val="FFFFFF"/>
                </a:solidFill>
                <a:latin typeface="Calibri"/>
              </a:rPr>
              <a:t>Normal times ✅</a:t>
            </a:r>
          </a:p>
        </p:txBody>
      </p:sp>
      <p:sp>
        <p:nvSpPr>
          <p:cNvPr id="11" name="Rectangle 10"/>
          <p:cNvSpPr/>
          <p:nvPr/>
        </p:nvSpPr>
        <p:spPr>
          <a:xfrm>
            <a:off x="365760" y="2670048"/>
            <a:ext cx="3749039" cy="2331720"/>
          </a:xfrm>
          <a:prstGeom prst="rect">
            <a:avLst/>
          </a:prstGeom>
          <a:solidFill>
            <a:srgbClr val="E6F4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75488" y="2724912"/>
            <a:ext cx="3547872" cy="2194560"/>
          </a:xfrm>
          <a:prstGeom prst="rect">
            <a:avLst/>
          </a:prstGeom>
          <a:noFill/>
        </p:spPr>
        <p:txBody>
          <a:bodyPr wrap="square">
            <a:spAutoFit/>
          </a:bodyPr>
          <a:lstStyle/>
          <a:p>
            <a:pPr>
              <a:spcBef>
                <a:spcPts val="0"/>
              </a:spcBef>
            </a:pPr>
            <a:endParaRPr/>
          </a:p>
          <a:p>
            <a:pPr algn="l">
              <a:spcBef>
                <a:spcPts val="600"/>
              </a:spcBef>
            </a:pPr>
            <a:r>
              <a:rPr sz="1300" b="0" i="0">
                <a:solidFill>
                  <a:srgbClr val="1A1A2E"/>
                </a:solidFill>
                <a:latin typeface="Calibri"/>
              </a:rPr>
              <a:t>•  Stablecoin growth → more T-bill buying</a:t>
            </a:r>
          </a:p>
          <a:p>
            <a:pPr algn="l">
              <a:spcBef>
                <a:spcPts val="600"/>
              </a:spcBef>
            </a:pPr>
            <a:r>
              <a:rPr sz="1300" b="0" i="0">
                <a:solidFill>
                  <a:srgbClr val="1A1A2E"/>
                </a:solidFill>
                <a:latin typeface="Calibri"/>
              </a:rPr>
              <a:t>•  Deepens US safe-asset demand</a:t>
            </a:r>
          </a:p>
          <a:p>
            <a:pPr algn="l">
              <a:spcBef>
                <a:spcPts val="600"/>
              </a:spcBef>
            </a:pPr>
            <a:r>
              <a:rPr sz="1300" b="0" i="0">
                <a:solidFill>
                  <a:srgbClr val="1A1A2E"/>
                </a:solidFill>
                <a:latin typeface="Calibri"/>
              </a:rPr>
              <a:t>•  Compresses OIS–Treasury spreads</a:t>
            </a:r>
          </a:p>
          <a:p>
            <a:pPr algn="l">
              <a:spcBef>
                <a:spcPts val="600"/>
              </a:spcBef>
            </a:pPr>
            <a:r>
              <a:rPr sz="1300" b="0" i="0">
                <a:solidFill>
                  <a:srgbClr val="1A1A2E"/>
                </a:solidFill>
                <a:latin typeface="Calibri"/>
              </a:rPr>
              <a:t>•  Amplifies exorbitant privilege</a:t>
            </a:r>
          </a:p>
        </p:txBody>
      </p:sp>
      <p:sp>
        <p:nvSpPr>
          <p:cNvPr id="13" name="Rectangle 12"/>
          <p:cNvSpPr/>
          <p:nvPr/>
        </p:nvSpPr>
        <p:spPr>
          <a:xfrm>
            <a:off x="4297680" y="2286000"/>
            <a:ext cx="3749039" cy="384048"/>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389120" y="2313432"/>
            <a:ext cx="3566160" cy="329184"/>
          </a:xfrm>
          <a:prstGeom prst="rect">
            <a:avLst/>
          </a:prstGeom>
          <a:noFill/>
        </p:spPr>
        <p:txBody>
          <a:bodyPr wrap="square">
            <a:spAutoFit/>
          </a:bodyPr>
          <a:lstStyle/>
          <a:p>
            <a:pPr algn="l"/>
            <a:r>
              <a:rPr sz="1400" b="1" i="0">
                <a:solidFill>
                  <a:srgbClr val="FFFFFF"/>
                </a:solidFill>
                <a:latin typeface="Calibri"/>
              </a:rPr>
              <a:t>Run scenario ❌</a:t>
            </a:r>
          </a:p>
        </p:txBody>
      </p:sp>
      <p:sp>
        <p:nvSpPr>
          <p:cNvPr id="15" name="Rectangle 14"/>
          <p:cNvSpPr/>
          <p:nvPr/>
        </p:nvSpPr>
        <p:spPr>
          <a:xfrm>
            <a:off x="4297680" y="2670048"/>
            <a:ext cx="3749039" cy="2331720"/>
          </a:xfrm>
          <a:prstGeom prst="rect">
            <a:avLst/>
          </a:prstGeom>
          <a:solidFill>
            <a:srgbClr val="FCEB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407408" y="2724912"/>
            <a:ext cx="3547872" cy="2194560"/>
          </a:xfrm>
          <a:prstGeom prst="rect">
            <a:avLst/>
          </a:prstGeom>
          <a:noFill/>
        </p:spPr>
        <p:txBody>
          <a:bodyPr wrap="square">
            <a:spAutoFit/>
          </a:bodyPr>
          <a:lstStyle/>
          <a:p>
            <a:pPr>
              <a:spcBef>
                <a:spcPts val="0"/>
              </a:spcBef>
            </a:pPr>
            <a:endParaRPr/>
          </a:p>
          <a:p>
            <a:pPr algn="l">
              <a:spcBef>
                <a:spcPts val="600"/>
              </a:spcBef>
            </a:pPr>
            <a:r>
              <a:rPr sz="1300" b="0" i="0">
                <a:solidFill>
                  <a:srgbClr val="1A1A2E"/>
                </a:solidFill>
                <a:latin typeface="Calibri"/>
              </a:rPr>
              <a:t>•  Run on issuer → forced T-bill liquidation</a:t>
            </a:r>
          </a:p>
          <a:p>
            <a:pPr algn="l">
              <a:spcBef>
                <a:spcPts val="600"/>
              </a:spcBef>
            </a:pPr>
            <a:r>
              <a:rPr sz="1300" b="0" i="0">
                <a:solidFill>
                  <a:srgbClr val="1A1A2E"/>
                </a:solidFill>
                <a:latin typeface="Calibri"/>
              </a:rPr>
              <a:t>•  Yields spike above OIS</a:t>
            </a:r>
          </a:p>
          <a:p>
            <a:pPr algn="l">
              <a:spcBef>
                <a:spcPts val="600"/>
              </a:spcBef>
            </a:pPr>
            <a:r>
              <a:rPr sz="1300" b="0" i="0">
                <a:solidFill>
                  <a:srgbClr val="1A1A2E"/>
                </a:solidFill>
                <a:latin typeface="Calibri"/>
              </a:rPr>
              <a:t>•  Sovereign-linked liquidity shock</a:t>
            </a:r>
          </a:p>
          <a:p>
            <a:pPr algn="l">
              <a:spcBef>
                <a:spcPts val="600"/>
              </a:spcBef>
            </a:pPr>
            <a:r>
              <a:rPr sz="1300" b="0" i="0">
                <a:solidFill>
                  <a:srgbClr val="1A1A2E"/>
                </a:solidFill>
                <a:latin typeface="Calibri"/>
              </a:rPr>
              <a:t>•  Cole–Kehoe crisis zone activated</a:t>
            </a:r>
          </a:p>
        </p:txBody>
      </p:sp>
      <p:sp>
        <p:nvSpPr>
          <p:cNvPr id="17" name="Rectangle 16"/>
          <p:cNvSpPr/>
          <p:nvPr/>
        </p:nvSpPr>
        <p:spPr>
          <a:xfrm>
            <a:off x="8229600" y="2286000"/>
            <a:ext cx="3749039" cy="384048"/>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8321040" y="2313432"/>
            <a:ext cx="3566160" cy="329184"/>
          </a:xfrm>
          <a:prstGeom prst="rect">
            <a:avLst/>
          </a:prstGeom>
          <a:noFill/>
        </p:spPr>
        <p:txBody>
          <a:bodyPr wrap="square">
            <a:spAutoFit/>
          </a:bodyPr>
          <a:lstStyle/>
          <a:p>
            <a:pPr algn="l"/>
            <a:r>
              <a:rPr sz="1400" b="1" i="0">
                <a:solidFill>
                  <a:srgbClr val="FFFFFF"/>
                </a:solidFill>
                <a:latin typeface="Calibri"/>
              </a:rPr>
              <a:t>What determines outcome</a:t>
            </a:r>
          </a:p>
        </p:txBody>
      </p:sp>
      <p:sp>
        <p:nvSpPr>
          <p:cNvPr id="19" name="Rectangle 18"/>
          <p:cNvSpPr/>
          <p:nvPr/>
        </p:nvSpPr>
        <p:spPr>
          <a:xfrm>
            <a:off x="8229600" y="2670048"/>
            <a:ext cx="3749039" cy="2331720"/>
          </a:xfrm>
          <a:prstGeom prst="rect">
            <a:avLst/>
          </a:prstGeom>
          <a:solidFill>
            <a:srgbClr val="EBF3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339328" y="2724912"/>
            <a:ext cx="3547872" cy="2194560"/>
          </a:xfrm>
          <a:prstGeom prst="rect">
            <a:avLst/>
          </a:prstGeom>
          <a:noFill/>
        </p:spPr>
        <p:txBody>
          <a:bodyPr wrap="square">
            <a:spAutoFit/>
          </a:bodyPr>
          <a:lstStyle/>
          <a:p>
            <a:pPr>
              <a:spcBef>
                <a:spcPts val="0"/>
              </a:spcBef>
            </a:pPr>
            <a:endParaRPr/>
          </a:p>
          <a:p>
            <a:pPr algn="l">
              <a:spcBef>
                <a:spcPts val="600"/>
              </a:spcBef>
            </a:pPr>
            <a:r>
              <a:rPr sz="1300" b="0" i="0">
                <a:solidFill>
                  <a:srgbClr val="1A1A2E"/>
                </a:solidFill>
                <a:latin typeface="Calibri"/>
              </a:rPr>
              <a:t>•  θ = T-bill holdings / supply  (Treasury Exposure)</a:t>
            </a:r>
          </a:p>
          <a:p>
            <a:pPr algn="l">
              <a:spcBef>
                <a:spcPts val="600"/>
              </a:spcBef>
            </a:pPr>
            <a:r>
              <a:rPr sz="1300" b="0" i="0">
                <a:solidFill>
                  <a:srgbClr val="1A1A2E"/>
                </a:solidFill>
                <a:latin typeface="Calibri"/>
              </a:rPr>
              <a:t>•  L = cash reserves / supply  (Liquid Buffer)</a:t>
            </a:r>
          </a:p>
          <a:p>
            <a:pPr algn="l">
              <a:spcBef>
                <a:spcPts val="600"/>
              </a:spcBef>
            </a:pPr>
            <a:r>
              <a:rPr sz="1300" b="0" i="0">
                <a:solidFill>
                  <a:srgbClr val="1A1A2E"/>
                </a:solidFill>
                <a:latin typeface="Calibri"/>
              </a:rPr>
              <a:t>•  L adequate: run absorbed, no liquidation</a:t>
            </a:r>
          </a:p>
          <a:p>
            <a:pPr algn="l">
              <a:spcBef>
                <a:spcPts val="600"/>
              </a:spcBef>
            </a:pPr>
            <a:r>
              <a:rPr sz="1300" b="0" i="0">
                <a:solidFill>
                  <a:srgbClr val="1A1A2E"/>
                </a:solidFill>
                <a:latin typeface="Calibri"/>
              </a:rPr>
              <a:t>•  → We estimate the threshold L* (Hansen 2000)</a:t>
            </a:r>
          </a:p>
        </p:txBody>
      </p:sp>
      <p:sp>
        <p:nvSpPr>
          <p:cNvPr id="21" name="Rectangle 20"/>
          <p:cNvSpPr/>
          <p:nvPr/>
        </p:nvSpPr>
        <p:spPr>
          <a:xfrm>
            <a:off x="0" y="5596128"/>
            <a:ext cx="12188952" cy="1097280"/>
          </a:xfrm>
          <a:prstGeom prst="rect">
            <a:avLst/>
          </a:prstGeom>
          <a:solidFill>
            <a:srgbClr val="D46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548640" y="5760720"/>
            <a:ext cx="11274552" cy="804672"/>
          </a:xfrm>
          <a:prstGeom prst="rect">
            <a:avLst/>
          </a:prstGeom>
          <a:noFill/>
        </p:spPr>
        <p:txBody>
          <a:bodyPr wrap="square">
            <a:spAutoFit/>
          </a:bodyPr>
          <a:lstStyle/>
          <a:p>
            <a:pPr algn="ctr"/>
            <a:r>
              <a:rPr sz="1800" b="1" i="0">
                <a:solidFill>
                  <a:srgbClr val="FFFFFF"/>
                </a:solidFill>
                <a:latin typeface="Calibri"/>
              </a:rPr>
              <a:t>Our paper: decompose reserve quality into θ (privilege channel) and L (fragility channel); estimate threshold L*.</a:t>
            </a:r>
          </a:p>
        </p:txBody>
      </p:sp>
      <p:sp>
        <p:nvSpPr>
          <p:cNvPr id="23" name="TextBox 22">
            <a:extLst>
              <a:ext uri="{FF2B5EF4-FFF2-40B4-BE49-F238E27FC236}">
                <a16:creationId xmlns:a16="http://schemas.microsoft.com/office/drawing/2014/main" id="{22437335-5159-8673-D9A3-9ED5A5F5B81E}"/>
              </a:ext>
            </a:extLst>
          </p:cNvPr>
          <p:cNvSpPr txBox="1"/>
          <p:nvPr/>
        </p:nvSpPr>
        <p:spPr>
          <a:xfrm>
            <a:off x="11064240" y="206829"/>
            <a:ext cx="942703" cy="369332"/>
          </a:xfrm>
          <a:prstGeom prst="rect">
            <a:avLst/>
          </a:prstGeom>
          <a:noFill/>
        </p:spPr>
        <p:txBody>
          <a:bodyPr wrap="square" rtlCol="0">
            <a:spAutoFit/>
          </a:bodyPr>
          <a:lstStyle/>
          <a:p>
            <a:r>
              <a:rPr kumimoji="1" lang="en-US" altLang="ko-KR" dirty="0">
                <a:solidFill>
                  <a:schemeClr val="bg1"/>
                </a:solidFill>
              </a:rPr>
              <a:t>Oybek</a:t>
            </a:r>
            <a:endParaRPr kumimoji="1" lang="ko-KR" altLang="en-US" dirty="0">
              <a:solidFill>
                <a:schemeClr val="bg1"/>
              </a:solidFil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Theoretical Extension: Maggiori (2017)</a:t>
            </a:r>
          </a:p>
        </p:txBody>
      </p:sp>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5</a:t>
            </a:r>
          </a:p>
        </p:txBody>
      </p:sp>
      <p:sp>
        <p:nvSpPr>
          <p:cNvPr id="6" name="Rectangle 5"/>
          <p:cNvSpPr/>
          <p:nvPr/>
        </p:nvSpPr>
        <p:spPr>
          <a:xfrm>
            <a:off x="365760" y="960120"/>
            <a:ext cx="5669280" cy="475488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02920" y="1024128"/>
            <a:ext cx="5394960" cy="4572000"/>
          </a:xfrm>
          <a:prstGeom prst="rect">
            <a:avLst/>
          </a:prstGeom>
          <a:noFill/>
        </p:spPr>
        <p:txBody>
          <a:bodyPr wrap="square">
            <a:spAutoFit/>
          </a:bodyPr>
          <a:lstStyle/>
          <a:p>
            <a:pPr>
              <a:spcBef>
                <a:spcPts val="0"/>
              </a:spcBef>
            </a:pPr>
            <a:endParaRPr/>
          </a:p>
          <a:p>
            <a:pPr algn="l">
              <a:spcBef>
                <a:spcPts val="400"/>
              </a:spcBef>
            </a:pPr>
            <a:r>
              <a:rPr sz="1400" b="1" i="0">
                <a:solidFill>
                  <a:srgbClr val="1B3A72"/>
                </a:solidFill>
                <a:latin typeface="Calibri"/>
              </a:rPr>
              <a:t>Maggiori (2017) original:</a:t>
            </a:r>
          </a:p>
          <a:p>
            <a:pPr algn="l">
              <a:spcBef>
                <a:spcPts val="400"/>
              </a:spcBef>
            </a:pPr>
            <a:r>
              <a:rPr sz="1300" b="0" i="0">
                <a:solidFill>
                  <a:srgbClr val="1A1A2E"/>
                </a:solidFill>
                <a:latin typeface="Calibri"/>
              </a:rPr>
              <a:t>Safe-asset demand driven by Ω* (marginal value of RoW net worth).</a:t>
            </a:r>
          </a:p>
          <a:p>
            <a:pPr algn="l">
              <a:spcBef>
                <a:spcPts val="400"/>
              </a:spcBef>
            </a:pPr>
            <a:r>
              <a:rPr sz="800" b="0" i="0">
                <a:solidFill>
                  <a:srgbClr val="1A1A2E"/>
                </a:solidFill>
                <a:latin typeface="Calibri"/>
              </a:rPr>
              <a:t> </a:t>
            </a:r>
          </a:p>
          <a:p>
            <a:pPr algn="l">
              <a:spcBef>
                <a:spcPts val="600"/>
              </a:spcBef>
            </a:pPr>
            <a:r>
              <a:rPr sz="1400" b="1" i="0">
                <a:solidFill>
                  <a:srgbClr val="1B3A72"/>
                </a:solidFill>
                <a:latin typeface="Calibri"/>
              </a:rPr>
              <a:t>Our extension — add stablecoin supply S, θ, and L:</a:t>
            </a:r>
          </a:p>
          <a:p>
            <a:pPr algn="l">
              <a:spcBef>
                <a:spcPts val="400"/>
              </a:spcBef>
            </a:pPr>
            <a:r>
              <a:rPr sz="1300" b="0" i="1">
                <a:solidFill>
                  <a:srgbClr val="1A1A2E"/>
                </a:solidFill>
                <a:latin typeface="Calibri"/>
              </a:rPr>
              <a:t>D*(Ñ*, S, θ, L)  =  D*precautionary(Ñ*)  +  D*stablecoin(S, θ)  +  D*buffer(L)</a:t>
            </a:r>
          </a:p>
          <a:p>
            <a:pPr algn="l">
              <a:spcBef>
                <a:spcPts val="400"/>
              </a:spcBef>
            </a:pPr>
            <a:r>
              <a:rPr sz="800" b="0" i="0">
                <a:solidFill>
                  <a:srgbClr val="1A1A2E"/>
                </a:solidFill>
                <a:latin typeface="Calibri"/>
              </a:rPr>
              <a:t> </a:t>
            </a:r>
          </a:p>
          <a:p>
            <a:pPr algn="l">
              <a:spcBef>
                <a:spcPts val="400"/>
              </a:spcBef>
            </a:pPr>
            <a:r>
              <a:rPr sz="1400" b="1" i="0">
                <a:solidFill>
                  <a:srgbClr val="1B3A72"/>
                </a:solidFill>
                <a:latin typeface="Calibri"/>
              </a:rPr>
              <a:t>Liquid Buffer L enters asymmetrically:</a:t>
            </a:r>
          </a:p>
          <a:p>
            <a:pPr algn="l">
              <a:spcBef>
                <a:spcPts val="400"/>
              </a:spcBef>
            </a:pPr>
            <a:r>
              <a:rPr sz="1300" b="0" i="0">
                <a:solidFill>
                  <a:srgbClr val="1A7A4A"/>
                </a:solidFill>
                <a:latin typeface="Calibri"/>
              </a:rPr>
              <a:t>❖  L ≥ L*  →  run absorbed, no T-bill liquidation</a:t>
            </a:r>
          </a:p>
          <a:p>
            <a:pPr algn="l">
              <a:spcBef>
                <a:spcPts val="400"/>
              </a:spcBef>
            </a:pPr>
            <a:r>
              <a:rPr sz="1300" b="0" i="0">
                <a:solidFill>
                  <a:srgbClr val="C0392B"/>
                </a:solidFill>
                <a:latin typeface="Calibri"/>
              </a:rPr>
              <a:t>❖  L &lt; L*  →  forced T-bill sales, spread spikes</a:t>
            </a:r>
          </a:p>
        </p:txBody>
      </p:sp>
      <p:sp>
        <p:nvSpPr>
          <p:cNvPr id="8" name="Rectangle 7"/>
          <p:cNvSpPr/>
          <p:nvPr/>
        </p:nvSpPr>
        <p:spPr>
          <a:xfrm>
            <a:off x="6217920" y="960120"/>
            <a:ext cx="5577840" cy="47548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355080" y="1024128"/>
            <a:ext cx="5303520" cy="457200"/>
          </a:xfrm>
          <a:prstGeom prst="rect">
            <a:avLst/>
          </a:prstGeom>
          <a:noFill/>
        </p:spPr>
        <p:txBody>
          <a:bodyPr wrap="square">
            <a:spAutoFit/>
          </a:bodyPr>
          <a:lstStyle/>
          <a:p>
            <a:pPr algn="l"/>
            <a:r>
              <a:rPr sz="1500" b="1" i="0">
                <a:solidFill>
                  <a:srgbClr val="FFFFFF"/>
                </a:solidFill>
                <a:latin typeface="Calibri"/>
              </a:rPr>
              <a:t>Main Estimating Equation</a:t>
            </a:r>
          </a:p>
        </p:txBody>
      </p:sp>
      <p:sp>
        <p:nvSpPr>
          <p:cNvPr id="10" name="TextBox 9"/>
          <p:cNvSpPr txBox="1"/>
          <p:nvPr/>
        </p:nvSpPr>
        <p:spPr>
          <a:xfrm>
            <a:off x="6355080" y="1536192"/>
            <a:ext cx="5303520" cy="1691640"/>
          </a:xfrm>
          <a:prstGeom prst="rect">
            <a:avLst/>
          </a:prstGeom>
          <a:noFill/>
        </p:spPr>
        <p:txBody>
          <a:bodyPr wrap="square">
            <a:spAutoFit/>
          </a:bodyPr>
          <a:lstStyle/>
          <a:p>
            <a:pPr algn="l"/>
            <a:r>
              <a:rPr sz="1400" b="0" i="0">
                <a:solidFill>
                  <a:srgbClr val="FFFFFF"/>
                </a:solidFill>
                <a:latin typeface="Courier New"/>
              </a:rPr>
              <a:t>Spreadₜ = α + β₁·ΔlnSₜ + β₂·θₜ + β₃·Lₜ
           + β₄·(Lₜ × ΔlnSₜ)
           + β₅·Vₜ + β₆·VIXₜ
           + β₇·ΔlnN*ₜ + εₜ</a:t>
            </a:r>
          </a:p>
        </p:txBody>
      </p:sp>
      <p:sp>
        <p:nvSpPr>
          <p:cNvPr id="11" name="TextBox 10"/>
          <p:cNvSpPr txBox="1"/>
          <p:nvPr/>
        </p:nvSpPr>
        <p:spPr>
          <a:xfrm>
            <a:off x="6355080" y="3337560"/>
            <a:ext cx="5303520" cy="2286000"/>
          </a:xfrm>
          <a:prstGeom prst="rect">
            <a:avLst/>
          </a:prstGeom>
          <a:noFill/>
        </p:spPr>
        <p:txBody>
          <a:bodyPr wrap="square">
            <a:spAutoFit/>
          </a:bodyPr>
          <a:lstStyle/>
          <a:p>
            <a:pPr>
              <a:spcBef>
                <a:spcPts val="0"/>
              </a:spcBef>
            </a:pPr>
            <a:endParaRPr/>
          </a:p>
          <a:p>
            <a:pPr algn="l">
              <a:spcBef>
                <a:spcPts val="400"/>
              </a:spcBef>
            </a:pPr>
            <a:r>
              <a:rPr sz="1300" b="1" i="0">
                <a:solidFill>
                  <a:srgbClr val="AAC4E8"/>
                </a:solidFill>
                <a:latin typeface="Calibri"/>
              </a:rPr>
              <a:t>Predicted signs:</a:t>
            </a:r>
          </a:p>
          <a:p>
            <a:pPr algn="l">
              <a:spcBef>
                <a:spcPts val="600"/>
              </a:spcBef>
            </a:pPr>
            <a:r>
              <a:rPr sz="1200" b="0" i="0">
                <a:solidFill>
                  <a:srgbClr val="FFFFFF"/>
                </a:solidFill>
                <a:latin typeface="Calibri"/>
              </a:rPr>
              <a:t>❖  β₁ &lt; 0: ΔlnS compresses spreads (privilege amplification)</a:t>
            </a:r>
          </a:p>
          <a:p>
            <a:pPr algn="l">
              <a:spcBef>
                <a:spcPts val="600"/>
              </a:spcBef>
            </a:pPr>
            <a:r>
              <a:rPr sz="1200" b="0" i="0">
                <a:solidFill>
                  <a:srgbClr val="FFFFFF"/>
                </a:solidFill>
                <a:latin typeface="Calibri"/>
              </a:rPr>
              <a:t>❖  β₂ &gt; 0: Higher T-bill exposure θ amplifies demand</a:t>
            </a:r>
          </a:p>
          <a:p>
            <a:pPr algn="l">
              <a:spcBef>
                <a:spcPts val="600"/>
              </a:spcBef>
            </a:pPr>
            <a:r>
              <a:rPr sz="1200" b="0" i="0">
                <a:solidFill>
                  <a:srgbClr val="FFFFFF"/>
                </a:solidFill>
                <a:latin typeface="Calibri"/>
              </a:rPr>
              <a:t>❖  β₄ &gt; 0: Higher L dampens crisis transmission during runs</a:t>
            </a:r>
          </a:p>
        </p:txBody>
      </p:sp>
      <p:sp>
        <p:nvSpPr>
          <p:cNvPr id="12" name="TextBox 11">
            <a:extLst>
              <a:ext uri="{FF2B5EF4-FFF2-40B4-BE49-F238E27FC236}">
                <a16:creationId xmlns:a16="http://schemas.microsoft.com/office/drawing/2014/main" id="{B1D29A55-C321-CDB2-A402-EDE9D16F264F}"/>
              </a:ext>
            </a:extLst>
          </p:cNvPr>
          <p:cNvSpPr txBox="1"/>
          <p:nvPr/>
        </p:nvSpPr>
        <p:spPr>
          <a:xfrm>
            <a:off x="11064240" y="206829"/>
            <a:ext cx="942703" cy="369332"/>
          </a:xfrm>
          <a:prstGeom prst="rect">
            <a:avLst/>
          </a:prstGeom>
          <a:noFill/>
        </p:spPr>
        <p:txBody>
          <a:bodyPr wrap="square" rtlCol="0">
            <a:spAutoFit/>
          </a:bodyPr>
          <a:lstStyle/>
          <a:p>
            <a:r>
              <a:rPr kumimoji="1" lang="en-US" altLang="ko-KR" dirty="0">
                <a:solidFill>
                  <a:schemeClr val="bg1"/>
                </a:solidFill>
              </a:rPr>
              <a:t>Oybek</a:t>
            </a:r>
            <a:endParaRPr kumimoji="1" lang="ko-KR" altLang="en-US" dirty="0">
              <a:solidFill>
                <a:schemeClr val="bg1"/>
              </a:solidFill>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Data &amp; Sample</a:t>
            </a:r>
          </a:p>
        </p:txBody>
      </p:sp>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6</a:t>
            </a:r>
          </a:p>
        </p:txBody>
      </p:sp>
      <p:sp>
        <p:nvSpPr>
          <p:cNvPr id="6" name="Rectangle 5"/>
          <p:cNvSpPr/>
          <p:nvPr/>
        </p:nvSpPr>
        <p:spPr>
          <a:xfrm>
            <a:off x="320040" y="960120"/>
            <a:ext cx="11521440" cy="384048"/>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365760" y="987552"/>
            <a:ext cx="2075688" cy="329184"/>
          </a:xfrm>
          <a:prstGeom prst="rect">
            <a:avLst/>
          </a:prstGeom>
          <a:noFill/>
        </p:spPr>
        <p:txBody>
          <a:bodyPr wrap="square">
            <a:spAutoFit/>
          </a:bodyPr>
          <a:lstStyle/>
          <a:p>
            <a:pPr algn="l"/>
            <a:r>
              <a:rPr sz="1300" b="1" i="0">
                <a:solidFill>
                  <a:srgbClr val="FFFFFF"/>
                </a:solidFill>
                <a:latin typeface="Calibri"/>
              </a:rPr>
              <a:t>Variable</a:t>
            </a:r>
          </a:p>
        </p:txBody>
      </p:sp>
      <p:sp>
        <p:nvSpPr>
          <p:cNvPr id="8" name="TextBox 7"/>
          <p:cNvSpPr txBox="1"/>
          <p:nvPr/>
        </p:nvSpPr>
        <p:spPr>
          <a:xfrm>
            <a:off x="2560320" y="987552"/>
            <a:ext cx="2441448" cy="329184"/>
          </a:xfrm>
          <a:prstGeom prst="rect">
            <a:avLst/>
          </a:prstGeom>
          <a:noFill/>
        </p:spPr>
        <p:txBody>
          <a:bodyPr wrap="square">
            <a:spAutoFit/>
          </a:bodyPr>
          <a:lstStyle/>
          <a:p>
            <a:pPr algn="l"/>
            <a:r>
              <a:rPr sz="1300" b="1" i="0">
                <a:solidFill>
                  <a:srgbClr val="FFFFFF"/>
                </a:solidFill>
                <a:latin typeface="Calibri"/>
              </a:rPr>
              <a:t>Definition</a:t>
            </a:r>
          </a:p>
        </p:txBody>
      </p:sp>
      <p:sp>
        <p:nvSpPr>
          <p:cNvPr id="9" name="TextBox 8"/>
          <p:cNvSpPr txBox="1"/>
          <p:nvPr/>
        </p:nvSpPr>
        <p:spPr>
          <a:xfrm>
            <a:off x="5120640" y="987552"/>
            <a:ext cx="4453128" cy="329184"/>
          </a:xfrm>
          <a:prstGeom prst="rect">
            <a:avLst/>
          </a:prstGeom>
          <a:noFill/>
        </p:spPr>
        <p:txBody>
          <a:bodyPr wrap="square">
            <a:spAutoFit/>
          </a:bodyPr>
          <a:lstStyle/>
          <a:p>
            <a:pPr algn="l"/>
            <a:r>
              <a:rPr sz="1300" b="1" i="0">
                <a:solidFill>
                  <a:srgbClr val="FFFFFF"/>
                </a:solidFill>
                <a:latin typeface="Calibri"/>
              </a:rPr>
              <a:t>Source</a:t>
            </a:r>
          </a:p>
        </p:txBody>
      </p:sp>
      <p:sp>
        <p:nvSpPr>
          <p:cNvPr id="10" name="TextBox 9"/>
          <p:cNvSpPr txBox="1"/>
          <p:nvPr/>
        </p:nvSpPr>
        <p:spPr>
          <a:xfrm>
            <a:off x="9692640" y="987552"/>
            <a:ext cx="2075688" cy="329184"/>
          </a:xfrm>
          <a:prstGeom prst="rect">
            <a:avLst/>
          </a:prstGeom>
          <a:noFill/>
        </p:spPr>
        <p:txBody>
          <a:bodyPr wrap="square">
            <a:spAutoFit/>
          </a:bodyPr>
          <a:lstStyle/>
          <a:p>
            <a:pPr algn="l"/>
            <a:r>
              <a:rPr sz="1300" b="1" i="0">
                <a:solidFill>
                  <a:srgbClr val="FFFFFF"/>
                </a:solidFill>
                <a:latin typeface="Calibri"/>
              </a:rPr>
              <a:t>Frequency</a:t>
            </a:r>
          </a:p>
        </p:txBody>
      </p:sp>
      <p:sp>
        <p:nvSpPr>
          <p:cNvPr id="11" name="Rectangle 10"/>
          <p:cNvSpPr/>
          <p:nvPr/>
        </p:nvSpPr>
        <p:spPr>
          <a:xfrm>
            <a:off x="320040" y="1344168"/>
            <a:ext cx="11521440" cy="667512"/>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374904" y="1435608"/>
            <a:ext cx="2057400" cy="502920"/>
          </a:xfrm>
          <a:prstGeom prst="rect">
            <a:avLst/>
          </a:prstGeom>
          <a:noFill/>
        </p:spPr>
        <p:txBody>
          <a:bodyPr wrap="square">
            <a:spAutoFit/>
          </a:bodyPr>
          <a:lstStyle/>
          <a:p>
            <a:pPr algn="l"/>
            <a:r>
              <a:rPr sz="1200" b="0" i="0">
                <a:solidFill>
                  <a:srgbClr val="1A1A2E"/>
                </a:solidFill>
                <a:latin typeface="Calibri"/>
              </a:rPr>
              <a:t>OIS–Treasury Spread</a:t>
            </a:r>
          </a:p>
        </p:txBody>
      </p:sp>
      <p:sp>
        <p:nvSpPr>
          <p:cNvPr id="13" name="TextBox 12"/>
          <p:cNvSpPr txBox="1"/>
          <p:nvPr/>
        </p:nvSpPr>
        <p:spPr>
          <a:xfrm>
            <a:off x="2569464" y="1435608"/>
            <a:ext cx="2423160" cy="502920"/>
          </a:xfrm>
          <a:prstGeom prst="rect">
            <a:avLst/>
          </a:prstGeom>
          <a:noFill/>
        </p:spPr>
        <p:txBody>
          <a:bodyPr wrap="square">
            <a:spAutoFit/>
          </a:bodyPr>
          <a:lstStyle/>
          <a:p>
            <a:pPr algn="l"/>
            <a:r>
              <a:rPr sz="1200" b="0" i="0">
                <a:solidFill>
                  <a:srgbClr val="1A1A2E"/>
                </a:solidFill>
                <a:latin typeface="Calibri"/>
              </a:rPr>
              <a:t>DTB3 − SOFR90DAYAVG</a:t>
            </a:r>
          </a:p>
        </p:txBody>
      </p:sp>
      <p:sp>
        <p:nvSpPr>
          <p:cNvPr id="14" name="TextBox 13"/>
          <p:cNvSpPr txBox="1"/>
          <p:nvPr/>
        </p:nvSpPr>
        <p:spPr>
          <a:xfrm>
            <a:off x="5129784" y="1435608"/>
            <a:ext cx="4434840" cy="502920"/>
          </a:xfrm>
          <a:prstGeom prst="rect">
            <a:avLst/>
          </a:prstGeom>
          <a:noFill/>
        </p:spPr>
        <p:txBody>
          <a:bodyPr wrap="square">
            <a:spAutoFit/>
          </a:bodyPr>
          <a:lstStyle/>
          <a:p>
            <a:pPr algn="l"/>
            <a:r>
              <a:rPr sz="1200" b="0" i="0">
                <a:solidFill>
                  <a:srgbClr val="1A1A2E"/>
                </a:solidFill>
                <a:latin typeface="Calibri"/>
              </a:rPr>
              <a:t>FRED (direct CSV, no API key)</a:t>
            </a:r>
          </a:p>
        </p:txBody>
      </p:sp>
      <p:sp>
        <p:nvSpPr>
          <p:cNvPr id="15" name="TextBox 14"/>
          <p:cNvSpPr txBox="1"/>
          <p:nvPr/>
        </p:nvSpPr>
        <p:spPr>
          <a:xfrm>
            <a:off x="9701784" y="1435608"/>
            <a:ext cx="2057400" cy="502920"/>
          </a:xfrm>
          <a:prstGeom prst="rect">
            <a:avLst/>
          </a:prstGeom>
          <a:noFill/>
        </p:spPr>
        <p:txBody>
          <a:bodyPr wrap="square">
            <a:spAutoFit/>
          </a:bodyPr>
          <a:lstStyle/>
          <a:p>
            <a:pPr algn="l"/>
            <a:r>
              <a:rPr sz="1200" b="0" i="0">
                <a:solidFill>
                  <a:srgbClr val="1A1A2E"/>
                </a:solidFill>
                <a:latin typeface="Calibri"/>
              </a:rPr>
              <a:t>Daily → Monthly</a:t>
            </a:r>
          </a:p>
        </p:txBody>
      </p:sp>
      <p:sp>
        <p:nvSpPr>
          <p:cNvPr id="16" name="Rectangle 15"/>
          <p:cNvSpPr/>
          <p:nvPr/>
        </p:nvSpPr>
        <p:spPr>
          <a:xfrm>
            <a:off x="320040" y="2011680"/>
            <a:ext cx="11521440" cy="66751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374904" y="2103120"/>
            <a:ext cx="2057400" cy="502920"/>
          </a:xfrm>
          <a:prstGeom prst="rect">
            <a:avLst/>
          </a:prstGeom>
          <a:noFill/>
        </p:spPr>
        <p:txBody>
          <a:bodyPr wrap="square">
            <a:spAutoFit/>
          </a:bodyPr>
          <a:lstStyle/>
          <a:p>
            <a:pPr algn="l"/>
            <a:r>
              <a:rPr sz="1200" b="0" i="0">
                <a:solidFill>
                  <a:srgbClr val="1A1A2E"/>
                </a:solidFill>
                <a:latin typeface="Calibri"/>
              </a:rPr>
              <a:t>Stablecoin Supply S</a:t>
            </a:r>
          </a:p>
        </p:txBody>
      </p:sp>
      <p:sp>
        <p:nvSpPr>
          <p:cNvPr id="18" name="TextBox 17"/>
          <p:cNvSpPr txBox="1"/>
          <p:nvPr/>
        </p:nvSpPr>
        <p:spPr>
          <a:xfrm>
            <a:off x="2569464" y="2103120"/>
            <a:ext cx="2423160" cy="502920"/>
          </a:xfrm>
          <a:prstGeom prst="rect">
            <a:avLst/>
          </a:prstGeom>
          <a:noFill/>
        </p:spPr>
        <p:txBody>
          <a:bodyPr wrap="square">
            <a:spAutoFit/>
          </a:bodyPr>
          <a:lstStyle/>
          <a:p>
            <a:pPr algn="l"/>
            <a:r>
              <a:rPr sz="1200" b="0" i="0">
                <a:solidFill>
                  <a:srgbClr val="1A1A2E"/>
                </a:solidFill>
                <a:latin typeface="Calibri"/>
              </a:rPr>
              <a:t>USDT + USDC market cap</a:t>
            </a:r>
          </a:p>
        </p:txBody>
      </p:sp>
      <p:sp>
        <p:nvSpPr>
          <p:cNvPr id="19" name="TextBox 18"/>
          <p:cNvSpPr txBox="1"/>
          <p:nvPr/>
        </p:nvSpPr>
        <p:spPr>
          <a:xfrm>
            <a:off x="5129784" y="2103120"/>
            <a:ext cx="4434840" cy="502920"/>
          </a:xfrm>
          <a:prstGeom prst="rect">
            <a:avLst/>
          </a:prstGeom>
          <a:noFill/>
        </p:spPr>
        <p:txBody>
          <a:bodyPr wrap="square">
            <a:spAutoFit/>
          </a:bodyPr>
          <a:lstStyle/>
          <a:p>
            <a:pPr algn="l"/>
            <a:r>
              <a:rPr sz="1200" b="0" i="0">
                <a:solidFill>
                  <a:srgbClr val="1A1A2E"/>
                </a:solidFill>
                <a:latin typeface="Calibri"/>
              </a:rPr>
              <a:t>DeFiLlama stablecoins API (free)</a:t>
            </a:r>
          </a:p>
        </p:txBody>
      </p:sp>
      <p:sp>
        <p:nvSpPr>
          <p:cNvPr id="20" name="TextBox 19"/>
          <p:cNvSpPr txBox="1"/>
          <p:nvPr/>
        </p:nvSpPr>
        <p:spPr>
          <a:xfrm>
            <a:off x="9701784" y="2103120"/>
            <a:ext cx="2057400" cy="502920"/>
          </a:xfrm>
          <a:prstGeom prst="rect">
            <a:avLst/>
          </a:prstGeom>
          <a:noFill/>
        </p:spPr>
        <p:txBody>
          <a:bodyPr wrap="square">
            <a:spAutoFit/>
          </a:bodyPr>
          <a:lstStyle/>
          <a:p>
            <a:pPr algn="l"/>
            <a:r>
              <a:rPr sz="1200" b="0" i="0">
                <a:solidFill>
                  <a:srgbClr val="1A1A2E"/>
                </a:solidFill>
                <a:latin typeface="Calibri"/>
              </a:rPr>
              <a:t>Daily → Monthly</a:t>
            </a:r>
          </a:p>
        </p:txBody>
      </p:sp>
      <p:sp>
        <p:nvSpPr>
          <p:cNvPr id="21" name="Rectangle 20"/>
          <p:cNvSpPr/>
          <p:nvPr/>
        </p:nvSpPr>
        <p:spPr>
          <a:xfrm>
            <a:off x="320040" y="2679192"/>
            <a:ext cx="11521440" cy="667512"/>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374904" y="2770632"/>
            <a:ext cx="2057400" cy="502920"/>
          </a:xfrm>
          <a:prstGeom prst="rect">
            <a:avLst/>
          </a:prstGeom>
          <a:noFill/>
        </p:spPr>
        <p:txBody>
          <a:bodyPr wrap="square">
            <a:spAutoFit/>
          </a:bodyPr>
          <a:lstStyle/>
          <a:p>
            <a:pPr algn="l"/>
            <a:r>
              <a:rPr sz="1200" b="0" i="0">
                <a:solidFill>
                  <a:srgbClr val="1A1A2E"/>
                </a:solidFill>
                <a:latin typeface="Calibri"/>
              </a:rPr>
              <a:t>θ  (Treasury Exposure)</a:t>
            </a:r>
          </a:p>
        </p:txBody>
      </p:sp>
      <p:sp>
        <p:nvSpPr>
          <p:cNvPr id="23" name="TextBox 22"/>
          <p:cNvSpPr txBox="1"/>
          <p:nvPr/>
        </p:nvSpPr>
        <p:spPr>
          <a:xfrm>
            <a:off x="2569464" y="2770632"/>
            <a:ext cx="2423160" cy="502920"/>
          </a:xfrm>
          <a:prstGeom prst="rect">
            <a:avLst/>
          </a:prstGeom>
          <a:noFill/>
        </p:spPr>
        <p:txBody>
          <a:bodyPr wrap="square">
            <a:spAutoFit/>
          </a:bodyPr>
          <a:lstStyle/>
          <a:p>
            <a:pPr algn="l"/>
            <a:r>
              <a:rPr sz="1200" b="0" i="0">
                <a:solidFill>
                  <a:srgbClr val="1A1A2E"/>
                </a:solidFill>
                <a:latin typeface="Calibri"/>
              </a:rPr>
              <a:t>T-bill holdings / supply</a:t>
            </a:r>
          </a:p>
        </p:txBody>
      </p:sp>
      <p:sp>
        <p:nvSpPr>
          <p:cNvPr id="24" name="TextBox 23"/>
          <p:cNvSpPr txBox="1"/>
          <p:nvPr/>
        </p:nvSpPr>
        <p:spPr>
          <a:xfrm>
            <a:off x="5129784" y="2770632"/>
            <a:ext cx="4434840" cy="502920"/>
          </a:xfrm>
          <a:prstGeom prst="rect">
            <a:avLst/>
          </a:prstGeom>
          <a:noFill/>
        </p:spPr>
        <p:txBody>
          <a:bodyPr wrap="square">
            <a:spAutoFit/>
          </a:bodyPr>
          <a:lstStyle/>
          <a:p>
            <a:pPr algn="l"/>
            <a:r>
              <a:rPr sz="1200" b="0" i="0">
                <a:solidFill>
                  <a:srgbClr val="1A1A2E"/>
                </a:solidFill>
                <a:latin typeface="Calibri"/>
              </a:rPr>
              <a:t>Tether/BDO + Circle/Deloitte attestations</a:t>
            </a:r>
          </a:p>
        </p:txBody>
      </p:sp>
      <p:sp>
        <p:nvSpPr>
          <p:cNvPr id="25" name="TextBox 24"/>
          <p:cNvSpPr txBox="1"/>
          <p:nvPr/>
        </p:nvSpPr>
        <p:spPr>
          <a:xfrm>
            <a:off x="9701784" y="2770632"/>
            <a:ext cx="2057400" cy="502920"/>
          </a:xfrm>
          <a:prstGeom prst="rect">
            <a:avLst/>
          </a:prstGeom>
          <a:noFill/>
        </p:spPr>
        <p:txBody>
          <a:bodyPr wrap="square">
            <a:spAutoFit/>
          </a:bodyPr>
          <a:lstStyle/>
          <a:p>
            <a:pPr algn="l"/>
            <a:r>
              <a:rPr sz="1200" b="0" i="0">
                <a:solidFill>
                  <a:srgbClr val="1A1A2E"/>
                </a:solidFill>
                <a:latin typeface="Calibri"/>
              </a:rPr>
              <a:t>Quarterly/Monthly</a:t>
            </a:r>
          </a:p>
        </p:txBody>
      </p:sp>
      <p:sp>
        <p:nvSpPr>
          <p:cNvPr id="26" name="Rectangle 25"/>
          <p:cNvSpPr/>
          <p:nvPr/>
        </p:nvSpPr>
        <p:spPr>
          <a:xfrm>
            <a:off x="320040" y="3346704"/>
            <a:ext cx="11521440" cy="66751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374904" y="3438144"/>
            <a:ext cx="2057400" cy="502920"/>
          </a:xfrm>
          <a:prstGeom prst="rect">
            <a:avLst/>
          </a:prstGeom>
          <a:noFill/>
        </p:spPr>
        <p:txBody>
          <a:bodyPr wrap="square">
            <a:spAutoFit/>
          </a:bodyPr>
          <a:lstStyle/>
          <a:p>
            <a:pPr algn="l"/>
            <a:r>
              <a:rPr sz="1200" b="0" i="0">
                <a:solidFill>
                  <a:srgbClr val="1A1A2E"/>
                </a:solidFill>
                <a:latin typeface="Calibri"/>
              </a:rPr>
              <a:t>L  (Liquid Buffer)</a:t>
            </a:r>
          </a:p>
        </p:txBody>
      </p:sp>
      <p:sp>
        <p:nvSpPr>
          <p:cNvPr id="28" name="TextBox 27"/>
          <p:cNvSpPr txBox="1"/>
          <p:nvPr/>
        </p:nvSpPr>
        <p:spPr>
          <a:xfrm>
            <a:off x="2569464" y="3438144"/>
            <a:ext cx="2423160" cy="502920"/>
          </a:xfrm>
          <a:prstGeom prst="rect">
            <a:avLst/>
          </a:prstGeom>
          <a:noFill/>
        </p:spPr>
        <p:txBody>
          <a:bodyPr wrap="square">
            <a:spAutoFit/>
          </a:bodyPr>
          <a:lstStyle/>
          <a:p>
            <a:pPr algn="l"/>
            <a:r>
              <a:rPr sz="1200" b="0" i="0">
                <a:solidFill>
                  <a:srgbClr val="1A1A2E"/>
                </a:solidFill>
                <a:latin typeface="Calibri"/>
              </a:rPr>
              <a:t>Cash reserves / supply</a:t>
            </a:r>
          </a:p>
        </p:txBody>
      </p:sp>
      <p:sp>
        <p:nvSpPr>
          <p:cNvPr id="29" name="TextBox 28"/>
          <p:cNvSpPr txBox="1"/>
          <p:nvPr/>
        </p:nvSpPr>
        <p:spPr>
          <a:xfrm>
            <a:off x="5129784" y="3438144"/>
            <a:ext cx="4434840" cy="502920"/>
          </a:xfrm>
          <a:prstGeom prst="rect">
            <a:avLst/>
          </a:prstGeom>
          <a:noFill/>
        </p:spPr>
        <p:txBody>
          <a:bodyPr wrap="square">
            <a:spAutoFit/>
          </a:bodyPr>
          <a:lstStyle/>
          <a:p>
            <a:pPr algn="l"/>
            <a:r>
              <a:rPr sz="1200" b="0" i="0">
                <a:solidFill>
                  <a:srgbClr val="1A1A2E"/>
                </a:solidFill>
                <a:latin typeface="Calibri"/>
              </a:rPr>
              <a:t>Tether/BDO + Circle/Deloitte attestations</a:t>
            </a:r>
          </a:p>
        </p:txBody>
      </p:sp>
      <p:sp>
        <p:nvSpPr>
          <p:cNvPr id="30" name="TextBox 29"/>
          <p:cNvSpPr txBox="1"/>
          <p:nvPr/>
        </p:nvSpPr>
        <p:spPr>
          <a:xfrm>
            <a:off x="9701784" y="3438144"/>
            <a:ext cx="2057400" cy="502920"/>
          </a:xfrm>
          <a:prstGeom prst="rect">
            <a:avLst/>
          </a:prstGeom>
          <a:noFill/>
        </p:spPr>
        <p:txBody>
          <a:bodyPr wrap="square">
            <a:spAutoFit/>
          </a:bodyPr>
          <a:lstStyle/>
          <a:p>
            <a:pPr algn="l"/>
            <a:r>
              <a:rPr sz="1200" b="0" i="0">
                <a:solidFill>
                  <a:srgbClr val="1A1A2E"/>
                </a:solidFill>
                <a:latin typeface="Calibri"/>
              </a:rPr>
              <a:t>Quarterly/Monthly</a:t>
            </a:r>
          </a:p>
        </p:txBody>
      </p:sp>
      <p:sp>
        <p:nvSpPr>
          <p:cNvPr id="31" name="Rectangle 30"/>
          <p:cNvSpPr/>
          <p:nvPr/>
        </p:nvSpPr>
        <p:spPr>
          <a:xfrm>
            <a:off x="320040" y="4014216"/>
            <a:ext cx="11521440" cy="667512"/>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374904" y="4105656"/>
            <a:ext cx="2057400" cy="502920"/>
          </a:xfrm>
          <a:prstGeom prst="rect">
            <a:avLst/>
          </a:prstGeom>
          <a:noFill/>
        </p:spPr>
        <p:txBody>
          <a:bodyPr wrap="square">
            <a:spAutoFit/>
          </a:bodyPr>
          <a:lstStyle/>
          <a:p>
            <a:pPr algn="l"/>
            <a:r>
              <a:rPr sz="1200" b="0" i="0">
                <a:solidFill>
                  <a:srgbClr val="1A1A2E"/>
                </a:solidFill>
                <a:latin typeface="Calibri"/>
              </a:rPr>
              <a:t>Velocity V</a:t>
            </a:r>
          </a:p>
        </p:txBody>
      </p:sp>
      <p:sp>
        <p:nvSpPr>
          <p:cNvPr id="33" name="TextBox 32"/>
          <p:cNvSpPr txBox="1"/>
          <p:nvPr/>
        </p:nvSpPr>
        <p:spPr>
          <a:xfrm>
            <a:off x="2569464" y="4105656"/>
            <a:ext cx="2423160" cy="502920"/>
          </a:xfrm>
          <a:prstGeom prst="rect">
            <a:avLst/>
          </a:prstGeom>
          <a:noFill/>
        </p:spPr>
        <p:txBody>
          <a:bodyPr wrap="square">
            <a:spAutoFit/>
          </a:bodyPr>
          <a:lstStyle/>
          <a:p>
            <a:pPr algn="l"/>
            <a:r>
              <a:rPr sz="1200" b="0" i="0">
                <a:solidFill>
                  <a:srgbClr val="1A1A2E"/>
                </a:solidFill>
                <a:latin typeface="Calibri"/>
              </a:rPr>
              <a:t>7-day rolling SD of ΔlnS</a:t>
            </a:r>
          </a:p>
        </p:txBody>
      </p:sp>
      <p:sp>
        <p:nvSpPr>
          <p:cNvPr id="34" name="TextBox 33"/>
          <p:cNvSpPr txBox="1"/>
          <p:nvPr/>
        </p:nvSpPr>
        <p:spPr>
          <a:xfrm>
            <a:off x="5129784" y="4105656"/>
            <a:ext cx="4434840" cy="502920"/>
          </a:xfrm>
          <a:prstGeom prst="rect">
            <a:avLst/>
          </a:prstGeom>
          <a:noFill/>
        </p:spPr>
        <p:txBody>
          <a:bodyPr wrap="square">
            <a:spAutoFit/>
          </a:bodyPr>
          <a:lstStyle/>
          <a:p>
            <a:pPr algn="l"/>
            <a:r>
              <a:rPr sz="1200" b="0" i="0">
                <a:solidFill>
                  <a:srgbClr val="1A1A2E"/>
                </a:solidFill>
                <a:latin typeface="Calibri"/>
              </a:rPr>
              <a:t>Computed from DeFiLlama</a:t>
            </a:r>
          </a:p>
        </p:txBody>
      </p:sp>
      <p:sp>
        <p:nvSpPr>
          <p:cNvPr id="35" name="TextBox 34"/>
          <p:cNvSpPr txBox="1"/>
          <p:nvPr/>
        </p:nvSpPr>
        <p:spPr>
          <a:xfrm>
            <a:off x="9701784" y="4105656"/>
            <a:ext cx="2057400" cy="502920"/>
          </a:xfrm>
          <a:prstGeom prst="rect">
            <a:avLst/>
          </a:prstGeom>
          <a:noFill/>
        </p:spPr>
        <p:txBody>
          <a:bodyPr wrap="square">
            <a:spAutoFit/>
          </a:bodyPr>
          <a:lstStyle/>
          <a:p>
            <a:pPr algn="l"/>
            <a:r>
              <a:rPr sz="1200" b="0" i="0">
                <a:solidFill>
                  <a:srgbClr val="1A1A2E"/>
                </a:solidFill>
                <a:latin typeface="Calibri"/>
              </a:rPr>
              <a:t>Daily → Monthly</a:t>
            </a:r>
          </a:p>
        </p:txBody>
      </p:sp>
      <p:sp>
        <p:nvSpPr>
          <p:cNvPr id="36" name="Rectangle 35"/>
          <p:cNvSpPr/>
          <p:nvPr/>
        </p:nvSpPr>
        <p:spPr>
          <a:xfrm>
            <a:off x="320040" y="4681728"/>
            <a:ext cx="11521440" cy="66751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374904" y="4773168"/>
            <a:ext cx="2057400" cy="502920"/>
          </a:xfrm>
          <a:prstGeom prst="rect">
            <a:avLst/>
          </a:prstGeom>
          <a:noFill/>
        </p:spPr>
        <p:txBody>
          <a:bodyPr wrap="square">
            <a:spAutoFit/>
          </a:bodyPr>
          <a:lstStyle/>
          <a:p>
            <a:pPr algn="l"/>
            <a:r>
              <a:rPr sz="1200" b="0" i="0">
                <a:solidFill>
                  <a:srgbClr val="1A1A2E"/>
                </a:solidFill>
                <a:latin typeface="Calibri"/>
              </a:rPr>
              <a:t>VIX</a:t>
            </a:r>
          </a:p>
        </p:txBody>
      </p:sp>
      <p:sp>
        <p:nvSpPr>
          <p:cNvPr id="38" name="TextBox 37"/>
          <p:cNvSpPr txBox="1"/>
          <p:nvPr/>
        </p:nvSpPr>
        <p:spPr>
          <a:xfrm>
            <a:off x="2569464" y="4773168"/>
            <a:ext cx="2423160" cy="502920"/>
          </a:xfrm>
          <a:prstGeom prst="rect">
            <a:avLst/>
          </a:prstGeom>
          <a:noFill/>
        </p:spPr>
        <p:txBody>
          <a:bodyPr wrap="square">
            <a:spAutoFit/>
          </a:bodyPr>
          <a:lstStyle/>
          <a:p>
            <a:pPr algn="l"/>
            <a:r>
              <a:rPr sz="1200" b="0" i="0">
                <a:solidFill>
                  <a:srgbClr val="1A1A2E"/>
                </a:solidFill>
                <a:latin typeface="Calibri"/>
              </a:rPr>
              <a:t>CBOE VIX index</a:t>
            </a:r>
          </a:p>
        </p:txBody>
      </p:sp>
      <p:sp>
        <p:nvSpPr>
          <p:cNvPr id="39" name="TextBox 38"/>
          <p:cNvSpPr txBox="1"/>
          <p:nvPr/>
        </p:nvSpPr>
        <p:spPr>
          <a:xfrm>
            <a:off x="5129784" y="4773168"/>
            <a:ext cx="4434840" cy="502920"/>
          </a:xfrm>
          <a:prstGeom prst="rect">
            <a:avLst/>
          </a:prstGeom>
          <a:noFill/>
        </p:spPr>
        <p:txBody>
          <a:bodyPr wrap="square">
            <a:spAutoFit/>
          </a:bodyPr>
          <a:lstStyle/>
          <a:p>
            <a:pPr algn="l"/>
            <a:r>
              <a:rPr sz="1200" b="0" i="0">
                <a:solidFill>
                  <a:srgbClr val="1A1A2E"/>
                </a:solidFill>
                <a:latin typeface="Calibri"/>
              </a:rPr>
              <a:t>FRED</a:t>
            </a:r>
          </a:p>
        </p:txBody>
      </p:sp>
      <p:sp>
        <p:nvSpPr>
          <p:cNvPr id="40" name="TextBox 39"/>
          <p:cNvSpPr txBox="1"/>
          <p:nvPr/>
        </p:nvSpPr>
        <p:spPr>
          <a:xfrm>
            <a:off x="9701784" y="4773168"/>
            <a:ext cx="2057400" cy="502920"/>
          </a:xfrm>
          <a:prstGeom prst="rect">
            <a:avLst/>
          </a:prstGeom>
          <a:noFill/>
        </p:spPr>
        <p:txBody>
          <a:bodyPr wrap="square">
            <a:spAutoFit/>
          </a:bodyPr>
          <a:lstStyle/>
          <a:p>
            <a:pPr algn="l"/>
            <a:r>
              <a:rPr sz="1200" b="0" i="0">
                <a:solidFill>
                  <a:srgbClr val="1A1A2E"/>
                </a:solidFill>
                <a:latin typeface="Calibri"/>
              </a:rPr>
              <a:t>Daily → Monthly</a:t>
            </a:r>
          </a:p>
        </p:txBody>
      </p:sp>
      <p:sp>
        <p:nvSpPr>
          <p:cNvPr id="41" name="Rectangle 40"/>
          <p:cNvSpPr/>
          <p:nvPr/>
        </p:nvSpPr>
        <p:spPr>
          <a:xfrm>
            <a:off x="320040" y="5349240"/>
            <a:ext cx="11521440" cy="667512"/>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374904" y="5440680"/>
            <a:ext cx="2057400" cy="502920"/>
          </a:xfrm>
          <a:prstGeom prst="rect">
            <a:avLst/>
          </a:prstGeom>
          <a:noFill/>
        </p:spPr>
        <p:txBody>
          <a:bodyPr wrap="square">
            <a:spAutoFit/>
          </a:bodyPr>
          <a:lstStyle/>
          <a:p>
            <a:pPr algn="l"/>
            <a:r>
              <a:rPr sz="1200" b="0" i="0">
                <a:solidFill>
                  <a:srgbClr val="1A1A2E"/>
                </a:solidFill>
                <a:latin typeface="Calibri"/>
              </a:rPr>
              <a:t>ΔlnN* (RoW equity)</a:t>
            </a:r>
          </a:p>
        </p:txBody>
      </p:sp>
      <p:sp>
        <p:nvSpPr>
          <p:cNvPr id="43" name="TextBox 42"/>
          <p:cNvSpPr txBox="1"/>
          <p:nvPr/>
        </p:nvSpPr>
        <p:spPr>
          <a:xfrm>
            <a:off x="2569464" y="5440680"/>
            <a:ext cx="2423160" cy="502920"/>
          </a:xfrm>
          <a:prstGeom prst="rect">
            <a:avLst/>
          </a:prstGeom>
          <a:noFill/>
        </p:spPr>
        <p:txBody>
          <a:bodyPr wrap="square">
            <a:spAutoFit/>
          </a:bodyPr>
          <a:lstStyle/>
          <a:p>
            <a:pPr algn="l"/>
            <a:r>
              <a:rPr sz="1200" b="0" i="0">
                <a:solidFill>
                  <a:srgbClr val="1A1A2E"/>
                </a:solidFill>
                <a:latin typeface="Calibri"/>
              </a:rPr>
              <a:t>ACWX ETF log-return</a:t>
            </a:r>
          </a:p>
        </p:txBody>
      </p:sp>
      <p:sp>
        <p:nvSpPr>
          <p:cNvPr id="44" name="TextBox 43"/>
          <p:cNvSpPr txBox="1"/>
          <p:nvPr/>
        </p:nvSpPr>
        <p:spPr>
          <a:xfrm>
            <a:off x="5129784" y="5440680"/>
            <a:ext cx="4434840" cy="502920"/>
          </a:xfrm>
          <a:prstGeom prst="rect">
            <a:avLst/>
          </a:prstGeom>
          <a:noFill/>
        </p:spPr>
        <p:txBody>
          <a:bodyPr wrap="square">
            <a:spAutoFit/>
          </a:bodyPr>
          <a:lstStyle/>
          <a:p>
            <a:pPr algn="l"/>
            <a:r>
              <a:rPr sz="1200" b="0" i="0">
                <a:solidFill>
                  <a:srgbClr val="1A1A2E"/>
                </a:solidFill>
                <a:latin typeface="Calibri"/>
              </a:rPr>
              <a:t>Yahoo Finance</a:t>
            </a:r>
          </a:p>
        </p:txBody>
      </p:sp>
      <p:sp>
        <p:nvSpPr>
          <p:cNvPr id="45" name="TextBox 44"/>
          <p:cNvSpPr txBox="1"/>
          <p:nvPr/>
        </p:nvSpPr>
        <p:spPr>
          <a:xfrm>
            <a:off x="9701784" y="5440680"/>
            <a:ext cx="2057400" cy="502920"/>
          </a:xfrm>
          <a:prstGeom prst="rect">
            <a:avLst/>
          </a:prstGeom>
          <a:noFill/>
        </p:spPr>
        <p:txBody>
          <a:bodyPr wrap="square">
            <a:spAutoFit/>
          </a:bodyPr>
          <a:lstStyle/>
          <a:p>
            <a:pPr algn="l"/>
            <a:r>
              <a:rPr sz="1200" b="0" i="0">
                <a:solidFill>
                  <a:srgbClr val="1A1A2E"/>
                </a:solidFill>
                <a:latin typeface="Calibri"/>
              </a:rPr>
              <a:t>Daily → Monthly</a:t>
            </a:r>
          </a:p>
        </p:txBody>
      </p:sp>
      <p:sp>
        <p:nvSpPr>
          <p:cNvPr id="46" name="TextBox 45"/>
          <p:cNvSpPr txBox="1"/>
          <p:nvPr/>
        </p:nvSpPr>
        <p:spPr>
          <a:xfrm>
            <a:off x="320040" y="6355080"/>
            <a:ext cx="11521440" cy="384048"/>
          </a:xfrm>
          <a:prstGeom prst="rect">
            <a:avLst/>
          </a:prstGeom>
          <a:noFill/>
        </p:spPr>
        <p:txBody>
          <a:bodyPr wrap="square">
            <a:spAutoFit/>
          </a:bodyPr>
          <a:lstStyle/>
          <a:p>
            <a:pPr algn="ctr"/>
            <a:r>
              <a:rPr sz="1100" b="0" i="1">
                <a:solidFill>
                  <a:srgbClr val="555566"/>
                </a:solidFill>
                <a:latin typeface="Calibri"/>
              </a:rPr>
              <a:t>Sample: January 2022 – March 2026  |  N = 51 monthly observations  |  θ and L sourced from Tether/BDO and Circle/Deloitte reserve attestations</a:t>
            </a:r>
          </a:p>
        </p:txBody>
      </p:sp>
      <p:sp>
        <p:nvSpPr>
          <p:cNvPr id="47" name="TextBox 46"/>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6</a:t>
            </a:r>
          </a:p>
        </p:txBody>
      </p:sp>
      <p:sp>
        <p:nvSpPr>
          <p:cNvPr id="48" name="TextBox 47">
            <a:extLst>
              <a:ext uri="{FF2B5EF4-FFF2-40B4-BE49-F238E27FC236}">
                <a16:creationId xmlns:a16="http://schemas.microsoft.com/office/drawing/2014/main" id="{A5FBE91D-72ED-0B4C-F17A-42F3893CD05A}"/>
              </a:ext>
            </a:extLst>
          </p:cNvPr>
          <p:cNvSpPr txBox="1"/>
          <p:nvPr/>
        </p:nvSpPr>
        <p:spPr>
          <a:xfrm>
            <a:off x="11064240" y="206829"/>
            <a:ext cx="942703" cy="369332"/>
          </a:xfrm>
          <a:prstGeom prst="rect">
            <a:avLst/>
          </a:prstGeom>
          <a:noFill/>
        </p:spPr>
        <p:txBody>
          <a:bodyPr wrap="square" rtlCol="0">
            <a:spAutoFit/>
          </a:bodyPr>
          <a:lstStyle/>
          <a:p>
            <a:r>
              <a:rPr kumimoji="1" lang="en-US" altLang="ko-KR" dirty="0">
                <a:solidFill>
                  <a:schemeClr val="bg1"/>
                </a:solidFill>
              </a:rPr>
              <a:t>Oybek</a:t>
            </a:r>
            <a:endParaRPr kumimoji="1" lang="ko-KR" altLang="en-US" dirty="0">
              <a:solidFill>
                <a:schemeClr val="bg1"/>
              </a:solidFill>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Key Variables: January 2022 – March 2026</a:t>
            </a:r>
          </a:p>
        </p:txBody>
      </p:sp>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7</a:t>
            </a:r>
          </a:p>
        </p:txBody>
      </p:sp>
      <p:pic>
        <p:nvPicPr>
          <p:cNvPr id="6" name="Picture 5" descr="fig_timeseries.png"/>
          <p:cNvPicPr>
            <a:picLocks noChangeAspect="1"/>
          </p:cNvPicPr>
          <p:nvPr/>
        </p:nvPicPr>
        <p:blipFill>
          <a:blip r:embed="rId3"/>
          <a:stretch>
            <a:fillRect/>
          </a:stretch>
        </p:blipFill>
        <p:spPr>
          <a:xfrm>
            <a:off x="274320" y="914400"/>
            <a:ext cx="7772400" cy="5692886"/>
          </a:xfrm>
          <a:prstGeom prst="rect">
            <a:avLst/>
          </a:prstGeom>
        </p:spPr>
      </p:pic>
      <p:sp>
        <p:nvSpPr>
          <p:cNvPr id="7" name="TextBox 6"/>
          <p:cNvSpPr txBox="1"/>
          <p:nvPr/>
        </p:nvSpPr>
        <p:spPr>
          <a:xfrm>
            <a:off x="8119871" y="1075509"/>
            <a:ext cx="3887071" cy="5216813"/>
          </a:xfrm>
          <a:prstGeom prst="rect">
            <a:avLst/>
          </a:prstGeom>
          <a:noFill/>
        </p:spPr>
        <p:txBody>
          <a:bodyPr wrap="square">
            <a:spAutoFit/>
          </a:bodyPr>
          <a:lstStyle/>
          <a:p>
            <a:pPr algn="l">
              <a:spcBef>
                <a:spcPts val="400"/>
              </a:spcBef>
            </a:pPr>
            <a:r>
              <a:rPr b="1" i="0" dirty="0">
                <a:solidFill>
                  <a:srgbClr val="1B3A72"/>
                </a:solidFill>
                <a:latin typeface="Calibri"/>
              </a:rPr>
              <a:t>Three panels, one story</a:t>
            </a:r>
          </a:p>
          <a:p>
            <a:pPr algn="l">
              <a:spcBef>
                <a:spcPts val="900"/>
              </a:spcBef>
            </a:pPr>
            <a:r>
              <a:rPr sz="1600" b="0" i="0" dirty="0">
                <a:solidFill>
                  <a:srgbClr val="1A1A2E"/>
                </a:solidFill>
                <a:latin typeface="Calibri"/>
              </a:rPr>
              <a:t>❖  A: Treasury spread — compresses when supply grows, spikes in crises</a:t>
            </a:r>
            <a:endParaRPr lang="en-US" sz="1600" b="0" i="0" dirty="0">
              <a:solidFill>
                <a:srgbClr val="1A1A2E"/>
              </a:solidFill>
              <a:latin typeface="Calibri"/>
            </a:endParaRPr>
          </a:p>
          <a:p>
            <a:pPr>
              <a:spcBef>
                <a:spcPts val="900"/>
              </a:spcBef>
            </a:pPr>
            <a:r>
              <a:rPr lang="en-US" altLang="ko-KR" sz="1600" dirty="0">
                <a:solidFill>
                  <a:srgbClr val="1A1A2E"/>
                </a:solidFill>
              </a:rPr>
              <a:t>❖  Red vertical lines = stress events we study</a:t>
            </a:r>
          </a:p>
          <a:p>
            <a:pPr algn="l">
              <a:spcBef>
                <a:spcPts val="900"/>
              </a:spcBef>
            </a:pPr>
            <a:endParaRPr lang="en-US" sz="1600" b="0" i="0" dirty="0">
              <a:solidFill>
                <a:srgbClr val="1A1A2E"/>
              </a:solidFill>
              <a:latin typeface="Calibri"/>
            </a:endParaRPr>
          </a:p>
          <a:p>
            <a:pPr algn="l">
              <a:spcBef>
                <a:spcPts val="900"/>
              </a:spcBef>
            </a:pPr>
            <a:endParaRPr sz="1600" b="0" i="0" dirty="0">
              <a:solidFill>
                <a:srgbClr val="1A1A2E"/>
              </a:solidFill>
              <a:latin typeface="Calibri"/>
            </a:endParaRPr>
          </a:p>
          <a:p>
            <a:pPr algn="l">
              <a:spcBef>
                <a:spcPts val="900"/>
              </a:spcBef>
            </a:pPr>
            <a:r>
              <a:rPr sz="1600" b="0" i="0" dirty="0">
                <a:solidFill>
                  <a:srgbClr val="1A1A2E"/>
                </a:solidFill>
                <a:latin typeface="Calibri"/>
              </a:rPr>
              <a:t>❖  B: USDT + USDC supply — grew from $100bn to $200bn+ over this period</a:t>
            </a:r>
            <a:endParaRPr lang="en-US" sz="1600" b="0" i="0" dirty="0">
              <a:solidFill>
                <a:srgbClr val="1A1A2E"/>
              </a:solidFill>
              <a:latin typeface="Calibri"/>
            </a:endParaRPr>
          </a:p>
          <a:p>
            <a:pPr algn="l">
              <a:spcBef>
                <a:spcPts val="900"/>
              </a:spcBef>
            </a:pPr>
            <a:endParaRPr lang="en-US" sz="1600" dirty="0">
              <a:solidFill>
                <a:srgbClr val="1A1A2E"/>
              </a:solidFill>
              <a:latin typeface="Calibri"/>
            </a:endParaRPr>
          </a:p>
          <a:p>
            <a:pPr algn="l">
              <a:spcBef>
                <a:spcPts val="900"/>
              </a:spcBef>
            </a:pPr>
            <a:endParaRPr lang="en-US" sz="1600" b="0" i="0" dirty="0">
              <a:solidFill>
                <a:srgbClr val="1A1A2E"/>
              </a:solidFill>
              <a:latin typeface="Calibri"/>
            </a:endParaRPr>
          </a:p>
          <a:p>
            <a:pPr algn="l">
              <a:spcBef>
                <a:spcPts val="900"/>
              </a:spcBef>
            </a:pPr>
            <a:endParaRPr sz="1600" b="0" i="0" dirty="0">
              <a:solidFill>
                <a:srgbClr val="1A1A2E"/>
              </a:solidFill>
              <a:latin typeface="Calibri"/>
            </a:endParaRPr>
          </a:p>
          <a:p>
            <a:pPr algn="l">
              <a:spcBef>
                <a:spcPts val="900"/>
              </a:spcBef>
            </a:pPr>
            <a:r>
              <a:rPr sz="1600" b="0" i="0" dirty="0">
                <a:solidFill>
                  <a:srgbClr val="1A1A2E"/>
                </a:solidFill>
                <a:latin typeface="Calibri"/>
              </a:rPr>
              <a:t>❖  C: Liquid buffer L — dangerously thin in 2022, recovering since 2023</a:t>
            </a:r>
          </a:p>
          <a:p>
            <a:pPr algn="l">
              <a:spcBef>
                <a:spcPts val="900"/>
              </a:spcBef>
            </a:pPr>
            <a:r>
              <a:rPr sz="1600" b="0" i="0" dirty="0">
                <a:solidFill>
                  <a:srgbClr val="1A1A2E"/>
                </a:solidFill>
                <a:latin typeface="Calibri"/>
              </a:rPr>
              <a:t>❖  Red dashed line = our estimated safety threshold (13%)</a:t>
            </a:r>
          </a:p>
        </p:txBody>
      </p:sp>
      <p:sp>
        <p:nvSpPr>
          <p:cNvPr id="8" name="TextBox 7">
            <a:extLst>
              <a:ext uri="{FF2B5EF4-FFF2-40B4-BE49-F238E27FC236}">
                <a16:creationId xmlns:a16="http://schemas.microsoft.com/office/drawing/2014/main" id="{6A4CFF89-60C4-FB31-F517-9FD869800F90}"/>
              </a:ext>
            </a:extLst>
          </p:cNvPr>
          <p:cNvSpPr txBox="1"/>
          <p:nvPr/>
        </p:nvSpPr>
        <p:spPr>
          <a:xfrm>
            <a:off x="11288486" y="206829"/>
            <a:ext cx="718457" cy="369332"/>
          </a:xfrm>
          <a:prstGeom prst="rect">
            <a:avLst/>
          </a:prstGeom>
          <a:noFill/>
        </p:spPr>
        <p:txBody>
          <a:bodyPr wrap="square" rtlCol="0">
            <a:spAutoFit/>
          </a:bodyPr>
          <a:lstStyle/>
          <a:p>
            <a:r>
              <a:rPr kumimoji="1" lang="en-US" altLang="ko-KR" dirty="0">
                <a:solidFill>
                  <a:schemeClr val="bg1"/>
                </a:solidFill>
              </a:rPr>
              <a:t>Mimi</a:t>
            </a:r>
            <a:endParaRPr kumimoji="1" lang="ko-KR" altLang="en-US" dirty="0">
              <a:solidFill>
                <a:schemeClr val="bg1"/>
              </a:solidFill>
            </a:endParaRPr>
          </a:p>
        </p:txBody>
      </p:sp>
      <p:sp>
        <p:nvSpPr>
          <p:cNvPr id="9" name="줄무늬가 있는 오른쪽 화살표[S] 8">
            <a:extLst>
              <a:ext uri="{FF2B5EF4-FFF2-40B4-BE49-F238E27FC236}">
                <a16:creationId xmlns:a16="http://schemas.microsoft.com/office/drawing/2014/main" id="{68670B3B-D9F8-0728-E725-53EDF98D042D}"/>
              </a:ext>
            </a:extLst>
          </p:cNvPr>
          <p:cNvSpPr/>
          <p:nvPr/>
        </p:nvSpPr>
        <p:spPr>
          <a:xfrm>
            <a:off x="2493108" y="2365829"/>
            <a:ext cx="1004836" cy="377371"/>
          </a:xfrm>
          <a:prstGeom prst="stripedRightArrow">
            <a:avLst>
              <a:gd name="adj1" fmla="val 54142"/>
              <a:gd name="adj2" fmla="val 50000"/>
            </a:avLst>
          </a:prstGeom>
          <a:gradFill>
            <a:gsLst>
              <a:gs pos="0">
                <a:srgbClr val="FF0000"/>
              </a:gs>
              <a:gs pos="100000">
                <a:schemeClr val="accent1">
                  <a:tint val="50000"/>
                  <a:shade val="100000"/>
                  <a:satMod val="350000"/>
                </a:schemeClr>
              </a:gs>
            </a:gsLst>
          </a:gradFill>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ko-KR" dirty="0"/>
              <a:t>LUNA</a:t>
            </a:r>
            <a:endParaRPr kumimoji="1" lang="ko-KR" altLang="en-US" dirty="0"/>
          </a:p>
        </p:txBody>
      </p:sp>
      <p:sp>
        <p:nvSpPr>
          <p:cNvPr id="10" name="왼쪽 화살표[L] 9">
            <a:extLst>
              <a:ext uri="{FF2B5EF4-FFF2-40B4-BE49-F238E27FC236}">
                <a16:creationId xmlns:a16="http://schemas.microsoft.com/office/drawing/2014/main" id="{D1A6A2B1-4BE2-4F94-F1D2-81C8FDB9FCFB}"/>
              </a:ext>
            </a:extLst>
          </p:cNvPr>
          <p:cNvSpPr/>
          <p:nvPr/>
        </p:nvSpPr>
        <p:spPr>
          <a:xfrm>
            <a:off x="4538132" y="2365829"/>
            <a:ext cx="1178599" cy="377371"/>
          </a:xfrm>
          <a:prstGeom prst="leftArrow">
            <a:avLst>
              <a:gd name="adj1" fmla="val 55983"/>
              <a:gd name="adj2" fmla="val 50000"/>
            </a:avLst>
          </a:prstGeom>
          <a:gradFill>
            <a:gsLst>
              <a:gs pos="0">
                <a:srgbClr val="FF0000"/>
              </a:gs>
              <a:gs pos="100000">
                <a:schemeClr val="accent1">
                  <a:tint val="50000"/>
                  <a:shade val="100000"/>
                  <a:satMod val="350000"/>
                </a:schemeClr>
              </a:gs>
            </a:gsLst>
          </a:gradFill>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ko-KR" dirty="0"/>
              <a:t>SVB</a:t>
            </a:r>
            <a:endParaRPr kumimoji="1" lang="ko-KR" alt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What the Data Shows Us</a:t>
            </a:r>
          </a:p>
        </p:txBody>
      </p:sp>
      <p:grpSp>
        <p:nvGrpSpPr>
          <p:cNvPr id="19" name="그룹 18">
            <a:extLst>
              <a:ext uri="{FF2B5EF4-FFF2-40B4-BE49-F238E27FC236}">
                <a16:creationId xmlns:a16="http://schemas.microsoft.com/office/drawing/2014/main" id="{0A152D90-8C4D-2A6C-3C26-92F1B8F6A6DF}"/>
              </a:ext>
            </a:extLst>
          </p:cNvPr>
          <p:cNvGrpSpPr/>
          <p:nvPr/>
        </p:nvGrpSpPr>
        <p:grpSpPr>
          <a:xfrm>
            <a:off x="365760" y="1005840"/>
            <a:ext cx="11430000" cy="1709928"/>
            <a:chOff x="365760" y="1005840"/>
            <a:chExt cx="11430000" cy="1709928"/>
          </a:xfrm>
        </p:grpSpPr>
        <p:sp>
          <p:nvSpPr>
            <p:cNvPr id="6" name="Rectangle 5"/>
            <p:cNvSpPr/>
            <p:nvPr/>
          </p:nvSpPr>
          <p:spPr>
            <a:xfrm>
              <a:off x="365760" y="1005840"/>
              <a:ext cx="11430000" cy="41148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02920" y="1069848"/>
              <a:ext cx="11064240" cy="320040"/>
            </a:xfrm>
            <a:prstGeom prst="rect">
              <a:avLst/>
            </a:prstGeom>
            <a:noFill/>
          </p:spPr>
          <p:txBody>
            <a:bodyPr wrap="square">
              <a:spAutoFit/>
            </a:bodyPr>
            <a:lstStyle/>
            <a:p>
              <a:pPr algn="l"/>
              <a:r>
                <a:rPr sz="1500" b="1" i="0">
                  <a:solidFill>
                    <a:srgbClr val="FFFFFF"/>
                  </a:solidFill>
                  <a:latin typeface="Calibri"/>
                </a:rPr>
                <a:t>MORE SUPPLY  →  LOWER SPREAD</a:t>
              </a:r>
            </a:p>
          </p:txBody>
        </p:sp>
        <p:sp>
          <p:nvSpPr>
            <p:cNvPr id="8" name="Rectangle 7"/>
            <p:cNvSpPr/>
            <p:nvPr/>
          </p:nvSpPr>
          <p:spPr>
            <a:xfrm>
              <a:off x="365760" y="1417320"/>
              <a:ext cx="11430000" cy="1298448"/>
            </a:xfrm>
            <a:prstGeom prst="rect">
              <a:avLst/>
            </a:prstGeom>
            <a:solidFill>
              <a:srgbClr val="E6F4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48640" y="1536192"/>
              <a:ext cx="11064240" cy="646331"/>
            </a:xfrm>
            <a:prstGeom prst="rect">
              <a:avLst/>
            </a:prstGeom>
            <a:noFill/>
          </p:spPr>
          <p:txBody>
            <a:bodyPr wrap="square">
              <a:spAutoFit/>
            </a:bodyPr>
            <a:lstStyle/>
            <a:p>
              <a:pPr algn="l"/>
              <a:r>
                <a:rPr b="0" i="0" dirty="0">
                  <a:solidFill>
                    <a:srgbClr val="1A1A2E"/>
                  </a:solidFill>
                  <a:latin typeface="Calibri"/>
                </a:rPr>
                <a:t>As USDT and USDC supply grew, the gap between Treasury yields and overnight rates compressed. Stablecoin issuers were buying U.S. T-bills to back their tokens — deepening demand for safe assets.</a:t>
              </a:r>
            </a:p>
          </p:txBody>
        </p:sp>
      </p:grpSp>
      <p:grpSp>
        <p:nvGrpSpPr>
          <p:cNvPr id="20" name="그룹 19">
            <a:extLst>
              <a:ext uri="{FF2B5EF4-FFF2-40B4-BE49-F238E27FC236}">
                <a16:creationId xmlns:a16="http://schemas.microsoft.com/office/drawing/2014/main" id="{FB96DE00-4788-E873-537C-694F9BC27380}"/>
              </a:ext>
            </a:extLst>
          </p:cNvPr>
          <p:cNvGrpSpPr/>
          <p:nvPr/>
        </p:nvGrpSpPr>
        <p:grpSpPr>
          <a:xfrm>
            <a:off x="365760" y="2788920"/>
            <a:ext cx="11430000" cy="1709928"/>
            <a:chOff x="365760" y="2788920"/>
            <a:chExt cx="11430000" cy="1709928"/>
          </a:xfrm>
        </p:grpSpPr>
        <p:sp>
          <p:nvSpPr>
            <p:cNvPr id="10" name="Rectangle 9"/>
            <p:cNvSpPr/>
            <p:nvPr/>
          </p:nvSpPr>
          <p:spPr>
            <a:xfrm>
              <a:off x="365760" y="2788920"/>
              <a:ext cx="11430000" cy="41148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02920" y="2852928"/>
              <a:ext cx="11064240" cy="320040"/>
            </a:xfrm>
            <a:prstGeom prst="rect">
              <a:avLst/>
            </a:prstGeom>
            <a:noFill/>
          </p:spPr>
          <p:txBody>
            <a:bodyPr wrap="square">
              <a:spAutoFit/>
            </a:bodyPr>
            <a:lstStyle/>
            <a:p>
              <a:pPr algn="l"/>
              <a:r>
                <a:rPr sz="1500" b="1" i="0">
                  <a:solidFill>
                    <a:srgbClr val="FFFFFF"/>
                  </a:solidFill>
                  <a:latin typeface="Calibri"/>
                </a:rPr>
                <a:t>CRISIS  →  SPREAD SPIKES</a:t>
              </a:r>
            </a:p>
          </p:txBody>
        </p:sp>
        <p:sp>
          <p:nvSpPr>
            <p:cNvPr id="12" name="Rectangle 11"/>
            <p:cNvSpPr/>
            <p:nvPr/>
          </p:nvSpPr>
          <p:spPr>
            <a:xfrm>
              <a:off x="365760" y="3200400"/>
              <a:ext cx="11430000" cy="1298448"/>
            </a:xfrm>
            <a:prstGeom prst="rect">
              <a:avLst/>
            </a:prstGeom>
            <a:solidFill>
              <a:srgbClr val="FCEB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48640" y="3319272"/>
              <a:ext cx="11064240" cy="646331"/>
            </a:xfrm>
            <a:prstGeom prst="rect">
              <a:avLst/>
            </a:prstGeom>
            <a:noFill/>
          </p:spPr>
          <p:txBody>
            <a:bodyPr wrap="square">
              <a:spAutoFit/>
            </a:bodyPr>
            <a:lstStyle/>
            <a:p>
              <a:pPr algn="l"/>
              <a:r>
                <a:rPr b="0" i="0" dirty="0">
                  <a:solidFill>
                    <a:srgbClr val="1A1A2E"/>
                  </a:solidFill>
                  <a:latin typeface="Calibri"/>
                </a:rPr>
                <a:t>During the LUNA/UST collapse (May 2022), spreads spiked as issuers were forced to liquidate T-bill holdings to meet redemptions. The privilege reversed — exactly what our theory predicts.</a:t>
              </a:r>
            </a:p>
          </p:txBody>
        </p:sp>
      </p:grpSp>
      <p:grpSp>
        <p:nvGrpSpPr>
          <p:cNvPr id="21" name="그룹 20">
            <a:extLst>
              <a:ext uri="{FF2B5EF4-FFF2-40B4-BE49-F238E27FC236}">
                <a16:creationId xmlns:a16="http://schemas.microsoft.com/office/drawing/2014/main" id="{1D44961A-FA22-F6A7-C7DE-CB13F2D0DE61}"/>
              </a:ext>
            </a:extLst>
          </p:cNvPr>
          <p:cNvGrpSpPr/>
          <p:nvPr/>
        </p:nvGrpSpPr>
        <p:grpSpPr>
          <a:xfrm>
            <a:off x="365760" y="4572000"/>
            <a:ext cx="11731752" cy="2221992"/>
            <a:chOff x="365760" y="4572000"/>
            <a:chExt cx="11731752" cy="2221992"/>
          </a:xfrm>
        </p:grpSpPr>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8</a:t>
              </a:r>
            </a:p>
          </p:txBody>
        </p:sp>
        <p:sp>
          <p:nvSpPr>
            <p:cNvPr id="14" name="Rectangle 13"/>
            <p:cNvSpPr/>
            <p:nvPr/>
          </p:nvSpPr>
          <p:spPr>
            <a:xfrm>
              <a:off x="365760" y="4572000"/>
              <a:ext cx="11430000" cy="4114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02920" y="4636008"/>
              <a:ext cx="11064240" cy="320040"/>
            </a:xfrm>
            <a:prstGeom prst="rect">
              <a:avLst/>
            </a:prstGeom>
            <a:noFill/>
          </p:spPr>
          <p:txBody>
            <a:bodyPr wrap="square">
              <a:spAutoFit/>
            </a:bodyPr>
            <a:lstStyle/>
            <a:p>
              <a:pPr algn="l"/>
              <a:r>
                <a:rPr sz="1500" b="1" i="0" dirty="0">
                  <a:solidFill>
                    <a:srgbClr val="FFFFFF"/>
                  </a:solidFill>
                  <a:latin typeface="Calibri"/>
                </a:rPr>
                <a:t>BUFFER WAS THIN WHEN IT MATTERED MOST</a:t>
              </a:r>
            </a:p>
          </p:txBody>
        </p:sp>
        <p:sp>
          <p:nvSpPr>
            <p:cNvPr id="16" name="Rectangle 15"/>
            <p:cNvSpPr/>
            <p:nvPr/>
          </p:nvSpPr>
          <p:spPr>
            <a:xfrm>
              <a:off x="365760" y="4983480"/>
              <a:ext cx="11430000" cy="1298448"/>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548640" y="5102352"/>
              <a:ext cx="11064240" cy="646331"/>
            </a:xfrm>
            <a:prstGeom prst="rect">
              <a:avLst/>
            </a:prstGeom>
            <a:noFill/>
          </p:spPr>
          <p:txBody>
            <a:bodyPr wrap="square">
              <a:spAutoFit/>
            </a:bodyPr>
            <a:lstStyle/>
            <a:p>
              <a:pPr algn="l"/>
              <a:r>
                <a:rPr b="0" i="0" dirty="0">
                  <a:solidFill>
                    <a:srgbClr val="1A1A2E"/>
                  </a:solidFill>
                  <a:latin typeface="Calibri"/>
                </a:rPr>
                <a:t>In 2022, liquid cash reserves sat below our estimated 13% safety threshold. Issuers had to sell T-bills instead of using cash — amplifying the shock.</a:t>
              </a:r>
            </a:p>
          </p:txBody>
        </p:sp>
      </p:grpSp>
      <p:sp>
        <p:nvSpPr>
          <p:cNvPr id="18" name="TextBox 17">
            <a:extLst>
              <a:ext uri="{FF2B5EF4-FFF2-40B4-BE49-F238E27FC236}">
                <a16:creationId xmlns:a16="http://schemas.microsoft.com/office/drawing/2014/main" id="{0ED52BC4-B622-B5CA-4650-A0CDDE5FFE71}"/>
              </a:ext>
            </a:extLst>
          </p:cNvPr>
          <p:cNvSpPr txBox="1"/>
          <p:nvPr/>
        </p:nvSpPr>
        <p:spPr>
          <a:xfrm>
            <a:off x="11288486" y="206829"/>
            <a:ext cx="718457" cy="369332"/>
          </a:xfrm>
          <a:prstGeom prst="rect">
            <a:avLst/>
          </a:prstGeom>
          <a:noFill/>
        </p:spPr>
        <p:txBody>
          <a:bodyPr wrap="square" rtlCol="0">
            <a:spAutoFit/>
          </a:bodyPr>
          <a:lstStyle/>
          <a:p>
            <a:r>
              <a:rPr kumimoji="1" lang="en-US" altLang="ko-KR" dirty="0">
                <a:solidFill>
                  <a:schemeClr val="bg1"/>
                </a:solidFill>
              </a:rPr>
              <a:t>Mimi</a:t>
            </a:r>
            <a:endParaRPr kumimoji="1" lang="ko-KR" altLang="en-US" dirty="0">
              <a:solidFill>
                <a:schemeClr val="bg1"/>
              </a:solidFil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Result 1: Stablecoin Growth Compresses Treasury Spreads</a:t>
            </a:r>
          </a:p>
        </p:txBody>
      </p:sp>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9</a:t>
            </a:r>
          </a:p>
        </p:txBody>
      </p:sp>
      <p:sp>
        <p:nvSpPr>
          <p:cNvPr id="6" name="Rectangle 5"/>
          <p:cNvSpPr/>
          <p:nvPr/>
        </p:nvSpPr>
        <p:spPr>
          <a:xfrm>
            <a:off x="365760" y="960120"/>
            <a:ext cx="11430000" cy="475488"/>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48640" y="1005840"/>
            <a:ext cx="11064240" cy="338554"/>
          </a:xfrm>
          <a:prstGeom prst="rect">
            <a:avLst/>
          </a:prstGeom>
          <a:noFill/>
        </p:spPr>
        <p:txBody>
          <a:bodyPr wrap="square">
            <a:spAutoFit/>
          </a:bodyPr>
          <a:lstStyle/>
          <a:p>
            <a:pPr algn="ctr"/>
            <a:r>
              <a:rPr sz="1600" b="1" i="0" dirty="0">
                <a:solidFill>
                  <a:srgbClr val="FFFFFF"/>
                </a:solidFill>
                <a:latin typeface="Calibri"/>
              </a:rPr>
              <a:t>H1  CONFIRMED    —   statistically significant at the 5% level</a:t>
            </a:r>
          </a:p>
        </p:txBody>
      </p:sp>
      <p:sp>
        <p:nvSpPr>
          <p:cNvPr id="8" name="Rectangle 7"/>
          <p:cNvSpPr/>
          <p:nvPr/>
        </p:nvSpPr>
        <p:spPr>
          <a:xfrm>
            <a:off x="365760" y="1508760"/>
            <a:ext cx="5303520" cy="228600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7200" y="1600200"/>
            <a:ext cx="5120640" cy="1097280"/>
          </a:xfrm>
          <a:prstGeom prst="rect">
            <a:avLst/>
          </a:prstGeom>
          <a:noFill/>
        </p:spPr>
        <p:txBody>
          <a:bodyPr wrap="square">
            <a:spAutoFit/>
          </a:bodyPr>
          <a:lstStyle/>
          <a:p>
            <a:pPr algn="ctr"/>
            <a:r>
              <a:rPr sz="4400" b="1" i="0">
                <a:solidFill>
                  <a:srgbClr val="FFFFFF"/>
                </a:solidFill>
                <a:latin typeface="Calibri"/>
              </a:rPr>
              <a:t>β₁ = −6.02**</a:t>
            </a:r>
          </a:p>
        </p:txBody>
      </p:sp>
      <p:sp>
        <p:nvSpPr>
          <p:cNvPr id="10" name="TextBox 9"/>
          <p:cNvSpPr txBox="1"/>
          <p:nvPr/>
        </p:nvSpPr>
        <p:spPr>
          <a:xfrm>
            <a:off x="457200" y="2697480"/>
            <a:ext cx="5120640" cy="320040"/>
          </a:xfrm>
          <a:prstGeom prst="rect">
            <a:avLst/>
          </a:prstGeom>
          <a:noFill/>
        </p:spPr>
        <p:txBody>
          <a:bodyPr wrap="square">
            <a:spAutoFit/>
          </a:bodyPr>
          <a:lstStyle/>
          <a:p>
            <a:pPr algn="ctr"/>
            <a:r>
              <a:rPr sz="1300" b="0" i="1">
                <a:solidFill>
                  <a:srgbClr val="AAC4E8"/>
                </a:solidFill>
                <a:latin typeface="Calibri"/>
              </a:rPr>
              <a:t>N = 51 months  |  R² = 0.50</a:t>
            </a:r>
          </a:p>
        </p:txBody>
      </p:sp>
      <p:sp>
        <p:nvSpPr>
          <p:cNvPr id="11" name="Rectangle 10"/>
          <p:cNvSpPr/>
          <p:nvPr/>
        </p:nvSpPr>
        <p:spPr>
          <a:xfrm>
            <a:off x="5852160" y="1508760"/>
            <a:ext cx="5943600" cy="2286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035040" y="1627632"/>
            <a:ext cx="5577840" cy="347472"/>
          </a:xfrm>
          <a:prstGeom prst="rect">
            <a:avLst/>
          </a:prstGeom>
          <a:noFill/>
        </p:spPr>
        <p:txBody>
          <a:bodyPr wrap="square">
            <a:spAutoFit/>
          </a:bodyPr>
          <a:lstStyle/>
          <a:p>
            <a:pPr algn="l"/>
            <a:r>
              <a:rPr sz="1400" b="1" i="0" dirty="0">
                <a:solidFill>
                  <a:srgbClr val="1B3A72"/>
                </a:solidFill>
                <a:latin typeface="Calibri"/>
              </a:rPr>
              <a:t>What this means in plain terms:</a:t>
            </a:r>
          </a:p>
        </p:txBody>
      </p:sp>
      <p:sp>
        <p:nvSpPr>
          <p:cNvPr id="13" name="TextBox 12"/>
          <p:cNvSpPr txBox="1"/>
          <p:nvPr/>
        </p:nvSpPr>
        <p:spPr>
          <a:xfrm>
            <a:off x="6035040" y="2029968"/>
            <a:ext cx="5577840" cy="1292662"/>
          </a:xfrm>
          <a:prstGeom prst="rect">
            <a:avLst/>
          </a:prstGeom>
          <a:noFill/>
        </p:spPr>
        <p:txBody>
          <a:bodyPr wrap="square">
            <a:spAutoFit/>
          </a:bodyPr>
          <a:lstStyle/>
          <a:p>
            <a:pPr algn="l"/>
            <a:r>
              <a:rPr sz="1300" b="0" i="0" dirty="0">
                <a:solidFill>
                  <a:srgbClr val="1A1A2E"/>
                </a:solidFill>
                <a:latin typeface="Calibri"/>
              </a:rPr>
              <a:t>Every 1% growth in stablecoin supply compresses the Treasury spread by about </a:t>
            </a:r>
            <a:r>
              <a:rPr sz="1300" b="1" i="0" dirty="0">
                <a:solidFill>
                  <a:srgbClr val="1A1A2E"/>
                </a:solidFill>
                <a:latin typeface="Calibri"/>
              </a:rPr>
              <a:t>6 basis points.</a:t>
            </a:r>
            <a:r>
              <a:rPr sz="1300" b="0" i="0" dirty="0">
                <a:solidFill>
                  <a:srgbClr val="1A1A2E"/>
                </a:solidFill>
                <a:latin typeface="Calibri"/>
              </a:rPr>
              <a:t>
When Tether and Circle expand, they buy more U.S. T-bills — pushing Treasury yields down relative to overnight rates. This is the exorbitant privilege being amplified.</a:t>
            </a:r>
          </a:p>
        </p:txBody>
      </p:sp>
      <p:sp>
        <p:nvSpPr>
          <p:cNvPr id="14" name="Rectangle 13"/>
          <p:cNvSpPr/>
          <p:nvPr/>
        </p:nvSpPr>
        <p:spPr>
          <a:xfrm>
            <a:off x="365760" y="3913632"/>
            <a:ext cx="9326880" cy="329184"/>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11480" y="3941063"/>
            <a:ext cx="7086600" cy="256032"/>
          </a:xfrm>
          <a:prstGeom prst="rect">
            <a:avLst/>
          </a:prstGeom>
          <a:noFill/>
        </p:spPr>
        <p:txBody>
          <a:bodyPr wrap="square">
            <a:spAutoFit/>
          </a:bodyPr>
          <a:lstStyle/>
          <a:p>
            <a:pPr algn="l"/>
            <a:r>
              <a:rPr sz="1100" b="1" i="0">
                <a:solidFill>
                  <a:srgbClr val="FFFFFF"/>
                </a:solidFill>
                <a:latin typeface="Calibri"/>
              </a:rPr>
              <a:t>Variable</a:t>
            </a:r>
          </a:p>
        </p:txBody>
      </p:sp>
      <p:sp>
        <p:nvSpPr>
          <p:cNvPr id="16" name="TextBox 15"/>
          <p:cNvSpPr txBox="1"/>
          <p:nvPr/>
        </p:nvSpPr>
        <p:spPr>
          <a:xfrm>
            <a:off x="7543799" y="3941063"/>
            <a:ext cx="1508760" cy="256032"/>
          </a:xfrm>
          <a:prstGeom prst="rect">
            <a:avLst/>
          </a:prstGeom>
          <a:noFill/>
        </p:spPr>
        <p:txBody>
          <a:bodyPr wrap="square">
            <a:spAutoFit/>
          </a:bodyPr>
          <a:lstStyle/>
          <a:p>
            <a:pPr algn="ctr"/>
            <a:r>
              <a:rPr sz="1100" b="1" i="0">
                <a:solidFill>
                  <a:srgbClr val="FFFFFF"/>
                </a:solidFill>
                <a:latin typeface="Calibri"/>
              </a:rPr>
              <a:t>Coefficient</a:t>
            </a:r>
          </a:p>
        </p:txBody>
      </p:sp>
      <p:sp>
        <p:nvSpPr>
          <p:cNvPr id="17" name="TextBox 16"/>
          <p:cNvSpPr txBox="1"/>
          <p:nvPr/>
        </p:nvSpPr>
        <p:spPr>
          <a:xfrm>
            <a:off x="9098280" y="3941063"/>
            <a:ext cx="731520" cy="256032"/>
          </a:xfrm>
          <a:prstGeom prst="rect">
            <a:avLst/>
          </a:prstGeom>
          <a:noFill/>
        </p:spPr>
        <p:txBody>
          <a:bodyPr wrap="square">
            <a:spAutoFit/>
          </a:bodyPr>
          <a:lstStyle/>
          <a:p>
            <a:pPr algn="ctr"/>
            <a:r>
              <a:rPr sz="1100" b="1" i="0">
                <a:solidFill>
                  <a:srgbClr val="FFFFFF"/>
                </a:solidFill>
                <a:latin typeface="Calibri"/>
              </a:rPr>
              <a:t>Sig.</a:t>
            </a:r>
          </a:p>
        </p:txBody>
      </p:sp>
      <p:sp>
        <p:nvSpPr>
          <p:cNvPr id="18" name="Rectangle 17"/>
          <p:cNvSpPr/>
          <p:nvPr/>
        </p:nvSpPr>
        <p:spPr>
          <a:xfrm>
            <a:off x="365760" y="4242816"/>
            <a:ext cx="9326880" cy="347472"/>
          </a:xfrm>
          <a:prstGeom prst="rect">
            <a:avLst/>
          </a:prstGeom>
          <a:solidFill>
            <a:srgbClr val="FFF0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11480" y="4297680"/>
            <a:ext cx="7013448" cy="256032"/>
          </a:xfrm>
          <a:prstGeom prst="rect">
            <a:avLst/>
          </a:prstGeom>
          <a:noFill/>
        </p:spPr>
        <p:txBody>
          <a:bodyPr wrap="square">
            <a:spAutoFit/>
          </a:bodyPr>
          <a:lstStyle/>
          <a:p>
            <a:pPr algn="l"/>
            <a:r>
              <a:rPr sz="1100" b="1" i="0">
                <a:solidFill>
                  <a:srgbClr val="1A1A2E"/>
                </a:solidFill>
                <a:latin typeface="Calibri"/>
              </a:rPr>
              <a:t>ΔlnS  (stablecoin supply growth)</a:t>
            </a:r>
          </a:p>
        </p:txBody>
      </p:sp>
      <p:sp>
        <p:nvSpPr>
          <p:cNvPr id="20" name="TextBox 19"/>
          <p:cNvSpPr txBox="1"/>
          <p:nvPr/>
        </p:nvSpPr>
        <p:spPr>
          <a:xfrm>
            <a:off x="7543799" y="4297680"/>
            <a:ext cx="1435608" cy="256032"/>
          </a:xfrm>
          <a:prstGeom prst="rect">
            <a:avLst/>
          </a:prstGeom>
          <a:noFill/>
        </p:spPr>
        <p:txBody>
          <a:bodyPr wrap="square">
            <a:spAutoFit/>
          </a:bodyPr>
          <a:lstStyle/>
          <a:p>
            <a:pPr algn="ctr"/>
            <a:r>
              <a:rPr sz="1100" b="1" i="0">
                <a:solidFill>
                  <a:srgbClr val="1A1A2E"/>
                </a:solidFill>
                <a:latin typeface="Calibri"/>
              </a:rPr>
              <a:t>−6.017</a:t>
            </a:r>
          </a:p>
        </p:txBody>
      </p:sp>
      <p:sp>
        <p:nvSpPr>
          <p:cNvPr id="21" name="TextBox 20"/>
          <p:cNvSpPr txBox="1"/>
          <p:nvPr/>
        </p:nvSpPr>
        <p:spPr>
          <a:xfrm>
            <a:off x="9098280" y="4297680"/>
            <a:ext cx="658368" cy="256032"/>
          </a:xfrm>
          <a:prstGeom prst="rect">
            <a:avLst/>
          </a:prstGeom>
          <a:noFill/>
        </p:spPr>
        <p:txBody>
          <a:bodyPr wrap="square">
            <a:spAutoFit/>
          </a:bodyPr>
          <a:lstStyle/>
          <a:p>
            <a:pPr algn="ctr"/>
            <a:r>
              <a:rPr sz="1100" b="1" i="0">
                <a:solidFill>
                  <a:srgbClr val="1A1A2E"/>
                </a:solidFill>
                <a:latin typeface="Calibri"/>
              </a:rPr>
              <a:t>**</a:t>
            </a:r>
          </a:p>
        </p:txBody>
      </p:sp>
      <p:sp>
        <p:nvSpPr>
          <p:cNvPr id="22" name="Rectangle 21"/>
          <p:cNvSpPr/>
          <p:nvPr/>
        </p:nvSpPr>
        <p:spPr>
          <a:xfrm>
            <a:off x="365760" y="4590288"/>
            <a:ext cx="9326880" cy="3474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11480" y="4645152"/>
            <a:ext cx="7013448" cy="256032"/>
          </a:xfrm>
          <a:prstGeom prst="rect">
            <a:avLst/>
          </a:prstGeom>
          <a:noFill/>
        </p:spPr>
        <p:txBody>
          <a:bodyPr wrap="square">
            <a:spAutoFit/>
          </a:bodyPr>
          <a:lstStyle/>
          <a:p>
            <a:pPr algn="l"/>
            <a:r>
              <a:rPr sz="1100" b="0" i="0">
                <a:solidFill>
                  <a:srgbClr val="1A1A2E"/>
                </a:solidFill>
                <a:latin typeface="Calibri"/>
              </a:rPr>
              <a:t>θ  (Treasury Exposure)</a:t>
            </a:r>
          </a:p>
        </p:txBody>
      </p:sp>
      <p:sp>
        <p:nvSpPr>
          <p:cNvPr id="24" name="TextBox 23"/>
          <p:cNvSpPr txBox="1"/>
          <p:nvPr/>
        </p:nvSpPr>
        <p:spPr>
          <a:xfrm>
            <a:off x="7543799" y="4645152"/>
            <a:ext cx="1435608" cy="256032"/>
          </a:xfrm>
          <a:prstGeom prst="rect">
            <a:avLst/>
          </a:prstGeom>
          <a:noFill/>
        </p:spPr>
        <p:txBody>
          <a:bodyPr wrap="square">
            <a:spAutoFit/>
          </a:bodyPr>
          <a:lstStyle/>
          <a:p>
            <a:pPr algn="ctr"/>
            <a:r>
              <a:rPr sz="1100" b="0" i="0">
                <a:solidFill>
                  <a:srgbClr val="1A1A2E"/>
                </a:solidFill>
                <a:latin typeface="Calibri"/>
              </a:rPr>
              <a:t> 0.100</a:t>
            </a:r>
          </a:p>
        </p:txBody>
      </p:sp>
      <p:sp>
        <p:nvSpPr>
          <p:cNvPr id="25" name="TextBox 24"/>
          <p:cNvSpPr txBox="1"/>
          <p:nvPr/>
        </p:nvSpPr>
        <p:spPr>
          <a:xfrm>
            <a:off x="9098280" y="4645152"/>
            <a:ext cx="658368" cy="256032"/>
          </a:xfrm>
          <a:prstGeom prst="rect">
            <a:avLst/>
          </a:prstGeom>
          <a:noFill/>
        </p:spPr>
        <p:txBody>
          <a:bodyPr wrap="square">
            <a:spAutoFit/>
          </a:bodyPr>
          <a:lstStyle/>
          <a:p>
            <a:pPr algn="ctr"/>
            <a:r>
              <a:rPr sz="1100" b="0" i="0">
                <a:solidFill>
                  <a:srgbClr val="1A1A2E"/>
                </a:solidFill>
                <a:latin typeface="Calibri"/>
              </a:rPr>
              <a:t>—</a:t>
            </a:r>
          </a:p>
        </p:txBody>
      </p:sp>
      <p:sp>
        <p:nvSpPr>
          <p:cNvPr id="26" name="Rectangle 25"/>
          <p:cNvSpPr/>
          <p:nvPr/>
        </p:nvSpPr>
        <p:spPr>
          <a:xfrm>
            <a:off x="365760" y="4937760"/>
            <a:ext cx="9326880" cy="347472"/>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411480" y="4992624"/>
            <a:ext cx="7013448" cy="256032"/>
          </a:xfrm>
          <a:prstGeom prst="rect">
            <a:avLst/>
          </a:prstGeom>
          <a:noFill/>
        </p:spPr>
        <p:txBody>
          <a:bodyPr wrap="square">
            <a:spAutoFit/>
          </a:bodyPr>
          <a:lstStyle/>
          <a:p>
            <a:pPr algn="l"/>
            <a:r>
              <a:rPr sz="1100" b="0" i="0">
                <a:solidFill>
                  <a:srgbClr val="1A1A2E"/>
                </a:solidFill>
                <a:latin typeface="Calibri"/>
              </a:rPr>
              <a:t>L  (Liquid Buffer)</a:t>
            </a:r>
          </a:p>
        </p:txBody>
      </p:sp>
      <p:sp>
        <p:nvSpPr>
          <p:cNvPr id="28" name="TextBox 27"/>
          <p:cNvSpPr txBox="1"/>
          <p:nvPr/>
        </p:nvSpPr>
        <p:spPr>
          <a:xfrm>
            <a:off x="7543799" y="4992624"/>
            <a:ext cx="1435608" cy="256032"/>
          </a:xfrm>
          <a:prstGeom prst="rect">
            <a:avLst/>
          </a:prstGeom>
          <a:noFill/>
        </p:spPr>
        <p:txBody>
          <a:bodyPr wrap="square">
            <a:spAutoFit/>
          </a:bodyPr>
          <a:lstStyle/>
          <a:p>
            <a:pPr algn="ctr"/>
            <a:r>
              <a:rPr sz="1100" b="0" i="0">
                <a:solidFill>
                  <a:srgbClr val="1A1A2E"/>
                </a:solidFill>
                <a:latin typeface="Calibri"/>
              </a:rPr>
              <a:t> 1.034</a:t>
            </a:r>
          </a:p>
        </p:txBody>
      </p:sp>
      <p:sp>
        <p:nvSpPr>
          <p:cNvPr id="29" name="TextBox 28"/>
          <p:cNvSpPr txBox="1"/>
          <p:nvPr/>
        </p:nvSpPr>
        <p:spPr>
          <a:xfrm>
            <a:off x="9098280" y="4992624"/>
            <a:ext cx="658368" cy="256032"/>
          </a:xfrm>
          <a:prstGeom prst="rect">
            <a:avLst/>
          </a:prstGeom>
          <a:noFill/>
        </p:spPr>
        <p:txBody>
          <a:bodyPr wrap="square">
            <a:spAutoFit/>
          </a:bodyPr>
          <a:lstStyle/>
          <a:p>
            <a:pPr algn="ctr"/>
            <a:r>
              <a:rPr sz="1100" b="0" i="0">
                <a:solidFill>
                  <a:srgbClr val="1A1A2E"/>
                </a:solidFill>
                <a:latin typeface="Calibri"/>
              </a:rPr>
              <a:t>—</a:t>
            </a:r>
          </a:p>
        </p:txBody>
      </p:sp>
      <p:sp>
        <p:nvSpPr>
          <p:cNvPr id="30" name="Rectangle 29"/>
          <p:cNvSpPr/>
          <p:nvPr/>
        </p:nvSpPr>
        <p:spPr>
          <a:xfrm>
            <a:off x="365760" y="5285232"/>
            <a:ext cx="9326880" cy="3474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411480" y="5340096"/>
            <a:ext cx="7013448" cy="256032"/>
          </a:xfrm>
          <a:prstGeom prst="rect">
            <a:avLst/>
          </a:prstGeom>
          <a:noFill/>
        </p:spPr>
        <p:txBody>
          <a:bodyPr wrap="square">
            <a:spAutoFit/>
          </a:bodyPr>
          <a:lstStyle/>
          <a:p>
            <a:pPr algn="l"/>
            <a:r>
              <a:rPr sz="1100" b="0" i="0">
                <a:solidFill>
                  <a:srgbClr val="1A1A2E"/>
                </a:solidFill>
                <a:latin typeface="Calibri"/>
              </a:rPr>
              <a:t>L × ΔlnS  (buffer interaction)</a:t>
            </a:r>
          </a:p>
        </p:txBody>
      </p:sp>
      <p:sp>
        <p:nvSpPr>
          <p:cNvPr id="32" name="TextBox 31"/>
          <p:cNvSpPr txBox="1"/>
          <p:nvPr/>
        </p:nvSpPr>
        <p:spPr>
          <a:xfrm>
            <a:off x="7543799" y="5340096"/>
            <a:ext cx="1435608" cy="256032"/>
          </a:xfrm>
          <a:prstGeom prst="rect">
            <a:avLst/>
          </a:prstGeom>
          <a:noFill/>
        </p:spPr>
        <p:txBody>
          <a:bodyPr wrap="square">
            <a:spAutoFit/>
          </a:bodyPr>
          <a:lstStyle/>
          <a:p>
            <a:pPr algn="ctr"/>
            <a:r>
              <a:rPr sz="1100" b="0" i="0">
                <a:solidFill>
                  <a:srgbClr val="1A1A2E"/>
                </a:solidFill>
                <a:latin typeface="Calibri"/>
              </a:rPr>
              <a:t> 3.891</a:t>
            </a:r>
          </a:p>
        </p:txBody>
      </p:sp>
      <p:sp>
        <p:nvSpPr>
          <p:cNvPr id="33" name="TextBox 32"/>
          <p:cNvSpPr txBox="1"/>
          <p:nvPr/>
        </p:nvSpPr>
        <p:spPr>
          <a:xfrm>
            <a:off x="9098280" y="5340096"/>
            <a:ext cx="658368" cy="256032"/>
          </a:xfrm>
          <a:prstGeom prst="rect">
            <a:avLst/>
          </a:prstGeom>
          <a:noFill/>
        </p:spPr>
        <p:txBody>
          <a:bodyPr wrap="square">
            <a:spAutoFit/>
          </a:bodyPr>
          <a:lstStyle/>
          <a:p>
            <a:pPr algn="ctr"/>
            <a:r>
              <a:rPr sz="1100" b="0" i="0">
                <a:solidFill>
                  <a:srgbClr val="1A1A2E"/>
                </a:solidFill>
                <a:latin typeface="Calibri"/>
              </a:rPr>
              <a:t>—</a:t>
            </a:r>
          </a:p>
        </p:txBody>
      </p:sp>
      <p:sp>
        <p:nvSpPr>
          <p:cNvPr id="34" name="Rectangle 33"/>
          <p:cNvSpPr/>
          <p:nvPr/>
        </p:nvSpPr>
        <p:spPr>
          <a:xfrm>
            <a:off x="365760" y="5632704"/>
            <a:ext cx="9326880" cy="347472"/>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411480" y="5687568"/>
            <a:ext cx="7013448" cy="256032"/>
          </a:xfrm>
          <a:prstGeom prst="rect">
            <a:avLst/>
          </a:prstGeom>
          <a:noFill/>
        </p:spPr>
        <p:txBody>
          <a:bodyPr wrap="square">
            <a:spAutoFit/>
          </a:bodyPr>
          <a:lstStyle/>
          <a:p>
            <a:pPr algn="l"/>
            <a:r>
              <a:rPr sz="1100" b="0" i="0">
                <a:solidFill>
                  <a:srgbClr val="1A1A2E"/>
                </a:solidFill>
                <a:latin typeface="Calibri"/>
              </a:rPr>
              <a:t>Controls (velocity, VIX, ΔlnN*)</a:t>
            </a:r>
          </a:p>
        </p:txBody>
      </p:sp>
      <p:sp>
        <p:nvSpPr>
          <p:cNvPr id="36" name="TextBox 35"/>
          <p:cNvSpPr txBox="1"/>
          <p:nvPr/>
        </p:nvSpPr>
        <p:spPr>
          <a:xfrm>
            <a:off x="7543799" y="5687568"/>
            <a:ext cx="1435608" cy="256032"/>
          </a:xfrm>
          <a:prstGeom prst="rect">
            <a:avLst/>
          </a:prstGeom>
          <a:noFill/>
        </p:spPr>
        <p:txBody>
          <a:bodyPr wrap="square">
            <a:spAutoFit/>
          </a:bodyPr>
          <a:lstStyle/>
          <a:p>
            <a:pPr algn="ctr"/>
            <a:r>
              <a:rPr sz="1100" b="0" i="0">
                <a:solidFill>
                  <a:srgbClr val="1A1A2E"/>
                </a:solidFill>
                <a:latin typeface="Calibri"/>
              </a:rPr>
              <a:t>included</a:t>
            </a:r>
          </a:p>
        </p:txBody>
      </p:sp>
      <p:sp>
        <p:nvSpPr>
          <p:cNvPr id="37" name="TextBox 36"/>
          <p:cNvSpPr txBox="1"/>
          <p:nvPr/>
        </p:nvSpPr>
        <p:spPr>
          <a:xfrm>
            <a:off x="9098280" y="5687568"/>
            <a:ext cx="658368" cy="256032"/>
          </a:xfrm>
          <a:prstGeom prst="rect">
            <a:avLst/>
          </a:prstGeom>
          <a:noFill/>
        </p:spPr>
        <p:txBody>
          <a:bodyPr wrap="square">
            <a:spAutoFit/>
          </a:bodyPr>
          <a:lstStyle/>
          <a:p>
            <a:pPr algn="ctr"/>
            <a:endParaRPr/>
          </a:p>
        </p:txBody>
      </p:sp>
      <p:sp>
        <p:nvSpPr>
          <p:cNvPr id="38" name="TextBox 37"/>
          <p:cNvSpPr txBox="1"/>
          <p:nvPr/>
        </p:nvSpPr>
        <p:spPr>
          <a:xfrm>
            <a:off x="365760" y="6080760"/>
            <a:ext cx="11430000" cy="228600"/>
          </a:xfrm>
          <a:prstGeom prst="rect">
            <a:avLst/>
          </a:prstGeom>
          <a:noFill/>
        </p:spPr>
        <p:txBody>
          <a:bodyPr wrap="square">
            <a:spAutoFit/>
          </a:bodyPr>
          <a:lstStyle/>
          <a:p>
            <a:pPr algn="l"/>
            <a:r>
              <a:rPr sz="900" b="0" i="1">
                <a:solidFill>
                  <a:srgbClr val="555566"/>
                </a:solidFill>
                <a:latin typeface="Calibri"/>
              </a:rPr>
              <a:t>** p &lt; 0.05   — = not significant at conventional levels   HAC Newey–West SE (3 lags)</a:t>
            </a:r>
          </a:p>
        </p:txBody>
      </p:sp>
      <p:sp>
        <p:nvSpPr>
          <p:cNvPr id="39" name="TextBox 38">
            <a:extLst>
              <a:ext uri="{FF2B5EF4-FFF2-40B4-BE49-F238E27FC236}">
                <a16:creationId xmlns:a16="http://schemas.microsoft.com/office/drawing/2014/main" id="{173EA64A-48DE-A8FC-AC85-DD9541E50B02}"/>
              </a:ext>
            </a:extLst>
          </p:cNvPr>
          <p:cNvSpPr txBox="1"/>
          <p:nvPr/>
        </p:nvSpPr>
        <p:spPr>
          <a:xfrm>
            <a:off x="11288486" y="206829"/>
            <a:ext cx="718457" cy="369332"/>
          </a:xfrm>
          <a:prstGeom prst="rect">
            <a:avLst/>
          </a:prstGeom>
          <a:noFill/>
        </p:spPr>
        <p:txBody>
          <a:bodyPr wrap="square" rtlCol="0">
            <a:spAutoFit/>
          </a:bodyPr>
          <a:lstStyle/>
          <a:p>
            <a:r>
              <a:rPr kumimoji="1" lang="en-US" altLang="ko-KR" dirty="0">
                <a:solidFill>
                  <a:schemeClr val="bg1"/>
                </a:solidFill>
              </a:rPr>
              <a:t>Mimi</a:t>
            </a:r>
            <a:endParaRPr kumimoji="1" lang="ko-KR" altLang="en-US" dirty="0">
              <a:solidFill>
                <a:schemeClr val="bg1"/>
              </a:solidFill>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Result 1: When Data Quality Improves, the Picture Sharpens</a:t>
            </a:r>
          </a:p>
        </p:txBody>
      </p:sp>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10</a:t>
            </a:r>
          </a:p>
        </p:txBody>
      </p:sp>
      <p:sp>
        <p:nvSpPr>
          <p:cNvPr id="6" name="Rectangle 5"/>
          <p:cNvSpPr/>
          <p:nvPr/>
        </p:nvSpPr>
        <p:spPr>
          <a:xfrm>
            <a:off x="365760" y="960120"/>
            <a:ext cx="11430000" cy="100584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48640" y="1024128"/>
            <a:ext cx="11064240" cy="868680"/>
          </a:xfrm>
          <a:prstGeom prst="rect">
            <a:avLst/>
          </a:prstGeom>
          <a:noFill/>
        </p:spPr>
        <p:txBody>
          <a:bodyPr wrap="square">
            <a:spAutoFit/>
          </a:bodyPr>
          <a:lstStyle/>
          <a:p>
            <a:pPr algn="l"/>
            <a:r>
              <a:rPr sz="1400" b="0" i="1" dirty="0">
                <a:solidFill>
                  <a:srgbClr val="1A1A2E"/>
                </a:solidFill>
                <a:latin typeface="Calibri"/>
              </a:rPr>
              <a:t>The buffer variables (</a:t>
            </a:r>
            <a:r>
              <a:rPr sz="1400" b="0" i="1" dirty="0" err="1">
                <a:solidFill>
                  <a:srgbClr val="1A1A2E"/>
                </a:solidFill>
                <a:latin typeface="Calibri"/>
              </a:rPr>
              <a:t>θ</a:t>
            </a:r>
            <a:r>
              <a:rPr sz="1400" b="0" i="1" dirty="0">
                <a:solidFill>
                  <a:srgbClr val="1A1A2E"/>
                </a:solidFill>
                <a:latin typeface="Calibri"/>
              </a:rPr>
              <a:t> and L) were not individually significant at our full sample of 51 months. This is a power problem — not a theory problem. Reserve attestations only became comprehensive after 2023.</a:t>
            </a:r>
          </a:p>
        </p:txBody>
      </p:sp>
      <p:sp>
        <p:nvSpPr>
          <p:cNvPr id="8" name="TextBox 7"/>
          <p:cNvSpPr txBox="1"/>
          <p:nvPr/>
        </p:nvSpPr>
        <p:spPr>
          <a:xfrm>
            <a:off x="365760" y="2103120"/>
            <a:ext cx="11430000" cy="365760"/>
          </a:xfrm>
          <a:prstGeom prst="rect">
            <a:avLst/>
          </a:prstGeom>
          <a:noFill/>
        </p:spPr>
        <p:txBody>
          <a:bodyPr wrap="square">
            <a:spAutoFit/>
          </a:bodyPr>
          <a:lstStyle/>
          <a:p>
            <a:pPr algn="l"/>
            <a:r>
              <a:rPr sz="1500" b="1" i="0" dirty="0">
                <a:solidFill>
                  <a:srgbClr val="1B3A72"/>
                </a:solidFill>
                <a:latin typeface="Calibri"/>
              </a:rPr>
              <a:t>When we restrict to January 2023 – March 2026  (N = 39 months, best attestation coverage):</a:t>
            </a:r>
          </a:p>
        </p:txBody>
      </p:sp>
      <p:sp>
        <p:nvSpPr>
          <p:cNvPr id="9" name="Rectangle 8"/>
          <p:cNvSpPr/>
          <p:nvPr/>
        </p:nvSpPr>
        <p:spPr>
          <a:xfrm>
            <a:off x="365760" y="2606040"/>
            <a:ext cx="5577840" cy="29260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48640" y="2724912"/>
            <a:ext cx="5212080" cy="347472"/>
          </a:xfrm>
          <a:prstGeom prst="rect">
            <a:avLst/>
          </a:prstGeom>
          <a:noFill/>
        </p:spPr>
        <p:txBody>
          <a:bodyPr wrap="square">
            <a:spAutoFit/>
          </a:bodyPr>
          <a:lstStyle/>
          <a:p>
            <a:pPr algn="l"/>
            <a:r>
              <a:rPr sz="1400" b="1" i="0">
                <a:solidFill>
                  <a:srgbClr val="AAC4E8"/>
                </a:solidFill>
                <a:latin typeface="Calibri"/>
              </a:rPr>
              <a:t>Supply channel</a:t>
            </a:r>
          </a:p>
        </p:txBody>
      </p:sp>
      <p:sp>
        <p:nvSpPr>
          <p:cNvPr id="11" name="TextBox 10"/>
          <p:cNvSpPr txBox="1"/>
          <p:nvPr/>
        </p:nvSpPr>
        <p:spPr>
          <a:xfrm>
            <a:off x="548640" y="3108960"/>
            <a:ext cx="5212080" cy="777240"/>
          </a:xfrm>
          <a:prstGeom prst="rect">
            <a:avLst/>
          </a:prstGeom>
          <a:noFill/>
        </p:spPr>
        <p:txBody>
          <a:bodyPr wrap="square">
            <a:spAutoFit/>
          </a:bodyPr>
          <a:lstStyle/>
          <a:p>
            <a:pPr algn="l"/>
            <a:r>
              <a:rPr sz="3000" b="1" i="0">
                <a:solidFill>
                  <a:srgbClr val="FFFFFF"/>
                </a:solidFill>
                <a:latin typeface="Calibri"/>
              </a:rPr>
              <a:t>β₁  =  −8.14</a:t>
            </a:r>
          </a:p>
        </p:txBody>
      </p:sp>
      <p:sp>
        <p:nvSpPr>
          <p:cNvPr id="12" name="TextBox 11"/>
          <p:cNvSpPr txBox="1"/>
          <p:nvPr/>
        </p:nvSpPr>
        <p:spPr>
          <a:xfrm>
            <a:off x="548640" y="3913632"/>
            <a:ext cx="5212080" cy="347472"/>
          </a:xfrm>
          <a:prstGeom prst="rect">
            <a:avLst/>
          </a:prstGeom>
          <a:noFill/>
        </p:spPr>
        <p:txBody>
          <a:bodyPr wrap="square">
            <a:spAutoFit/>
          </a:bodyPr>
          <a:lstStyle/>
          <a:p>
            <a:pPr algn="l"/>
            <a:r>
              <a:rPr sz="1800" b="1" i="0">
                <a:solidFill>
                  <a:srgbClr val="FFD700"/>
                </a:solidFill>
                <a:latin typeface="Calibri"/>
              </a:rPr>
              <a:t>***</a:t>
            </a:r>
          </a:p>
        </p:txBody>
      </p:sp>
      <p:sp>
        <p:nvSpPr>
          <p:cNvPr id="13" name="TextBox 12"/>
          <p:cNvSpPr txBox="1"/>
          <p:nvPr/>
        </p:nvSpPr>
        <p:spPr>
          <a:xfrm>
            <a:off x="548640" y="4315968"/>
            <a:ext cx="5212080" cy="914400"/>
          </a:xfrm>
          <a:prstGeom prst="rect">
            <a:avLst/>
          </a:prstGeom>
          <a:noFill/>
        </p:spPr>
        <p:txBody>
          <a:bodyPr wrap="square">
            <a:spAutoFit/>
          </a:bodyPr>
          <a:lstStyle/>
          <a:p>
            <a:pPr algn="l"/>
            <a:r>
              <a:rPr sz="1300" b="0" i="0">
                <a:solidFill>
                  <a:srgbClr val="AAC4E8"/>
                </a:solidFill>
                <a:latin typeface="Calibri"/>
              </a:rPr>
              <a:t>Even stronger supply effect in recent data.
Confirmed at the 1% level.</a:t>
            </a:r>
          </a:p>
        </p:txBody>
      </p:sp>
      <p:sp>
        <p:nvSpPr>
          <p:cNvPr id="14" name="Rectangle 13"/>
          <p:cNvSpPr/>
          <p:nvPr/>
        </p:nvSpPr>
        <p:spPr>
          <a:xfrm>
            <a:off x="6217920" y="2606040"/>
            <a:ext cx="5577840" cy="29260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400800" y="2724912"/>
            <a:ext cx="5212080" cy="347472"/>
          </a:xfrm>
          <a:prstGeom prst="rect">
            <a:avLst/>
          </a:prstGeom>
          <a:noFill/>
        </p:spPr>
        <p:txBody>
          <a:bodyPr wrap="square">
            <a:spAutoFit/>
          </a:bodyPr>
          <a:lstStyle/>
          <a:p>
            <a:pPr algn="l"/>
            <a:r>
              <a:rPr sz="1400" b="1" i="0">
                <a:solidFill>
                  <a:srgbClr val="AAC4E8"/>
                </a:solidFill>
                <a:latin typeface="Calibri"/>
              </a:rPr>
              <a:t>Buffer interaction</a:t>
            </a:r>
          </a:p>
        </p:txBody>
      </p:sp>
      <p:sp>
        <p:nvSpPr>
          <p:cNvPr id="16" name="TextBox 15"/>
          <p:cNvSpPr txBox="1"/>
          <p:nvPr/>
        </p:nvSpPr>
        <p:spPr>
          <a:xfrm>
            <a:off x="6400800" y="3108960"/>
            <a:ext cx="5212080" cy="777240"/>
          </a:xfrm>
          <a:prstGeom prst="rect">
            <a:avLst/>
          </a:prstGeom>
          <a:noFill/>
        </p:spPr>
        <p:txBody>
          <a:bodyPr wrap="square">
            <a:spAutoFit/>
          </a:bodyPr>
          <a:lstStyle/>
          <a:p>
            <a:pPr algn="l"/>
            <a:r>
              <a:rPr sz="3000" b="1" i="0">
                <a:solidFill>
                  <a:srgbClr val="FFFFFF"/>
                </a:solidFill>
                <a:latin typeface="Calibri"/>
              </a:rPr>
              <a:t>L×ΔlnS  =  +49.17</a:t>
            </a:r>
          </a:p>
        </p:txBody>
      </p:sp>
      <p:sp>
        <p:nvSpPr>
          <p:cNvPr id="17" name="TextBox 16"/>
          <p:cNvSpPr txBox="1"/>
          <p:nvPr/>
        </p:nvSpPr>
        <p:spPr>
          <a:xfrm>
            <a:off x="6400800" y="3913632"/>
            <a:ext cx="5212080" cy="347472"/>
          </a:xfrm>
          <a:prstGeom prst="rect">
            <a:avLst/>
          </a:prstGeom>
          <a:noFill/>
        </p:spPr>
        <p:txBody>
          <a:bodyPr wrap="square">
            <a:spAutoFit/>
          </a:bodyPr>
          <a:lstStyle/>
          <a:p>
            <a:pPr algn="l"/>
            <a:r>
              <a:rPr sz="1800" b="1" i="0">
                <a:solidFill>
                  <a:srgbClr val="FFD700"/>
                </a:solidFill>
                <a:latin typeface="Calibri"/>
              </a:rPr>
              <a:t>***  (p = 0.004)</a:t>
            </a:r>
          </a:p>
        </p:txBody>
      </p:sp>
      <p:sp>
        <p:nvSpPr>
          <p:cNvPr id="18" name="TextBox 17"/>
          <p:cNvSpPr txBox="1"/>
          <p:nvPr/>
        </p:nvSpPr>
        <p:spPr>
          <a:xfrm>
            <a:off x="6400800" y="4315968"/>
            <a:ext cx="5212080" cy="914400"/>
          </a:xfrm>
          <a:prstGeom prst="rect">
            <a:avLst/>
          </a:prstGeom>
          <a:noFill/>
        </p:spPr>
        <p:txBody>
          <a:bodyPr wrap="square">
            <a:spAutoFit/>
          </a:bodyPr>
          <a:lstStyle/>
          <a:p>
            <a:pPr algn="l"/>
            <a:r>
              <a:rPr sz="1300" b="0" i="0">
                <a:solidFill>
                  <a:srgbClr val="AAC4E8"/>
                </a:solidFill>
                <a:latin typeface="Calibri"/>
              </a:rPr>
              <a:t>Higher liquid buffer dampens the spread compression.
The fragility mechanism is confirmed.</a:t>
            </a:r>
          </a:p>
        </p:txBody>
      </p:sp>
      <p:sp>
        <p:nvSpPr>
          <p:cNvPr id="19" name="Rectangle 18"/>
          <p:cNvSpPr/>
          <p:nvPr/>
        </p:nvSpPr>
        <p:spPr>
          <a:xfrm>
            <a:off x="0" y="5596128"/>
            <a:ext cx="12188952" cy="1097280"/>
          </a:xfrm>
          <a:prstGeom prst="rect">
            <a:avLst/>
          </a:prstGeom>
          <a:solidFill>
            <a:srgbClr val="D46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548640" y="5760720"/>
            <a:ext cx="11274552" cy="804672"/>
          </a:xfrm>
          <a:prstGeom prst="rect">
            <a:avLst/>
          </a:prstGeom>
          <a:noFill/>
        </p:spPr>
        <p:txBody>
          <a:bodyPr wrap="square">
            <a:spAutoFit/>
          </a:bodyPr>
          <a:lstStyle/>
          <a:p>
            <a:pPr algn="ctr"/>
            <a:r>
              <a:rPr sz="1400" b="1" i="0">
                <a:solidFill>
                  <a:srgbClr val="FFFFFF"/>
                </a:solidFill>
                <a:latin typeface="Calibri"/>
              </a:rPr>
              <a:t>Both channels confirmed in recent data. The mechanism is real — our full sample just needs more months to reach significance.</a:t>
            </a:r>
          </a:p>
        </p:txBody>
      </p:sp>
      <p:sp>
        <p:nvSpPr>
          <p:cNvPr id="21" name="TextBox 20">
            <a:extLst>
              <a:ext uri="{FF2B5EF4-FFF2-40B4-BE49-F238E27FC236}">
                <a16:creationId xmlns:a16="http://schemas.microsoft.com/office/drawing/2014/main" id="{AE033ACC-A3A0-F6D7-8B64-D2A08C9C0CF4}"/>
              </a:ext>
            </a:extLst>
          </p:cNvPr>
          <p:cNvSpPr txBox="1"/>
          <p:nvPr/>
        </p:nvSpPr>
        <p:spPr>
          <a:xfrm>
            <a:off x="11288486" y="206829"/>
            <a:ext cx="718457" cy="369332"/>
          </a:xfrm>
          <a:prstGeom prst="rect">
            <a:avLst/>
          </a:prstGeom>
          <a:noFill/>
        </p:spPr>
        <p:txBody>
          <a:bodyPr wrap="square" rtlCol="0">
            <a:spAutoFit/>
          </a:bodyPr>
          <a:lstStyle/>
          <a:p>
            <a:r>
              <a:rPr kumimoji="1" lang="en-US" altLang="ko-KR" dirty="0">
                <a:solidFill>
                  <a:schemeClr val="bg1"/>
                </a:solidFill>
              </a:rPr>
              <a:t>Mimi</a:t>
            </a:r>
            <a:endParaRPr kumimoji="1" lang="ko-KR" altLang="en-US" dirty="0">
              <a:solidFill>
                <a:schemeClr val="bg1"/>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Result 2: Is There a Safety Threshold?</a:t>
            </a:r>
          </a:p>
        </p:txBody>
      </p:sp>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11</a:t>
            </a:r>
          </a:p>
        </p:txBody>
      </p:sp>
      <p:pic>
        <p:nvPicPr>
          <p:cNvPr id="6" name="Picture 5" descr="threshold_ssr.png"/>
          <p:cNvPicPr>
            <a:picLocks noChangeAspect="1"/>
          </p:cNvPicPr>
          <p:nvPr/>
        </p:nvPicPr>
        <p:blipFill>
          <a:blip r:embed="rId3"/>
          <a:stretch>
            <a:fillRect/>
          </a:stretch>
        </p:blipFill>
        <p:spPr>
          <a:xfrm>
            <a:off x="228600" y="1833354"/>
            <a:ext cx="6400800" cy="3602771"/>
          </a:xfrm>
          <a:prstGeom prst="rect">
            <a:avLst/>
          </a:prstGeom>
        </p:spPr>
      </p:pic>
      <p:sp>
        <p:nvSpPr>
          <p:cNvPr id="7" name="Rectangle 6"/>
          <p:cNvSpPr/>
          <p:nvPr/>
        </p:nvSpPr>
        <p:spPr>
          <a:xfrm>
            <a:off x="6858000" y="1555768"/>
            <a:ext cx="5029200" cy="182880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995160" y="1647208"/>
            <a:ext cx="4754880" cy="822960"/>
          </a:xfrm>
          <a:prstGeom prst="rect">
            <a:avLst/>
          </a:prstGeom>
          <a:noFill/>
        </p:spPr>
        <p:txBody>
          <a:bodyPr wrap="square">
            <a:spAutoFit/>
          </a:bodyPr>
          <a:lstStyle/>
          <a:p>
            <a:pPr algn="ctr"/>
            <a:r>
              <a:rPr sz="4000" b="1" i="0">
                <a:solidFill>
                  <a:srgbClr val="FFFFFF"/>
                </a:solidFill>
                <a:latin typeface="Calibri"/>
              </a:rPr>
              <a:t>q*  =  13%</a:t>
            </a:r>
          </a:p>
        </p:txBody>
      </p:sp>
      <p:sp>
        <p:nvSpPr>
          <p:cNvPr id="9" name="TextBox 8"/>
          <p:cNvSpPr txBox="1"/>
          <p:nvPr/>
        </p:nvSpPr>
        <p:spPr>
          <a:xfrm>
            <a:off x="6995160" y="2470167"/>
            <a:ext cx="4754880" cy="347472"/>
          </a:xfrm>
          <a:prstGeom prst="rect">
            <a:avLst/>
          </a:prstGeom>
          <a:noFill/>
        </p:spPr>
        <p:txBody>
          <a:bodyPr wrap="square">
            <a:spAutoFit/>
          </a:bodyPr>
          <a:lstStyle/>
          <a:p>
            <a:pPr algn="ctr"/>
            <a:r>
              <a:rPr sz="1400" b="0" i="1">
                <a:solidFill>
                  <a:srgbClr val="AAC4E8"/>
                </a:solidFill>
                <a:latin typeface="Calibri"/>
              </a:rPr>
              <a:t>of supply held as liquid cash</a:t>
            </a:r>
          </a:p>
        </p:txBody>
      </p:sp>
      <p:sp>
        <p:nvSpPr>
          <p:cNvPr id="10" name="Rectangle 9"/>
          <p:cNvSpPr/>
          <p:nvPr/>
        </p:nvSpPr>
        <p:spPr>
          <a:xfrm>
            <a:off x="6858000" y="3476008"/>
            <a:ext cx="5029200" cy="237744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040880" y="3594880"/>
            <a:ext cx="4663440" cy="320040"/>
          </a:xfrm>
          <a:prstGeom prst="rect">
            <a:avLst/>
          </a:prstGeom>
          <a:noFill/>
        </p:spPr>
        <p:txBody>
          <a:bodyPr wrap="square">
            <a:spAutoFit/>
          </a:bodyPr>
          <a:lstStyle/>
          <a:p>
            <a:pPr algn="l"/>
            <a:r>
              <a:rPr sz="1400" b="1" i="0" dirty="0">
                <a:solidFill>
                  <a:srgbClr val="1B3A72"/>
                </a:solidFill>
                <a:latin typeface="Calibri"/>
              </a:rPr>
              <a:t>What this means:</a:t>
            </a:r>
          </a:p>
        </p:txBody>
      </p:sp>
      <p:sp>
        <p:nvSpPr>
          <p:cNvPr id="12" name="TextBox 11"/>
          <p:cNvSpPr txBox="1"/>
          <p:nvPr/>
        </p:nvSpPr>
        <p:spPr>
          <a:xfrm>
            <a:off x="7040880" y="3960640"/>
            <a:ext cx="4663440" cy="1691640"/>
          </a:xfrm>
          <a:prstGeom prst="rect">
            <a:avLst/>
          </a:prstGeom>
          <a:noFill/>
        </p:spPr>
        <p:txBody>
          <a:bodyPr wrap="square">
            <a:spAutoFit/>
          </a:bodyPr>
          <a:lstStyle/>
          <a:p>
            <a:pPr algn="l"/>
            <a:r>
              <a:rPr sz="1300" b="0" i="0">
                <a:solidFill>
                  <a:srgbClr val="1A1A2E"/>
                </a:solidFill>
                <a:latin typeface="Calibri"/>
              </a:rPr>
              <a:t>Using Hansen (2000) threshold regression, we find a tipping point at 13% liquid cash reserves.
Below this level — where most of our data falls — issuers don't have enough cash to absorb redemptions without selling T-bills.</a:t>
            </a:r>
          </a:p>
        </p:txBody>
      </p:sp>
      <p:sp>
        <p:nvSpPr>
          <p:cNvPr id="13" name="TextBox 12"/>
          <p:cNvSpPr txBox="1"/>
          <p:nvPr/>
        </p:nvSpPr>
        <p:spPr>
          <a:xfrm>
            <a:off x="320040" y="6035040"/>
            <a:ext cx="6400800" cy="274320"/>
          </a:xfrm>
          <a:prstGeom prst="rect">
            <a:avLst/>
          </a:prstGeom>
          <a:noFill/>
        </p:spPr>
        <p:txBody>
          <a:bodyPr wrap="square">
            <a:spAutoFit/>
          </a:bodyPr>
          <a:lstStyle/>
          <a:p>
            <a:pPr algn="l"/>
            <a:r>
              <a:rPr sz="1000" b="0" i="1">
                <a:solidFill>
                  <a:srgbClr val="555566"/>
                </a:solidFill>
                <a:latin typeface="Calibri"/>
              </a:rPr>
              <a:t>← Lower SSR = better model fit at that threshold value</a:t>
            </a:r>
          </a:p>
        </p:txBody>
      </p:sp>
      <p:sp>
        <p:nvSpPr>
          <p:cNvPr id="14" name="TextBox 13"/>
          <p:cNvSpPr txBox="1"/>
          <p:nvPr/>
        </p:nvSpPr>
        <p:spPr>
          <a:xfrm>
            <a:off x="320040" y="6400800"/>
            <a:ext cx="11521440" cy="292608"/>
          </a:xfrm>
          <a:prstGeom prst="rect">
            <a:avLst/>
          </a:prstGeom>
          <a:noFill/>
        </p:spPr>
        <p:txBody>
          <a:bodyPr wrap="square">
            <a:spAutoFit/>
          </a:bodyPr>
          <a:lstStyle/>
          <a:p>
            <a:pPr algn="ctr"/>
            <a:r>
              <a:rPr sz="1100" b="0" i="1">
                <a:solidFill>
                  <a:srgbClr val="555566"/>
                </a:solidFill>
                <a:latin typeface="Calibri"/>
              </a:rPr>
              <a:t>Bootstrap p = 0.260  (suggestive — the direction is clear; significance grows as data accumulates past 2026)</a:t>
            </a:r>
          </a:p>
        </p:txBody>
      </p:sp>
      <p:sp>
        <p:nvSpPr>
          <p:cNvPr id="15" name="TextBox 14">
            <a:extLst>
              <a:ext uri="{FF2B5EF4-FFF2-40B4-BE49-F238E27FC236}">
                <a16:creationId xmlns:a16="http://schemas.microsoft.com/office/drawing/2014/main" id="{1407FDC2-9FDA-353D-7FAA-6E3D296B6CCD}"/>
              </a:ext>
            </a:extLst>
          </p:cNvPr>
          <p:cNvSpPr txBox="1"/>
          <p:nvPr/>
        </p:nvSpPr>
        <p:spPr>
          <a:xfrm>
            <a:off x="11288486" y="206829"/>
            <a:ext cx="718457" cy="369332"/>
          </a:xfrm>
          <a:prstGeom prst="rect">
            <a:avLst/>
          </a:prstGeom>
          <a:noFill/>
        </p:spPr>
        <p:txBody>
          <a:bodyPr wrap="square" rtlCol="0">
            <a:spAutoFit/>
          </a:bodyPr>
          <a:lstStyle/>
          <a:p>
            <a:r>
              <a:rPr kumimoji="1" lang="en-US" altLang="ko-KR" dirty="0">
                <a:solidFill>
                  <a:schemeClr val="bg1"/>
                </a:solidFill>
              </a:rPr>
              <a:t>Mimi</a:t>
            </a:r>
            <a:endParaRPr kumimoji="1" lang="ko-KR" altLang="en-US" dirty="0">
              <a:solidFill>
                <a:schemeClr val="bg1"/>
              </a:solidFill>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dirty="0">
                <a:solidFill>
                  <a:srgbClr val="FFFFFF"/>
                </a:solidFill>
                <a:latin typeface="Calibri"/>
              </a:rPr>
              <a:t>Below vs. Above the Threshold: Two Different Worlds</a:t>
            </a:r>
          </a:p>
        </p:txBody>
      </p:sp>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12</a:t>
            </a:r>
          </a:p>
        </p:txBody>
      </p:sp>
      <p:sp>
        <p:nvSpPr>
          <p:cNvPr id="6" name="TextBox 5"/>
          <p:cNvSpPr txBox="1"/>
          <p:nvPr/>
        </p:nvSpPr>
        <p:spPr>
          <a:xfrm>
            <a:off x="365760" y="960120"/>
            <a:ext cx="11430000" cy="384048"/>
          </a:xfrm>
          <a:prstGeom prst="rect">
            <a:avLst/>
          </a:prstGeom>
          <a:noFill/>
        </p:spPr>
        <p:txBody>
          <a:bodyPr wrap="square">
            <a:spAutoFit/>
          </a:bodyPr>
          <a:lstStyle/>
          <a:p>
            <a:pPr algn="l"/>
            <a:r>
              <a:rPr sz="1400" b="0" i="1" dirty="0">
                <a:solidFill>
                  <a:srgbClr val="555566"/>
                </a:solidFill>
                <a:latin typeface="Calibri"/>
              </a:rPr>
              <a:t>Splitting our 51 months at q* = 13% reveals a striking difference in how stablecoin growth affects Treasury markets:</a:t>
            </a:r>
          </a:p>
        </p:txBody>
      </p:sp>
      <p:sp>
        <p:nvSpPr>
          <p:cNvPr id="7" name="Rectangle 6"/>
          <p:cNvSpPr/>
          <p:nvPr/>
        </p:nvSpPr>
        <p:spPr>
          <a:xfrm>
            <a:off x="365760" y="1463040"/>
            <a:ext cx="5486400" cy="4160520"/>
          </a:xfrm>
          <a:prstGeom prst="rect">
            <a:avLst/>
          </a:prstGeom>
          <a:solidFill>
            <a:srgbClr val="FCEB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365760" y="1463040"/>
            <a:ext cx="5486400" cy="50292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7200" y="1508760"/>
            <a:ext cx="5303520" cy="402336"/>
          </a:xfrm>
          <a:prstGeom prst="rect">
            <a:avLst/>
          </a:prstGeom>
          <a:noFill/>
        </p:spPr>
        <p:txBody>
          <a:bodyPr wrap="square">
            <a:spAutoFit/>
          </a:bodyPr>
          <a:lstStyle/>
          <a:p>
            <a:pPr algn="ctr"/>
            <a:r>
              <a:rPr sz="1400" b="1" i="0">
                <a:solidFill>
                  <a:srgbClr val="FFFFFF"/>
                </a:solidFill>
                <a:latin typeface="Calibri"/>
              </a:rPr>
              <a:t>BELOW  13%  LIQUID BUFFER</a:t>
            </a:r>
          </a:p>
        </p:txBody>
      </p:sp>
      <p:sp>
        <p:nvSpPr>
          <p:cNvPr id="10" name="TextBox 9"/>
          <p:cNvSpPr txBox="1"/>
          <p:nvPr/>
        </p:nvSpPr>
        <p:spPr>
          <a:xfrm>
            <a:off x="457200" y="2057400"/>
            <a:ext cx="5303520" cy="320040"/>
          </a:xfrm>
          <a:prstGeom prst="rect">
            <a:avLst/>
          </a:prstGeom>
          <a:noFill/>
        </p:spPr>
        <p:txBody>
          <a:bodyPr wrap="square">
            <a:spAutoFit/>
          </a:bodyPr>
          <a:lstStyle/>
          <a:p>
            <a:pPr algn="ctr"/>
            <a:r>
              <a:rPr sz="1300" b="0" i="1">
                <a:solidFill>
                  <a:srgbClr val="555566"/>
                </a:solidFill>
                <a:latin typeface="Calibri"/>
              </a:rPr>
              <a:t>38 out of 51 months</a:t>
            </a:r>
          </a:p>
        </p:txBody>
      </p:sp>
      <p:sp>
        <p:nvSpPr>
          <p:cNvPr id="11" name="TextBox 10"/>
          <p:cNvSpPr txBox="1"/>
          <p:nvPr/>
        </p:nvSpPr>
        <p:spPr>
          <a:xfrm>
            <a:off x="457200" y="2423160"/>
            <a:ext cx="5303520" cy="777240"/>
          </a:xfrm>
          <a:prstGeom prst="rect">
            <a:avLst/>
          </a:prstGeom>
          <a:noFill/>
        </p:spPr>
        <p:txBody>
          <a:bodyPr wrap="square">
            <a:spAutoFit/>
          </a:bodyPr>
          <a:lstStyle/>
          <a:p>
            <a:pPr algn="ctr"/>
            <a:r>
              <a:rPr sz="4200" b="1" i="0" dirty="0">
                <a:solidFill>
                  <a:srgbClr val="C0392B"/>
                </a:solidFill>
                <a:latin typeface="Calibri"/>
              </a:rPr>
              <a:t>β  =  −6.97</a:t>
            </a:r>
          </a:p>
        </p:txBody>
      </p:sp>
      <p:sp>
        <p:nvSpPr>
          <p:cNvPr id="12" name="TextBox 11"/>
          <p:cNvSpPr txBox="1"/>
          <p:nvPr/>
        </p:nvSpPr>
        <p:spPr>
          <a:xfrm>
            <a:off x="548640" y="3291840"/>
            <a:ext cx="5120640" cy="2103120"/>
          </a:xfrm>
          <a:prstGeom prst="rect">
            <a:avLst/>
          </a:prstGeom>
          <a:noFill/>
        </p:spPr>
        <p:txBody>
          <a:bodyPr wrap="square">
            <a:spAutoFit/>
          </a:bodyPr>
          <a:lstStyle/>
          <a:p>
            <a:pPr algn="l"/>
            <a:r>
              <a:rPr sz="1400" b="0" i="0">
                <a:solidFill>
                  <a:srgbClr val="1A1A2E"/>
                </a:solidFill>
                <a:latin typeface="Calibri"/>
              </a:rPr>
              <a:t>Supply growth STRONGLY compresses spreads.
Issuers don't have enough cash to pay redemptions, so they sell T-bills — moving the market.</a:t>
            </a:r>
          </a:p>
        </p:txBody>
      </p:sp>
      <p:sp>
        <p:nvSpPr>
          <p:cNvPr id="13" name="Rectangle 12"/>
          <p:cNvSpPr/>
          <p:nvPr/>
        </p:nvSpPr>
        <p:spPr>
          <a:xfrm>
            <a:off x="6309360" y="1463040"/>
            <a:ext cx="5486400" cy="4160520"/>
          </a:xfrm>
          <a:prstGeom prst="rect">
            <a:avLst/>
          </a:prstGeom>
          <a:solidFill>
            <a:srgbClr val="E6F4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6309360" y="1463040"/>
            <a:ext cx="5486400" cy="50292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400800" y="1508760"/>
            <a:ext cx="5303520" cy="402336"/>
          </a:xfrm>
          <a:prstGeom prst="rect">
            <a:avLst/>
          </a:prstGeom>
          <a:noFill/>
        </p:spPr>
        <p:txBody>
          <a:bodyPr wrap="square">
            <a:spAutoFit/>
          </a:bodyPr>
          <a:lstStyle/>
          <a:p>
            <a:pPr algn="ctr"/>
            <a:r>
              <a:rPr sz="1400" b="1" i="0">
                <a:solidFill>
                  <a:srgbClr val="FFFFFF"/>
                </a:solidFill>
                <a:latin typeface="Calibri"/>
              </a:rPr>
              <a:t>ABOVE  13%  LIQUID BUFFER</a:t>
            </a:r>
          </a:p>
        </p:txBody>
      </p:sp>
      <p:sp>
        <p:nvSpPr>
          <p:cNvPr id="16" name="TextBox 15"/>
          <p:cNvSpPr txBox="1"/>
          <p:nvPr/>
        </p:nvSpPr>
        <p:spPr>
          <a:xfrm>
            <a:off x="6400800" y="2057400"/>
            <a:ext cx="5303520" cy="320040"/>
          </a:xfrm>
          <a:prstGeom prst="rect">
            <a:avLst/>
          </a:prstGeom>
          <a:noFill/>
        </p:spPr>
        <p:txBody>
          <a:bodyPr wrap="square">
            <a:spAutoFit/>
          </a:bodyPr>
          <a:lstStyle/>
          <a:p>
            <a:pPr algn="ctr"/>
            <a:r>
              <a:rPr sz="1300" b="0" i="1">
                <a:solidFill>
                  <a:srgbClr val="555566"/>
                </a:solidFill>
                <a:latin typeface="Calibri"/>
              </a:rPr>
              <a:t>13 out of 51 months</a:t>
            </a:r>
          </a:p>
        </p:txBody>
      </p:sp>
      <p:sp>
        <p:nvSpPr>
          <p:cNvPr id="17" name="TextBox 16"/>
          <p:cNvSpPr txBox="1"/>
          <p:nvPr/>
        </p:nvSpPr>
        <p:spPr>
          <a:xfrm>
            <a:off x="6400800" y="2423160"/>
            <a:ext cx="5303520" cy="777240"/>
          </a:xfrm>
          <a:prstGeom prst="rect">
            <a:avLst/>
          </a:prstGeom>
          <a:noFill/>
        </p:spPr>
        <p:txBody>
          <a:bodyPr wrap="square">
            <a:spAutoFit/>
          </a:bodyPr>
          <a:lstStyle/>
          <a:p>
            <a:pPr algn="ctr"/>
            <a:r>
              <a:rPr sz="4200" b="1" i="0">
                <a:solidFill>
                  <a:srgbClr val="1A7A4A"/>
                </a:solidFill>
                <a:latin typeface="Calibri"/>
              </a:rPr>
              <a:t>β  =  +1.26</a:t>
            </a:r>
          </a:p>
        </p:txBody>
      </p:sp>
      <p:sp>
        <p:nvSpPr>
          <p:cNvPr id="18" name="TextBox 17"/>
          <p:cNvSpPr txBox="1"/>
          <p:nvPr/>
        </p:nvSpPr>
        <p:spPr>
          <a:xfrm>
            <a:off x="6492240" y="3291840"/>
            <a:ext cx="5120640" cy="2103120"/>
          </a:xfrm>
          <a:prstGeom prst="rect">
            <a:avLst/>
          </a:prstGeom>
          <a:noFill/>
        </p:spPr>
        <p:txBody>
          <a:bodyPr wrap="square">
            <a:spAutoFit/>
          </a:bodyPr>
          <a:lstStyle/>
          <a:p>
            <a:pPr algn="l"/>
            <a:r>
              <a:rPr sz="1400" b="0" i="0">
                <a:solidFill>
                  <a:srgbClr val="1A1A2E"/>
                </a:solidFill>
                <a:latin typeface="Calibri"/>
              </a:rPr>
              <a:t>Supply growth has NO compression effect.
Issuers use their cash buffer to absorb redemptions — T-bill holdings stay intact, spreads are undisturbed.</a:t>
            </a:r>
          </a:p>
        </p:txBody>
      </p:sp>
      <p:sp>
        <p:nvSpPr>
          <p:cNvPr id="19" name="Rectangle 18"/>
          <p:cNvSpPr/>
          <p:nvPr/>
        </p:nvSpPr>
        <p:spPr>
          <a:xfrm>
            <a:off x="0" y="5596128"/>
            <a:ext cx="12188952" cy="1097280"/>
          </a:xfrm>
          <a:prstGeom prst="rect">
            <a:avLst/>
          </a:prstGeom>
          <a:solidFill>
            <a:srgbClr val="D46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548640" y="5760720"/>
            <a:ext cx="11274552" cy="830997"/>
          </a:xfrm>
          <a:prstGeom prst="rect">
            <a:avLst/>
          </a:prstGeom>
          <a:noFill/>
        </p:spPr>
        <p:txBody>
          <a:bodyPr wrap="square">
            <a:spAutoFit/>
          </a:bodyPr>
          <a:lstStyle/>
          <a:p>
            <a:pPr algn="ctr"/>
            <a:r>
              <a:rPr sz="2400" b="1" i="0" dirty="0">
                <a:solidFill>
                  <a:srgbClr val="FFFFFF"/>
                </a:solidFill>
                <a:latin typeface="Calibri"/>
              </a:rPr>
              <a:t>The liquid cash buffer is what separates a stablecoin issuer that </a:t>
            </a:r>
            <a:r>
              <a:rPr sz="2400" b="1" i="0" dirty="0" err="1">
                <a:solidFill>
                  <a:srgbClr val="FFFFFF"/>
                </a:solidFill>
                <a:latin typeface="Calibri"/>
              </a:rPr>
              <a:t>stabilises</a:t>
            </a:r>
            <a:r>
              <a:rPr sz="2400" b="1" i="0" dirty="0">
                <a:solidFill>
                  <a:srgbClr val="FFFFFF"/>
                </a:solidFill>
                <a:latin typeface="Calibri"/>
              </a:rPr>
              <a:t> Treasury markets from one that disrupts them.</a:t>
            </a:r>
          </a:p>
        </p:txBody>
      </p:sp>
      <p:sp>
        <p:nvSpPr>
          <p:cNvPr id="21" name="TextBox 20">
            <a:extLst>
              <a:ext uri="{FF2B5EF4-FFF2-40B4-BE49-F238E27FC236}">
                <a16:creationId xmlns:a16="http://schemas.microsoft.com/office/drawing/2014/main" id="{180EEF62-E56B-3F8C-ABDE-9DA3B7CA076E}"/>
              </a:ext>
            </a:extLst>
          </p:cNvPr>
          <p:cNvSpPr txBox="1"/>
          <p:nvPr/>
        </p:nvSpPr>
        <p:spPr>
          <a:xfrm>
            <a:off x="11288486" y="206829"/>
            <a:ext cx="718457" cy="369332"/>
          </a:xfrm>
          <a:prstGeom prst="rect">
            <a:avLst/>
          </a:prstGeom>
          <a:noFill/>
        </p:spPr>
        <p:txBody>
          <a:bodyPr wrap="square" rtlCol="0">
            <a:spAutoFit/>
          </a:bodyPr>
          <a:lstStyle/>
          <a:p>
            <a:r>
              <a:rPr kumimoji="1" lang="en-US" altLang="ko-KR" dirty="0">
                <a:solidFill>
                  <a:schemeClr val="bg1"/>
                </a:solidFill>
              </a:rPr>
              <a:t>Mimi</a:t>
            </a:r>
            <a:endParaRPr kumimoji="1" lang="ko-KR" altLang="en-US" dirty="0">
              <a:solidFill>
                <a:schemeClr val="bg1"/>
              </a:solidFill>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DF843276-D42E-0C7D-C4D7-4C8A673006EF}"/>
              </a:ext>
            </a:extLst>
          </p:cNvPr>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a:extLst>
              <a:ext uri="{FF2B5EF4-FFF2-40B4-BE49-F238E27FC236}">
                <a16:creationId xmlns:a16="http://schemas.microsoft.com/office/drawing/2014/main" id="{C1ECF740-C59E-A8F2-B17F-970603888CB7}"/>
              </a:ext>
            </a:extLst>
          </p:cNvPr>
          <p:cNvSpPr txBox="1"/>
          <p:nvPr/>
        </p:nvSpPr>
        <p:spPr>
          <a:xfrm>
            <a:off x="274320" y="91440"/>
            <a:ext cx="10515600" cy="492443"/>
          </a:xfrm>
          <a:prstGeom prst="rect">
            <a:avLst/>
          </a:prstGeom>
          <a:noFill/>
        </p:spPr>
        <p:txBody>
          <a:bodyPr wrap="square">
            <a:spAutoFit/>
          </a:bodyPr>
          <a:lstStyle/>
          <a:p>
            <a:pPr algn="l"/>
            <a:r>
              <a:rPr lang="en-US" sz="2600" b="0" i="0" dirty="0">
                <a:solidFill>
                  <a:srgbClr val="FFFFFF"/>
                </a:solidFill>
                <a:latin typeface="Calibri"/>
              </a:rPr>
              <a:t>Looking Ahead: Causal Proof &amp; Policy Solutions</a:t>
            </a:r>
            <a:endParaRPr sz="2600" b="0" i="0" dirty="0">
              <a:solidFill>
                <a:srgbClr val="FFFFFF"/>
              </a:solidFill>
              <a:latin typeface="Calibri"/>
            </a:endParaRPr>
          </a:p>
        </p:txBody>
      </p:sp>
      <p:sp>
        <p:nvSpPr>
          <p:cNvPr id="5" name="TextBox 4">
            <a:extLst>
              <a:ext uri="{FF2B5EF4-FFF2-40B4-BE49-F238E27FC236}">
                <a16:creationId xmlns:a16="http://schemas.microsoft.com/office/drawing/2014/main" id="{5B1CC960-09A8-8203-717D-8C49489AC588}"/>
              </a:ext>
            </a:extLst>
          </p:cNvPr>
          <p:cNvSpPr txBox="1"/>
          <p:nvPr/>
        </p:nvSpPr>
        <p:spPr>
          <a:xfrm>
            <a:off x="11686032" y="6473952"/>
            <a:ext cx="411480" cy="292388"/>
          </a:xfrm>
          <a:prstGeom prst="rect">
            <a:avLst/>
          </a:prstGeom>
          <a:noFill/>
        </p:spPr>
        <p:txBody>
          <a:bodyPr wrap="square">
            <a:spAutoFit/>
          </a:bodyPr>
          <a:lstStyle/>
          <a:p>
            <a:pPr algn="r"/>
            <a:r>
              <a:rPr sz="1300" b="0" i="0" dirty="0">
                <a:solidFill>
                  <a:srgbClr val="555566"/>
                </a:solidFill>
                <a:latin typeface="Calibri"/>
              </a:rPr>
              <a:t>1</a:t>
            </a:r>
            <a:r>
              <a:rPr lang="en-US" sz="1300" b="0" i="0" dirty="0">
                <a:solidFill>
                  <a:srgbClr val="555566"/>
                </a:solidFill>
                <a:latin typeface="Calibri"/>
              </a:rPr>
              <a:t>3</a:t>
            </a:r>
            <a:endParaRPr sz="1300" b="0" i="0" dirty="0">
              <a:solidFill>
                <a:srgbClr val="555566"/>
              </a:solidFill>
              <a:latin typeface="Calibri"/>
            </a:endParaRPr>
          </a:p>
        </p:txBody>
      </p:sp>
      <p:sp>
        <p:nvSpPr>
          <p:cNvPr id="15" name="TextBox 14">
            <a:extLst>
              <a:ext uri="{FF2B5EF4-FFF2-40B4-BE49-F238E27FC236}">
                <a16:creationId xmlns:a16="http://schemas.microsoft.com/office/drawing/2014/main" id="{91A39CEE-FED1-8B0D-9155-343F894C6050}"/>
              </a:ext>
            </a:extLst>
          </p:cNvPr>
          <p:cNvSpPr txBox="1"/>
          <p:nvPr/>
        </p:nvSpPr>
        <p:spPr>
          <a:xfrm>
            <a:off x="11288486" y="206829"/>
            <a:ext cx="718457" cy="369332"/>
          </a:xfrm>
          <a:prstGeom prst="rect">
            <a:avLst/>
          </a:prstGeom>
          <a:noFill/>
        </p:spPr>
        <p:txBody>
          <a:bodyPr wrap="square" rtlCol="0">
            <a:spAutoFit/>
          </a:bodyPr>
          <a:lstStyle/>
          <a:p>
            <a:r>
              <a:rPr kumimoji="1" lang="en-US" altLang="ko-KR" dirty="0">
                <a:solidFill>
                  <a:schemeClr val="bg1"/>
                </a:solidFill>
              </a:rPr>
              <a:t>Sara</a:t>
            </a:r>
            <a:endParaRPr kumimoji="1" lang="ko-KR" altLang="en-US" dirty="0">
              <a:solidFill>
                <a:schemeClr val="bg1"/>
              </a:solidFill>
            </a:endParaRPr>
          </a:p>
        </p:txBody>
      </p:sp>
      <p:sp>
        <p:nvSpPr>
          <p:cNvPr id="18" name="TextBox 17">
            <a:extLst>
              <a:ext uri="{FF2B5EF4-FFF2-40B4-BE49-F238E27FC236}">
                <a16:creationId xmlns:a16="http://schemas.microsoft.com/office/drawing/2014/main" id="{B7308D40-C675-A0E3-4725-268F3424017E}"/>
              </a:ext>
            </a:extLst>
          </p:cNvPr>
          <p:cNvSpPr txBox="1"/>
          <p:nvPr/>
        </p:nvSpPr>
        <p:spPr>
          <a:xfrm>
            <a:off x="441159" y="1312039"/>
            <a:ext cx="5653253" cy="2308324"/>
          </a:xfrm>
          <a:prstGeom prst="rect">
            <a:avLst/>
          </a:prstGeom>
          <a:noFill/>
        </p:spPr>
        <p:txBody>
          <a:bodyPr wrap="square">
            <a:spAutoFit/>
          </a:bodyPr>
          <a:lstStyle/>
          <a:p>
            <a:pPr algn="l">
              <a:buFont typeface="Arial" panose="020B0604020202020204" pitchFamily="34" charset="0"/>
              <a:buChar char="•"/>
            </a:pPr>
            <a:r>
              <a:rPr lang="en-US" altLang="ko-KR" b="1" i="0" dirty="0">
                <a:solidFill>
                  <a:srgbClr val="303030"/>
                </a:solidFill>
                <a:effectLst/>
                <a:latin typeface="Google Sans Text"/>
              </a:rPr>
              <a:t>Result 3: The Buffer-Conditioned Event Study</a:t>
            </a:r>
            <a:endParaRPr lang="en-US" altLang="ko-KR" b="0" i="0" dirty="0">
              <a:solidFill>
                <a:srgbClr val="303030"/>
              </a:solidFill>
              <a:effectLst/>
              <a:latin typeface="Google Sans Text"/>
            </a:endParaRPr>
          </a:p>
          <a:p>
            <a:pPr marL="742950" lvl="1" indent="-285750" algn="l">
              <a:buFont typeface="Arial" panose="020B0604020202020204" pitchFamily="34" charset="0"/>
              <a:buChar char="•"/>
            </a:pPr>
            <a:r>
              <a:rPr lang="en-US" altLang="ko-KR" b="0" i="0" dirty="0">
                <a:solidFill>
                  <a:srgbClr val="303030"/>
                </a:solidFill>
                <a:effectLst/>
                <a:latin typeface="Google Sans Text"/>
              </a:rPr>
              <a:t>Moving from monthly trends to daily "quasi-experimental" causal identification.</a:t>
            </a:r>
          </a:p>
          <a:p>
            <a:pPr marL="742950" lvl="1" indent="-285750" algn="l">
              <a:buFont typeface="Arial" panose="020B0604020202020204" pitchFamily="34" charset="0"/>
              <a:buChar char="•"/>
            </a:pPr>
            <a:r>
              <a:rPr lang="en-US" altLang="ko-KR" b="0" i="0" dirty="0">
                <a:solidFill>
                  <a:srgbClr val="303030"/>
                </a:solidFill>
                <a:effectLst/>
                <a:latin typeface="Google Sans Text"/>
              </a:rPr>
              <a:t>Analyzing three major stress episodes: LUNA/UST, the USDT partial </a:t>
            </a:r>
            <a:r>
              <a:rPr lang="en-US" altLang="ko-KR" b="0" i="0" dirty="0" err="1">
                <a:solidFill>
                  <a:srgbClr val="303030"/>
                </a:solidFill>
                <a:effectLst/>
                <a:latin typeface="Google Sans Text"/>
              </a:rPr>
              <a:t>depeg</a:t>
            </a:r>
            <a:r>
              <a:rPr lang="en-US" altLang="ko-KR" b="0" i="0" dirty="0">
                <a:solidFill>
                  <a:srgbClr val="303030"/>
                </a:solidFill>
                <a:effectLst/>
                <a:latin typeface="Google Sans Text"/>
              </a:rPr>
              <a:t>, and the USDC/SVB failure.</a:t>
            </a:r>
          </a:p>
          <a:p>
            <a:pPr marL="742950" lvl="1" indent="-285750" algn="l">
              <a:buFont typeface="Arial" panose="020B0604020202020204" pitchFamily="34" charset="0"/>
              <a:buChar char="•"/>
            </a:pPr>
            <a:r>
              <a:rPr lang="en-US" altLang="ko-KR" b="0" i="0" dirty="0">
                <a:solidFill>
                  <a:srgbClr val="303030"/>
                </a:solidFill>
                <a:effectLst/>
                <a:latin typeface="Google Sans Text"/>
              </a:rPr>
              <a:t>Proving how the </a:t>
            </a:r>
            <a:r>
              <a:rPr lang="en-US" altLang="ko-KR" b="1" i="0" dirty="0">
                <a:solidFill>
                  <a:srgbClr val="303030"/>
                </a:solidFill>
                <a:effectLst/>
                <a:latin typeface="Google Sans Text"/>
              </a:rPr>
              <a:t>buffer size</a:t>
            </a:r>
            <a:r>
              <a:rPr lang="en-US" altLang="ko-KR" b="0" i="0" dirty="0">
                <a:solidFill>
                  <a:srgbClr val="303030"/>
                </a:solidFill>
                <a:effectLst/>
                <a:latin typeface="Google Sans Text"/>
              </a:rPr>
              <a:t> determines if a crisis causes a "sovereign-linked liquidity shock" or a "flight-to-safety".</a:t>
            </a:r>
          </a:p>
        </p:txBody>
      </p:sp>
      <p:sp>
        <p:nvSpPr>
          <p:cNvPr id="20" name="TextBox 19">
            <a:extLst>
              <a:ext uri="{FF2B5EF4-FFF2-40B4-BE49-F238E27FC236}">
                <a16:creationId xmlns:a16="http://schemas.microsoft.com/office/drawing/2014/main" id="{A3A00608-6034-986A-1015-91DD4C96A527}"/>
              </a:ext>
            </a:extLst>
          </p:cNvPr>
          <p:cNvSpPr txBox="1"/>
          <p:nvPr/>
        </p:nvSpPr>
        <p:spPr>
          <a:xfrm>
            <a:off x="274320" y="4060308"/>
            <a:ext cx="6144126" cy="1754326"/>
          </a:xfrm>
          <a:prstGeom prst="rect">
            <a:avLst/>
          </a:prstGeom>
          <a:noFill/>
        </p:spPr>
        <p:txBody>
          <a:bodyPr wrap="square">
            <a:spAutoFit/>
          </a:bodyPr>
          <a:lstStyle/>
          <a:p>
            <a:pPr algn="l">
              <a:buFont typeface="Arial" panose="020B0604020202020204" pitchFamily="34" charset="0"/>
              <a:buChar char="•"/>
            </a:pPr>
            <a:r>
              <a:rPr lang="en-US" altLang="ko-KR" b="1" i="0" dirty="0">
                <a:solidFill>
                  <a:srgbClr val="303030"/>
                </a:solidFill>
                <a:effectLst/>
                <a:latin typeface="Google Sans Text"/>
              </a:rPr>
              <a:t>Robustness: "Data Sharpening" Post-2023</a:t>
            </a:r>
            <a:endParaRPr lang="en-US" altLang="ko-KR" b="0" i="0" dirty="0">
              <a:solidFill>
                <a:srgbClr val="303030"/>
              </a:solidFill>
              <a:effectLst/>
              <a:latin typeface="Google Sans Text"/>
            </a:endParaRPr>
          </a:p>
          <a:p>
            <a:pPr marL="742950" lvl="1" indent="-285750" algn="l">
              <a:buFont typeface="Arial" panose="020B0604020202020204" pitchFamily="34" charset="0"/>
              <a:buChar char="•"/>
            </a:pPr>
            <a:r>
              <a:rPr lang="en-US" altLang="ko-KR" b="0" i="0" dirty="0">
                <a:solidFill>
                  <a:srgbClr val="303030"/>
                </a:solidFill>
                <a:effectLst/>
                <a:latin typeface="Google Sans Text"/>
              </a:rPr>
              <a:t>Testing a more recent sub-sample (N=39) where reporting and attestations are more transparent.</a:t>
            </a:r>
          </a:p>
          <a:p>
            <a:pPr marL="742950" lvl="1" indent="-285750" algn="l">
              <a:buFont typeface="Arial" panose="020B0604020202020204" pitchFamily="34" charset="0"/>
              <a:buChar char="•"/>
            </a:pPr>
            <a:r>
              <a:rPr lang="en-US" altLang="ko-KR" b="0" i="0" dirty="0">
                <a:solidFill>
                  <a:srgbClr val="303030"/>
                </a:solidFill>
                <a:effectLst/>
                <a:latin typeface="Google Sans Text"/>
              </a:rPr>
              <a:t>Showing how the relationship between reserves and market spreads becomes even more statistically significant as the market matures.</a:t>
            </a:r>
          </a:p>
        </p:txBody>
      </p:sp>
      <p:sp>
        <p:nvSpPr>
          <p:cNvPr id="22" name="TextBox 21">
            <a:extLst>
              <a:ext uri="{FF2B5EF4-FFF2-40B4-BE49-F238E27FC236}">
                <a16:creationId xmlns:a16="http://schemas.microsoft.com/office/drawing/2014/main" id="{0B48A6D4-B989-83E3-B8E6-6F7D1FD5676B}"/>
              </a:ext>
            </a:extLst>
          </p:cNvPr>
          <p:cNvSpPr txBox="1"/>
          <p:nvPr/>
        </p:nvSpPr>
        <p:spPr>
          <a:xfrm>
            <a:off x="6094412" y="1308625"/>
            <a:ext cx="6144126" cy="2031325"/>
          </a:xfrm>
          <a:prstGeom prst="rect">
            <a:avLst/>
          </a:prstGeom>
          <a:noFill/>
        </p:spPr>
        <p:txBody>
          <a:bodyPr wrap="square">
            <a:spAutoFit/>
          </a:bodyPr>
          <a:lstStyle/>
          <a:p>
            <a:pPr>
              <a:buFont typeface="Arial" panose="020B0604020202020204" pitchFamily="34" charset="0"/>
              <a:buChar char="•"/>
            </a:pPr>
            <a:r>
              <a:rPr lang="en-US" altLang="ko-KR" b="1" dirty="0"/>
              <a:t>Policy Recommendation: The "13% Liquid Reserve Rule”</a:t>
            </a:r>
          </a:p>
          <a:p>
            <a:pPr lvl="1">
              <a:buFont typeface="Arial" panose="020B0604020202020204" pitchFamily="34" charset="0"/>
              <a:buChar char="•"/>
            </a:pPr>
            <a:r>
              <a:rPr lang="en-US" altLang="ko-KR" dirty="0">
                <a:effectLst/>
              </a:rPr>
              <a:t>Translating the threshold regression into a concrete regulatory requirement.</a:t>
            </a:r>
          </a:p>
          <a:p>
            <a:pPr lvl="1">
              <a:buFont typeface="Arial" panose="020B0604020202020204" pitchFamily="34" charset="0"/>
              <a:buChar char="•"/>
            </a:pPr>
            <a:r>
              <a:rPr lang="en-US" altLang="ko-KR" b="0" i="0" dirty="0">
                <a:solidFill>
                  <a:srgbClr val="303030"/>
                </a:solidFill>
                <a:effectLst/>
                <a:latin typeface="Google Sans Text"/>
              </a:rPr>
              <a:t>Proposing a </a:t>
            </a:r>
            <a:r>
              <a:rPr lang="en-US" altLang="ko-KR" b="1" i="0" dirty="0">
                <a:solidFill>
                  <a:srgbClr val="303030"/>
                </a:solidFill>
                <a:effectLst/>
                <a:latin typeface="Google Sans Text"/>
              </a:rPr>
              <a:t>minimum 13% liquid buffer</a:t>
            </a:r>
            <a:r>
              <a:rPr lang="en-US" altLang="ko-KR" b="0" i="0" dirty="0">
                <a:solidFill>
                  <a:srgbClr val="303030"/>
                </a:solidFill>
                <a:effectLst/>
                <a:latin typeface="Google Sans Text"/>
              </a:rPr>
              <a:t> (cash/near-cash) to prevent private stablecoin runs from spilling into public Treasury markets</a:t>
            </a:r>
            <a:br>
              <a:rPr lang="en-US" altLang="ko-KR" b="0" i="0" dirty="0">
                <a:solidFill>
                  <a:srgbClr val="303030"/>
                </a:solidFill>
                <a:effectLst/>
                <a:latin typeface="Google Sans Text"/>
              </a:rPr>
            </a:br>
            <a:endParaRPr lang="en-US" altLang="ko-KR" dirty="0">
              <a:effectLst/>
            </a:endParaRPr>
          </a:p>
        </p:txBody>
      </p:sp>
      <p:sp>
        <p:nvSpPr>
          <p:cNvPr id="24" name="TextBox 23">
            <a:extLst>
              <a:ext uri="{FF2B5EF4-FFF2-40B4-BE49-F238E27FC236}">
                <a16:creationId xmlns:a16="http://schemas.microsoft.com/office/drawing/2014/main" id="{4457C1DF-2FBF-998A-F63A-67586932F9FA}"/>
              </a:ext>
            </a:extLst>
          </p:cNvPr>
          <p:cNvSpPr txBox="1"/>
          <p:nvPr/>
        </p:nvSpPr>
        <p:spPr>
          <a:xfrm>
            <a:off x="6208294" y="4174503"/>
            <a:ext cx="6192252" cy="923330"/>
          </a:xfrm>
          <a:prstGeom prst="rect">
            <a:avLst/>
          </a:prstGeom>
          <a:noFill/>
        </p:spPr>
        <p:txBody>
          <a:bodyPr wrap="square">
            <a:spAutoFit/>
          </a:bodyPr>
          <a:lstStyle/>
          <a:p>
            <a:pPr algn="l">
              <a:buFont typeface="Arial" panose="020B0604020202020204" pitchFamily="34" charset="0"/>
              <a:buChar char="•"/>
            </a:pPr>
            <a:r>
              <a:rPr lang="en-US" altLang="ko-KR" b="1" i="0" dirty="0">
                <a:solidFill>
                  <a:srgbClr val="303030"/>
                </a:solidFill>
                <a:effectLst/>
                <a:latin typeface="Google Sans Text"/>
              </a:rPr>
              <a:t>Conclusion: Navigating the New Triffin Dilemma</a:t>
            </a:r>
            <a:endParaRPr lang="en-US" altLang="ko-KR" b="0" i="0" dirty="0">
              <a:solidFill>
                <a:srgbClr val="303030"/>
              </a:solidFill>
              <a:effectLst/>
              <a:latin typeface="Google Sans Text"/>
            </a:endParaRPr>
          </a:p>
          <a:p>
            <a:pPr marL="742950" lvl="1" indent="-285750" algn="l">
              <a:buFont typeface="Arial" panose="020B0604020202020204" pitchFamily="34" charset="0"/>
              <a:buChar char="•"/>
            </a:pPr>
            <a:r>
              <a:rPr lang="en-US" altLang="ko-KR" b="0" i="0" dirty="0">
                <a:solidFill>
                  <a:srgbClr val="303030"/>
                </a:solidFill>
                <a:effectLst/>
                <a:latin typeface="Google Sans Text"/>
              </a:rPr>
              <a:t>Final synthesis of how stablecoins both support and threaten the U.S. "exorbitant privilege".</a:t>
            </a:r>
          </a:p>
        </p:txBody>
      </p:sp>
    </p:spTree>
    <p:extLst>
      <p:ext uri="{BB962C8B-B14F-4D97-AF65-F5344CB8AC3E}">
        <p14:creationId xmlns:p14="http://schemas.microsoft.com/office/powerpoint/2010/main" val="427132921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02060"/>
        </a:solidFill>
        <a:effectLst/>
      </p:bgPr>
    </p:bg>
    <p:spTree>
      <p:nvGrpSpPr>
        <p:cNvPr id="1" name="">
          <a:extLst>
            <a:ext uri="{FF2B5EF4-FFF2-40B4-BE49-F238E27FC236}">
              <a16:creationId xmlns:a16="http://schemas.microsoft.com/office/drawing/2014/main" id="{BFB7E374-D243-23C6-B67C-3CAF574932FD}"/>
            </a:ext>
          </a:extLst>
        </p:cNvPr>
        <p:cNvGrpSpPr/>
        <p:nvPr/>
      </p:nvGrpSpPr>
      <p:grpSpPr>
        <a:xfrm>
          <a:off x="0" y="0"/>
          <a:ext cx="0" cy="0"/>
          <a:chOff x="0" y="0"/>
          <a:chExt cx="0" cy="0"/>
        </a:xfrm>
      </p:grpSpPr>
      <p:pic>
        <p:nvPicPr>
          <p:cNvPr id="5" name="그림 4" descr="원, 그래픽, 스크린샷, 그래픽 디자인이(가) 표시된 사진&#10;&#10;자동 생성된 설명">
            <a:extLst>
              <a:ext uri="{FF2B5EF4-FFF2-40B4-BE49-F238E27FC236}">
                <a16:creationId xmlns:a16="http://schemas.microsoft.com/office/drawing/2014/main" id="{CA9BBA08-064C-BA6F-302C-D6CFFC5FA398}"/>
              </a:ext>
            </a:extLst>
          </p:cNvPr>
          <p:cNvPicPr>
            <a:picLocks noChangeAspect="1"/>
          </p:cNvPicPr>
          <p:nvPr/>
        </p:nvPicPr>
        <p:blipFill>
          <a:blip r:embed="rId3">
            <a:lum bright="70000" contrast="-70000"/>
            <a:extLst>
              <a:ext uri="{BEBA8EAE-BF5A-486C-A8C5-ECC9F3942E4B}">
                <a14:imgProps xmlns:a14="http://schemas.microsoft.com/office/drawing/2010/main">
                  <a14:imgLayer r:embed="rId4">
                    <a14:imgEffect>
                      <a14:artisticPhotocopy/>
                    </a14:imgEffect>
                  </a14:imgLayer>
                </a14:imgProps>
              </a:ext>
              <a:ext uri="{28A0092B-C50C-407E-A947-70E740481C1C}">
                <a14:useLocalDpi xmlns:a14="http://schemas.microsoft.com/office/drawing/2010/main" val="0"/>
              </a:ext>
            </a:extLst>
          </a:blip>
          <a:stretch>
            <a:fillRect/>
          </a:stretch>
        </p:blipFill>
        <p:spPr>
          <a:xfrm>
            <a:off x="0" y="890"/>
            <a:ext cx="4809898" cy="6856214"/>
          </a:xfrm>
          <a:prstGeom prst="rect">
            <a:avLst/>
          </a:prstGeom>
        </p:spPr>
      </p:pic>
      <p:pic>
        <p:nvPicPr>
          <p:cNvPr id="4" name="그림 3">
            <a:extLst>
              <a:ext uri="{FF2B5EF4-FFF2-40B4-BE49-F238E27FC236}">
                <a16:creationId xmlns:a16="http://schemas.microsoft.com/office/drawing/2014/main" id="{A6476964-D562-D15F-1E0D-F212F4CEF63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40427" y="5009673"/>
            <a:ext cx="1554891" cy="1554891"/>
          </a:xfrm>
          <a:prstGeom prst="rect">
            <a:avLst/>
          </a:prstGeom>
        </p:spPr>
      </p:pic>
      <p:sp>
        <p:nvSpPr>
          <p:cNvPr id="6" name="직사각형 5">
            <a:extLst>
              <a:ext uri="{FF2B5EF4-FFF2-40B4-BE49-F238E27FC236}">
                <a16:creationId xmlns:a16="http://schemas.microsoft.com/office/drawing/2014/main" id="{962CE00F-DCA5-846E-81CE-D52C1B8523F5}"/>
              </a:ext>
            </a:extLst>
          </p:cNvPr>
          <p:cNvSpPr/>
          <p:nvPr/>
        </p:nvSpPr>
        <p:spPr>
          <a:xfrm>
            <a:off x="-1" y="1879560"/>
            <a:ext cx="12188826" cy="2576274"/>
          </a:xfrm>
          <a:prstGeom prst="rect">
            <a:avLst/>
          </a:prstGeom>
          <a:solidFill>
            <a:schemeClr val="tx1">
              <a:alpha val="5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14126" latinLnBrk="1">
              <a:defRPr/>
            </a:pPr>
            <a:r>
              <a:rPr lang="en-US" altLang="ko-KR" sz="2399" dirty="0">
                <a:solidFill>
                  <a:prstClr val="white"/>
                </a:solidFill>
                <a:latin typeface="Hiragino Kaku Gothic Std W8" panose="020B0800000000000000" pitchFamily="34" charset="-128"/>
                <a:ea typeface="Hiragino Kaku Gothic Std W8" panose="020B0800000000000000" pitchFamily="34" charset="-128"/>
              </a:rPr>
              <a:t>THANK YOU</a:t>
            </a:r>
          </a:p>
          <a:p>
            <a:pPr algn="ctr" defTabSz="914126" latinLnBrk="1">
              <a:defRPr/>
            </a:pPr>
            <a:endParaRPr lang="ko-KR" altLang="en-US" sz="2399" dirty="0">
              <a:solidFill>
                <a:prstClr val="white"/>
              </a:solidFill>
              <a:latin typeface="Hiragino Kaku Gothic Std W8" panose="020B0800000000000000" pitchFamily="34" charset="-128"/>
              <a:ea typeface="맑은 고딕" panose="020B0503020000020004" pitchFamily="50" charset="-127"/>
            </a:endParaRPr>
          </a:p>
        </p:txBody>
      </p:sp>
      <p:sp>
        <p:nvSpPr>
          <p:cNvPr id="11" name="TextBox 10">
            <a:extLst>
              <a:ext uri="{FF2B5EF4-FFF2-40B4-BE49-F238E27FC236}">
                <a16:creationId xmlns:a16="http://schemas.microsoft.com/office/drawing/2014/main" id="{B7DA3265-719E-3F00-D94A-3D163CF28C1E}"/>
              </a:ext>
            </a:extLst>
          </p:cNvPr>
          <p:cNvSpPr txBox="1"/>
          <p:nvPr/>
        </p:nvSpPr>
        <p:spPr>
          <a:xfrm>
            <a:off x="7507054" y="5787118"/>
            <a:ext cx="4650632" cy="923073"/>
          </a:xfrm>
          <a:prstGeom prst="rect">
            <a:avLst/>
          </a:prstGeom>
          <a:noFill/>
        </p:spPr>
        <p:txBody>
          <a:bodyPr wrap="none" rtlCol="0">
            <a:spAutoFit/>
          </a:bodyPr>
          <a:lstStyle/>
          <a:p>
            <a:r>
              <a:rPr lang="en-US" altLang="ko-KR" sz="1799" b="1" dirty="0">
                <a:solidFill>
                  <a:schemeClr val="bg1"/>
                </a:solidFill>
              </a:rPr>
              <a:t>Yonsei GSIS 2026-1 </a:t>
            </a:r>
          </a:p>
          <a:p>
            <a:r>
              <a:rPr lang="en-US" altLang="ko-KR" sz="1799" b="1" dirty="0">
                <a:solidFill>
                  <a:schemeClr val="bg1"/>
                </a:solidFill>
              </a:rPr>
              <a:t>Topics in International Finance</a:t>
            </a:r>
            <a:endParaRPr lang="en-US" altLang="ko-KR" sz="1799" dirty="0">
              <a:solidFill>
                <a:schemeClr val="bg1"/>
              </a:solidFill>
            </a:endParaRPr>
          </a:p>
          <a:p>
            <a:r>
              <a:rPr lang="en-US" altLang="ko-KR" b="1" dirty="0">
                <a:solidFill>
                  <a:srgbClr val="FFFFFF"/>
                </a:solidFill>
              </a:rPr>
              <a:t>Mireu Kim · Sara Chekroune · Oybek Ibragimov</a:t>
            </a:r>
            <a:endParaRPr lang="en-US" altLang="ko-KR" sz="1799" b="1" dirty="0">
              <a:solidFill>
                <a:schemeClr val="bg1"/>
              </a:solidFill>
            </a:endParaRPr>
          </a:p>
        </p:txBody>
      </p:sp>
    </p:spTree>
    <p:extLst>
      <p:ext uri="{BB962C8B-B14F-4D97-AF65-F5344CB8AC3E}">
        <p14:creationId xmlns:p14="http://schemas.microsoft.com/office/powerpoint/2010/main" val="222689099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61</TotalTime>
  <Words>3687</Words>
  <Application>Microsoft Macintosh PowerPoint</Application>
  <PresentationFormat>사용자 지정</PresentationFormat>
  <Paragraphs>261</Paragraphs>
  <Slides>14</Slides>
  <Notes>14</Notes>
  <HiddenSlides>0</HiddenSlides>
  <MMClips>0</MMClips>
  <ScaleCrop>false</ScaleCrop>
  <HeadingPairs>
    <vt:vector size="6" baseType="variant">
      <vt:variant>
        <vt:lpstr>사용한 글꼴</vt:lpstr>
      </vt:variant>
      <vt:variant>
        <vt:i4>6</vt:i4>
      </vt:variant>
      <vt:variant>
        <vt:lpstr>테마</vt:lpstr>
      </vt:variant>
      <vt:variant>
        <vt:i4>1</vt:i4>
      </vt:variant>
      <vt:variant>
        <vt:lpstr>슬라이드 제목</vt:lpstr>
      </vt:variant>
      <vt:variant>
        <vt:i4>14</vt:i4>
      </vt:variant>
    </vt:vector>
  </HeadingPairs>
  <TitlesOfParts>
    <vt:vector size="21" baseType="lpstr">
      <vt:lpstr>맑은 고딕</vt:lpstr>
      <vt:lpstr>Google Sans Text</vt:lpstr>
      <vt:lpstr>Hiragino Kaku Gothic Std W8</vt:lpstr>
      <vt:lpstr>Arial</vt:lpstr>
      <vt:lpstr>Calibri</vt:lpstr>
      <vt:lpstr>Courier New</vt:lpstr>
      <vt:lpstr>Office Theme</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김미르</cp:lastModifiedBy>
  <cp:revision>3</cp:revision>
  <dcterms:created xsi:type="dcterms:W3CDTF">2013-01-27T09:14:16Z</dcterms:created>
  <dcterms:modified xsi:type="dcterms:W3CDTF">2026-05-10T06:01:13Z</dcterms:modified>
  <cp:category/>
</cp:coreProperties>
</file>